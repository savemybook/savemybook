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4" r:id="rId2"/>
    <p:sldId id="316" r:id="rId3"/>
    <p:sldId id="269" r:id="rId4"/>
    <p:sldId id="259" r:id="rId5"/>
    <p:sldId id="318" r:id="rId6"/>
    <p:sldId id="319" r:id="rId7"/>
    <p:sldId id="270" r:id="rId8"/>
    <p:sldId id="321" r:id="rId9"/>
    <p:sldId id="322" r:id="rId10"/>
    <p:sldId id="271" r:id="rId11"/>
    <p:sldId id="339" r:id="rId12"/>
    <p:sldId id="340" r:id="rId13"/>
    <p:sldId id="341" r:id="rId14"/>
    <p:sldId id="342" r:id="rId15"/>
    <p:sldId id="343" r:id="rId16"/>
    <p:sldId id="347" r:id="rId17"/>
    <p:sldId id="344" r:id="rId18"/>
    <p:sldId id="345" r:id="rId19"/>
    <p:sldId id="346" r:id="rId20"/>
    <p:sldId id="272" r:id="rId21"/>
    <p:sldId id="323" r:id="rId22"/>
    <p:sldId id="324" r:id="rId23"/>
    <p:sldId id="327" r:id="rId24"/>
    <p:sldId id="328" r:id="rId25"/>
    <p:sldId id="330" r:id="rId26"/>
    <p:sldId id="331" r:id="rId27"/>
    <p:sldId id="332" r:id="rId28"/>
    <p:sldId id="333" r:id="rId29"/>
    <p:sldId id="334" r:id="rId30"/>
    <p:sldId id="273" r:id="rId31"/>
    <p:sldId id="336" r:id="rId32"/>
    <p:sldId id="338" r:id="rId33"/>
    <p:sldId id="337" r:id="rId34"/>
    <p:sldId id="260" r:id="rId35"/>
    <p:sldId id="274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316"/>
          </p14:sldIdLst>
        </p14:section>
        <p14:section name="01 初評建議與改善" id="{48535043-E1AB-450B-AC79-1E981107FA1B}">
          <p14:sldIdLst>
            <p14:sldId id="269"/>
            <p14:sldId id="259"/>
            <p14:sldId id="318"/>
            <p14:sldId id="319"/>
          </p14:sldIdLst>
        </p14:section>
        <p14:section name="02 系統核心與架構" id="{648C1DE4-AEF1-4B08-893E-77229EBA6A68}">
          <p14:sldIdLst>
            <p14:sldId id="270"/>
            <p14:sldId id="321"/>
            <p14:sldId id="322"/>
          </p14:sldIdLst>
        </p14:section>
        <p14:section name="03 AI智慧服務" id="{61FD4BCB-CB30-4051-8730-F97053A269F8}">
          <p14:sldIdLst>
            <p14:sldId id="271"/>
            <p14:sldId id="339"/>
            <p14:sldId id="340"/>
            <p14:sldId id="341"/>
            <p14:sldId id="342"/>
            <p14:sldId id="343"/>
            <p14:sldId id="347"/>
            <p14:sldId id="344"/>
            <p14:sldId id="345"/>
            <p14:sldId id="346"/>
          </p14:sldIdLst>
        </p14:section>
        <p14:section name="04 IoT智慧書櫃" id="{556472CD-A55E-43C6-A72A-503EBF591716}">
          <p14:sldIdLst>
            <p14:sldId id="272"/>
            <p14:sldId id="323"/>
            <p14:sldId id="324"/>
            <p14:sldId id="327"/>
            <p14:sldId id="328"/>
            <p14:sldId id="330"/>
            <p14:sldId id="331"/>
            <p14:sldId id="332"/>
            <p14:sldId id="333"/>
            <p14:sldId id="334"/>
          </p14:sldIdLst>
        </p14:section>
        <p14:section name="05 成果與未來展望" id="{19A67D96-CFEF-4872-93BB-B0FBB1496B5D}">
          <p14:sldIdLst>
            <p14:sldId id="273"/>
            <p14:sldId id="336"/>
            <p14:sldId id="338"/>
            <p14:sldId id="337"/>
          </p14:sldIdLst>
        </p14:section>
        <p14:section name="封底" id="{B605022F-1F1E-49E0-BEB5-F57E3D39B5C9}">
          <p14:sldIdLst>
            <p14:sldId id="260"/>
          </p14:sldIdLst>
        </p14:section>
        <p14:section name="評審問答" id="{7027D934-AD3A-47CD-BD1E-8AC6F9D329E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7D81"/>
    <a:srgbClr val="ACBDC4"/>
    <a:srgbClr val="F3F6F7"/>
    <a:srgbClr val="EBEFF1"/>
    <a:srgbClr val="F1F4F5"/>
    <a:srgbClr val="7E8A90"/>
    <a:srgbClr val="77909E"/>
    <a:srgbClr val="C31A2D"/>
    <a:srgbClr val="EA6070"/>
    <a:srgbClr val="FEB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22" autoAdjust="0"/>
    <p:restoredTop sz="84369" autoAdjust="0"/>
  </p:normalViewPr>
  <p:slideViewPr>
    <p:cSldViewPr snapToGrid="0">
      <p:cViewPr varScale="1">
        <p:scale>
          <a:sx n="83" d="100"/>
          <a:sy n="83" d="100"/>
        </p:scale>
        <p:origin x="15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462BA-EC03-4984-B865-F4659AC46FAC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各位評審老師好，我們是四技第</a:t>
            </a:r>
            <a:r>
              <a:rPr lang="en-US" dirty="0"/>
              <a:t> 115414 </a:t>
            </a:r>
            <a:r>
              <a:rPr lang="en-US" dirty="0" err="1"/>
              <a:t>組，專題名稱是「救『舊』我的書</a:t>
            </a:r>
            <a:r>
              <a:rPr lang="en-US" dirty="0"/>
              <a:t>」。</a:t>
            </a:r>
          </a:p>
          <a:p>
            <a:r>
              <a:rPr lang="zh-TW" altLang="en-US" dirty="0"/>
              <a:t>我是</a:t>
            </a:r>
            <a:r>
              <a:rPr lang="zh-TW" altLang="en-US" spc="100" dirty="0">
                <a:solidFill>
                  <a:srgbClr val="F8FAFB"/>
                </a:solidFill>
              </a:rPr>
              <a:t>許凱俊、我是陳秉鴻、我是江芸萱、我是連卉媗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報告分為五個部分：初評建議與改善、系統核心與架構、AI</a:t>
            </a:r>
            <a:r>
              <a:rPr lang="en-US" dirty="0"/>
              <a:t> </a:t>
            </a:r>
            <a:r>
              <a:rPr lang="en-US" dirty="0" err="1"/>
              <a:t>智慧服務、IoT</a:t>
            </a:r>
            <a:r>
              <a:rPr lang="en-US" dirty="0"/>
              <a:t> </a:t>
            </a:r>
            <a:r>
              <a:rPr lang="en-US" dirty="0" err="1"/>
              <a:t>智慧書櫃，最後是成果與未來展望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864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首先說明初評建議的改善情形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60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初評共十二項建議，我們分成三個面向回應，卡片右下角是對應的手冊頁碼。第一是上架與交易：附件可以實拍照片並在簡介註明；書況改由</a:t>
            </a:r>
            <a:r>
              <a:rPr lang="en-US" dirty="0"/>
              <a:t> AI </a:t>
            </a:r>
            <a:r>
              <a:rPr lang="en-US" dirty="0" err="1"/>
              <a:t>視覺模型分析照片判斷，並依定價與書況建議售價；上架經過規則比對與</a:t>
            </a:r>
            <a:r>
              <a:rPr lang="en-US" dirty="0"/>
              <a:t> AI </a:t>
            </a:r>
            <a:r>
              <a:rPr lang="en-US" dirty="0" err="1"/>
              <a:t>文字、照片的雙層審核，取書發現不符也能申請爭議；付款改為站內代幣，由平台暫管，驗收後才撥款給賣家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ABB-5183-2D8F-7AD4-1335CBE1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463DA-0C47-7E9E-F30A-9EE5FF60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2A538F-DA34-C835-D4FE-5B3EF31E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第二是營運與服務條款。讀冊生活已納入競品比較，相較寄賣模式，本系統免寄送、可就近存取。書櫃設在有人員駐點的校園室內場域，管理員可從後台遠端監控裝置狀態。存書設有期限，書櫃也只設在室內。逾期收回已寫進服務條款：滿 14 </a:t>
            </a:r>
            <a:r>
              <a:rPr lang="en-US" dirty="0" err="1"/>
              <a:t>天由平台派員取出並負擔成本，再代管</a:t>
            </a:r>
            <a:r>
              <a:rPr lang="en-US" dirty="0"/>
              <a:t> 30 </a:t>
            </a:r>
            <a:r>
              <a:rPr lang="en-US" dirty="0" err="1"/>
              <a:t>天供賣家領回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7EB702-B21C-BD03-81BF-BAB0D6EA0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237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E227-33D4-A888-59B4-46B83D6E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A0C779C-45D8-BEFC-9FA1-6D2EE68D4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07763B-8635-205B-F0DB-39B66B49F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第三是智慧書櫃。櫃體從</a:t>
            </a:r>
            <a:r>
              <a:rPr lang="en-US" dirty="0"/>
              <a:t> 3D </a:t>
            </a:r>
            <a:r>
              <a:rPr lang="en-US" dirty="0" err="1"/>
              <a:t>列印改為合板搭配雷射切割壓克力，兼顧耐用與成本。為了讓登記和實際放書同步，必須掃描書櫃的</a:t>
            </a:r>
            <a:r>
              <a:rPr lang="en-US" dirty="0"/>
              <a:t> QR Code </a:t>
            </a:r>
            <a:r>
              <a:rPr lang="en-US" dirty="0" err="1"/>
              <a:t>才能開門，書櫃回報關門後才寫入存書紀錄。掃碼由手機完成，書櫃不需要掃描器，一片</a:t>
            </a:r>
            <a:r>
              <a:rPr lang="en-US" dirty="0"/>
              <a:t> ESP32-S3 </a:t>
            </a:r>
            <a:r>
              <a:rPr lang="en-US" dirty="0" err="1"/>
              <a:t>就能控制四扇櫃門。安全性則以四道驗證把關，稍後由許凱俊詳細說明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378BB-9D42-A82C-5B3D-A70E17E7A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917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接著由我介紹系統核心與架構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720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DA4A1-2D97-44F0-F0AD-B398679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777BD1F-A578-4D31-5D58-D6346E4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D8B38D-1504-2FB0-31AD-367304BC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我們的問卷共取得</a:t>
            </a:r>
            <a:r>
              <a:rPr lang="en-US" dirty="0"/>
              <a:t> 498 份有效樣本。35% 的受訪者有閒置書想清空卻懶得處理，57.9% 認為寄送的麻煩在於包裝和跑超商，51.4% </a:t>
            </a:r>
            <a:r>
              <a:rPr lang="en-US" dirty="0" err="1"/>
              <a:t>偏好以實體儲物櫃改善。因此本系統以</a:t>
            </a:r>
            <a:r>
              <a:rPr lang="en-US" dirty="0"/>
              <a:t> AI </a:t>
            </a:r>
            <a:r>
              <a:rPr lang="en-US" dirty="0" err="1"/>
              <a:t>降低上架負擔、以智慧書櫃免除寄送，再由</a:t>
            </a:r>
            <a:r>
              <a:rPr lang="en-US" dirty="0"/>
              <a:t> App </a:t>
            </a:r>
            <a:r>
              <a:rPr lang="en-US" dirty="0" err="1"/>
              <a:t>串接非同步交付，買賣雙方不必約時間面交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BE565C-697C-2469-8233-6FA8C08CA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630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C609-8333-DD6A-7CD1-DFB045AF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79008F7-4A28-0002-97E3-C8E1B9262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03CDCF1-ADE6-990C-2EDA-90A0AAD20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系統分為三端。使用者端以</a:t>
            </a:r>
            <a:r>
              <a:rPr lang="en-US" dirty="0"/>
              <a:t> Flutter </a:t>
            </a:r>
            <a:r>
              <a:rPr lang="en-US" dirty="0" err="1"/>
              <a:t>開發，同一套程式碼支援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</a:t>
            </a:r>
            <a:r>
              <a:rPr lang="en-US" dirty="0" err="1"/>
              <a:t>Android，管理後台也整合在</a:t>
            </a:r>
            <a:r>
              <a:rPr lang="en-US" dirty="0"/>
              <a:t> App </a:t>
            </a:r>
            <a:r>
              <a:rPr lang="en-US" dirty="0" err="1"/>
              <a:t>中。後端以</a:t>
            </a:r>
            <a:r>
              <a:rPr lang="en-US" dirty="0"/>
              <a:t> Node.js 與 Express </a:t>
            </a:r>
            <a:r>
              <a:rPr lang="en-US" dirty="0" err="1"/>
              <a:t>提供</a:t>
            </a:r>
            <a:r>
              <a:rPr lang="en-US" dirty="0"/>
              <a:t> 301 個 RESTful API </a:t>
            </a:r>
            <a:r>
              <a:rPr lang="en-US" dirty="0" err="1"/>
              <a:t>端點，透過</a:t>
            </a:r>
            <a:r>
              <a:rPr lang="en-US" dirty="0"/>
              <a:t> Prisma ORM </a:t>
            </a:r>
            <a:r>
              <a:rPr lang="en-US" dirty="0" err="1"/>
              <a:t>存取</a:t>
            </a:r>
            <a:r>
              <a:rPr lang="en-US" dirty="0"/>
              <a:t> MariaDB </a:t>
            </a:r>
            <a:r>
              <a:rPr lang="en-US" dirty="0" err="1"/>
              <a:t>資料庫，並以</a:t>
            </a:r>
            <a:r>
              <a:rPr lang="en-US" dirty="0"/>
              <a:t> Socket.IO </a:t>
            </a:r>
            <a:r>
              <a:rPr lang="en-US" dirty="0" err="1"/>
              <a:t>推送即時訊息，身分驗證採用</a:t>
            </a:r>
            <a:r>
              <a:rPr lang="en-US" dirty="0"/>
              <a:t> JWT </a:t>
            </a:r>
            <a:r>
              <a:rPr lang="en-US" dirty="0" err="1"/>
              <a:t>與通行密鑰。書櫃端是</a:t>
            </a:r>
            <a:r>
              <a:rPr lang="en-US" dirty="0"/>
              <a:t> ESP32-S3，以 HTTPS </a:t>
            </a:r>
            <a:r>
              <a:rPr lang="en-US" dirty="0" err="1"/>
              <a:t>輪詢搭配裝置憑證與後端同步。對外流量經</a:t>
            </a:r>
            <a:r>
              <a:rPr lang="en-US" dirty="0"/>
              <a:t> Cloudflare </a:t>
            </a:r>
            <a:r>
              <a:rPr lang="en-US" dirty="0" err="1"/>
              <a:t>防護與加密，並串接</a:t>
            </a:r>
            <a:r>
              <a:rPr lang="en-US" dirty="0"/>
              <a:t> AI </a:t>
            </a:r>
            <a:r>
              <a:rPr lang="en-US" dirty="0" err="1"/>
              <a:t>服務、Google</a:t>
            </a:r>
            <a:r>
              <a:rPr lang="en-US" dirty="0"/>
              <a:t> Books </a:t>
            </a:r>
            <a:r>
              <a:rPr lang="en-US" dirty="0" err="1"/>
              <a:t>書目、臺北市交通開放資料與</a:t>
            </a:r>
            <a:r>
              <a:rPr lang="en-US" dirty="0"/>
              <a:t> Firebase </a:t>
            </a:r>
            <a:r>
              <a:rPr lang="en-US" dirty="0" err="1"/>
              <a:t>推播。其中</a:t>
            </a:r>
            <a:r>
              <a:rPr lang="en-US" dirty="0"/>
              <a:t> AI </a:t>
            </a:r>
            <a:r>
              <a:rPr lang="en-US" dirty="0" err="1"/>
              <a:t>供應商可在後台切換</a:t>
            </a:r>
            <a:r>
              <a:rPr lang="en-US" dirty="0"/>
              <a:t> OpenAI 或 </a:t>
            </a:r>
            <a:r>
              <a:rPr lang="en-US" dirty="0" err="1"/>
              <a:t>Gemini，並設有每月預算與每人每日使用上限，控制營運成本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277CD1-7DC8-1078-D258-4EBC31D95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32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第三部分由我介紹</a:t>
            </a:r>
            <a:r>
              <a:rPr lang="en-US" dirty="0"/>
              <a:t> AI </a:t>
            </a:r>
            <a:r>
              <a:rPr lang="en-US" dirty="0" err="1"/>
              <a:t>智慧服務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411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2B9F-1697-04CA-5BD7-89AA5ABC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16CA74-4B3C-50AC-0F50-3069FE686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F296D2C-8693-F53E-B2F4-C2D0AE31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我們依使用流程導入七項</a:t>
            </a:r>
            <a:r>
              <a:rPr lang="en-US" dirty="0"/>
              <a:t> AI </a:t>
            </a:r>
            <a:r>
              <a:rPr lang="en-US" dirty="0" err="1"/>
              <a:t>服務：上架階段有上架輔助、資料補齊與上架審核；選書階段有個人化推薦與</a:t>
            </a:r>
            <a:r>
              <a:rPr lang="en-US" dirty="0"/>
              <a:t> AI </a:t>
            </a:r>
            <a:r>
              <a:rPr lang="en-US" dirty="0" err="1"/>
              <a:t>書籍顧問；售後階段有</a:t>
            </a:r>
            <a:r>
              <a:rPr lang="en-US" dirty="0"/>
              <a:t> AI </a:t>
            </a:r>
            <a:r>
              <a:rPr lang="en-US" dirty="0" err="1"/>
              <a:t>客服與爭議分析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839B0F-F63E-5F47-2088-2AA3071B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072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首先是</a:t>
            </a:r>
            <a:r>
              <a:rPr lang="en-US" dirty="0" err="1"/>
              <a:t>上架輔助的書目帶入。賣家輸入或掃描</a:t>
            </a:r>
            <a:r>
              <a:rPr lang="en-US" dirty="0"/>
              <a:t> ISBN </a:t>
            </a:r>
            <a:r>
              <a:rPr lang="en-US" dirty="0" err="1"/>
              <a:t>後按下「AI</a:t>
            </a:r>
            <a:r>
              <a:rPr lang="en-US" dirty="0"/>
              <a:t> </a:t>
            </a:r>
            <a:r>
              <a:rPr lang="en-US" dirty="0" err="1"/>
              <a:t>帶入</a:t>
            </a:r>
            <a:r>
              <a:rPr lang="en-US" dirty="0"/>
              <a:t>」，</a:t>
            </a:r>
            <a:r>
              <a:rPr lang="en-US" dirty="0" err="1"/>
              <a:t>系統會同時查詢</a:t>
            </a:r>
            <a:r>
              <a:rPr lang="en-US" dirty="0"/>
              <a:t> Google Books 與 Open </a:t>
            </a:r>
            <a:r>
              <a:rPr lang="en-US" dirty="0" err="1"/>
              <a:t>Library，查不到的欄位再由</a:t>
            </a:r>
            <a:r>
              <a:rPr lang="en-US" dirty="0"/>
              <a:t> AI </a:t>
            </a:r>
            <a:r>
              <a:rPr lang="en-US" dirty="0" err="1"/>
              <a:t>網路搜尋補齊。AI</a:t>
            </a:r>
            <a:r>
              <a:rPr lang="en-US" dirty="0"/>
              <a:t> </a:t>
            </a:r>
            <a:r>
              <a:rPr lang="en-US" dirty="0" err="1"/>
              <a:t>以結構化格式輸出書名、作者、出版資訊、簡介與分類，並附上資料來源；賣家逐項勾選，只套用勾選的欄位，之後仍可自行修改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40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接著是書況與售價。賣家上傳封面、封底與條碼頁照片後，AI</a:t>
            </a:r>
            <a:r>
              <a:rPr lang="en-US" dirty="0"/>
              <a:t> </a:t>
            </a:r>
            <a:r>
              <a:rPr lang="en-US" dirty="0" err="1"/>
              <a:t>以視覺模型分析磨損、劃記等狀況，判斷書況等級並列出依據，再依定價與書況算出建議售價區間，例如這本建議</a:t>
            </a:r>
            <a:r>
              <a:rPr lang="en-US" dirty="0"/>
              <a:t> 250 </a:t>
            </a:r>
            <a:r>
              <a:rPr lang="en-US" dirty="0" err="1"/>
              <a:t>元、區間</a:t>
            </a:r>
            <a:r>
              <a:rPr lang="en-US" dirty="0"/>
              <a:t> 200 到 300 </a:t>
            </a:r>
            <a:r>
              <a:rPr lang="en-US" dirty="0" err="1"/>
              <a:t>元。賣家調整書況時，建議售價也會依新書況重新計算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696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6B1A-196F-E98B-E159-8CA59523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C9DE4B6-6A48-C561-CFA6-4B5B3290D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1CB2E6-5B74-EE83-3D2D-EF5745C50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上架審核採規則加</a:t>
            </a:r>
            <a:r>
              <a:rPr lang="en-US" dirty="0"/>
              <a:t> AI </a:t>
            </a:r>
            <a:r>
              <a:rPr lang="en-US" dirty="0" err="1"/>
              <a:t>的雙層把關：規則先過濾售價異常與站外聯絡資訊，AI</a:t>
            </a:r>
            <a:r>
              <a:rPr lang="en-US" dirty="0"/>
              <a:t> </a:t>
            </a:r>
            <a:r>
              <a:rPr lang="en-US" dirty="0" err="1"/>
              <a:t>再審核文字與照片。像這本書的書背貼有分類號標籤，AI</a:t>
            </a:r>
            <a:r>
              <a:rPr lang="en-US" dirty="0"/>
              <a:t> </a:t>
            </a:r>
            <a:r>
              <a:rPr lang="en-US" dirty="0" err="1"/>
              <a:t>判定疑似圖書館館藏、可信度</a:t>
            </a:r>
            <a:r>
              <a:rPr lang="en-US" dirty="0"/>
              <a:t> 78%，</a:t>
            </a:r>
            <a:r>
              <a:rPr lang="en-US" dirty="0" err="1"/>
              <a:t>系統就送交管理員複核。管理員放大照片確認後，選擇原因拒絕上架，結果會通知賣家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0013AD-57A2-1AA2-DB29-67837B6B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4105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1C1B6-75B6-3553-39E2-F0FBC4C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DE219C-35E5-EA83-CF54-30CA1349F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5C0C217-3B8F-D89D-4702-9A98E3CD0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聊天室也有防詐機制。這項以平台規則即時評分，不經過</a:t>
            </a:r>
            <a:r>
              <a:rPr lang="en-US" dirty="0"/>
              <a:t> AI：偵測到站外聯絡方式、私下付款等常見話術時，訊息下方與聊天室頂端會同步提醒。傳送聯絡方式前也會請傳送者確認，可疑訊息可以直接檢舉。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ECC182-BDAA-327A-FE24-A74EF960E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3132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0429-C979-897F-C1E7-0F5B7FCE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CB269D1-ECF7-7C5C-4DFD-CDE0C19A5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E59AE7-55A7-07AB-46A4-FA3E8581D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個人化推薦會讀取使用者的購買、收藏、購物車與瀏覽紀錄，以語意向量找出內容相近的書，再和熱門書合併成候選清單，由</a:t>
            </a:r>
            <a:r>
              <a:rPr lang="en-US" dirty="0"/>
              <a:t> AI </a:t>
            </a:r>
            <a:r>
              <a:rPr lang="en-US" dirty="0" err="1"/>
              <a:t>挑選並寫出推薦理由，結果快取</a:t>
            </a:r>
            <a:r>
              <a:rPr lang="en-US" dirty="0"/>
              <a:t> 6 </a:t>
            </a:r>
            <a:r>
              <a:rPr lang="en-US" dirty="0" err="1"/>
              <a:t>小時。商品頁的相似書籍同樣以語意向量計算；AI</a:t>
            </a:r>
            <a:r>
              <a:rPr lang="en-US" dirty="0"/>
              <a:t> </a:t>
            </a:r>
            <a:r>
              <a:rPr lang="en-US" dirty="0" err="1"/>
              <a:t>無法使用時，系統會自動改用一般推薦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BAC53A-D3B5-D4BB-0BA3-0B620E03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9050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089B-BC99-7F6C-D8B1-C51D12C7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BFC83F-C0A6-0ACD-1774-0615DDCE6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C78ACA-FF11-7335-9382-B8811C652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AI </a:t>
            </a:r>
            <a:r>
              <a:rPr lang="en-US" dirty="0" err="1"/>
              <a:t>書籍顧問位在聊天室列表最上方。使用者以自然語言描述需求，例如「想學網頁設計，預算</a:t>
            </a:r>
            <a:r>
              <a:rPr lang="en-US" dirty="0"/>
              <a:t> 300 </a:t>
            </a:r>
            <a:r>
              <a:rPr lang="en-US" dirty="0" err="1"/>
              <a:t>以內</a:t>
            </a:r>
            <a:r>
              <a:rPr lang="en-US" dirty="0"/>
              <a:t>」，AI </a:t>
            </a:r>
            <a:r>
              <a:rPr lang="en-US" dirty="0" err="1"/>
              <a:t>會拆解出分類與預算等條件，只從站內可購買的書籍中挑選，建議先讀</a:t>
            </a:r>
            <a:r>
              <a:rPr lang="en-US" dirty="0"/>
              <a:t> HTML &amp; CSS </a:t>
            </a:r>
            <a:r>
              <a:rPr lang="en-US" dirty="0" err="1"/>
              <a:t>再搭配</a:t>
            </a:r>
            <a:r>
              <a:rPr lang="en-US" dirty="0"/>
              <a:t> </a:t>
            </a:r>
            <a:r>
              <a:rPr lang="en-US" dirty="0" err="1"/>
              <a:t>Vue.js，點選書卡就能加入購物車或直接購買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EA8F61-C5D5-E263-6B4C-0235B8946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936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2C70-61F6-6F9F-E669-F75628E7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803244-86CC-579C-64D5-F3A14F5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2D8A2D-6960-0B5F-82A6-C893AD48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AI 客服採用混合檢索，同時以關鍵字與語意向量，從平台說明、常見問題與服務條款中找出相關段落，再結合使用者本人的訂單回答，例如帶出訂單、爭議申請期限與流程，並附上訂單連結。遇到複雜問題可以一鍵轉接客服人員，系統會連同對話內容建立客服工單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475751-3D8B-92E1-9F83-F9985471D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983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854A-88E2-E11D-1CE5-C1A831D1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5C3237-606A-1FA5-18F0-DCC22047B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EE15BE-2E6F-09FB-7E2D-66D68B2ED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最後是爭議分析。買家須在取書後</a:t>
            </a:r>
            <a:r>
              <a:rPr lang="en-US" dirty="0"/>
              <a:t> 24 </a:t>
            </a:r>
            <a:r>
              <a:rPr lang="en-US" dirty="0" err="1"/>
              <a:t>小時內申請爭議並附上照片，系統隨即暫停撥款。管理員可啟動</a:t>
            </a:r>
            <a:r>
              <a:rPr lang="en-US" dirty="0"/>
              <a:t> AI，比對上架照片、書況標示與佐證照片，逐點標示有利買家或賣家，並提出退款、駁回或協調的建議。本例建議協調處理，最後仍由管理員裁決，AI </a:t>
            </a:r>
            <a:r>
              <a:rPr lang="en-US" dirty="0" err="1"/>
              <a:t>不直接判決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2FE50C-DE31-7A15-45A9-AA4A824F9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083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接下來由我介紹</a:t>
            </a:r>
            <a:r>
              <a:rPr lang="en-US" dirty="0"/>
              <a:t> IoT </a:t>
            </a:r>
            <a:r>
              <a:rPr lang="en-US" dirty="0" err="1"/>
              <a:t>智慧書櫃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98962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07A2-79E4-F60F-C9E8-F9CB36F72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E8B3F6-7896-7B92-68EA-9F0F09807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74A179-AF9F-CC54-FE85-3F6F6B6A2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先看書櫃的改版。初評版本以</a:t>
            </a:r>
            <a:r>
              <a:rPr lang="en-US" dirty="0"/>
              <a:t> 3D </a:t>
            </a:r>
            <a:r>
              <a:rPr lang="en-US" dirty="0" err="1"/>
              <a:t>列印蜂巢面板，搭配</a:t>
            </a:r>
            <a:r>
              <a:rPr lang="en-US" dirty="0"/>
              <a:t> Nema 17 </a:t>
            </a:r>
            <a:r>
              <a:rPr lang="en-US" dirty="0" err="1"/>
              <a:t>步進馬達與齒條帶動，列印耗時、強度有限，不利量產。複評版本改為</a:t>
            </a:r>
            <a:r>
              <a:rPr lang="en-US" dirty="0"/>
              <a:t> 9mm </a:t>
            </a:r>
            <a:r>
              <a:rPr lang="en-US" dirty="0" err="1"/>
              <a:t>合板與</a:t>
            </a:r>
            <a:r>
              <a:rPr lang="en-US" dirty="0"/>
              <a:t> 5mm </a:t>
            </a:r>
            <a:r>
              <a:rPr lang="en-US" dirty="0" err="1"/>
              <a:t>壓克力雷射切割，四扇櫃門各由一顆</a:t>
            </a:r>
            <a:r>
              <a:rPr lang="en-US" dirty="0"/>
              <a:t> 12V </a:t>
            </a:r>
            <a:r>
              <a:rPr lang="en-US" dirty="0" err="1"/>
              <a:t>電磁鎖控制，右上角是</a:t>
            </a:r>
            <a:r>
              <a:rPr lang="en-US" dirty="0"/>
              <a:t> 2.8 </a:t>
            </a:r>
            <a:r>
              <a:rPr lang="en-US" dirty="0" err="1"/>
              <a:t>吋橫向螢幕，整體尺寸</a:t>
            </a:r>
            <a:r>
              <a:rPr lang="en-US" dirty="0"/>
              <a:t> 31 × 31 × 38 </a:t>
            </a:r>
            <a:r>
              <a:rPr lang="en-US" dirty="0" err="1"/>
              <a:t>公分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D22739-D14D-78C1-C3D4-978C4DB2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8417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E46EA-8D46-B81E-4212-CA8D5998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CC88023-0B25-C447-87D0-24D032E15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AD4793-5EA2-298B-1904-1D9D43A40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這是書櫃的透視圖。12V </a:t>
            </a:r>
            <a:r>
              <a:rPr lang="en-US" dirty="0" err="1"/>
              <a:t>電源從頂板接入，供應平放在頂層的自製主控板。主控板以</a:t>
            </a:r>
            <a:r>
              <a:rPr lang="en-US" dirty="0"/>
              <a:t> ESP32-S3 </a:t>
            </a:r>
            <a:r>
              <a:rPr lang="en-US" dirty="0" err="1"/>
              <a:t>為核心，透過四路繼電器驅動四顆電磁鎖，對應由上而下的</a:t>
            </a:r>
            <a:r>
              <a:rPr lang="en-US" dirty="0"/>
              <a:t> A01 到 A04 </a:t>
            </a:r>
            <a:r>
              <a:rPr lang="en-US" dirty="0" err="1"/>
              <a:t>四扇櫃門，每扇門都有門磁開關偵測是否關妥。螢幕只負責顯示</a:t>
            </a:r>
            <a:r>
              <a:rPr lang="en-US" dirty="0"/>
              <a:t> QR Code </a:t>
            </a:r>
            <a:r>
              <a:rPr lang="en-US" dirty="0" err="1"/>
              <a:t>與比對數字，所有輸入都在手機上完成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A57AB3-AAC8-1CC5-604C-E8A78B0D5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3616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D5CF-6EBE-571A-FE2B-B4A03A1CE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69C4F0-5906-0538-B9DD-F6141ABE5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C51457-C099-0B4B-57E1-A6A2EB7E3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這是我們自行設計的主控板</a:t>
            </a:r>
            <a:r>
              <a:rPr lang="en-US" dirty="0"/>
              <a:t> Rev A。12V </a:t>
            </a:r>
            <a:r>
              <a:rPr lang="en-US" dirty="0" err="1"/>
              <a:t>輸入經</a:t>
            </a:r>
            <a:r>
              <a:rPr lang="en-US" dirty="0"/>
              <a:t> L7805 </a:t>
            </a:r>
            <a:r>
              <a:rPr lang="en-US" dirty="0" err="1"/>
              <a:t>穩壓為</a:t>
            </a:r>
            <a:r>
              <a:rPr lang="en-US" dirty="0"/>
              <a:t> 5V；ESP32-S3 </a:t>
            </a:r>
            <a:r>
              <a:rPr lang="en-US" dirty="0" err="1"/>
              <a:t>開發板以排母插接，方便更換；繼電器由</a:t>
            </a:r>
            <a:r>
              <a:rPr lang="en-US" dirty="0"/>
              <a:t> PC815 </a:t>
            </a:r>
            <a:r>
              <a:rPr lang="en-US" dirty="0" err="1"/>
              <a:t>光耦合器與</a:t>
            </a:r>
            <a:r>
              <a:rPr lang="en-US" dirty="0"/>
              <a:t> S8050 </a:t>
            </a:r>
            <a:r>
              <a:rPr lang="en-US" dirty="0" err="1"/>
              <a:t>電晶體驅動，讓控制訊號與電磁鎖電路隔離；電磁鎖並聯續流二極體吸收反向電壓。韌體以</a:t>
            </a:r>
            <a:r>
              <a:rPr lang="en-US" dirty="0"/>
              <a:t> ESP-IDF </a:t>
            </a:r>
            <a:r>
              <a:rPr lang="en-US" dirty="0" err="1"/>
              <a:t>開發，逐扇以脈衝開鎖，避免多扇同時通電造成電壓不足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2551E1-015F-9044-81F2-38790B08D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17461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CF49-A946-E547-C9DB-F71AF73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76E197-FA0D-4D40-CAC9-A8A03EA8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20726-0E96-81B1-D156-5EDC625C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書櫃無人駐守，因此開門前要通過四道驗證。第一，螢幕上的</a:t>
            </a:r>
            <a:r>
              <a:rPr lang="en-US" dirty="0"/>
              <a:t> QR Code </a:t>
            </a:r>
            <a:r>
              <a:rPr lang="en-US" dirty="0" err="1"/>
              <a:t>是伺服器簽發的一次性挑戰碼，每</a:t>
            </a:r>
            <a:r>
              <a:rPr lang="en-US" dirty="0"/>
              <a:t> 30 秒更新、45 </a:t>
            </a:r>
            <a:r>
              <a:rPr lang="en-US" dirty="0" err="1"/>
              <a:t>秒失效，截圖轉傳無效。第二，手機必須回傳書櫃</a:t>
            </a:r>
            <a:r>
              <a:rPr lang="en-US" dirty="0"/>
              <a:t> 200 公尺內的定位。第三，手機輸入螢幕上的兩位數字，60 </a:t>
            </a:r>
            <a:r>
              <a:rPr lang="en-US" dirty="0" err="1"/>
              <a:t>秒內只有一次機會。第四，書櫃以專屬裝置憑證連線，伺服器只保存憑證的雜湊值，並以開機代碼偵測憑證是否遭複製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81C896-07F2-6607-B0F0-72980BB2A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89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461B-4F8B-9515-2C36-A8AD004B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495E48-3A98-3DC0-FCA2-1091899C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7A5D75-07CD-60C6-AB15-1732117AC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實際操作來看賣家存書。賣家在書櫃前掃描</a:t>
            </a:r>
            <a:r>
              <a:rPr lang="en-US" dirty="0"/>
              <a:t> QR </a:t>
            </a:r>
            <a:r>
              <a:rPr lang="en-US" dirty="0" err="1"/>
              <a:t>Code，App</a:t>
            </a:r>
            <a:r>
              <a:rPr lang="en-US" dirty="0"/>
              <a:t> </a:t>
            </a:r>
            <a:r>
              <a:rPr lang="en-US" dirty="0" err="1"/>
              <a:t>連同定位一起送出；確認存書項目後，書櫃螢幕顯示比對數字</a:t>
            </a:r>
            <a:r>
              <a:rPr lang="en-US" dirty="0"/>
              <a:t> 25，在手機輸入後 A01 </a:t>
            </a:r>
            <a:r>
              <a:rPr lang="en-US" dirty="0" err="1"/>
              <a:t>開鎖。放入書籍、關上櫃門，門磁回報關門後，系統才在資料庫交易中寫入存書並通知買家；書櫃重送的事件以冪等鍵辨識，不會重複登記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136C7C-2DD2-C6B6-06C5-070A4A0B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2940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前往書櫃前，App</a:t>
            </a:r>
            <a:r>
              <a:rPr lang="en-US" dirty="0"/>
              <a:t> </a:t>
            </a:r>
            <a:r>
              <a:rPr lang="en-US" dirty="0" err="1"/>
              <a:t>整合臺北市資料大平臺的開放資料，提供捷運出口與票價、公車即時到站、YouBike</a:t>
            </a:r>
            <a:r>
              <a:rPr lang="en-US" dirty="0"/>
              <a:t> </a:t>
            </a:r>
            <a:r>
              <a:rPr lang="en-US" dirty="0" err="1"/>
              <a:t>車位、停車場與計程車招呼站。各資料來源獨立快取，來源中斷時沿用上次資料；最近的捷運站在手機上計算，使用者位置不會上傳伺服器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96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買家取書的流程相同：掃描</a:t>
            </a:r>
            <a:r>
              <a:rPr lang="en-US" dirty="0"/>
              <a:t> QR </a:t>
            </a:r>
            <a:r>
              <a:rPr lang="en-US" dirty="0" err="1"/>
              <a:t>Code、確認取書項目、輸入比對數字後開鎖。取出書籍並關門後，系統記錄取書時間、釋放櫃門並通知賣家，訂單隨即進入驗收階段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984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款項流程是這樣：買家付款後由平台暫管；取書關門後進入</a:t>
            </a:r>
            <a:r>
              <a:rPr lang="en-US" dirty="0"/>
              <a:t> 24 </a:t>
            </a:r>
            <a:r>
              <a:rPr lang="en-US" dirty="0" err="1"/>
              <a:t>小時驗收，買家確認書況按下「完成訂單</a:t>
            </a:r>
            <a:r>
              <a:rPr lang="en-US" dirty="0"/>
              <a:t>」，或 24 </a:t>
            </a:r>
            <a:r>
              <a:rPr lang="en-US" dirty="0" err="1"/>
              <a:t>小時內未申請爭議，排程就會自動完成並撥款。這筆</a:t>
            </a:r>
            <a:r>
              <a:rPr lang="en-US" dirty="0"/>
              <a:t> 250 </a:t>
            </a:r>
            <a:r>
              <a:rPr lang="en-US" dirty="0" err="1"/>
              <a:t>代幣撥入後，賣家錢包從</a:t>
            </a:r>
            <a:r>
              <a:rPr lang="en-US" dirty="0"/>
              <a:t> 9,194 </a:t>
            </a:r>
            <a:r>
              <a:rPr lang="en-US" dirty="0" err="1"/>
              <a:t>變成</a:t>
            </a:r>
            <a:r>
              <a:rPr lang="en-US" dirty="0"/>
              <a:t> 9,444。撥款以資料庫交易的條件式更新執行，避免重複撥款。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7420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48E3-1ED2-178C-9AB5-B0D0F520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CF811F-EE1C-D007-D335-755DBA5E8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B54DCB-0172-7598-19C9-BAF092564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最後是維運與例外處理。裝置以</a:t>
            </a:r>
            <a:r>
              <a:rPr lang="en-US" dirty="0"/>
              <a:t> 8 </a:t>
            </a:r>
            <a:r>
              <a:rPr lang="en-US" dirty="0" err="1"/>
              <a:t>位數配對碼綁定書櫃，管理員可遠端開櫃、調整螢幕亮度，開關門事件紀錄保存一年。書櫃離線</a:t>
            </a:r>
            <a:r>
              <a:rPr lang="en-US" dirty="0"/>
              <a:t> 5 </a:t>
            </a:r>
            <a:r>
              <a:rPr lang="en-US" dirty="0" err="1"/>
              <a:t>分鐘即通知管理員，故障逾</a:t>
            </a:r>
            <a:r>
              <a:rPr lang="en-US" dirty="0"/>
              <a:t> 2 分鐘可改為手動回報，並須由非當事人的管理員確認。逾期方面，7 </a:t>
            </a:r>
            <a:r>
              <a:rPr lang="en-US" dirty="0" err="1"/>
              <a:t>天未存書或未取書自動取消退款，先行存書滿</a:t>
            </a:r>
            <a:r>
              <a:rPr lang="en-US" dirty="0"/>
              <a:t> 14 </a:t>
            </a:r>
            <a:r>
              <a:rPr lang="en-US" dirty="0" err="1"/>
              <a:t>天由平台取出，並代管</a:t>
            </a:r>
            <a:r>
              <a:rPr lang="en-US" dirty="0"/>
              <a:t> 30 天。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FEEA8D-D362-1AD1-32F2-02252A032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65629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9223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1A05-240B-B64D-1B53-3962C767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12CCA0-751D-1FD2-6134-4535A59CE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9F0D25-087D-8341-2793-17DFBBC2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總結目前成果：後端共有</a:t>
            </a:r>
            <a:r>
              <a:rPr lang="en-US" dirty="0"/>
              <a:t> 301 個 RESTful API </a:t>
            </a:r>
            <a:r>
              <a:rPr lang="en-US" dirty="0" err="1"/>
              <a:t>端點；後端</a:t>
            </a:r>
            <a:r>
              <a:rPr lang="en-US" dirty="0"/>
              <a:t> 1,558 </a:t>
            </a:r>
            <a:r>
              <a:rPr lang="en-US" dirty="0" err="1"/>
              <a:t>項測試以模擬的資料庫與外部服務自動執行，App</a:t>
            </a:r>
            <a:r>
              <a:rPr lang="en-US" dirty="0"/>
              <a:t> 端 2,571 </a:t>
            </a:r>
            <a:r>
              <a:rPr lang="en-US" dirty="0" err="1"/>
              <a:t>項元件與單元測試，全部通過。系統整合七項</a:t>
            </a:r>
            <a:r>
              <a:rPr lang="en-US" dirty="0"/>
              <a:t> AI </a:t>
            </a:r>
            <a:r>
              <a:rPr lang="en-US" dirty="0" err="1"/>
              <a:t>服務，並支援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Android </a:t>
            </a:r>
            <a:r>
              <a:rPr lang="en-US" dirty="0" err="1"/>
              <a:t>三種裝置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5007A6-F160-D987-617A-48C81C865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696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2A9A-DBAF-1C6A-E17F-170175A1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356D06-A0C9-4527-6F95-31E6DAD90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62DEC7-B986-728A-D423-F256C6798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未來展望有四項：第一，串接持有執照的第三方支付，提供儲值與提領；第二，App</a:t>
            </a:r>
            <a:r>
              <a:rPr lang="en-US" dirty="0"/>
              <a:t> </a:t>
            </a:r>
            <a:r>
              <a:rPr lang="en-US" dirty="0" err="1"/>
              <a:t>正式上架</a:t>
            </a:r>
            <a:r>
              <a:rPr lang="en-US" dirty="0"/>
              <a:t> App Store 與 Google </a:t>
            </a:r>
            <a:r>
              <a:rPr lang="en-US" dirty="0" err="1"/>
              <a:t>Play；第三，擴展到更多校園與公共場域；第四，以</a:t>
            </a:r>
            <a:r>
              <a:rPr lang="en-US" dirty="0"/>
              <a:t> 10% </a:t>
            </a:r>
            <a:r>
              <a:rPr lang="en-US" dirty="0" err="1"/>
              <a:t>交易服務費與書櫃廣告作為營收模式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8874C5-AD77-F059-38FF-F0724595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010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188A-DE04-8187-DD06-7CE6E79F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284EA5-FC11-BFB4-0B74-D06BD90B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399711-CAB6-26F0-3C16-C51F048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這是我們的</a:t>
            </a:r>
            <a:r>
              <a:rPr lang="en-US" dirty="0"/>
              <a:t> GitHub </a:t>
            </a:r>
            <a:r>
              <a:rPr lang="en-US" dirty="0" err="1"/>
              <a:t>開發紀錄，從</a:t>
            </a:r>
            <a:r>
              <a:rPr lang="en-US" dirty="0"/>
              <a:t> 3 月 15 </a:t>
            </a:r>
            <a:r>
              <a:rPr lang="en-US" dirty="0" err="1"/>
              <a:t>日到</a:t>
            </a:r>
            <a:r>
              <a:rPr lang="en-US" dirty="0"/>
              <a:t> 10 月 4 </a:t>
            </a:r>
            <a:r>
              <a:rPr lang="en-US" dirty="0" err="1"/>
              <a:t>日共</a:t>
            </a:r>
            <a:r>
              <a:rPr lang="en-US" dirty="0"/>
              <a:t> 555 </a:t>
            </a:r>
            <a:r>
              <a:rPr lang="en-US" dirty="0" err="1"/>
              <a:t>次提交，四位組員都持續投入，分別負責硬體與韌體、後端</a:t>
            </a:r>
            <a:r>
              <a:rPr lang="en-US" dirty="0"/>
              <a:t> </a:t>
            </a:r>
            <a:r>
              <a:rPr lang="en-US" dirty="0" err="1"/>
              <a:t>API、前端頁面與文件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509A3-714C-AAAE-F60A-15CBFEB83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296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以上是我們的報告，謝謝各位評審老師聆聽</a:t>
            </a:r>
            <a:r>
              <a:rPr lang="en-US" dirty="0"/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911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17/06/relationships/model3d" Target="../media/model3d3.glb"/><Relationship Id="rId13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12" Type="http://schemas.microsoft.com/office/2017/06/relationships/model3d" Target="../media/model3d5.glb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2.glb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microsoft.com/office/2017/06/relationships/model3d" Target="../media/model3d4.glb"/><Relationship Id="rId4" Type="http://schemas.microsoft.com/office/2017/06/relationships/model3d" Target="../media/model3d1.glb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17/06/relationships/model3d" Target="../media/model3d6.glb"/></Relationships>
</file>

<file path=ppt/slides/_rels/slide23.xml.rels><?xml version="1.0" encoding="UTF-8" standalone="yes"?>
<Relationships xmlns="http://schemas.openxmlformats.org/package/2006/relationships"><Relationship Id="rId8" Type="http://schemas.microsoft.com/office/2017/06/relationships/model3d" Target="../media/model3d6.glb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microsoft.com/office/2007/relationships/media" Target="../media/media10.mp4"/><Relationship Id="rId7" Type="http://schemas.openxmlformats.org/officeDocument/2006/relationships/image" Target="../media/image41.png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0.mp4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5.pn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notesSlide" Target="../notesSlides/notesSlide26.xml"/><Relationship Id="rId9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microsoft.com/office/2007/relationships/media" Target="../media/media13.mp4"/><Relationship Id="rId7" Type="http://schemas.openxmlformats.org/officeDocument/2006/relationships/image" Target="../media/image49.pn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3.mp4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svg"/><Relationship Id="rId5" Type="http://schemas.openxmlformats.org/officeDocument/2006/relationships/image" Target="../media/image57.svg"/><Relationship Id="rId4" Type="http://schemas.openxmlformats.org/officeDocument/2006/relationships/image" Target="../media/image56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8A2A5C05-BFCF-DED3-705E-008A41738283}"/>
              </a:ext>
            </a:extLst>
          </p:cNvPr>
          <p:cNvSpPr txBox="1"/>
          <p:nvPr/>
        </p:nvSpPr>
        <p:spPr>
          <a:xfrm>
            <a:off x="967526" y="1688672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 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 組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B28240-D39C-5894-02FB-7B7207F7E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174" y="1092961"/>
            <a:ext cx="2854397" cy="2760544"/>
          </a:xfrm>
          <a:prstGeom prst="rect">
            <a:avLst/>
          </a:prstGeom>
        </p:spPr>
      </p:pic>
      <p:sp>
        <p:nvSpPr>
          <p:cNvPr id="7" name="標題底色">
            <a:extLst>
              <a:ext uri="{FF2B5EF4-FFF2-40B4-BE49-F238E27FC236}">
                <a16:creationId xmlns:a16="http://schemas.microsoft.com/office/drawing/2014/main" id="{084F60E7-91C7-8A21-7FA5-942460BF7D35}"/>
              </a:ext>
            </a:extLst>
          </p:cNvPr>
          <p:cNvSpPr/>
          <p:nvPr/>
        </p:nvSpPr>
        <p:spPr>
          <a:xfrm>
            <a:off x="1016492" y="1758386"/>
            <a:ext cx="5449936" cy="840852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標題底色｜舊">
            <a:extLst>
              <a:ext uri="{FF2B5EF4-FFF2-40B4-BE49-F238E27FC236}">
                <a16:creationId xmlns:a16="http://schemas.microsoft.com/office/drawing/2014/main" id="{84413357-8790-BA4F-FAB9-3DECD8258B15}"/>
              </a:ext>
            </a:extLst>
          </p:cNvPr>
          <p:cNvSpPr/>
          <p:nvPr/>
        </p:nvSpPr>
        <p:spPr>
          <a:xfrm>
            <a:off x="2025436" y="1758386"/>
            <a:ext cx="1881251" cy="840852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9" name="副標題底色">
            <a:extLst>
              <a:ext uri="{FF2B5EF4-FFF2-40B4-BE49-F238E27FC236}">
                <a16:creationId xmlns:a16="http://schemas.microsoft.com/office/drawing/2014/main" id="{4EAC0FF7-3622-8DFF-3166-02CA0231B25D}"/>
              </a:ext>
            </a:extLst>
          </p:cNvPr>
          <p:cNvSpPr/>
          <p:nvPr/>
        </p:nvSpPr>
        <p:spPr>
          <a:xfrm>
            <a:off x="1016492" y="2903098"/>
            <a:ext cx="5449936" cy="356606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光澤掃光條">
            <a:extLst>
              <a:ext uri="{FF2B5EF4-FFF2-40B4-BE49-F238E27FC236}">
                <a16:creationId xmlns:a16="http://schemas.microsoft.com/office/drawing/2014/main" id="{DC33247D-B2CE-4C08-0EFF-42F8ABCA3EA7}"/>
              </a:ext>
            </a:extLst>
          </p:cNvPr>
          <p:cNvSpPr/>
          <p:nvPr/>
        </p:nvSpPr>
        <p:spPr>
          <a:xfrm rot="1200000">
            <a:off x="-4225000" y="1200000"/>
            <a:ext cx="450000" cy="2600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62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標題與副標題（文字遮罩）">
            <a:extLst>
              <a:ext uri="{FF2B5EF4-FFF2-40B4-BE49-F238E27FC236}">
                <a16:creationId xmlns:a16="http://schemas.microsoft.com/office/drawing/2014/main" id="{D7205F25-1240-AE98-2898-FD44EBA1AB9B}"/>
              </a:ext>
            </a:extLst>
          </p:cNvPr>
          <p:cNvSpPr/>
          <p:nvPr/>
        </p:nvSpPr>
        <p:spPr>
          <a:xfrm>
            <a:off x="0" y="1100000"/>
            <a:ext cx="7780000" cy="2800000"/>
          </a:xfrm>
          <a:custGeom>
            <a:avLst/>
            <a:gdLst/>
            <a:ahLst/>
            <a:cxnLst/>
            <a:rect l="0" t="0" r="r" b="b"/>
            <a:pathLst>
              <a:path w="7780000" h="2800000">
                <a:moveTo>
                  <a:pt x="0" y="0"/>
                </a:moveTo>
                <a:lnTo>
                  <a:pt x="7780000" y="0"/>
                </a:lnTo>
                <a:lnTo>
                  <a:pt x="7780000" y="2800000"/>
                </a:lnTo>
                <a:lnTo>
                  <a:pt x="0" y="2800000"/>
                </a:lnTo>
                <a:close/>
                <a:moveTo>
                  <a:pt x="1100876" y="998040"/>
                </a:moveTo>
                <a:cubicBezTo>
                  <a:pt x="1126784" y="1039188"/>
                  <a:pt x="1154216" y="1094052"/>
                  <a:pt x="1164122" y="1128342"/>
                </a:cubicBezTo>
                <a:lnTo>
                  <a:pt x="1236512" y="1093290"/>
                </a:lnTo>
                <a:cubicBezTo>
                  <a:pt x="1225082" y="1058238"/>
                  <a:pt x="1196126" y="1006422"/>
                  <a:pt x="1168694" y="966798"/>
                </a:cubicBezTo>
                <a:close/>
                <a:moveTo>
                  <a:pt x="1337096" y="760296"/>
                </a:moveTo>
                <a:cubicBezTo>
                  <a:pt x="1362242" y="785442"/>
                  <a:pt x="1391198" y="822018"/>
                  <a:pt x="1403390" y="847926"/>
                </a:cubicBezTo>
                <a:lnTo>
                  <a:pt x="1329476" y="847926"/>
                </a:lnTo>
                <a:lnTo>
                  <a:pt x="1329476" y="720672"/>
                </a:lnTo>
                <a:lnTo>
                  <a:pt x="1239560" y="720672"/>
                </a:lnTo>
                <a:lnTo>
                  <a:pt x="1239560" y="847926"/>
                </a:lnTo>
                <a:lnTo>
                  <a:pt x="1089446" y="847926"/>
                </a:lnTo>
                <a:lnTo>
                  <a:pt x="1089446" y="931746"/>
                </a:lnTo>
                <a:lnTo>
                  <a:pt x="1239560" y="931746"/>
                </a:lnTo>
                <a:lnTo>
                  <a:pt x="1239560" y="1130628"/>
                </a:lnTo>
                <a:cubicBezTo>
                  <a:pt x="1179362" y="1173300"/>
                  <a:pt x="1118402" y="1214448"/>
                  <a:pt x="1076492" y="1240356"/>
                </a:cubicBezTo>
                <a:lnTo>
                  <a:pt x="1117640" y="1314270"/>
                </a:lnTo>
                <a:cubicBezTo>
                  <a:pt x="1154216" y="1289124"/>
                  <a:pt x="1197650" y="1258644"/>
                  <a:pt x="1239560" y="1227402"/>
                </a:cubicBezTo>
                <a:lnTo>
                  <a:pt x="1239560" y="1338654"/>
                </a:lnTo>
                <a:cubicBezTo>
                  <a:pt x="1239560" y="1349322"/>
                  <a:pt x="1235750" y="1353894"/>
                  <a:pt x="1224320" y="1353894"/>
                </a:cubicBezTo>
                <a:cubicBezTo>
                  <a:pt x="1213652" y="1353894"/>
                  <a:pt x="1178600" y="1353894"/>
                  <a:pt x="1147358" y="1352370"/>
                </a:cubicBezTo>
                <a:cubicBezTo>
                  <a:pt x="1158026" y="1374468"/>
                  <a:pt x="1170218" y="1410282"/>
                  <a:pt x="1173266" y="1432380"/>
                </a:cubicBezTo>
                <a:cubicBezTo>
                  <a:pt x="1229654" y="1432380"/>
                  <a:pt x="1266992" y="1430094"/>
                  <a:pt x="1293662" y="1417140"/>
                </a:cubicBezTo>
                <a:cubicBezTo>
                  <a:pt x="1320332" y="1403424"/>
                  <a:pt x="1329476" y="1382088"/>
                  <a:pt x="1329476" y="1338654"/>
                </a:cubicBezTo>
                <a:lnTo>
                  <a:pt x="1329476" y="1202256"/>
                </a:lnTo>
                <a:cubicBezTo>
                  <a:pt x="1363004" y="1230450"/>
                  <a:pt x="1394246" y="1260168"/>
                  <a:pt x="1411772" y="1282266"/>
                </a:cubicBezTo>
                <a:lnTo>
                  <a:pt x="1476542" y="1223592"/>
                </a:lnTo>
                <a:cubicBezTo>
                  <a:pt x="1449872" y="1193874"/>
                  <a:pt x="1400342" y="1154250"/>
                  <a:pt x="1355384" y="1121484"/>
                </a:cubicBezTo>
                <a:cubicBezTo>
                  <a:pt x="1388912" y="1084908"/>
                  <a:pt x="1427774" y="1036140"/>
                  <a:pt x="1459016" y="988896"/>
                </a:cubicBezTo>
                <a:lnTo>
                  <a:pt x="1380530" y="957654"/>
                </a:lnTo>
                <a:cubicBezTo>
                  <a:pt x="1367576" y="981276"/>
                  <a:pt x="1349288" y="1009470"/>
                  <a:pt x="1329476" y="1036140"/>
                </a:cubicBezTo>
                <a:lnTo>
                  <a:pt x="1329476" y="931746"/>
                </a:lnTo>
                <a:lnTo>
                  <a:pt x="1469684" y="931746"/>
                </a:lnTo>
                <a:lnTo>
                  <a:pt x="1469684" y="847926"/>
                </a:lnTo>
                <a:lnTo>
                  <a:pt x="1411772" y="847926"/>
                </a:lnTo>
                <a:lnTo>
                  <a:pt x="1472732" y="809826"/>
                </a:lnTo>
                <a:cubicBezTo>
                  <a:pt x="1459016" y="783918"/>
                  <a:pt x="1427774" y="748104"/>
                  <a:pt x="1400342" y="722958"/>
                </a:cubicBezTo>
                <a:close/>
                <a:moveTo>
                  <a:pt x="1585508" y="946224"/>
                </a:moveTo>
                <a:lnTo>
                  <a:pt x="1671614" y="946224"/>
                </a:lnTo>
                <a:cubicBezTo>
                  <a:pt x="1661708" y="1014042"/>
                  <a:pt x="1647230" y="1075764"/>
                  <a:pt x="1625894" y="1130628"/>
                </a:cubicBezTo>
                <a:cubicBezTo>
                  <a:pt x="1605320" y="1081860"/>
                  <a:pt x="1589318" y="1029282"/>
                  <a:pt x="1577126" y="974418"/>
                </a:cubicBezTo>
                <a:close/>
                <a:moveTo>
                  <a:pt x="1539788" y="721434"/>
                </a:moveTo>
                <a:cubicBezTo>
                  <a:pt x="1523024" y="859356"/>
                  <a:pt x="1489496" y="990420"/>
                  <a:pt x="1427012" y="1070430"/>
                </a:cubicBezTo>
                <a:cubicBezTo>
                  <a:pt x="1446824" y="1085670"/>
                  <a:pt x="1482638" y="1120722"/>
                  <a:pt x="1495592" y="1138248"/>
                </a:cubicBezTo>
                <a:cubicBezTo>
                  <a:pt x="1507022" y="1123008"/>
                  <a:pt x="1516928" y="1107006"/>
                  <a:pt x="1526834" y="1089480"/>
                </a:cubicBezTo>
                <a:cubicBezTo>
                  <a:pt x="1540550" y="1138248"/>
                  <a:pt x="1556552" y="1183968"/>
                  <a:pt x="1575602" y="1226640"/>
                </a:cubicBezTo>
                <a:cubicBezTo>
                  <a:pt x="1534454" y="1286838"/>
                  <a:pt x="1478066" y="1331796"/>
                  <a:pt x="1402628" y="1360752"/>
                </a:cubicBezTo>
                <a:cubicBezTo>
                  <a:pt x="1427012" y="1380564"/>
                  <a:pt x="1456730" y="1414092"/>
                  <a:pt x="1470446" y="1437714"/>
                </a:cubicBezTo>
                <a:cubicBezTo>
                  <a:pt x="1533692" y="1408758"/>
                  <a:pt x="1583984" y="1367610"/>
                  <a:pt x="1624370" y="1315794"/>
                </a:cubicBezTo>
                <a:cubicBezTo>
                  <a:pt x="1655612" y="1363800"/>
                  <a:pt x="1693712" y="1404948"/>
                  <a:pt x="1738670" y="1436190"/>
                </a:cubicBezTo>
                <a:cubicBezTo>
                  <a:pt x="1753910" y="1409520"/>
                  <a:pt x="1784390" y="1372944"/>
                  <a:pt x="1805726" y="1354656"/>
                </a:cubicBezTo>
                <a:cubicBezTo>
                  <a:pt x="1754672" y="1324938"/>
                  <a:pt x="1712762" y="1281504"/>
                  <a:pt x="1678472" y="1229688"/>
                </a:cubicBezTo>
                <a:cubicBezTo>
                  <a:pt x="1718096" y="1148916"/>
                  <a:pt x="1741718" y="1052904"/>
                  <a:pt x="1755434" y="946224"/>
                </a:cubicBezTo>
                <a:lnTo>
                  <a:pt x="1796582" y="946224"/>
                </a:lnTo>
                <a:lnTo>
                  <a:pt x="1796582" y="861642"/>
                </a:lnTo>
                <a:lnTo>
                  <a:pt x="1607606" y="861642"/>
                </a:lnTo>
                <a:cubicBezTo>
                  <a:pt x="1617512" y="820494"/>
                  <a:pt x="1624370" y="777060"/>
                  <a:pt x="1630466" y="733626"/>
                </a:cubicBezTo>
                <a:close/>
                <a:moveTo>
                  <a:pt x="2245146" y="719148"/>
                </a:moveTo>
                <a:lnTo>
                  <a:pt x="2245146" y="1206066"/>
                </a:lnTo>
                <a:lnTo>
                  <a:pt x="2335824" y="1206066"/>
                </a:lnTo>
                <a:lnTo>
                  <a:pt x="2335824" y="801444"/>
                </a:lnTo>
                <a:lnTo>
                  <a:pt x="2498130" y="801444"/>
                </a:lnTo>
                <a:lnTo>
                  <a:pt x="2498130" y="719148"/>
                </a:lnTo>
                <a:close/>
                <a:moveTo>
                  <a:pt x="2952536" y="1023948"/>
                </a:moveTo>
                <a:lnTo>
                  <a:pt x="2952536" y="1049094"/>
                </a:lnTo>
                <a:lnTo>
                  <a:pt x="2785658" y="1049094"/>
                </a:lnTo>
                <a:lnTo>
                  <a:pt x="2785658" y="1023948"/>
                </a:lnTo>
                <a:close/>
                <a:moveTo>
                  <a:pt x="2927390" y="862404"/>
                </a:moveTo>
                <a:lnTo>
                  <a:pt x="2939582" y="895932"/>
                </a:lnTo>
                <a:lnTo>
                  <a:pt x="2811566" y="895932"/>
                </a:lnTo>
                <a:lnTo>
                  <a:pt x="2829854" y="861642"/>
                </a:lnTo>
                <a:lnTo>
                  <a:pt x="2747558" y="847164"/>
                </a:lnTo>
                <a:cubicBezTo>
                  <a:pt x="2723174" y="896694"/>
                  <a:pt x="2679740" y="957654"/>
                  <a:pt x="2618780" y="1003374"/>
                </a:cubicBezTo>
                <a:cubicBezTo>
                  <a:pt x="2636306" y="1014804"/>
                  <a:pt x="2662976" y="1041474"/>
                  <a:pt x="2675168" y="1059000"/>
                </a:cubicBezTo>
                <a:lnTo>
                  <a:pt x="2702600" y="1035378"/>
                </a:lnTo>
                <a:lnTo>
                  <a:pt x="2702600" y="1185492"/>
                </a:lnTo>
                <a:lnTo>
                  <a:pt x="2785658" y="1185492"/>
                </a:lnTo>
                <a:lnTo>
                  <a:pt x="2785658" y="1176348"/>
                </a:lnTo>
                <a:lnTo>
                  <a:pt x="2891576" y="1176348"/>
                </a:lnTo>
                <a:cubicBezTo>
                  <a:pt x="2836712" y="1192350"/>
                  <a:pt x="2751368" y="1206066"/>
                  <a:pt x="2675930" y="1215210"/>
                </a:cubicBezTo>
                <a:lnTo>
                  <a:pt x="2675930" y="1436952"/>
                </a:lnTo>
                <a:lnTo>
                  <a:pt x="2767370" y="1436952"/>
                </a:lnTo>
                <a:lnTo>
                  <a:pt x="2767370" y="1417140"/>
                </a:lnTo>
                <a:lnTo>
                  <a:pt x="3163610" y="1417140"/>
                </a:lnTo>
                <a:lnTo>
                  <a:pt x="3163610" y="1436190"/>
                </a:lnTo>
                <a:lnTo>
                  <a:pt x="3255050" y="1436190"/>
                </a:lnTo>
                <a:lnTo>
                  <a:pt x="3255050" y="1201494"/>
                </a:lnTo>
                <a:lnTo>
                  <a:pt x="2977682" y="1201494"/>
                </a:lnTo>
                <a:lnTo>
                  <a:pt x="2977682" y="1254072"/>
                </a:lnTo>
                <a:lnTo>
                  <a:pt x="3163610" y="1254072"/>
                </a:lnTo>
                <a:lnTo>
                  <a:pt x="3163610" y="1281504"/>
                </a:lnTo>
                <a:lnTo>
                  <a:pt x="2983778" y="1281504"/>
                </a:lnTo>
                <a:lnTo>
                  <a:pt x="2983778" y="1330272"/>
                </a:lnTo>
                <a:lnTo>
                  <a:pt x="3163610" y="1330272"/>
                </a:lnTo>
                <a:lnTo>
                  <a:pt x="3163610" y="1361514"/>
                </a:lnTo>
                <a:lnTo>
                  <a:pt x="2767370" y="1361514"/>
                </a:lnTo>
                <a:lnTo>
                  <a:pt x="2767370" y="1329510"/>
                </a:lnTo>
                <a:lnTo>
                  <a:pt x="2946440" y="1329510"/>
                </a:lnTo>
                <a:lnTo>
                  <a:pt x="2946440" y="1280742"/>
                </a:lnTo>
                <a:lnTo>
                  <a:pt x="2767370" y="1280742"/>
                </a:lnTo>
                <a:lnTo>
                  <a:pt x="2767370" y="1257120"/>
                </a:lnTo>
                <a:cubicBezTo>
                  <a:pt x="2835188" y="1248738"/>
                  <a:pt x="2905292" y="1236546"/>
                  <a:pt x="2960156" y="1219020"/>
                </a:cubicBezTo>
                <a:lnTo>
                  <a:pt x="2911388" y="1176348"/>
                </a:lnTo>
                <a:lnTo>
                  <a:pt x="3287816" y="1176348"/>
                </a:lnTo>
                <a:lnTo>
                  <a:pt x="3287816" y="1119960"/>
                </a:lnTo>
                <a:lnTo>
                  <a:pt x="3037880" y="1119960"/>
                </a:lnTo>
                <a:lnTo>
                  <a:pt x="3037880" y="1094814"/>
                </a:lnTo>
                <a:lnTo>
                  <a:pt x="3221522" y="1094814"/>
                </a:lnTo>
                <a:lnTo>
                  <a:pt x="3221522" y="1049094"/>
                </a:lnTo>
                <a:lnTo>
                  <a:pt x="3037880" y="1049094"/>
                </a:lnTo>
                <a:lnTo>
                  <a:pt x="3037880" y="1023948"/>
                </a:lnTo>
                <a:lnTo>
                  <a:pt x="3220760" y="1023948"/>
                </a:lnTo>
                <a:lnTo>
                  <a:pt x="3220760" y="978228"/>
                </a:lnTo>
                <a:lnTo>
                  <a:pt x="3037880" y="978228"/>
                </a:lnTo>
                <a:lnTo>
                  <a:pt x="3037880" y="953082"/>
                </a:lnTo>
                <a:lnTo>
                  <a:pt x="3255812" y="953082"/>
                </a:lnTo>
                <a:lnTo>
                  <a:pt x="3255812" y="895932"/>
                </a:lnTo>
                <a:lnTo>
                  <a:pt x="3031784" y="895932"/>
                </a:lnTo>
                <a:cubicBezTo>
                  <a:pt x="3026450" y="879168"/>
                  <a:pt x="3019592" y="860880"/>
                  <a:pt x="3011972" y="846402"/>
                </a:cubicBezTo>
                <a:close/>
                <a:moveTo>
                  <a:pt x="2952536" y="978228"/>
                </a:moveTo>
                <a:lnTo>
                  <a:pt x="2785658" y="978228"/>
                </a:lnTo>
                <a:lnTo>
                  <a:pt x="2785658" y="953082"/>
                </a:lnTo>
                <a:lnTo>
                  <a:pt x="2952536" y="953082"/>
                </a:lnTo>
                <a:close/>
                <a:moveTo>
                  <a:pt x="2952536" y="1094814"/>
                </a:moveTo>
                <a:lnTo>
                  <a:pt x="2952536" y="1119960"/>
                </a:lnTo>
                <a:lnTo>
                  <a:pt x="2785658" y="1119960"/>
                </a:lnTo>
                <a:lnTo>
                  <a:pt x="2785658" y="1094814"/>
                </a:lnTo>
                <a:close/>
                <a:moveTo>
                  <a:pt x="2813090" y="720672"/>
                </a:moveTo>
                <a:lnTo>
                  <a:pt x="2813090" y="754200"/>
                </a:lnTo>
                <a:lnTo>
                  <a:pt x="2622590" y="754200"/>
                </a:lnTo>
                <a:lnTo>
                  <a:pt x="2622590" y="825066"/>
                </a:lnTo>
                <a:lnTo>
                  <a:pt x="2813090" y="825066"/>
                </a:lnTo>
                <a:lnTo>
                  <a:pt x="2813090" y="852498"/>
                </a:lnTo>
                <a:lnTo>
                  <a:pt x="2903768" y="852498"/>
                </a:lnTo>
                <a:lnTo>
                  <a:pt x="2903768" y="720672"/>
                </a:lnTo>
                <a:close/>
                <a:moveTo>
                  <a:pt x="3019592" y="720672"/>
                </a:moveTo>
                <a:lnTo>
                  <a:pt x="3019592" y="860118"/>
                </a:lnTo>
                <a:lnTo>
                  <a:pt x="3109508" y="860118"/>
                </a:lnTo>
                <a:lnTo>
                  <a:pt x="3109508" y="825066"/>
                </a:lnTo>
                <a:lnTo>
                  <a:pt x="3303818" y="825066"/>
                </a:lnTo>
                <a:lnTo>
                  <a:pt x="3303818" y="754200"/>
                </a:lnTo>
                <a:lnTo>
                  <a:pt x="3109508" y="754200"/>
                </a:lnTo>
                <a:lnTo>
                  <a:pt x="3109508" y="720672"/>
                </a:lnTo>
                <a:close/>
                <a:moveTo>
                  <a:pt x="3682786" y="1438476"/>
                </a:moveTo>
                <a:lnTo>
                  <a:pt x="3682786" y="951558"/>
                </a:lnTo>
                <a:lnTo>
                  <a:pt x="3592108" y="951558"/>
                </a:lnTo>
                <a:lnTo>
                  <a:pt x="3592108" y="1356180"/>
                </a:lnTo>
                <a:lnTo>
                  <a:pt x="3429802" y="1356180"/>
                </a:lnTo>
                <a:lnTo>
                  <a:pt x="3429802" y="1438476"/>
                </a:lnTo>
                <a:close/>
                <a:moveTo>
                  <a:pt x="4644176" y="788490"/>
                </a:moveTo>
                <a:cubicBezTo>
                  <a:pt x="4685324" y="826590"/>
                  <a:pt x="4733330" y="879930"/>
                  <a:pt x="4752380" y="915744"/>
                </a:cubicBezTo>
                <a:lnTo>
                  <a:pt x="4826294" y="864690"/>
                </a:lnTo>
                <a:cubicBezTo>
                  <a:pt x="4804196" y="828114"/>
                  <a:pt x="4753904" y="777822"/>
                  <a:pt x="4712756" y="742008"/>
                </a:cubicBezTo>
                <a:close/>
                <a:moveTo>
                  <a:pt x="4727996" y="1049094"/>
                </a:moveTo>
                <a:cubicBezTo>
                  <a:pt x="4708184" y="1086432"/>
                  <a:pt x="4683038" y="1121484"/>
                  <a:pt x="4654844" y="1153488"/>
                </a:cubicBezTo>
                <a:cubicBezTo>
                  <a:pt x="4646462" y="1114626"/>
                  <a:pt x="4638842" y="1070430"/>
                  <a:pt x="4632746" y="1023948"/>
                </a:cubicBezTo>
                <a:lnTo>
                  <a:pt x="4832390" y="1023948"/>
                </a:lnTo>
                <a:lnTo>
                  <a:pt x="4832390" y="937842"/>
                </a:lnTo>
                <a:lnTo>
                  <a:pt x="4623602" y="937842"/>
                </a:lnTo>
                <a:cubicBezTo>
                  <a:pt x="4617506" y="870024"/>
                  <a:pt x="4614458" y="798396"/>
                  <a:pt x="4615982" y="726768"/>
                </a:cubicBezTo>
                <a:lnTo>
                  <a:pt x="4520732" y="726768"/>
                </a:lnTo>
                <a:cubicBezTo>
                  <a:pt x="4521494" y="796872"/>
                  <a:pt x="4523780" y="868500"/>
                  <a:pt x="4529876" y="937842"/>
                </a:cubicBezTo>
                <a:lnTo>
                  <a:pt x="4381286" y="937842"/>
                </a:lnTo>
                <a:lnTo>
                  <a:pt x="4381286" y="834972"/>
                </a:lnTo>
                <a:cubicBezTo>
                  <a:pt x="4426244" y="825828"/>
                  <a:pt x="4468916" y="815160"/>
                  <a:pt x="4507778" y="803730"/>
                </a:cubicBezTo>
                <a:lnTo>
                  <a:pt x="4445294" y="726006"/>
                </a:lnTo>
                <a:cubicBezTo>
                  <a:pt x="4367570" y="751914"/>
                  <a:pt x="4247936" y="776298"/>
                  <a:pt x="4141256" y="790014"/>
                </a:cubicBezTo>
                <a:cubicBezTo>
                  <a:pt x="4151162" y="810588"/>
                  <a:pt x="4163354" y="844878"/>
                  <a:pt x="4167164" y="866976"/>
                </a:cubicBezTo>
                <a:cubicBezTo>
                  <a:pt x="4206026" y="862404"/>
                  <a:pt x="4247936" y="857070"/>
                  <a:pt x="4289084" y="850974"/>
                </a:cubicBezTo>
                <a:lnTo>
                  <a:pt x="4289084" y="937842"/>
                </a:lnTo>
                <a:lnTo>
                  <a:pt x="4145066" y="937842"/>
                </a:lnTo>
                <a:lnTo>
                  <a:pt x="4145066" y="1023948"/>
                </a:lnTo>
                <a:lnTo>
                  <a:pt x="4289084" y="1023948"/>
                </a:lnTo>
                <a:lnTo>
                  <a:pt x="4289084" y="1127580"/>
                </a:lnTo>
                <a:cubicBezTo>
                  <a:pt x="4228886" y="1137486"/>
                  <a:pt x="4174022" y="1146630"/>
                  <a:pt x="4130588" y="1152726"/>
                </a:cubicBezTo>
                <a:lnTo>
                  <a:pt x="4152686" y="1244928"/>
                </a:lnTo>
                <a:lnTo>
                  <a:pt x="4289084" y="1218258"/>
                </a:lnTo>
                <a:lnTo>
                  <a:pt x="4289084" y="1328748"/>
                </a:lnTo>
                <a:cubicBezTo>
                  <a:pt x="4289084" y="1340940"/>
                  <a:pt x="4284512" y="1344750"/>
                  <a:pt x="4271558" y="1344750"/>
                </a:cubicBezTo>
                <a:cubicBezTo>
                  <a:pt x="4257842" y="1345512"/>
                  <a:pt x="4212884" y="1346274"/>
                  <a:pt x="4170212" y="1343988"/>
                </a:cubicBezTo>
                <a:cubicBezTo>
                  <a:pt x="4183166" y="1369134"/>
                  <a:pt x="4198406" y="1411044"/>
                  <a:pt x="4202216" y="1436190"/>
                </a:cubicBezTo>
                <a:cubicBezTo>
                  <a:pt x="4264700" y="1436190"/>
                  <a:pt x="4310420" y="1433142"/>
                  <a:pt x="4340900" y="1418664"/>
                </a:cubicBezTo>
                <a:cubicBezTo>
                  <a:pt x="4371380" y="1404186"/>
                  <a:pt x="4381286" y="1379040"/>
                  <a:pt x="4381286" y="1329510"/>
                </a:cubicBezTo>
                <a:lnTo>
                  <a:pt x="4381286" y="1199208"/>
                </a:lnTo>
                <a:lnTo>
                  <a:pt x="4507016" y="1172538"/>
                </a:lnTo>
                <a:lnTo>
                  <a:pt x="4500920" y="1090242"/>
                </a:lnTo>
                <a:lnTo>
                  <a:pt x="4381286" y="1111578"/>
                </a:lnTo>
                <a:lnTo>
                  <a:pt x="4381286" y="1023948"/>
                </a:lnTo>
                <a:lnTo>
                  <a:pt x="4538258" y="1023948"/>
                </a:lnTo>
                <a:cubicBezTo>
                  <a:pt x="4547402" y="1098624"/>
                  <a:pt x="4560356" y="1169490"/>
                  <a:pt x="4577120" y="1229688"/>
                </a:cubicBezTo>
                <a:cubicBezTo>
                  <a:pt x="4524542" y="1273884"/>
                  <a:pt x="4465106" y="1311222"/>
                  <a:pt x="4404908" y="1338654"/>
                </a:cubicBezTo>
                <a:cubicBezTo>
                  <a:pt x="4427768" y="1359228"/>
                  <a:pt x="4453676" y="1389708"/>
                  <a:pt x="4466630" y="1411806"/>
                </a:cubicBezTo>
                <a:cubicBezTo>
                  <a:pt x="4516160" y="1385898"/>
                  <a:pt x="4564166" y="1354656"/>
                  <a:pt x="4608362" y="1318842"/>
                </a:cubicBezTo>
                <a:cubicBezTo>
                  <a:pt x="4641128" y="1393518"/>
                  <a:pt x="4684562" y="1439238"/>
                  <a:pt x="4740188" y="1439238"/>
                </a:cubicBezTo>
                <a:cubicBezTo>
                  <a:pt x="4809530" y="1439238"/>
                  <a:pt x="4838486" y="1405710"/>
                  <a:pt x="4852964" y="1271598"/>
                </a:cubicBezTo>
                <a:cubicBezTo>
                  <a:pt x="4828580" y="1261692"/>
                  <a:pt x="4797338" y="1240356"/>
                  <a:pt x="4777526" y="1219020"/>
                </a:cubicBezTo>
                <a:cubicBezTo>
                  <a:pt x="4773716" y="1309698"/>
                  <a:pt x="4764572" y="1346274"/>
                  <a:pt x="4749332" y="1346274"/>
                </a:cubicBezTo>
                <a:cubicBezTo>
                  <a:pt x="4725710" y="1346274"/>
                  <a:pt x="4702088" y="1311222"/>
                  <a:pt x="4681514" y="1252548"/>
                </a:cubicBezTo>
                <a:cubicBezTo>
                  <a:pt x="4731044" y="1202256"/>
                  <a:pt x="4773716" y="1145868"/>
                  <a:pt x="4808006" y="1084146"/>
                </a:cubicBezTo>
                <a:close/>
                <a:moveTo>
                  <a:pt x="5302798" y="1059000"/>
                </a:moveTo>
                <a:cubicBezTo>
                  <a:pt x="5340136" y="1114626"/>
                  <a:pt x="5387380" y="1190064"/>
                  <a:pt x="5408716" y="1236546"/>
                </a:cubicBezTo>
                <a:lnTo>
                  <a:pt x="5486440" y="1189302"/>
                </a:lnTo>
                <a:cubicBezTo>
                  <a:pt x="5462818" y="1144344"/>
                  <a:pt x="5411764" y="1071192"/>
                  <a:pt x="5374426" y="1018614"/>
                </a:cubicBezTo>
                <a:close/>
                <a:moveTo>
                  <a:pt x="5340136" y="721434"/>
                </a:moveTo>
                <a:cubicBezTo>
                  <a:pt x="5318038" y="812112"/>
                  <a:pt x="5281462" y="904314"/>
                  <a:pt x="5237266" y="969846"/>
                </a:cubicBezTo>
                <a:lnTo>
                  <a:pt x="5237266" y="844878"/>
                </a:lnTo>
                <a:lnTo>
                  <a:pt x="5119156" y="844878"/>
                </a:lnTo>
                <a:cubicBezTo>
                  <a:pt x="5132110" y="812874"/>
                  <a:pt x="5145826" y="773250"/>
                  <a:pt x="5158018" y="735150"/>
                </a:cubicBezTo>
                <a:lnTo>
                  <a:pt x="5058958" y="720672"/>
                </a:lnTo>
                <a:cubicBezTo>
                  <a:pt x="5055910" y="757248"/>
                  <a:pt x="5046766" y="806778"/>
                  <a:pt x="5036860" y="844878"/>
                </a:cubicBezTo>
                <a:lnTo>
                  <a:pt x="4949992" y="844878"/>
                </a:lnTo>
                <a:lnTo>
                  <a:pt x="4949992" y="1414092"/>
                </a:lnTo>
                <a:lnTo>
                  <a:pt x="5033050" y="1414092"/>
                </a:lnTo>
                <a:lnTo>
                  <a:pt x="5033050" y="1357704"/>
                </a:lnTo>
                <a:lnTo>
                  <a:pt x="5237266" y="1357704"/>
                </a:lnTo>
                <a:lnTo>
                  <a:pt x="5237266" y="999564"/>
                </a:lnTo>
                <a:cubicBezTo>
                  <a:pt x="5257840" y="1012518"/>
                  <a:pt x="5283748" y="1031568"/>
                  <a:pt x="5296702" y="1043760"/>
                </a:cubicBezTo>
                <a:cubicBezTo>
                  <a:pt x="5320324" y="1010994"/>
                  <a:pt x="5343184" y="969084"/>
                  <a:pt x="5363758" y="922602"/>
                </a:cubicBezTo>
                <a:lnTo>
                  <a:pt x="5527588" y="922602"/>
                </a:lnTo>
                <a:cubicBezTo>
                  <a:pt x="5519968" y="1192350"/>
                  <a:pt x="5510062" y="1307412"/>
                  <a:pt x="5486440" y="1331796"/>
                </a:cubicBezTo>
                <a:cubicBezTo>
                  <a:pt x="5477296" y="1342464"/>
                  <a:pt x="5468914" y="1344750"/>
                  <a:pt x="5453674" y="1344750"/>
                </a:cubicBezTo>
                <a:cubicBezTo>
                  <a:pt x="5433862" y="1344750"/>
                  <a:pt x="5388142" y="1344750"/>
                  <a:pt x="5339374" y="1340178"/>
                </a:cubicBezTo>
                <a:cubicBezTo>
                  <a:pt x="5355376" y="1365324"/>
                  <a:pt x="5367568" y="1404186"/>
                  <a:pt x="5369092" y="1429332"/>
                </a:cubicBezTo>
                <a:cubicBezTo>
                  <a:pt x="5414050" y="1430856"/>
                  <a:pt x="5460532" y="1431618"/>
                  <a:pt x="5489488" y="1427808"/>
                </a:cubicBezTo>
                <a:cubicBezTo>
                  <a:pt x="5520730" y="1422474"/>
                  <a:pt x="5542066" y="1414092"/>
                  <a:pt x="5562640" y="1385136"/>
                </a:cubicBezTo>
                <a:cubicBezTo>
                  <a:pt x="5594644" y="1344750"/>
                  <a:pt x="5603026" y="1222830"/>
                  <a:pt x="5612932" y="879930"/>
                </a:cubicBezTo>
                <a:cubicBezTo>
                  <a:pt x="5613694" y="869262"/>
                  <a:pt x="5613694" y="838782"/>
                  <a:pt x="5613694" y="838782"/>
                </a:cubicBezTo>
                <a:lnTo>
                  <a:pt x="5398048" y="838782"/>
                </a:lnTo>
                <a:cubicBezTo>
                  <a:pt x="5409478" y="806778"/>
                  <a:pt x="5420146" y="774012"/>
                  <a:pt x="5428528" y="742008"/>
                </a:cubicBezTo>
                <a:close/>
                <a:moveTo>
                  <a:pt x="5033050" y="924126"/>
                </a:moveTo>
                <a:lnTo>
                  <a:pt x="5154970" y="924126"/>
                </a:lnTo>
                <a:lnTo>
                  <a:pt x="5154970" y="1048332"/>
                </a:lnTo>
                <a:lnTo>
                  <a:pt x="5033050" y="1048332"/>
                </a:lnTo>
                <a:close/>
                <a:moveTo>
                  <a:pt x="5033050" y="1277694"/>
                </a:moveTo>
                <a:lnTo>
                  <a:pt x="5033050" y="1127580"/>
                </a:lnTo>
                <a:lnTo>
                  <a:pt x="5154970" y="1127580"/>
                </a:lnTo>
                <a:lnTo>
                  <a:pt x="5154970" y="1277694"/>
                </a:lnTo>
                <a:close/>
                <a:moveTo>
                  <a:pt x="5902746" y="1328748"/>
                </a:moveTo>
                <a:lnTo>
                  <a:pt x="6229644" y="1328748"/>
                </a:lnTo>
                <a:lnTo>
                  <a:pt x="6229644" y="1359228"/>
                </a:lnTo>
                <a:lnTo>
                  <a:pt x="5902746" y="1359228"/>
                </a:lnTo>
                <a:close/>
                <a:moveTo>
                  <a:pt x="5902746" y="1276170"/>
                </a:moveTo>
                <a:lnTo>
                  <a:pt x="5902746" y="1247976"/>
                </a:lnTo>
                <a:lnTo>
                  <a:pt x="6229644" y="1247976"/>
                </a:lnTo>
                <a:lnTo>
                  <a:pt x="6229644" y="1276170"/>
                </a:lnTo>
                <a:close/>
                <a:moveTo>
                  <a:pt x="5814354" y="1190064"/>
                </a:moveTo>
                <a:lnTo>
                  <a:pt x="5814354" y="1438476"/>
                </a:lnTo>
                <a:lnTo>
                  <a:pt x="5902746" y="1438476"/>
                </a:lnTo>
                <a:lnTo>
                  <a:pt x="5902746" y="1416378"/>
                </a:lnTo>
                <a:lnTo>
                  <a:pt x="6229644" y="1416378"/>
                </a:lnTo>
                <a:lnTo>
                  <a:pt x="6229644" y="1438476"/>
                </a:lnTo>
                <a:lnTo>
                  <a:pt x="6322608" y="1438476"/>
                </a:lnTo>
                <a:lnTo>
                  <a:pt x="6322608" y="1190064"/>
                </a:lnTo>
                <a:close/>
                <a:moveTo>
                  <a:pt x="5718342" y="1103196"/>
                </a:moveTo>
                <a:lnTo>
                  <a:pt x="5718342" y="1166442"/>
                </a:lnTo>
                <a:lnTo>
                  <a:pt x="6406428" y="1166442"/>
                </a:lnTo>
                <a:lnTo>
                  <a:pt x="6406428" y="1103196"/>
                </a:lnTo>
                <a:lnTo>
                  <a:pt x="6105438" y="1103196"/>
                </a:lnTo>
                <a:lnTo>
                  <a:pt x="6105438" y="1075002"/>
                </a:lnTo>
                <a:lnTo>
                  <a:pt x="6350040" y="1075002"/>
                </a:lnTo>
                <a:lnTo>
                  <a:pt x="6350040" y="1020138"/>
                </a:lnTo>
                <a:lnTo>
                  <a:pt x="6105438" y="1020138"/>
                </a:lnTo>
                <a:lnTo>
                  <a:pt x="6105438" y="993468"/>
                </a:lnTo>
                <a:lnTo>
                  <a:pt x="6318798" y="993468"/>
                </a:lnTo>
                <a:lnTo>
                  <a:pt x="6318798" y="911172"/>
                </a:lnTo>
                <a:lnTo>
                  <a:pt x="6406428" y="911172"/>
                </a:lnTo>
                <a:lnTo>
                  <a:pt x="6406428" y="847926"/>
                </a:lnTo>
                <a:lnTo>
                  <a:pt x="6318798" y="847926"/>
                </a:lnTo>
                <a:lnTo>
                  <a:pt x="6318798" y="766392"/>
                </a:lnTo>
                <a:lnTo>
                  <a:pt x="6105438" y="766392"/>
                </a:lnTo>
                <a:lnTo>
                  <a:pt x="6105438" y="718386"/>
                </a:lnTo>
                <a:lnTo>
                  <a:pt x="6013236" y="718386"/>
                </a:lnTo>
                <a:lnTo>
                  <a:pt x="6013236" y="766392"/>
                </a:lnTo>
                <a:lnTo>
                  <a:pt x="5797590" y="766392"/>
                </a:lnTo>
                <a:lnTo>
                  <a:pt x="5797590" y="820494"/>
                </a:lnTo>
                <a:lnTo>
                  <a:pt x="6013236" y="820494"/>
                </a:lnTo>
                <a:lnTo>
                  <a:pt x="6013236" y="847926"/>
                </a:lnTo>
                <a:lnTo>
                  <a:pt x="5719104" y="847926"/>
                </a:lnTo>
                <a:lnTo>
                  <a:pt x="5719104" y="911172"/>
                </a:lnTo>
                <a:lnTo>
                  <a:pt x="6013236" y="911172"/>
                </a:lnTo>
                <a:lnTo>
                  <a:pt x="6013236" y="939366"/>
                </a:lnTo>
                <a:lnTo>
                  <a:pt x="5789208" y="939366"/>
                </a:lnTo>
                <a:lnTo>
                  <a:pt x="5789208" y="993468"/>
                </a:lnTo>
                <a:lnTo>
                  <a:pt x="6013236" y="993468"/>
                </a:lnTo>
                <a:lnTo>
                  <a:pt x="6013236" y="1020138"/>
                </a:lnTo>
                <a:lnTo>
                  <a:pt x="5772444" y="1020138"/>
                </a:lnTo>
                <a:lnTo>
                  <a:pt x="5772444" y="1075002"/>
                </a:lnTo>
                <a:lnTo>
                  <a:pt x="6013236" y="1075002"/>
                </a:lnTo>
                <a:lnTo>
                  <a:pt x="6013236" y="1103196"/>
                </a:lnTo>
                <a:close/>
                <a:moveTo>
                  <a:pt x="6105438" y="820494"/>
                </a:moveTo>
                <a:lnTo>
                  <a:pt x="6228120" y="820494"/>
                </a:lnTo>
                <a:lnTo>
                  <a:pt x="6228120" y="847926"/>
                </a:lnTo>
                <a:lnTo>
                  <a:pt x="6105438" y="847926"/>
                </a:lnTo>
                <a:close/>
                <a:moveTo>
                  <a:pt x="6105438" y="939366"/>
                </a:moveTo>
                <a:lnTo>
                  <a:pt x="6105438" y="911172"/>
                </a:lnTo>
                <a:lnTo>
                  <a:pt x="6228120" y="911172"/>
                </a:lnTo>
                <a:lnTo>
                  <a:pt x="6228120" y="939366"/>
                </a:lnTo>
                <a:close/>
                <a:moveTo>
                  <a:pt x="1076492" y="2058744"/>
                </a:moveTo>
                <a:lnTo>
                  <a:pt x="1095923" y="2058744"/>
                </a:lnTo>
                <a:lnTo>
                  <a:pt x="1111163" y="2014421"/>
                </a:lnTo>
                <a:lnTo>
                  <a:pt x="1192443" y="2014421"/>
                </a:lnTo>
                <a:lnTo>
                  <a:pt x="1207810" y="2058744"/>
                </a:lnTo>
                <a:lnTo>
                  <a:pt x="1227241" y="2058744"/>
                </a:lnTo>
                <a:lnTo>
                  <a:pt x="1164249" y="1875864"/>
                </a:lnTo>
                <a:lnTo>
                  <a:pt x="1139484" y="1875864"/>
                </a:lnTo>
                <a:close/>
                <a:moveTo>
                  <a:pt x="1186347" y="1996895"/>
                </a:moveTo>
                <a:lnTo>
                  <a:pt x="1117259" y="1996895"/>
                </a:lnTo>
                <a:lnTo>
                  <a:pt x="1151676" y="1896946"/>
                </a:lnTo>
                <a:close/>
                <a:moveTo>
                  <a:pt x="1275855" y="2058744"/>
                </a:moveTo>
                <a:lnTo>
                  <a:pt x="1294524" y="2058744"/>
                </a:lnTo>
                <a:lnTo>
                  <a:pt x="1294524" y="1875864"/>
                </a:lnTo>
                <a:lnTo>
                  <a:pt x="1275855" y="1875864"/>
                </a:lnTo>
                <a:close/>
                <a:moveTo>
                  <a:pt x="1568281" y="1883230"/>
                </a:moveTo>
                <a:lnTo>
                  <a:pt x="1621113" y="1883230"/>
                </a:lnTo>
                <a:lnTo>
                  <a:pt x="1621113" y="1937332"/>
                </a:lnTo>
                <a:lnTo>
                  <a:pt x="1568281" y="1937332"/>
                </a:lnTo>
                <a:close/>
                <a:moveTo>
                  <a:pt x="1550501" y="1865958"/>
                </a:moveTo>
                <a:lnTo>
                  <a:pt x="1550501" y="1954604"/>
                </a:lnTo>
                <a:lnTo>
                  <a:pt x="1639655" y="1954604"/>
                </a:lnTo>
                <a:lnTo>
                  <a:pt x="1639655" y="1865958"/>
                </a:lnTo>
                <a:close/>
                <a:moveTo>
                  <a:pt x="1480397" y="2028772"/>
                </a:moveTo>
                <a:lnTo>
                  <a:pt x="1598761" y="2028772"/>
                </a:lnTo>
                <a:lnTo>
                  <a:pt x="1598761" y="2053918"/>
                </a:lnTo>
                <a:lnTo>
                  <a:pt x="1480397" y="2053918"/>
                </a:lnTo>
                <a:close/>
                <a:moveTo>
                  <a:pt x="1480397" y="2013786"/>
                </a:moveTo>
                <a:lnTo>
                  <a:pt x="1480397" y="1989910"/>
                </a:lnTo>
                <a:lnTo>
                  <a:pt x="1598761" y="1989910"/>
                </a:lnTo>
                <a:lnTo>
                  <a:pt x="1598761" y="2013786"/>
                </a:lnTo>
                <a:close/>
                <a:moveTo>
                  <a:pt x="1461601" y="1974162"/>
                </a:moveTo>
                <a:lnTo>
                  <a:pt x="1461601" y="2079064"/>
                </a:lnTo>
                <a:lnTo>
                  <a:pt x="1480397" y="2079064"/>
                </a:lnTo>
                <a:lnTo>
                  <a:pt x="1480397" y="2069666"/>
                </a:lnTo>
                <a:lnTo>
                  <a:pt x="1598761" y="2069666"/>
                </a:lnTo>
                <a:lnTo>
                  <a:pt x="1598761" y="2078556"/>
                </a:lnTo>
                <a:lnTo>
                  <a:pt x="1618065" y="2078556"/>
                </a:lnTo>
                <a:lnTo>
                  <a:pt x="1618065" y="1974162"/>
                </a:lnTo>
                <a:close/>
                <a:moveTo>
                  <a:pt x="1453219" y="1844622"/>
                </a:moveTo>
                <a:cubicBezTo>
                  <a:pt x="1447631" y="1863672"/>
                  <a:pt x="1437471" y="1882722"/>
                  <a:pt x="1424771" y="1895676"/>
                </a:cubicBezTo>
                <a:cubicBezTo>
                  <a:pt x="1429089" y="1897708"/>
                  <a:pt x="1436455" y="1902280"/>
                  <a:pt x="1440011" y="1905074"/>
                </a:cubicBezTo>
                <a:cubicBezTo>
                  <a:pt x="1445599" y="1898724"/>
                  <a:pt x="1450933" y="1890850"/>
                  <a:pt x="1456013" y="1881960"/>
                </a:cubicBezTo>
                <a:lnTo>
                  <a:pt x="1477603" y="1881960"/>
                </a:lnTo>
                <a:lnTo>
                  <a:pt x="1477603" y="1896946"/>
                </a:lnTo>
                <a:lnTo>
                  <a:pt x="1477095" y="1906090"/>
                </a:lnTo>
                <a:lnTo>
                  <a:pt x="1424771" y="1906090"/>
                </a:lnTo>
                <a:lnTo>
                  <a:pt x="1424771" y="1921838"/>
                </a:lnTo>
                <a:lnTo>
                  <a:pt x="1473793" y="1921838"/>
                </a:lnTo>
                <a:cubicBezTo>
                  <a:pt x="1468205" y="1937332"/>
                  <a:pt x="1454743" y="1954096"/>
                  <a:pt x="1422231" y="1966796"/>
                </a:cubicBezTo>
                <a:cubicBezTo>
                  <a:pt x="1426549" y="1970098"/>
                  <a:pt x="1432137" y="1975940"/>
                  <a:pt x="1434677" y="1980004"/>
                </a:cubicBezTo>
                <a:cubicBezTo>
                  <a:pt x="1461347" y="1968066"/>
                  <a:pt x="1476587" y="1953588"/>
                  <a:pt x="1485223" y="1938856"/>
                </a:cubicBezTo>
                <a:cubicBezTo>
                  <a:pt x="1497923" y="1947492"/>
                  <a:pt x="1516973" y="1961208"/>
                  <a:pt x="1524593" y="1967304"/>
                </a:cubicBezTo>
                <a:lnTo>
                  <a:pt x="1537801" y="1954350"/>
                </a:lnTo>
                <a:cubicBezTo>
                  <a:pt x="1530435" y="1949270"/>
                  <a:pt x="1501479" y="1931490"/>
                  <a:pt x="1491065" y="1925902"/>
                </a:cubicBezTo>
                <a:lnTo>
                  <a:pt x="1492335" y="1921838"/>
                </a:lnTo>
                <a:lnTo>
                  <a:pt x="1539833" y="1921838"/>
                </a:lnTo>
                <a:lnTo>
                  <a:pt x="1539833" y="1906090"/>
                </a:lnTo>
                <a:lnTo>
                  <a:pt x="1495383" y="1906090"/>
                </a:lnTo>
                <a:lnTo>
                  <a:pt x="1495637" y="1896946"/>
                </a:lnTo>
                <a:lnTo>
                  <a:pt x="1495637" y="1881960"/>
                </a:lnTo>
                <a:lnTo>
                  <a:pt x="1533229" y="1881960"/>
                </a:lnTo>
                <a:lnTo>
                  <a:pt x="1533229" y="1866466"/>
                </a:lnTo>
                <a:lnTo>
                  <a:pt x="1463887" y="1866466"/>
                </a:lnTo>
                <a:cubicBezTo>
                  <a:pt x="1466427" y="1860624"/>
                  <a:pt x="1468713" y="1854274"/>
                  <a:pt x="1470745" y="1848178"/>
                </a:cubicBezTo>
                <a:close/>
                <a:moveTo>
                  <a:pt x="1764977" y="2019374"/>
                </a:moveTo>
                <a:lnTo>
                  <a:pt x="1764977" y="2052648"/>
                </a:lnTo>
                <a:cubicBezTo>
                  <a:pt x="1764977" y="2071444"/>
                  <a:pt x="1771581" y="2076524"/>
                  <a:pt x="1798505" y="2076524"/>
                </a:cubicBezTo>
                <a:cubicBezTo>
                  <a:pt x="1804093" y="2076524"/>
                  <a:pt x="1842701" y="2076524"/>
                  <a:pt x="1848543" y="2076524"/>
                </a:cubicBezTo>
                <a:cubicBezTo>
                  <a:pt x="1869117" y="2076524"/>
                  <a:pt x="1874959" y="2069920"/>
                  <a:pt x="1877245" y="2042996"/>
                </a:cubicBezTo>
                <a:cubicBezTo>
                  <a:pt x="1872165" y="2041980"/>
                  <a:pt x="1864291" y="2039440"/>
                  <a:pt x="1860481" y="2036392"/>
                </a:cubicBezTo>
                <a:cubicBezTo>
                  <a:pt x="1859211" y="2056966"/>
                  <a:pt x="1857433" y="2059506"/>
                  <a:pt x="1846765" y="2059506"/>
                </a:cubicBezTo>
                <a:cubicBezTo>
                  <a:pt x="1838383" y="2059506"/>
                  <a:pt x="1805871" y="2059506"/>
                  <a:pt x="1799775" y="2059506"/>
                </a:cubicBezTo>
                <a:cubicBezTo>
                  <a:pt x="1786059" y="2059506"/>
                  <a:pt x="1783773" y="2058490"/>
                  <a:pt x="1783773" y="2052394"/>
                </a:cubicBezTo>
                <a:lnTo>
                  <a:pt x="1783773" y="2019374"/>
                </a:lnTo>
                <a:close/>
                <a:moveTo>
                  <a:pt x="1873689" y="2027502"/>
                </a:moveTo>
                <a:cubicBezTo>
                  <a:pt x="1891469" y="2039948"/>
                  <a:pt x="1909757" y="2058744"/>
                  <a:pt x="1917377" y="2072206"/>
                </a:cubicBezTo>
                <a:lnTo>
                  <a:pt x="1933633" y="2062300"/>
                </a:lnTo>
                <a:cubicBezTo>
                  <a:pt x="1925251" y="2048330"/>
                  <a:pt x="1906201" y="2030296"/>
                  <a:pt x="1888675" y="2018104"/>
                </a:cubicBezTo>
                <a:close/>
                <a:moveTo>
                  <a:pt x="1733481" y="2020136"/>
                </a:moveTo>
                <a:cubicBezTo>
                  <a:pt x="1727131" y="2036138"/>
                  <a:pt x="1715447" y="2052648"/>
                  <a:pt x="1699191" y="2062300"/>
                </a:cubicBezTo>
                <a:lnTo>
                  <a:pt x="1714431" y="2073222"/>
                </a:lnTo>
                <a:cubicBezTo>
                  <a:pt x="1731703" y="2062046"/>
                  <a:pt x="1742371" y="2043758"/>
                  <a:pt x="1749737" y="2026232"/>
                </a:cubicBezTo>
                <a:close/>
                <a:moveTo>
                  <a:pt x="1707065" y="1908884"/>
                </a:moveTo>
                <a:lnTo>
                  <a:pt x="1707065" y="1921584"/>
                </a:lnTo>
                <a:lnTo>
                  <a:pt x="1749737" y="1921584"/>
                </a:lnTo>
                <a:lnTo>
                  <a:pt x="1749737" y="1934792"/>
                </a:lnTo>
                <a:lnTo>
                  <a:pt x="1767517" y="1934792"/>
                </a:lnTo>
                <a:lnTo>
                  <a:pt x="1767517" y="1921584"/>
                </a:lnTo>
                <a:lnTo>
                  <a:pt x="1810189" y="1921584"/>
                </a:lnTo>
                <a:lnTo>
                  <a:pt x="1810189" y="1908884"/>
                </a:lnTo>
                <a:lnTo>
                  <a:pt x="1767517" y="1908884"/>
                </a:lnTo>
                <a:lnTo>
                  <a:pt x="1767517" y="1896184"/>
                </a:lnTo>
                <a:lnTo>
                  <a:pt x="1804093" y="1896184"/>
                </a:lnTo>
                <a:lnTo>
                  <a:pt x="1804093" y="1883484"/>
                </a:lnTo>
                <a:lnTo>
                  <a:pt x="1767517" y="1883484"/>
                </a:lnTo>
                <a:lnTo>
                  <a:pt x="1767517" y="1871292"/>
                </a:lnTo>
                <a:lnTo>
                  <a:pt x="1807395" y="1871292"/>
                </a:lnTo>
                <a:lnTo>
                  <a:pt x="1807395" y="1858592"/>
                </a:lnTo>
                <a:lnTo>
                  <a:pt x="1767517" y="1858592"/>
                </a:lnTo>
                <a:lnTo>
                  <a:pt x="1767517" y="1845384"/>
                </a:lnTo>
                <a:lnTo>
                  <a:pt x="1749737" y="1845384"/>
                </a:lnTo>
                <a:lnTo>
                  <a:pt x="1749737" y="1858592"/>
                </a:lnTo>
                <a:lnTo>
                  <a:pt x="1709605" y="1858592"/>
                </a:lnTo>
                <a:lnTo>
                  <a:pt x="1709605" y="1871292"/>
                </a:lnTo>
                <a:lnTo>
                  <a:pt x="1749737" y="1871292"/>
                </a:lnTo>
                <a:lnTo>
                  <a:pt x="1749737" y="1883484"/>
                </a:lnTo>
                <a:lnTo>
                  <a:pt x="1714431" y="1883484"/>
                </a:lnTo>
                <a:lnTo>
                  <a:pt x="1714431" y="1896184"/>
                </a:lnTo>
                <a:lnTo>
                  <a:pt x="1749737" y="1896184"/>
                </a:lnTo>
                <a:lnTo>
                  <a:pt x="1749737" y="1908884"/>
                </a:lnTo>
                <a:close/>
                <a:moveTo>
                  <a:pt x="1859465" y="1845384"/>
                </a:moveTo>
                <a:lnTo>
                  <a:pt x="1859465" y="1858592"/>
                </a:lnTo>
                <a:lnTo>
                  <a:pt x="1817555" y="1858592"/>
                </a:lnTo>
                <a:lnTo>
                  <a:pt x="1817555" y="1871292"/>
                </a:lnTo>
                <a:lnTo>
                  <a:pt x="1859465" y="1871292"/>
                </a:lnTo>
                <a:lnTo>
                  <a:pt x="1859465" y="1883230"/>
                </a:lnTo>
                <a:lnTo>
                  <a:pt x="1823143" y="1883230"/>
                </a:lnTo>
                <a:lnTo>
                  <a:pt x="1823143" y="1895676"/>
                </a:lnTo>
                <a:lnTo>
                  <a:pt x="1859465" y="1895676"/>
                </a:lnTo>
                <a:lnTo>
                  <a:pt x="1859465" y="1908884"/>
                </a:lnTo>
                <a:lnTo>
                  <a:pt x="1816031" y="1908884"/>
                </a:lnTo>
                <a:lnTo>
                  <a:pt x="1816031" y="1921584"/>
                </a:lnTo>
                <a:lnTo>
                  <a:pt x="1859465" y="1921584"/>
                </a:lnTo>
                <a:lnTo>
                  <a:pt x="1859465" y="1934792"/>
                </a:lnTo>
                <a:lnTo>
                  <a:pt x="1877499" y="1934792"/>
                </a:lnTo>
                <a:lnTo>
                  <a:pt x="1877499" y="1921584"/>
                </a:lnTo>
                <a:lnTo>
                  <a:pt x="1926013" y="1921584"/>
                </a:lnTo>
                <a:lnTo>
                  <a:pt x="1926013" y="1908884"/>
                </a:lnTo>
                <a:lnTo>
                  <a:pt x="1877499" y="1908884"/>
                </a:lnTo>
                <a:lnTo>
                  <a:pt x="1877499" y="1895676"/>
                </a:lnTo>
                <a:lnTo>
                  <a:pt x="1917885" y="1895676"/>
                </a:lnTo>
                <a:lnTo>
                  <a:pt x="1917885" y="1883230"/>
                </a:lnTo>
                <a:lnTo>
                  <a:pt x="1877499" y="1883230"/>
                </a:lnTo>
                <a:lnTo>
                  <a:pt x="1877499" y="1871292"/>
                </a:lnTo>
                <a:lnTo>
                  <a:pt x="1922203" y="1871292"/>
                </a:lnTo>
                <a:lnTo>
                  <a:pt x="1922203" y="1858592"/>
                </a:lnTo>
                <a:lnTo>
                  <a:pt x="1877499" y="1858592"/>
                </a:lnTo>
                <a:lnTo>
                  <a:pt x="1877499" y="1845384"/>
                </a:lnTo>
                <a:close/>
                <a:moveTo>
                  <a:pt x="1704271" y="1967050"/>
                </a:moveTo>
                <a:lnTo>
                  <a:pt x="1704271" y="1979496"/>
                </a:lnTo>
                <a:lnTo>
                  <a:pt x="1884103" y="1979496"/>
                </a:lnTo>
                <a:lnTo>
                  <a:pt x="1884103" y="1995244"/>
                </a:lnTo>
                <a:lnTo>
                  <a:pt x="1724591" y="1995244"/>
                </a:lnTo>
                <a:lnTo>
                  <a:pt x="1724591" y="2008198"/>
                </a:lnTo>
                <a:lnTo>
                  <a:pt x="1797997" y="2008198"/>
                </a:lnTo>
                <a:lnTo>
                  <a:pt x="1789615" y="2015564"/>
                </a:lnTo>
                <a:cubicBezTo>
                  <a:pt x="1804347" y="2022422"/>
                  <a:pt x="1821111" y="2033598"/>
                  <a:pt x="1829493" y="2042488"/>
                </a:cubicBezTo>
                <a:lnTo>
                  <a:pt x="1841939" y="2030550"/>
                </a:lnTo>
                <a:cubicBezTo>
                  <a:pt x="1834827" y="2023184"/>
                  <a:pt x="1821873" y="2014294"/>
                  <a:pt x="1809173" y="2008198"/>
                </a:cubicBezTo>
                <a:lnTo>
                  <a:pt x="1902899" y="2008198"/>
                </a:lnTo>
                <a:lnTo>
                  <a:pt x="1902899" y="1979496"/>
                </a:lnTo>
                <a:lnTo>
                  <a:pt x="1929061" y="1979496"/>
                </a:lnTo>
                <a:lnTo>
                  <a:pt x="1929061" y="1967050"/>
                </a:lnTo>
                <a:lnTo>
                  <a:pt x="1902899" y="1967050"/>
                </a:lnTo>
                <a:lnTo>
                  <a:pt x="1902899" y="1938348"/>
                </a:lnTo>
                <a:lnTo>
                  <a:pt x="1726115" y="1938348"/>
                </a:lnTo>
                <a:lnTo>
                  <a:pt x="1726115" y="1951302"/>
                </a:lnTo>
                <a:lnTo>
                  <a:pt x="1884103" y="1951302"/>
                </a:lnTo>
                <a:lnTo>
                  <a:pt x="1884103" y="1967050"/>
                </a:lnTo>
                <a:close/>
                <a:moveTo>
                  <a:pt x="1993931" y="1854782"/>
                </a:moveTo>
                <a:lnTo>
                  <a:pt x="1993931" y="1945968"/>
                </a:lnTo>
                <a:cubicBezTo>
                  <a:pt x="1993931" y="1983560"/>
                  <a:pt x="1992407" y="2034614"/>
                  <a:pt x="1975135" y="2070428"/>
                </a:cubicBezTo>
                <a:cubicBezTo>
                  <a:pt x="1979707" y="2071952"/>
                  <a:pt x="1987327" y="2076270"/>
                  <a:pt x="1990629" y="2079318"/>
                </a:cubicBezTo>
                <a:cubicBezTo>
                  <a:pt x="2002313" y="2055188"/>
                  <a:pt x="2007393" y="2023184"/>
                  <a:pt x="2009679" y="1992958"/>
                </a:cubicBezTo>
                <a:lnTo>
                  <a:pt x="2050065" y="1992958"/>
                </a:lnTo>
                <a:lnTo>
                  <a:pt x="2050065" y="2055950"/>
                </a:lnTo>
                <a:cubicBezTo>
                  <a:pt x="2050065" y="2059760"/>
                  <a:pt x="2048541" y="2060776"/>
                  <a:pt x="2045239" y="2060776"/>
                </a:cubicBezTo>
                <a:cubicBezTo>
                  <a:pt x="2041937" y="2061030"/>
                  <a:pt x="2031269" y="2061030"/>
                  <a:pt x="2019585" y="2060776"/>
                </a:cubicBezTo>
                <a:cubicBezTo>
                  <a:pt x="2022125" y="2065856"/>
                  <a:pt x="2024411" y="2074238"/>
                  <a:pt x="2024919" y="2079064"/>
                </a:cubicBezTo>
                <a:cubicBezTo>
                  <a:pt x="2042191" y="2079064"/>
                  <a:pt x="2052351" y="2078810"/>
                  <a:pt x="2058955" y="2075508"/>
                </a:cubicBezTo>
                <a:cubicBezTo>
                  <a:pt x="2065559" y="2072460"/>
                  <a:pt x="2067845" y="2066618"/>
                  <a:pt x="2067845" y="2056204"/>
                </a:cubicBezTo>
                <a:lnTo>
                  <a:pt x="2067845" y="1854782"/>
                </a:lnTo>
                <a:close/>
                <a:moveTo>
                  <a:pt x="2011203" y="1872562"/>
                </a:moveTo>
                <a:lnTo>
                  <a:pt x="2050065" y="1872562"/>
                </a:lnTo>
                <a:lnTo>
                  <a:pt x="2050065" y="1914218"/>
                </a:lnTo>
                <a:lnTo>
                  <a:pt x="2011203" y="1914218"/>
                </a:lnTo>
                <a:close/>
                <a:moveTo>
                  <a:pt x="2011203" y="1931998"/>
                </a:moveTo>
                <a:lnTo>
                  <a:pt x="2050065" y="1931998"/>
                </a:lnTo>
                <a:lnTo>
                  <a:pt x="2050065" y="1974924"/>
                </a:lnTo>
                <a:lnTo>
                  <a:pt x="2010695" y="1974924"/>
                </a:lnTo>
                <a:cubicBezTo>
                  <a:pt x="2010949" y="1964764"/>
                  <a:pt x="2011203" y="1954858"/>
                  <a:pt x="2011203" y="1945968"/>
                </a:cubicBezTo>
                <a:close/>
                <a:moveTo>
                  <a:pt x="2184431" y="1959430"/>
                </a:moveTo>
                <a:cubicBezTo>
                  <a:pt x="2178843" y="1980766"/>
                  <a:pt x="2169953" y="2000070"/>
                  <a:pt x="2159031" y="2016580"/>
                </a:cubicBezTo>
                <a:cubicBezTo>
                  <a:pt x="2147093" y="1999562"/>
                  <a:pt x="2137949" y="1980258"/>
                  <a:pt x="2131091" y="1959430"/>
                </a:cubicBezTo>
                <a:close/>
                <a:moveTo>
                  <a:pt x="2090197" y="1855544"/>
                </a:moveTo>
                <a:lnTo>
                  <a:pt x="2090197" y="2079064"/>
                </a:lnTo>
                <a:lnTo>
                  <a:pt x="2108231" y="2079064"/>
                </a:lnTo>
                <a:lnTo>
                  <a:pt x="2108231" y="1959430"/>
                </a:lnTo>
                <a:lnTo>
                  <a:pt x="2114581" y="1959430"/>
                </a:lnTo>
                <a:cubicBezTo>
                  <a:pt x="2122709" y="1985846"/>
                  <a:pt x="2133885" y="2010230"/>
                  <a:pt x="2148363" y="2030804"/>
                </a:cubicBezTo>
                <a:cubicBezTo>
                  <a:pt x="2136679" y="2045028"/>
                  <a:pt x="2123217" y="2055950"/>
                  <a:pt x="2109247" y="2063570"/>
                </a:cubicBezTo>
                <a:cubicBezTo>
                  <a:pt x="2113311" y="2066872"/>
                  <a:pt x="2118391" y="2073222"/>
                  <a:pt x="2120423" y="2077540"/>
                </a:cubicBezTo>
                <a:cubicBezTo>
                  <a:pt x="2134393" y="2069412"/>
                  <a:pt x="2147601" y="2058490"/>
                  <a:pt x="2159285" y="2045028"/>
                </a:cubicBezTo>
                <a:cubicBezTo>
                  <a:pt x="2171223" y="2059252"/>
                  <a:pt x="2184939" y="2070936"/>
                  <a:pt x="2200433" y="2079318"/>
                </a:cubicBezTo>
                <a:cubicBezTo>
                  <a:pt x="2203481" y="2074746"/>
                  <a:pt x="2208815" y="2068142"/>
                  <a:pt x="2212879" y="2064586"/>
                </a:cubicBezTo>
                <a:cubicBezTo>
                  <a:pt x="2196877" y="2056966"/>
                  <a:pt x="2182653" y="2045282"/>
                  <a:pt x="2170207" y="2031058"/>
                </a:cubicBezTo>
                <a:cubicBezTo>
                  <a:pt x="2186209" y="2008452"/>
                  <a:pt x="2198655" y="1979750"/>
                  <a:pt x="2205513" y="1945206"/>
                </a:cubicBezTo>
                <a:lnTo>
                  <a:pt x="2194337" y="1941142"/>
                </a:lnTo>
                <a:lnTo>
                  <a:pt x="2191035" y="1941904"/>
                </a:lnTo>
                <a:lnTo>
                  <a:pt x="2108231" y="1941904"/>
                </a:lnTo>
                <a:lnTo>
                  <a:pt x="2108231" y="1873324"/>
                </a:lnTo>
                <a:lnTo>
                  <a:pt x="2179605" y="1873324"/>
                </a:lnTo>
                <a:lnTo>
                  <a:pt x="2179605" y="1904566"/>
                </a:lnTo>
                <a:cubicBezTo>
                  <a:pt x="2179605" y="1907614"/>
                  <a:pt x="2178843" y="1908376"/>
                  <a:pt x="2174779" y="1908630"/>
                </a:cubicBezTo>
                <a:cubicBezTo>
                  <a:pt x="2170715" y="1908884"/>
                  <a:pt x="2157253" y="1908884"/>
                  <a:pt x="2141759" y="1908376"/>
                </a:cubicBezTo>
                <a:cubicBezTo>
                  <a:pt x="2144299" y="1912948"/>
                  <a:pt x="2147093" y="1919552"/>
                  <a:pt x="2147855" y="1924632"/>
                </a:cubicBezTo>
                <a:cubicBezTo>
                  <a:pt x="2167159" y="1924632"/>
                  <a:pt x="2180113" y="1924632"/>
                  <a:pt x="2187987" y="1922092"/>
                </a:cubicBezTo>
                <a:cubicBezTo>
                  <a:pt x="2196115" y="1919298"/>
                  <a:pt x="2198147" y="1914218"/>
                  <a:pt x="2198147" y="1904820"/>
                </a:cubicBezTo>
                <a:lnTo>
                  <a:pt x="2198147" y="1855544"/>
                </a:lnTo>
                <a:close/>
                <a:moveTo>
                  <a:pt x="2393573" y="1845130"/>
                </a:moveTo>
                <a:cubicBezTo>
                  <a:pt x="2383159" y="1869768"/>
                  <a:pt x="2364871" y="1892882"/>
                  <a:pt x="2344805" y="1907614"/>
                </a:cubicBezTo>
                <a:cubicBezTo>
                  <a:pt x="2349377" y="1910154"/>
                  <a:pt x="2356997" y="1915742"/>
                  <a:pt x="2360553" y="1918790"/>
                </a:cubicBezTo>
                <a:cubicBezTo>
                  <a:pt x="2366649" y="1913710"/>
                  <a:pt x="2372999" y="1907614"/>
                  <a:pt x="2378841" y="1900756"/>
                </a:cubicBezTo>
                <a:cubicBezTo>
                  <a:pt x="2386207" y="1912186"/>
                  <a:pt x="2395097" y="1922600"/>
                  <a:pt x="2405257" y="1931744"/>
                </a:cubicBezTo>
                <a:cubicBezTo>
                  <a:pt x="2392049" y="1940126"/>
                  <a:pt x="2376555" y="1946730"/>
                  <a:pt x="2359537" y="1951556"/>
                </a:cubicBezTo>
                <a:lnTo>
                  <a:pt x="2363347" y="1937840"/>
                </a:lnTo>
                <a:lnTo>
                  <a:pt x="2351409" y="1933776"/>
                </a:lnTo>
                <a:lnTo>
                  <a:pt x="2348615" y="1934792"/>
                </a:lnTo>
                <a:lnTo>
                  <a:pt x="2329819" y="1934792"/>
                </a:lnTo>
                <a:lnTo>
                  <a:pt x="2339979" y="1923616"/>
                </a:lnTo>
                <a:cubicBezTo>
                  <a:pt x="2334645" y="1918790"/>
                  <a:pt x="2327025" y="1913456"/>
                  <a:pt x="2318643" y="1908376"/>
                </a:cubicBezTo>
                <a:cubicBezTo>
                  <a:pt x="2333883" y="1896692"/>
                  <a:pt x="2349885" y="1880436"/>
                  <a:pt x="2360045" y="1865196"/>
                </a:cubicBezTo>
                <a:lnTo>
                  <a:pt x="2347599" y="1857322"/>
                </a:lnTo>
                <a:lnTo>
                  <a:pt x="2344551" y="1858084"/>
                </a:lnTo>
                <a:lnTo>
                  <a:pt x="2258191" y="1858084"/>
                </a:lnTo>
                <a:lnTo>
                  <a:pt x="2258191" y="1874594"/>
                </a:lnTo>
                <a:lnTo>
                  <a:pt x="2330581" y="1874594"/>
                </a:lnTo>
                <a:cubicBezTo>
                  <a:pt x="2323215" y="1883484"/>
                  <a:pt x="2313563" y="1892882"/>
                  <a:pt x="2304165" y="1899994"/>
                </a:cubicBezTo>
                <a:cubicBezTo>
                  <a:pt x="2295783" y="1895676"/>
                  <a:pt x="2286893" y="1891358"/>
                  <a:pt x="2279019" y="1888056"/>
                </a:cubicBezTo>
                <a:lnTo>
                  <a:pt x="2267081" y="1900502"/>
                </a:lnTo>
                <a:cubicBezTo>
                  <a:pt x="2286893" y="1909138"/>
                  <a:pt x="2310769" y="1923362"/>
                  <a:pt x="2324231" y="1934792"/>
                </a:cubicBezTo>
                <a:lnTo>
                  <a:pt x="2255397" y="1934792"/>
                </a:lnTo>
                <a:lnTo>
                  <a:pt x="2255397" y="1951810"/>
                </a:lnTo>
                <a:lnTo>
                  <a:pt x="2293751" y="1951810"/>
                </a:lnTo>
                <a:cubicBezTo>
                  <a:pt x="2284353" y="1977972"/>
                  <a:pt x="2268859" y="2005150"/>
                  <a:pt x="2252857" y="2019882"/>
                </a:cubicBezTo>
                <a:cubicBezTo>
                  <a:pt x="2256159" y="2024708"/>
                  <a:pt x="2260731" y="2032582"/>
                  <a:pt x="2262763" y="2037662"/>
                </a:cubicBezTo>
                <a:cubicBezTo>
                  <a:pt x="2276733" y="2023692"/>
                  <a:pt x="2290195" y="2000070"/>
                  <a:pt x="2300101" y="1975432"/>
                </a:cubicBezTo>
                <a:lnTo>
                  <a:pt x="2300101" y="2056712"/>
                </a:lnTo>
                <a:cubicBezTo>
                  <a:pt x="2300101" y="2059506"/>
                  <a:pt x="2299085" y="2060268"/>
                  <a:pt x="2296037" y="2060522"/>
                </a:cubicBezTo>
                <a:cubicBezTo>
                  <a:pt x="2292989" y="2060776"/>
                  <a:pt x="2282829" y="2060776"/>
                  <a:pt x="2271907" y="2060268"/>
                </a:cubicBezTo>
                <a:cubicBezTo>
                  <a:pt x="2274447" y="2065348"/>
                  <a:pt x="2276987" y="2073222"/>
                  <a:pt x="2277749" y="2078048"/>
                </a:cubicBezTo>
                <a:cubicBezTo>
                  <a:pt x="2293243" y="2078048"/>
                  <a:pt x="2303149" y="2077794"/>
                  <a:pt x="2309753" y="2075000"/>
                </a:cubicBezTo>
                <a:cubicBezTo>
                  <a:pt x="2316357" y="2071952"/>
                  <a:pt x="2318389" y="2066618"/>
                  <a:pt x="2318389" y="2056966"/>
                </a:cubicBezTo>
                <a:lnTo>
                  <a:pt x="2318389" y="1951810"/>
                </a:lnTo>
                <a:lnTo>
                  <a:pt x="2342519" y="1951810"/>
                </a:lnTo>
                <a:cubicBezTo>
                  <a:pt x="2338963" y="1966796"/>
                  <a:pt x="2333883" y="1982290"/>
                  <a:pt x="2329057" y="1992704"/>
                </a:cubicBezTo>
                <a:lnTo>
                  <a:pt x="2342265" y="1999308"/>
                </a:lnTo>
                <a:cubicBezTo>
                  <a:pt x="2347599" y="1988894"/>
                  <a:pt x="2352679" y="1974162"/>
                  <a:pt x="2357251" y="1959430"/>
                </a:cubicBezTo>
                <a:cubicBezTo>
                  <a:pt x="2360045" y="1962986"/>
                  <a:pt x="2362839" y="1966796"/>
                  <a:pt x="2364109" y="1969590"/>
                </a:cubicBezTo>
                <a:cubicBezTo>
                  <a:pt x="2384937" y="1962986"/>
                  <a:pt x="2403733" y="1954604"/>
                  <a:pt x="2419989" y="1943428"/>
                </a:cubicBezTo>
                <a:cubicBezTo>
                  <a:pt x="2437007" y="1955366"/>
                  <a:pt x="2456565" y="1964510"/>
                  <a:pt x="2477901" y="1970352"/>
                </a:cubicBezTo>
                <a:cubicBezTo>
                  <a:pt x="2480695" y="1965272"/>
                  <a:pt x="2486029" y="1957906"/>
                  <a:pt x="2490347" y="1954096"/>
                </a:cubicBezTo>
                <a:cubicBezTo>
                  <a:pt x="2469773" y="1949524"/>
                  <a:pt x="2450723" y="1941904"/>
                  <a:pt x="2434467" y="1931998"/>
                </a:cubicBezTo>
                <a:cubicBezTo>
                  <a:pt x="2447675" y="1920060"/>
                  <a:pt x="2458089" y="1905836"/>
                  <a:pt x="2465455" y="1888310"/>
                </a:cubicBezTo>
                <a:lnTo>
                  <a:pt x="2484759" y="1888310"/>
                </a:lnTo>
                <a:lnTo>
                  <a:pt x="2484759" y="1872054"/>
                </a:lnTo>
                <a:lnTo>
                  <a:pt x="2400177" y="1872054"/>
                </a:lnTo>
                <a:cubicBezTo>
                  <a:pt x="2404495" y="1864942"/>
                  <a:pt x="2408305" y="1857576"/>
                  <a:pt x="2411607" y="1850210"/>
                </a:cubicBezTo>
                <a:close/>
                <a:moveTo>
                  <a:pt x="2403733" y="1962732"/>
                </a:moveTo>
                <a:cubicBezTo>
                  <a:pt x="2402971" y="1971368"/>
                  <a:pt x="2401955" y="1979750"/>
                  <a:pt x="2400177" y="1987878"/>
                </a:cubicBezTo>
                <a:lnTo>
                  <a:pt x="2356489" y="1987878"/>
                </a:lnTo>
                <a:lnTo>
                  <a:pt x="2356489" y="2004388"/>
                </a:lnTo>
                <a:lnTo>
                  <a:pt x="2396113" y="2004388"/>
                </a:lnTo>
                <a:cubicBezTo>
                  <a:pt x="2388239" y="2030296"/>
                  <a:pt x="2372237" y="2051378"/>
                  <a:pt x="2336931" y="2064332"/>
                </a:cubicBezTo>
                <a:cubicBezTo>
                  <a:pt x="2340995" y="2067888"/>
                  <a:pt x="2346075" y="2074746"/>
                  <a:pt x="2348107" y="2079064"/>
                </a:cubicBezTo>
                <a:cubicBezTo>
                  <a:pt x="2389001" y="2063316"/>
                  <a:pt x="2407035" y="2036900"/>
                  <a:pt x="2415925" y="2004388"/>
                </a:cubicBezTo>
                <a:lnTo>
                  <a:pt x="2458851" y="2004388"/>
                </a:lnTo>
                <a:cubicBezTo>
                  <a:pt x="2455041" y="2038932"/>
                  <a:pt x="2451231" y="2053664"/>
                  <a:pt x="2446405" y="2058236"/>
                </a:cubicBezTo>
                <a:cubicBezTo>
                  <a:pt x="2444119" y="2060522"/>
                  <a:pt x="2441833" y="2060776"/>
                  <a:pt x="2437769" y="2060776"/>
                </a:cubicBezTo>
                <a:cubicBezTo>
                  <a:pt x="2433705" y="2060776"/>
                  <a:pt x="2423291" y="2060522"/>
                  <a:pt x="2412369" y="2059506"/>
                </a:cubicBezTo>
                <a:cubicBezTo>
                  <a:pt x="2415163" y="2064332"/>
                  <a:pt x="2417195" y="2071952"/>
                  <a:pt x="2417449" y="2077286"/>
                </a:cubicBezTo>
                <a:cubicBezTo>
                  <a:pt x="2429133" y="2078048"/>
                  <a:pt x="2440055" y="2077794"/>
                  <a:pt x="2445897" y="2077540"/>
                </a:cubicBezTo>
                <a:cubicBezTo>
                  <a:pt x="2452755" y="2076778"/>
                  <a:pt x="2457327" y="2075254"/>
                  <a:pt x="2461899" y="2070682"/>
                </a:cubicBezTo>
                <a:cubicBezTo>
                  <a:pt x="2469265" y="2063062"/>
                  <a:pt x="2474091" y="2043758"/>
                  <a:pt x="2478917" y="1996260"/>
                </a:cubicBezTo>
                <a:cubicBezTo>
                  <a:pt x="2479171" y="1993212"/>
                  <a:pt x="2479425" y="1987878"/>
                  <a:pt x="2479425" y="1987878"/>
                </a:cubicBezTo>
                <a:lnTo>
                  <a:pt x="2419481" y="1987878"/>
                </a:lnTo>
                <a:cubicBezTo>
                  <a:pt x="2421005" y="1979750"/>
                  <a:pt x="2422021" y="1971368"/>
                  <a:pt x="2422783" y="1962732"/>
                </a:cubicBezTo>
                <a:close/>
                <a:moveTo>
                  <a:pt x="2419481" y="1921330"/>
                </a:moveTo>
                <a:cubicBezTo>
                  <a:pt x="2407543" y="1911678"/>
                  <a:pt x="2397891" y="1900502"/>
                  <a:pt x="2390779" y="1888310"/>
                </a:cubicBezTo>
                <a:lnTo>
                  <a:pt x="2444119" y="1888310"/>
                </a:lnTo>
                <a:cubicBezTo>
                  <a:pt x="2438531" y="1901264"/>
                  <a:pt x="2429895" y="1911932"/>
                  <a:pt x="2419481" y="1921330"/>
                </a:cubicBezTo>
                <a:close/>
                <a:moveTo>
                  <a:pt x="2692349" y="2014040"/>
                </a:moveTo>
                <a:lnTo>
                  <a:pt x="2703525" y="2002610"/>
                </a:lnTo>
                <a:lnTo>
                  <a:pt x="2668092" y="1967304"/>
                </a:lnTo>
                <a:lnTo>
                  <a:pt x="2703525" y="1931998"/>
                </a:lnTo>
                <a:lnTo>
                  <a:pt x="2692222" y="1920695"/>
                </a:lnTo>
                <a:lnTo>
                  <a:pt x="2656916" y="1956001"/>
                </a:lnTo>
                <a:lnTo>
                  <a:pt x="2621483" y="1920695"/>
                </a:lnTo>
                <a:lnTo>
                  <a:pt x="2610180" y="1931998"/>
                </a:lnTo>
                <a:lnTo>
                  <a:pt x="2645613" y="1967304"/>
                </a:lnTo>
                <a:lnTo>
                  <a:pt x="2610180" y="2002610"/>
                </a:lnTo>
                <a:lnTo>
                  <a:pt x="2621483" y="2014040"/>
                </a:lnTo>
                <a:lnTo>
                  <a:pt x="2656916" y="1978607"/>
                </a:lnTo>
                <a:close/>
                <a:moveTo>
                  <a:pt x="2821073" y="2058744"/>
                </a:moveTo>
                <a:lnTo>
                  <a:pt x="2840504" y="2058744"/>
                </a:lnTo>
                <a:lnTo>
                  <a:pt x="2855744" y="2014421"/>
                </a:lnTo>
                <a:lnTo>
                  <a:pt x="2937024" y="2014421"/>
                </a:lnTo>
                <a:lnTo>
                  <a:pt x="2952391" y="2058744"/>
                </a:lnTo>
                <a:lnTo>
                  <a:pt x="2971822" y="2058744"/>
                </a:lnTo>
                <a:lnTo>
                  <a:pt x="2908830" y="1875864"/>
                </a:lnTo>
                <a:lnTo>
                  <a:pt x="2884065" y="1875864"/>
                </a:lnTo>
                <a:close/>
                <a:moveTo>
                  <a:pt x="2930928" y="1996895"/>
                </a:moveTo>
                <a:lnTo>
                  <a:pt x="2861840" y="1996895"/>
                </a:lnTo>
                <a:lnTo>
                  <a:pt x="2896257" y="1896946"/>
                </a:lnTo>
                <a:close/>
                <a:moveTo>
                  <a:pt x="3079491" y="2062554"/>
                </a:moveTo>
                <a:quadBezTo>
                  <a:pt x="3098668" y="2062554"/>
                  <a:pt x="3112257" y="2052966"/>
                </a:quadBezTo>
                <a:quadBezTo>
                  <a:pt x="3125846" y="2043377"/>
                  <a:pt x="3133085" y="2026994"/>
                </a:quadBezTo>
                <a:quadBezTo>
                  <a:pt x="3140324" y="2010611"/>
                  <a:pt x="3140324" y="1990037"/>
                </a:quadBezTo>
                <a:quadBezTo>
                  <a:pt x="3140324" y="1969590"/>
                  <a:pt x="3133148" y="1953207"/>
                </a:quadBezTo>
                <a:quadBezTo>
                  <a:pt x="3125973" y="1936824"/>
                  <a:pt x="3112511" y="1927299"/>
                </a:quadBezTo>
                <a:quadBezTo>
                  <a:pt x="3099049" y="1917774"/>
                  <a:pt x="3080253" y="1917774"/>
                </a:quadBezTo>
                <a:quadBezTo>
                  <a:pt x="3060949" y="1917774"/>
                  <a:pt x="3047741" y="1927172"/>
                </a:quadBezTo>
                <a:quadBezTo>
                  <a:pt x="3039994" y="1932633"/>
                  <a:pt x="3034533" y="1940507"/>
                </a:quadBezTo>
                <a:lnTo>
                  <a:pt x="3034533" y="1921584"/>
                </a:lnTo>
                <a:lnTo>
                  <a:pt x="3017769" y="1921584"/>
                </a:lnTo>
                <a:lnTo>
                  <a:pt x="3017769" y="2119704"/>
                </a:lnTo>
                <a:lnTo>
                  <a:pt x="3036565" y="2119704"/>
                </a:lnTo>
                <a:lnTo>
                  <a:pt x="3036565" y="2042361"/>
                </a:lnTo>
                <a:quadBezTo>
                  <a:pt x="3041264" y="2048457"/>
                  <a:pt x="3047487" y="2052902"/>
                </a:quadBezTo>
                <a:quadBezTo>
                  <a:pt x="3060568" y="2062554"/>
                  <a:pt x="3079491" y="2062554"/>
                </a:quadBezTo>
                <a:close/>
                <a:moveTo>
                  <a:pt x="3077586" y="2045155"/>
                </a:moveTo>
                <a:quadBezTo>
                  <a:pt x="3062981" y="2045155"/>
                  <a:pt x="3053456" y="2038043"/>
                </a:quadBezTo>
                <a:quadBezTo>
                  <a:pt x="3043931" y="2030931"/>
                  <a:pt x="3039232" y="2018422"/>
                </a:quadBezTo>
                <a:quadBezTo>
                  <a:pt x="3034533" y="2005912"/>
                  <a:pt x="3034533" y="1990037"/>
                </a:quadBezTo>
                <a:quadBezTo>
                  <a:pt x="3034533" y="1973908"/>
                  <a:pt x="3039232" y="1961526"/>
                </a:quadBezTo>
                <a:quadBezTo>
                  <a:pt x="3043931" y="1949143"/>
                  <a:pt x="3053392" y="1942158"/>
                </a:quadBezTo>
                <a:quadBezTo>
                  <a:pt x="3062854" y="1935173"/>
                  <a:pt x="3077205" y="1935173"/>
                </a:quadBezTo>
                <a:quadBezTo>
                  <a:pt x="3091937" y="1935173"/>
                  <a:pt x="3101525" y="1942412"/>
                </a:quadBezTo>
                <a:quadBezTo>
                  <a:pt x="3111114" y="1949651"/>
                  <a:pt x="3115813" y="1962097"/>
                </a:quadBezTo>
                <a:quadBezTo>
                  <a:pt x="3120512" y="1974543"/>
                  <a:pt x="3120512" y="1990037"/>
                </a:quadBezTo>
                <a:quadBezTo>
                  <a:pt x="3120512" y="2005658"/>
                  <a:pt x="3115749" y="2018168"/>
                </a:quadBezTo>
                <a:quadBezTo>
                  <a:pt x="3110987" y="2030677"/>
                  <a:pt x="3101462" y="2037916"/>
                </a:quadBezTo>
                <a:quadBezTo>
                  <a:pt x="3091937" y="2045155"/>
                  <a:pt x="3077586" y="2045155"/>
                </a:quadBezTo>
                <a:close/>
                <a:moveTo>
                  <a:pt x="3253072" y="2062554"/>
                </a:moveTo>
                <a:quadBezTo>
                  <a:pt x="3272249" y="2062554"/>
                  <a:pt x="3285838" y="2052966"/>
                </a:quadBezTo>
                <a:quadBezTo>
                  <a:pt x="3299427" y="2043377"/>
                  <a:pt x="3306666" y="2026994"/>
                </a:quadBezTo>
                <a:quadBezTo>
                  <a:pt x="3313905" y="2010611"/>
                  <a:pt x="3313905" y="1990037"/>
                </a:quadBezTo>
                <a:quadBezTo>
                  <a:pt x="3313905" y="1969590"/>
                  <a:pt x="3306730" y="1953207"/>
                </a:quadBezTo>
                <a:quadBezTo>
                  <a:pt x="3299554" y="1936824"/>
                  <a:pt x="3286092" y="1927299"/>
                </a:quadBezTo>
                <a:quadBezTo>
                  <a:pt x="3272630" y="1917774"/>
                  <a:pt x="3253834" y="1917774"/>
                </a:quadBezTo>
                <a:quadBezTo>
                  <a:pt x="3234530" y="1917774"/>
                  <a:pt x="3221322" y="1927172"/>
                </a:quadBezTo>
                <a:quadBezTo>
                  <a:pt x="3213575" y="1932633"/>
                  <a:pt x="3208114" y="1940507"/>
                </a:quadBezTo>
                <a:lnTo>
                  <a:pt x="3208114" y="1921584"/>
                </a:lnTo>
                <a:lnTo>
                  <a:pt x="3191350" y="1921584"/>
                </a:lnTo>
                <a:lnTo>
                  <a:pt x="3191350" y="2119704"/>
                </a:lnTo>
                <a:lnTo>
                  <a:pt x="3210146" y="2119704"/>
                </a:lnTo>
                <a:lnTo>
                  <a:pt x="3210146" y="2042361"/>
                </a:lnTo>
                <a:quadBezTo>
                  <a:pt x="3214845" y="2048457"/>
                  <a:pt x="3221068" y="2052902"/>
                </a:quadBezTo>
                <a:quadBezTo>
                  <a:pt x="3234149" y="2062554"/>
                  <a:pt x="3253072" y="2062554"/>
                </a:quadBezTo>
                <a:close/>
                <a:moveTo>
                  <a:pt x="3251167" y="2045155"/>
                </a:moveTo>
                <a:quadBezTo>
                  <a:pt x="3236562" y="2045155"/>
                  <a:pt x="3227037" y="2038043"/>
                </a:quadBezTo>
                <a:quadBezTo>
                  <a:pt x="3217512" y="2030931"/>
                  <a:pt x="3212813" y="2018422"/>
                </a:quadBezTo>
                <a:quadBezTo>
                  <a:pt x="3208114" y="2005912"/>
                  <a:pt x="3208114" y="1990037"/>
                </a:quadBezTo>
                <a:quadBezTo>
                  <a:pt x="3208114" y="1973908"/>
                  <a:pt x="3212813" y="1961526"/>
                </a:quadBezTo>
                <a:quadBezTo>
                  <a:pt x="3217512" y="1949143"/>
                  <a:pt x="3226974" y="1942158"/>
                </a:quadBezTo>
                <a:quadBezTo>
                  <a:pt x="3236435" y="1935173"/>
                  <a:pt x="3250786" y="1935173"/>
                </a:quadBezTo>
                <a:quadBezTo>
                  <a:pt x="3265518" y="1935173"/>
                  <a:pt x="3275107" y="1942412"/>
                </a:quadBezTo>
                <a:quadBezTo>
                  <a:pt x="3284695" y="1949651"/>
                  <a:pt x="3289394" y="1962097"/>
                </a:quadBezTo>
                <a:quadBezTo>
                  <a:pt x="3294093" y="1974543"/>
                  <a:pt x="3294093" y="1990037"/>
                </a:quadBezTo>
                <a:quadBezTo>
                  <a:pt x="3294093" y="2005658"/>
                  <a:pt x="3289331" y="2018168"/>
                </a:quadBezTo>
                <a:quadBezTo>
                  <a:pt x="3284568" y="2030677"/>
                  <a:pt x="3275043" y="2037916"/>
                </a:quadBezTo>
                <a:quadBezTo>
                  <a:pt x="3265518" y="2045155"/>
                  <a:pt x="3251167" y="2045155"/>
                </a:quadBezTo>
                <a:close/>
                <a:moveTo>
                  <a:pt x="3502065" y="1907106"/>
                </a:moveTo>
                <a:cubicBezTo>
                  <a:pt x="3486825" y="1926410"/>
                  <a:pt x="3461679" y="1946476"/>
                  <a:pt x="3439073" y="1959176"/>
                </a:cubicBezTo>
                <a:cubicBezTo>
                  <a:pt x="3443391" y="1962224"/>
                  <a:pt x="3450503" y="1969590"/>
                  <a:pt x="3454059" y="1973400"/>
                </a:cubicBezTo>
                <a:cubicBezTo>
                  <a:pt x="3476157" y="1958922"/>
                  <a:pt x="3503081" y="1936062"/>
                  <a:pt x="3520607" y="1914218"/>
                </a:cubicBezTo>
                <a:close/>
                <a:moveTo>
                  <a:pt x="3578265" y="1917774"/>
                </a:moveTo>
                <a:cubicBezTo>
                  <a:pt x="3601887" y="1934030"/>
                  <a:pt x="3630081" y="1958160"/>
                  <a:pt x="3643035" y="1974416"/>
                </a:cubicBezTo>
                <a:lnTo>
                  <a:pt x="3659037" y="1961716"/>
                </a:lnTo>
                <a:cubicBezTo>
                  <a:pt x="3645067" y="1945714"/>
                  <a:pt x="3616365" y="1922600"/>
                  <a:pt x="3593251" y="1906852"/>
                </a:cubicBezTo>
                <a:close/>
                <a:moveTo>
                  <a:pt x="3510701" y="1951556"/>
                </a:moveTo>
                <a:lnTo>
                  <a:pt x="3493683" y="1956890"/>
                </a:lnTo>
                <a:cubicBezTo>
                  <a:pt x="3503843" y="1981782"/>
                  <a:pt x="3517559" y="2002864"/>
                  <a:pt x="3535085" y="2020136"/>
                </a:cubicBezTo>
                <a:cubicBezTo>
                  <a:pt x="3508415" y="2040456"/>
                  <a:pt x="3474125" y="2053664"/>
                  <a:pt x="3433231" y="2062300"/>
                </a:cubicBezTo>
                <a:cubicBezTo>
                  <a:pt x="3436787" y="2066618"/>
                  <a:pt x="3442883" y="2075000"/>
                  <a:pt x="3444915" y="2079572"/>
                </a:cubicBezTo>
                <a:cubicBezTo>
                  <a:pt x="3485809" y="2069412"/>
                  <a:pt x="3521115" y="2054680"/>
                  <a:pt x="3549055" y="2032836"/>
                </a:cubicBezTo>
                <a:cubicBezTo>
                  <a:pt x="3575979" y="2054680"/>
                  <a:pt x="3610269" y="2069412"/>
                  <a:pt x="3652433" y="2077540"/>
                </a:cubicBezTo>
                <a:cubicBezTo>
                  <a:pt x="3654973" y="2072206"/>
                  <a:pt x="3660307" y="2064332"/>
                  <a:pt x="3664625" y="2060014"/>
                </a:cubicBezTo>
                <a:cubicBezTo>
                  <a:pt x="3623731" y="2053410"/>
                  <a:pt x="3589695" y="2039948"/>
                  <a:pt x="3563279" y="2020390"/>
                </a:cubicBezTo>
                <a:cubicBezTo>
                  <a:pt x="3581313" y="2002864"/>
                  <a:pt x="3595537" y="1981782"/>
                  <a:pt x="3605951" y="1955620"/>
                </a:cubicBezTo>
                <a:lnTo>
                  <a:pt x="3586901" y="1950286"/>
                </a:lnTo>
                <a:cubicBezTo>
                  <a:pt x="3578265" y="1973654"/>
                  <a:pt x="3565565" y="1992704"/>
                  <a:pt x="3549055" y="2008198"/>
                </a:cubicBezTo>
                <a:cubicBezTo>
                  <a:pt x="3532291" y="1992450"/>
                  <a:pt x="3519591" y="1973400"/>
                  <a:pt x="3510701" y="1951556"/>
                </a:cubicBezTo>
                <a:close/>
                <a:moveTo>
                  <a:pt x="3527465" y="1849194"/>
                </a:moveTo>
                <a:cubicBezTo>
                  <a:pt x="3533815" y="1858846"/>
                  <a:pt x="3540673" y="1871546"/>
                  <a:pt x="3544483" y="1880690"/>
                </a:cubicBezTo>
                <a:lnTo>
                  <a:pt x="3438311" y="1880690"/>
                </a:lnTo>
                <a:lnTo>
                  <a:pt x="3438311" y="1899232"/>
                </a:lnTo>
                <a:lnTo>
                  <a:pt x="3657767" y="1899232"/>
                </a:lnTo>
                <a:lnTo>
                  <a:pt x="3657767" y="1880690"/>
                </a:lnTo>
                <a:lnTo>
                  <a:pt x="3552611" y="1880690"/>
                </a:lnTo>
                <a:lnTo>
                  <a:pt x="3564041" y="1876118"/>
                </a:lnTo>
                <a:cubicBezTo>
                  <a:pt x="3560739" y="1867228"/>
                  <a:pt x="3552357" y="1853258"/>
                  <a:pt x="3545499" y="1843098"/>
                </a:cubicBezTo>
                <a:close/>
                <a:moveTo>
                  <a:pt x="3764547" y="1913202"/>
                </a:moveTo>
                <a:lnTo>
                  <a:pt x="3890023" y="1913202"/>
                </a:lnTo>
                <a:lnTo>
                  <a:pt x="3890023" y="1938602"/>
                </a:lnTo>
                <a:lnTo>
                  <a:pt x="3764547" y="1938602"/>
                </a:lnTo>
                <a:close/>
                <a:moveTo>
                  <a:pt x="3764547" y="1873070"/>
                </a:moveTo>
                <a:lnTo>
                  <a:pt x="3890023" y="1873070"/>
                </a:lnTo>
                <a:lnTo>
                  <a:pt x="3890023" y="1897962"/>
                </a:lnTo>
                <a:lnTo>
                  <a:pt x="3764547" y="1897962"/>
                </a:lnTo>
                <a:close/>
                <a:moveTo>
                  <a:pt x="3745751" y="1857068"/>
                </a:moveTo>
                <a:lnTo>
                  <a:pt x="3745751" y="1954604"/>
                </a:lnTo>
                <a:lnTo>
                  <a:pt x="3773945" y="1954604"/>
                </a:lnTo>
                <a:cubicBezTo>
                  <a:pt x="3757689" y="1977972"/>
                  <a:pt x="3733305" y="1999054"/>
                  <a:pt x="3708413" y="2013278"/>
                </a:cubicBezTo>
                <a:cubicBezTo>
                  <a:pt x="3712731" y="2016326"/>
                  <a:pt x="3720097" y="2023184"/>
                  <a:pt x="3723399" y="2026740"/>
                </a:cubicBezTo>
                <a:cubicBezTo>
                  <a:pt x="3737115" y="2017850"/>
                  <a:pt x="3751339" y="2006420"/>
                  <a:pt x="3764547" y="1993466"/>
                </a:cubicBezTo>
                <a:lnTo>
                  <a:pt x="3799853" y="1993466"/>
                </a:lnTo>
                <a:cubicBezTo>
                  <a:pt x="3782835" y="2020644"/>
                  <a:pt x="3757435" y="2044774"/>
                  <a:pt x="3730003" y="2060268"/>
                </a:cubicBezTo>
                <a:cubicBezTo>
                  <a:pt x="3734321" y="2063316"/>
                  <a:pt x="3741433" y="2070174"/>
                  <a:pt x="3744481" y="2073984"/>
                </a:cubicBezTo>
                <a:cubicBezTo>
                  <a:pt x="3773437" y="2054934"/>
                  <a:pt x="3802139" y="2026486"/>
                  <a:pt x="3821189" y="1993466"/>
                </a:cubicBezTo>
                <a:lnTo>
                  <a:pt x="3855479" y="1993466"/>
                </a:lnTo>
                <a:cubicBezTo>
                  <a:pt x="3843287" y="2023946"/>
                  <a:pt x="3823729" y="2050870"/>
                  <a:pt x="3800615" y="2068396"/>
                </a:cubicBezTo>
                <a:cubicBezTo>
                  <a:pt x="3804679" y="2071190"/>
                  <a:pt x="3812553" y="2077286"/>
                  <a:pt x="3815601" y="2080334"/>
                </a:cubicBezTo>
                <a:cubicBezTo>
                  <a:pt x="3839985" y="2060268"/>
                  <a:pt x="3861575" y="2029280"/>
                  <a:pt x="3875291" y="1993466"/>
                </a:cubicBezTo>
                <a:lnTo>
                  <a:pt x="3906025" y="1993466"/>
                </a:lnTo>
                <a:cubicBezTo>
                  <a:pt x="3901961" y="2037154"/>
                  <a:pt x="3897643" y="2055442"/>
                  <a:pt x="3892309" y="2060522"/>
                </a:cubicBezTo>
                <a:cubicBezTo>
                  <a:pt x="3889769" y="2063062"/>
                  <a:pt x="3887483" y="2063570"/>
                  <a:pt x="3882911" y="2063570"/>
                </a:cubicBezTo>
                <a:cubicBezTo>
                  <a:pt x="3878339" y="2063570"/>
                  <a:pt x="3866655" y="2063570"/>
                  <a:pt x="3854209" y="2062046"/>
                </a:cubicBezTo>
                <a:cubicBezTo>
                  <a:pt x="3857257" y="2066872"/>
                  <a:pt x="3859035" y="2073984"/>
                  <a:pt x="3859289" y="2078810"/>
                </a:cubicBezTo>
                <a:cubicBezTo>
                  <a:pt x="3871989" y="2079572"/>
                  <a:pt x="3884435" y="2079572"/>
                  <a:pt x="3890785" y="2079064"/>
                </a:cubicBezTo>
                <a:cubicBezTo>
                  <a:pt x="3898151" y="2078556"/>
                  <a:pt x="3903231" y="2076778"/>
                  <a:pt x="3908311" y="2071952"/>
                </a:cubicBezTo>
                <a:cubicBezTo>
                  <a:pt x="3915931" y="2063824"/>
                  <a:pt x="3921011" y="2041980"/>
                  <a:pt x="3925837" y="1984830"/>
                </a:cubicBezTo>
                <a:cubicBezTo>
                  <a:pt x="3926345" y="1982036"/>
                  <a:pt x="3926599" y="1976194"/>
                  <a:pt x="3926599" y="1976194"/>
                </a:cubicBezTo>
                <a:lnTo>
                  <a:pt x="3780295" y="1976194"/>
                </a:lnTo>
                <a:cubicBezTo>
                  <a:pt x="3786137" y="1969336"/>
                  <a:pt x="3791471" y="1961970"/>
                  <a:pt x="3796043" y="1954604"/>
                </a:cubicBezTo>
                <a:lnTo>
                  <a:pt x="3909073" y="1954604"/>
                </a:lnTo>
                <a:lnTo>
                  <a:pt x="3909073" y="1857068"/>
                </a:lnTo>
                <a:close/>
                <a:moveTo>
                  <a:pt x="4019917" y="1898724"/>
                </a:moveTo>
                <a:cubicBezTo>
                  <a:pt x="4029823" y="1917520"/>
                  <a:pt x="4039729" y="1942158"/>
                  <a:pt x="4043285" y="1957398"/>
                </a:cubicBezTo>
                <a:lnTo>
                  <a:pt x="4061319" y="1951048"/>
                </a:lnTo>
                <a:cubicBezTo>
                  <a:pt x="4057763" y="1936316"/>
                  <a:pt x="4047349" y="1911932"/>
                  <a:pt x="4037189" y="1893644"/>
                </a:cubicBezTo>
                <a:close/>
                <a:moveTo>
                  <a:pt x="4167491" y="1892374"/>
                </a:moveTo>
                <a:cubicBezTo>
                  <a:pt x="4161141" y="1910916"/>
                  <a:pt x="4149457" y="1936824"/>
                  <a:pt x="4139805" y="1952826"/>
                </a:cubicBezTo>
                <a:lnTo>
                  <a:pt x="4156315" y="1958160"/>
                </a:lnTo>
                <a:cubicBezTo>
                  <a:pt x="4166221" y="1942920"/>
                  <a:pt x="4178159" y="1918536"/>
                  <a:pt x="4187557" y="1897962"/>
                </a:cubicBezTo>
                <a:close/>
                <a:moveTo>
                  <a:pt x="3988929" y="1970352"/>
                </a:moveTo>
                <a:lnTo>
                  <a:pt x="3988929" y="1989402"/>
                </a:lnTo>
                <a:lnTo>
                  <a:pt x="4092307" y="1989402"/>
                </a:lnTo>
                <a:lnTo>
                  <a:pt x="4092307" y="2078810"/>
                </a:lnTo>
                <a:lnTo>
                  <a:pt x="4112119" y="2078810"/>
                </a:lnTo>
                <a:lnTo>
                  <a:pt x="4112119" y="1989402"/>
                </a:lnTo>
                <a:lnTo>
                  <a:pt x="4216767" y="1989402"/>
                </a:lnTo>
                <a:lnTo>
                  <a:pt x="4216767" y="1970352"/>
                </a:lnTo>
                <a:lnTo>
                  <a:pt x="4112119" y="1970352"/>
                </a:lnTo>
                <a:lnTo>
                  <a:pt x="4112119" y="1881452"/>
                </a:lnTo>
                <a:lnTo>
                  <a:pt x="4202543" y="1881452"/>
                </a:lnTo>
                <a:lnTo>
                  <a:pt x="4202543" y="1862402"/>
                </a:lnTo>
                <a:lnTo>
                  <a:pt x="4002391" y="1862402"/>
                </a:lnTo>
                <a:lnTo>
                  <a:pt x="4002391" y="1881452"/>
                </a:lnTo>
                <a:lnTo>
                  <a:pt x="4092307" y="1881452"/>
                </a:lnTo>
                <a:lnTo>
                  <a:pt x="4092307" y="1970352"/>
                </a:lnTo>
                <a:close/>
                <a:moveTo>
                  <a:pt x="4298400" y="1971876"/>
                </a:moveTo>
                <a:lnTo>
                  <a:pt x="4298400" y="2078810"/>
                </a:lnTo>
                <a:lnTo>
                  <a:pt x="4317704" y="2078810"/>
                </a:lnTo>
                <a:lnTo>
                  <a:pt x="4317704" y="2065094"/>
                </a:lnTo>
                <a:lnTo>
                  <a:pt x="4441148" y="2065094"/>
                </a:lnTo>
                <a:lnTo>
                  <a:pt x="4441148" y="2078302"/>
                </a:lnTo>
                <a:lnTo>
                  <a:pt x="4461468" y="2078302"/>
                </a:lnTo>
                <a:lnTo>
                  <a:pt x="4461468" y="1971876"/>
                </a:lnTo>
                <a:close/>
                <a:moveTo>
                  <a:pt x="4317704" y="2046552"/>
                </a:moveTo>
                <a:lnTo>
                  <a:pt x="4317704" y="1990164"/>
                </a:lnTo>
                <a:lnTo>
                  <a:pt x="4441148" y="1990164"/>
                </a:lnTo>
                <a:lnTo>
                  <a:pt x="4441148" y="2046552"/>
                </a:lnTo>
                <a:close/>
                <a:moveTo>
                  <a:pt x="4284938" y="1950540"/>
                </a:moveTo>
                <a:cubicBezTo>
                  <a:pt x="4294844" y="1946730"/>
                  <a:pt x="4309830" y="1946222"/>
                  <a:pt x="4456134" y="1938348"/>
                </a:cubicBezTo>
                <a:cubicBezTo>
                  <a:pt x="4462484" y="1946222"/>
                  <a:pt x="4467818" y="1953588"/>
                  <a:pt x="4471628" y="1960192"/>
                </a:cubicBezTo>
                <a:lnTo>
                  <a:pt x="4487884" y="1948508"/>
                </a:lnTo>
                <a:cubicBezTo>
                  <a:pt x="4474676" y="1927172"/>
                  <a:pt x="4444958" y="1895930"/>
                  <a:pt x="4420066" y="1874086"/>
                </a:cubicBezTo>
                <a:lnTo>
                  <a:pt x="4405080" y="1884246"/>
                </a:lnTo>
                <a:cubicBezTo>
                  <a:pt x="4417272" y="1895168"/>
                  <a:pt x="4430480" y="1908630"/>
                  <a:pt x="4442164" y="1921584"/>
                </a:cubicBezTo>
                <a:lnTo>
                  <a:pt x="4311608" y="1927680"/>
                </a:lnTo>
                <a:cubicBezTo>
                  <a:pt x="4334214" y="1906852"/>
                  <a:pt x="4357074" y="1880690"/>
                  <a:pt x="4377394" y="1852750"/>
                </a:cubicBezTo>
                <a:lnTo>
                  <a:pt x="4358344" y="1844368"/>
                </a:lnTo>
                <a:cubicBezTo>
                  <a:pt x="4338278" y="1875864"/>
                  <a:pt x="4308560" y="1908122"/>
                  <a:pt x="4299416" y="1916758"/>
                </a:cubicBezTo>
                <a:cubicBezTo>
                  <a:pt x="4290780" y="1925140"/>
                  <a:pt x="4284430" y="1930474"/>
                  <a:pt x="4278588" y="1931744"/>
                </a:cubicBezTo>
                <a:cubicBezTo>
                  <a:pt x="4280874" y="1936824"/>
                  <a:pt x="4283922" y="1946476"/>
                  <a:pt x="4284938" y="1950540"/>
                </a:cubicBezTo>
                <a:close/>
                <a:moveTo>
                  <a:pt x="4701571" y="2014040"/>
                </a:moveTo>
                <a:lnTo>
                  <a:pt x="4712747" y="2002610"/>
                </a:lnTo>
                <a:lnTo>
                  <a:pt x="4677314" y="1967304"/>
                </a:lnTo>
                <a:lnTo>
                  <a:pt x="4712747" y="1931998"/>
                </a:lnTo>
                <a:lnTo>
                  <a:pt x="4701444" y="1920695"/>
                </a:lnTo>
                <a:lnTo>
                  <a:pt x="4666138" y="1956001"/>
                </a:lnTo>
                <a:lnTo>
                  <a:pt x="4630705" y="1920695"/>
                </a:lnTo>
                <a:lnTo>
                  <a:pt x="4619402" y="1931998"/>
                </a:lnTo>
                <a:lnTo>
                  <a:pt x="4654835" y="1967304"/>
                </a:lnTo>
                <a:lnTo>
                  <a:pt x="4619402" y="2002610"/>
                </a:lnTo>
                <a:lnTo>
                  <a:pt x="4630705" y="2014040"/>
                </a:lnTo>
                <a:lnTo>
                  <a:pt x="4666138" y="1978607"/>
                </a:lnTo>
                <a:close/>
                <a:moveTo>
                  <a:pt x="4845534" y="2058744"/>
                </a:moveTo>
                <a:lnTo>
                  <a:pt x="4864204" y="2058744"/>
                </a:lnTo>
                <a:lnTo>
                  <a:pt x="4864204" y="1875864"/>
                </a:lnTo>
                <a:lnTo>
                  <a:pt x="4845534" y="1875864"/>
                </a:lnTo>
                <a:close/>
                <a:moveTo>
                  <a:pt x="4982794" y="2062554"/>
                </a:moveTo>
                <a:quadBezTo>
                  <a:pt x="5003114" y="2062554"/>
                  <a:pt x="5017719" y="2053410"/>
                </a:quadBezTo>
                <a:quadBezTo>
                  <a:pt x="5032324" y="2044266"/>
                  <a:pt x="5040071" y="2027946"/>
                </a:quadBezTo>
                <a:quadBezTo>
                  <a:pt x="5047818" y="2011627"/>
                  <a:pt x="5047818" y="1990037"/>
                </a:quadBezTo>
                <a:quadBezTo>
                  <a:pt x="5047818" y="1968828"/>
                  <a:pt x="5040135" y="1952508"/>
                </a:quadBezTo>
                <a:quadBezTo>
                  <a:pt x="5032451" y="1936189"/>
                  <a:pt x="5017910" y="1926982"/>
                </a:quadBezTo>
                <a:quadBezTo>
                  <a:pt x="5003368" y="1917774"/>
                  <a:pt x="4982794" y="1917774"/>
                </a:quadBezTo>
                <a:quadBezTo>
                  <a:pt x="4962728" y="1917774"/>
                  <a:pt x="4948187" y="1926854"/>
                </a:quadBezTo>
                <a:quadBezTo>
                  <a:pt x="4933645" y="1935935"/>
                  <a:pt x="4925771" y="1952191"/>
                </a:quadBezTo>
                <a:quadBezTo>
                  <a:pt x="4917897" y="1968447"/>
                  <a:pt x="4917897" y="1990037"/>
                </a:quadBezTo>
                <a:quadBezTo>
                  <a:pt x="4917897" y="2011246"/>
                  <a:pt x="4925644" y="2027629"/>
                </a:quadBezTo>
                <a:quadBezTo>
                  <a:pt x="4933391" y="2044012"/>
                  <a:pt x="4947869" y="2053283"/>
                </a:quadBezTo>
                <a:quadBezTo>
                  <a:pt x="4962347" y="2062554"/>
                  <a:pt x="4982794" y="2062554"/>
                </a:quadBezTo>
                <a:close/>
                <a:moveTo>
                  <a:pt x="4982794" y="2044647"/>
                </a:moveTo>
                <a:quadBezTo>
                  <a:pt x="4960569" y="2044647"/>
                  <a:pt x="4949139" y="2029724"/>
                </a:quadBezTo>
                <a:quadBezTo>
                  <a:pt x="4937709" y="2014802"/>
                  <a:pt x="4937709" y="1990037"/>
                </a:quadBezTo>
                <a:quadBezTo>
                  <a:pt x="4937709" y="1974035"/>
                  <a:pt x="4942599" y="1961780"/>
                </a:quadBezTo>
                <a:quadBezTo>
                  <a:pt x="4947488" y="1949524"/>
                  <a:pt x="4957458" y="1942602"/>
                </a:quadBezTo>
                <a:quadBezTo>
                  <a:pt x="4967427" y="1935681"/>
                  <a:pt x="4982794" y="1935681"/>
                </a:quadBezTo>
                <a:quadBezTo>
                  <a:pt x="5005527" y="1935681"/>
                  <a:pt x="5016767" y="1950413"/>
                </a:quadBezTo>
                <a:quadBezTo>
                  <a:pt x="5028006" y="1965145"/>
                  <a:pt x="5028006" y="1990037"/>
                </a:quadBezTo>
                <a:quadBezTo>
                  <a:pt x="5028006" y="2014294"/>
                  <a:pt x="5016830" y="2029470"/>
                </a:quadBezTo>
                <a:quadBezTo>
                  <a:pt x="5005654" y="2044647"/>
                  <a:pt x="4982794" y="2044647"/>
                </a:quadBezTo>
                <a:close/>
                <a:moveTo>
                  <a:pt x="5147613" y="2058744"/>
                </a:moveTo>
                <a:lnTo>
                  <a:pt x="5166282" y="2058744"/>
                </a:lnTo>
                <a:lnTo>
                  <a:pt x="5166282" y="1893771"/>
                </a:lnTo>
                <a:lnTo>
                  <a:pt x="5230163" y="1893771"/>
                </a:lnTo>
                <a:lnTo>
                  <a:pt x="5230163" y="1875864"/>
                </a:lnTo>
                <a:lnTo>
                  <a:pt x="5083732" y="1875864"/>
                </a:lnTo>
                <a:lnTo>
                  <a:pt x="5083732" y="1893771"/>
                </a:lnTo>
                <a:lnTo>
                  <a:pt x="5147613" y="1893771"/>
                </a:lnTo>
                <a:close/>
                <a:moveTo>
                  <a:pt x="5486141" y="1883230"/>
                </a:moveTo>
                <a:lnTo>
                  <a:pt x="5538973" y="1883230"/>
                </a:lnTo>
                <a:lnTo>
                  <a:pt x="5538973" y="1937332"/>
                </a:lnTo>
                <a:lnTo>
                  <a:pt x="5486141" y="1937332"/>
                </a:lnTo>
                <a:close/>
                <a:moveTo>
                  <a:pt x="5468361" y="1865958"/>
                </a:moveTo>
                <a:lnTo>
                  <a:pt x="5468361" y="1954604"/>
                </a:lnTo>
                <a:lnTo>
                  <a:pt x="5557515" y="1954604"/>
                </a:lnTo>
                <a:lnTo>
                  <a:pt x="5557515" y="1865958"/>
                </a:lnTo>
                <a:close/>
                <a:moveTo>
                  <a:pt x="5398257" y="2028772"/>
                </a:moveTo>
                <a:lnTo>
                  <a:pt x="5516621" y="2028772"/>
                </a:lnTo>
                <a:lnTo>
                  <a:pt x="5516621" y="2053918"/>
                </a:lnTo>
                <a:lnTo>
                  <a:pt x="5398257" y="2053918"/>
                </a:lnTo>
                <a:close/>
                <a:moveTo>
                  <a:pt x="5398257" y="2013786"/>
                </a:moveTo>
                <a:lnTo>
                  <a:pt x="5398257" y="1989910"/>
                </a:lnTo>
                <a:lnTo>
                  <a:pt x="5516621" y="1989910"/>
                </a:lnTo>
                <a:lnTo>
                  <a:pt x="5516621" y="2013786"/>
                </a:lnTo>
                <a:close/>
                <a:moveTo>
                  <a:pt x="5379461" y="1974162"/>
                </a:moveTo>
                <a:lnTo>
                  <a:pt x="5379461" y="2079064"/>
                </a:lnTo>
                <a:lnTo>
                  <a:pt x="5398257" y="2079064"/>
                </a:lnTo>
                <a:lnTo>
                  <a:pt x="5398257" y="2069666"/>
                </a:lnTo>
                <a:lnTo>
                  <a:pt x="5516621" y="2069666"/>
                </a:lnTo>
                <a:lnTo>
                  <a:pt x="5516621" y="2078556"/>
                </a:lnTo>
                <a:lnTo>
                  <a:pt x="5535925" y="2078556"/>
                </a:lnTo>
                <a:lnTo>
                  <a:pt x="5535925" y="1974162"/>
                </a:lnTo>
                <a:close/>
                <a:moveTo>
                  <a:pt x="5371079" y="1844622"/>
                </a:moveTo>
                <a:cubicBezTo>
                  <a:pt x="5365491" y="1863672"/>
                  <a:pt x="5355331" y="1882722"/>
                  <a:pt x="5342631" y="1895676"/>
                </a:cubicBezTo>
                <a:cubicBezTo>
                  <a:pt x="5346949" y="1897708"/>
                  <a:pt x="5354315" y="1902280"/>
                  <a:pt x="5357871" y="1905074"/>
                </a:cubicBezTo>
                <a:cubicBezTo>
                  <a:pt x="5363459" y="1898724"/>
                  <a:pt x="5368793" y="1890850"/>
                  <a:pt x="5373873" y="1881960"/>
                </a:cubicBezTo>
                <a:lnTo>
                  <a:pt x="5395463" y="1881960"/>
                </a:lnTo>
                <a:lnTo>
                  <a:pt x="5395463" y="1896946"/>
                </a:lnTo>
                <a:lnTo>
                  <a:pt x="5394955" y="1906090"/>
                </a:lnTo>
                <a:lnTo>
                  <a:pt x="5342631" y="1906090"/>
                </a:lnTo>
                <a:lnTo>
                  <a:pt x="5342631" y="1921838"/>
                </a:lnTo>
                <a:lnTo>
                  <a:pt x="5391653" y="1921838"/>
                </a:lnTo>
                <a:cubicBezTo>
                  <a:pt x="5386065" y="1937332"/>
                  <a:pt x="5372603" y="1954096"/>
                  <a:pt x="5340091" y="1966796"/>
                </a:cubicBezTo>
                <a:cubicBezTo>
                  <a:pt x="5344409" y="1970098"/>
                  <a:pt x="5349997" y="1975940"/>
                  <a:pt x="5352537" y="1980004"/>
                </a:cubicBezTo>
                <a:cubicBezTo>
                  <a:pt x="5379207" y="1968066"/>
                  <a:pt x="5394447" y="1953588"/>
                  <a:pt x="5403083" y="1938856"/>
                </a:cubicBezTo>
                <a:cubicBezTo>
                  <a:pt x="5415783" y="1947492"/>
                  <a:pt x="5434833" y="1961208"/>
                  <a:pt x="5442453" y="1967304"/>
                </a:cubicBezTo>
                <a:lnTo>
                  <a:pt x="5455661" y="1954350"/>
                </a:lnTo>
                <a:cubicBezTo>
                  <a:pt x="5448295" y="1949270"/>
                  <a:pt x="5419339" y="1931490"/>
                  <a:pt x="5408925" y="1925902"/>
                </a:cubicBezTo>
                <a:lnTo>
                  <a:pt x="5410195" y="1921838"/>
                </a:lnTo>
                <a:lnTo>
                  <a:pt x="5457693" y="1921838"/>
                </a:lnTo>
                <a:lnTo>
                  <a:pt x="5457693" y="1906090"/>
                </a:lnTo>
                <a:lnTo>
                  <a:pt x="5413243" y="1906090"/>
                </a:lnTo>
                <a:lnTo>
                  <a:pt x="5413497" y="1896946"/>
                </a:lnTo>
                <a:lnTo>
                  <a:pt x="5413497" y="1881960"/>
                </a:lnTo>
                <a:lnTo>
                  <a:pt x="5451089" y="1881960"/>
                </a:lnTo>
                <a:lnTo>
                  <a:pt x="5451089" y="1866466"/>
                </a:lnTo>
                <a:lnTo>
                  <a:pt x="5381747" y="1866466"/>
                </a:lnTo>
                <a:cubicBezTo>
                  <a:pt x="5384287" y="1860624"/>
                  <a:pt x="5386573" y="1854274"/>
                  <a:pt x="5388605" y="1848178"/>
                </a:cubicBezTo>
                <a:close/>
                <a:moveTo>
                  <a:pt x="5682836" y="2019374"/>
                </a:moveTo>
                <a:lnTo>
                  <a:pt x="5682836" y="2052648"/>
                </a:lnTo>
                <a:cubicBezTo>
                  <a:pt x="5682836" y="2071444"/>
                  <a:pt x="5689440" y="2076524"/>
                  <a:pt x="5716364" y="2076524"/>
                </a:cubicBezTo>
                <a:cubicBezTo>
                  <a:pt x="5721952" y="2076524"/>
                  <a:pt x="5760560" y="2076524"/>
                  <a:pt x="5766402" y="2076524"/>
                </a:cubicBezTo>
                <a:cubicBezTo>
                  <a:pt x="5786976" y="2076524"/>
                  <a:pt x="5792818" y="2069920"/>
                  <a:pt x="5795104" y="2042996"/>
                </a:cubicBezTo>
                <a:cubicBezTo>
                  <a:pt x="5790024" y="2041980"/>
                  <a:pt x="5782150" y="2039440"/>
                  <a:pt x="5778340" y="2036392"/>
                </a:cubicBezTo>
                <a:cubicBezTo>
                  <a:pt x="5777070" y="2056966"/>
                  <a:pt x="5775292" y="2059506"/>
                  <a:pt x="5764624" y="2059506"/>
                </a:cubicBezTo>
                <a:cubicBezTo>
                  <a:pt x="5756242" y="2059506"/>
                  <a:pt x="5723730" y="2059506"/>
                  <a:pt x="5717634" y="2059506"/>
                </a:cubicBezTo>
                <a:cubicBezTo>
                  <a:pt x="5703918" y="2059506"/>
                  <a:pt x="5701632" y="2058490"/>
                  <a:pt x="5701632" y="2052394"/>
                </a:cubicBezTo>
                <a:lnTo>
                  <a:pt x="5701632" y="2019374"/>
                </a:lnTo>
                <a:close/>
                <a:moveTo>
                  <a:pt x="5791548" y="2027502"/>
                </a:moveTo>
                <a:cubicBezTo>
                  <a:pt x="5809328" y="2039948"/>
                  <a:pt x="5827616" y="2058744"/>
                  <a:pt x="5835236" y="2072206"/>
                </a:cubicBezTo>
                <a:lnTo>
                  <a:pt x="5851492" y="2062300"/>
                </a:lnTo>
                <a:cubicBezTo>
                  <a:pt x="5843110" y="2048330"/>
                  <a:pt x="5824060" y="2030296"/>
                  <a:pt x="5806534" y="2018104"/>
                </a:cubicBezTo>
                <a:close/>
                <a:moveTo>
                  <a:pt x="5651340" y="2020136"/>
                </a:moveTo>
                <a:cubicBezTo>
                  <a:pt x="5644990" y="2036138"/>
                  <a:pt x="5633306" y="2052648"/>
                  <a:pt x="5617050" y="2062300"/>
                </a:cubicBezTo>
                <a:lnTo>
                  <a:pt x="5632290" y="2073222"/>
                </a:lnTo>
                <a:cubicBezTo>
                  <a:pt x="5649562" y="2062046"/>
                  <a:pt x="5660230" y="2043758"/>
                  <a:pt x="5667596" y="2026232"/>
                </a:cubicBezTo>
                <a:close/>
                <a:moveTo>
                  <a:pt x="5624924" y="1908884"/>
                </a:moveTo>
                <a:lnTo>
                  <a:pt x="5624924" y="1921584"/>
                </a:lnTo>
                <a:lnTo>
                  <a:pt x="5667596" y="1921584"/>
                </a:lnTo>
                <a:lnTo>
                  <a:pt x="5667596" y="1934792"/>
                </a:lnTo>
                <a:lnTo>
                  <a:pt x="5685376" y="1934792"/>
                </a:lnTo>
                <a:lnTo>
                  <a:pt x="5685376" y="1921584"/>
                </a:lnTo>
                <a:lnTo>
                  <a:pt x="5728048" y="1921584"/>
                </a:lnTo>
                <a:lnTo>
                  <a:pt x="5728048" y="1908884"/>
                </a:lnTo>
                <a:lnTo>
                  <a:pt x="5685376" y="1908884"/>
                </a:lnTo>
                <a:lnTo>
                  <a:pt x="5685376" y="1896184"/>
                </a:lnTo>
                <a:lnTo>
                  <a:pt x="5721952" y="1896184"/>
                </a:lnTo>
                <a:lnTo>
                  <a:pt x="5721952" y="1883484"/>
                </a:lnTo>
                <a:lnTo>
                  <a:pt x="5685376" y="1883484"/>
                </a:lnTo>
                <a:lnTo>
                  <a:pt x="5685376" y="1871292"/>
                </a:lnTo>
                <a:lnTo>
                  <a:pt x="5725254" y="1871292"/>
                </a:lnTo>
                <a:lnTo>
                  <a:pt x="5725254" y="1858592"/>
                </a:lnTo>
                <a:lnTo>
                  <a:pt x="5685376" y="1858592"/>
                </a:lnTo>
                <a:lnTo>
                  <a:pt x="5685376" y="1845384"/>
                </a:lnTo>
                <a:lnTo>
                  <a:pt x="5667596" y="1845384"/>
                </a:lnTo>
                <a:lnTo>
                  <a:pt x="5667596" y="1858592"/>
                </a:lnTo>
                <a:lnTo>
                  <a:pt x="5627464" y="1858592"/>
                </a:lnTo>
                <a:lnTo>
                  <a:pt x="5627464" y="1871292"/>
                </a:lnTo>
                <a:lnTo>
                  <a:pt x="5667596" y="1871292"/>
                </a:lnTo>
                <a:lnTo>
                  <a:pt x="5667596" y="1883484"/>
                </a:lnTo>
                <a:lnTo>
                  <a:pt x="5632290" y="1883484"/>
                </a:lnTo>
                <a:lnTo>
                  <a:pt x="5632290" y="1896184"/>
                </a:lnTo>
                <a:lnTo>
                  <a:pt x="5667596" y="1896184"/>
                </a:lnTo>
                <a:lnTo>
                  <a:pt x="5667596" y="1908884"/>
                </a:lnTo>
                <a:close/>
                <a:moveTo>
                  <a:pt x="5777324" y="1845384"/>
                </a:moveTo>
                <a:lnTo>
                  <a:pt x="5777324" y="1858592"/>
                </a:lnTo>
                <a:lnTo>
                  <a:pt x="5735414" y="1858592"/>
                </a:lnTo>
                <a:lnTo>
                  <a:pt x="5735414" y="1871292"/>
                </a:lnTo>
                <a:lnTo>
                  <a:pt x="5777324" y="1871292"/>
                </a:lnTo>
                <a:lnTo>
                  <a:pt x="5777324" y="1883230"/>
                </a:lnTo>
                <a:lnTo>
                  <a:pt x="5741002" y="1883230"/>
                </a:lnTo>
                <a:lnTo>
                  <a:pt x="5741002" y="1895676"/>
                </a:lnTo>
                <a:lnTo>
                  <a:pt x="5777324" y="1895676"/>
                </a:lnTo>
                <a:lnTo>
                  <a:pt x="5777324" y="1908884"/>
                </a:lnTo>
                <a:lnTo>
                  <a:pt x="5733890" y="1908884"/>
                </a:lnTo>
                <a:lnTo>
                  <a:pt x="5733890" y="1921584"/>
                </a:lnTo>
                <a:lnTo>
                  <a:pt x="5777324" y="1921584"/>
                </a:lnTo>
                <a:lnTo>
                  <a:pt x="5777324" y="1934792"/>
                </a:lnTo>
                <a:lnTo>
                  <a:pt x="5795358" y="1934792"/>
                </a:lnTo>
                <a:lnTo>
                  <a:pt x="5795358" y="1921584"/>
                </a:lnTo>
                <a:lnTo>
                  <a:pt x="5843872" y="1921584"/>
                </a:lnTo>
                <a:lnTo>
                  <a:pt x="5843872" y="1908884"/>
                </a:lnTo>
                <a:lnTo>
                  <a:pt x="5795358" y="1908884"/>
                </a:lnTo>
                <a:lnTo>
                  <a:pt x="5795358" y="1895676"/>
                </a:lnTo>
                <a:lnTo>
                  <a:pt x="5835744" y="1895676"/>
                </a:lnTo>
                <a:lnTo>
                  <a:pt x="5835744" y="1883230"/>
                </a:lnTo>
                <a:lnTo>
                  <a:pt x="5795358" y="1883230"/>
                </a:lnTo>
                <a:lnTo>
                  <a:pt x="5795358" y="1871292"/>
                </a:lnTo>
                <a:lnTo>
                  <a:pt x="5840062" y="1871292"/>
                </a:lnTo>
                <a:lnTo>
                  <a:pt x="5840062" y="1858592"/>
                </a:lnTo>
                <a:lnTo>
                  <a:pt x="5795358" y="1858592"/>
                </a:lnTo>
                <a:lnTo>
                  <a:pt x="5795358" y="1845384"/>
                </a:lnTo>
                <a:close/>
                <a:moveTo>
                  <a:pt x="5622130" y="1967050"/>
                </a:moveTo>
                <a:lnTo>
                  <a:pt x="5622130" y="1979496"/>
                </a:lnTo>
                <a:lnTo>
                  <a:pt x="5801962" y="1979496"/>
                </a:lnTo>
                <a:lnTo>
                  <a:pt x="5801962" y="1995244"/>
                </a:lnTo>
                <a:lnTo>
                  <a:pt x="5642450" y="1995244"/>
                </a:lnTo>
                <a:lnTo>
                  <a:pt x="5642450" y="2008198"/>
                </a:lnTo>
                <a:lnTo>
                  <a:pt x="5715856" y="2008198"/>
                </a:lnTo>
                <a:lnTo>
                  <a:pt x="5707474" y="2015564"/>
                </a:lnTo>
                <a:cubicBezTo>
                  <a:pt x="5722206" y="2022422"/>
                  <a:pt x="5738970" y="2033598"/>
                  <a:pt x="5747352" y="2042488"/>
                </a:cubicBezTo>
                <a:lnTo>
                  <a:pt x="5759798" y="2030550"/>
                </a:lnTo>
                <a:cubicBezTo>
                  <a:pt x="5752686" y="2023184"/>
                  <a:pt x="5739732" y="2014294"/>
                  <a:pt x="5727032" y="2008198"/>
                </a:cubicBezTo>
                <a:lnTo>
                  <a:pt x="5820758" y="2008198"/>
                </a:lnTo>
                <a:lnTo>
                  <a:pt x="5820758" y="1979496"/>
                </a:lnTo>
                <a:lnTo>
                  <a:pt x="5846920" y="1979496"/>
                </a:lnTo>
                <a:lnTo>
                  <a:pt x="5846920" y="1967050"/>
                </a:lnTo>
                <a:lnTo>
                  <a:pt x="5820758" y="1967050"/>
                </a:lnTo>
                <a:lnTo>
                  <a:pt x="5820758" y="1938348"/>
                </a:lnTo>
                <a:lnTo>
                  <a:pt x="5643974" y="1938348"/>
                </a:lnTo>
                <a:lnTo>
                  <a:pt x="5643974" y="1951302"/>
                </a:lnTo>
                <a:lnTo>
                  <a:pt x="5801962" y="1951302"/>
                </a:lnTo>
                <a:lnTo>
                  <a:pt x="5801962" y="1967050"/>
                </a:lnTo>
                <a:close/>
                <a:moveTo>
                  <a:pt x="5949636" y="2041726"/>
                </a:moveTo>
                <a:lnTo>
                  <a:pt x="6075366" y="2041726"/>
                </a:lnTo>
                <a:lnTo>
                  <a:pt x="6075366" y="2057982"/>
                </a:lnTo>
                <a:lnTo>
                  <a:pt x="5949636" y="2057982"/>
                </a:lnTo>
                <a:close/>
                <a:moveTo>
                  <a:pt x="5949636" y="2029280"/>
                </a:moveTo>
                <a:lnTo>
                  <a:pt x="5949636" y="2013786"/>
                </a:lnTo>
                <a:lnTo>
                  <a:pt x="6075366" y="2013786"/>
                </a:lnTo>
                <a:lnTo>
                  <a:pt x="6075366" y="2029280"/>
                </a:lnTo>
                <a:close/>
                <a:moveTo>
                  <a:pt x="5931094" y="2000578"/>
                </a:moveTo>
                <a:lnTo>
                  <a:pt x="5931094" y="2079826"/>
                </a:lnTo>
                <a:lnTo>
                  <a:pt x="5949636" y="2079826"/>
                </a:lnTo>
                <a:lnTo>
                  <a:pt x="5949636" y="2071444"/>
                </a:lnTo>
                <a:lnTo>
                  <a:pt x="6075366" y="2071444"/>
                </a:lnTo>
                <a:lnTo>
                  <a:pt x="6075366" y="2079318"/>
                </a:lnTo>
                <a:lnTo>
                  <a:pt x="6094416" y="2079318"/>
                </a:lnTo>
                <a:lnTo>
                  <a:pt x="6094416" y="2000578"/>
                </a:lnTo>
                <a:close/>
                <a:moveTo>
                  <a:pt x="5898328" y="1974162"/>
                </a:moveTo>
                <a:lnTo>
                  <a:pt x="5898328" y="1988640"/>
                </a:lnTo>
                <a:lnTo>
                  <a:pt x="6124388" y="1988640"/>
                </a:lnTo>
                <a:lnTo>
                  <a:pt x="6124388" y="1974162"/>
                </a:lnTo>
                <a:lnTo>
                  <a:pt x="6019994" y="1974162"/>
                </a:lnTo>
                <a:lnTo>
                  <a:pt x="6019994" y="1959430"/>
                </a:lnTo>
                <a:lnTo>
                  <a:pt x="6107370" y="1959430"/>
                </a:lnTo>
                <a:lnTo>
                  <a:pt x="6107370" y="1946476"/>
                </a:lnTo>
                <a:lnTo>
                  <a:pt x="6019994" y="1946476"/>
                </a:lnTo>
                <a:lnTo>
                  <a:pt x="6019994" y="1932252"/>
                </a:lnTo>
                <a:lnTo>
                  <a:pt x="6093146" y="1932252"/>
                </a:lnTo>
                <a:lnTo>
                  <a:pt x="6093146" y="1904312"/>
                </a:lnTo>
                <a:lnTo>
                  <a:pt x="6124388" y="1904312"/>
                </a:lnTo>
                <a:lnTo>
                  <a:pt x="6124388" y="1890088"/>
                </a:lnTo>
                <a:lnTo>
                  <a:pt x="6093146" y="1890088"/>
                </a:lnTo>
                <a:lnTo>
                  <a:pt x="6093146" y="1862910"/>
                </a:lnTo>
                <a:lnTo>
                  <a:pt x="6019994" y="1862910"/>
                </a:lnTo>
                <a:lnTo>
                  <a:pt x="6019994" y="1844876"/>
                </a:lnTo>
                <a:lnTo>
                  <a:pt x="6000944" y="1844876"/>
                </a:lnTo>
                <a:lnTo>
                  <a:pt x="6000944" y="1862910"/>
                </a:lnTo>
                <a:lnTo>
                  <a:pt x="5925506" y="1862910"/>
                </a:lnTo>
                <a:lnTo>
                  <a:pt x="5925506" y="1875610"/>
                </a:lnTo>
                <a:lnTo>
                  <a:pt x="6000944" y="1875610"/>
                </a:lnTo>
                <a:lnTo>
                  <a:pt x="6000944" y="1890088"/>
                </a:lnTo>
                <a:lnTo>
                  <a:pt x="5898836" y="1890088"/>
                </a:lnTo>
                <a:lnTo>
                  <a:pt x="5898836" y="1904312"/>
                </a:lnTo>
                <a:lnTo>
                  <a:pt x="6000944" y="1904312"/>
                </a:lnTo>
                <a:lnTo>
                  <a:pt x="6000944" y="1919552"/>
                </a:lnTo>
                <a:lnTo>
                  <a:pt x="5922712" y="1919552"/>
                </a:lnTo>
                <a:lnTo>
                  <a:pt x="5922712" y="1932252"/>
                </a:lnTo>
                <a:lnTo>
                  <a:pt x="6000944" y="1932252"/>
                </a:lnTo>
                <a:lnTo>
                  <a:pt x="6000944" y="1946476"/>
                </a:lnTo>
                <a:lnTo>
                  <a:pt x="5915600" y="1946476"/>
                </a:lnTo>
                <a:lnTo>
                  <a:pt x="5915600" y="1959430"/>
                </a:lnTo>
                <a:lnTo>
                  <a:pt x="6000944" y="1959430"/>
                </a:lnTo>
                <a:lnTo>
                  <a:pt x="6000944" y="1974162"/>
                </a:lnTo>
                <a:close/>
                <a:moveTo>
                  <a:pt x="6019994" y="1875610"/>
                </a:moveTo>
                <a:lnTo>
                  <a:pt x="6074350" y="1875610"/>
                </a:lnTo>
                <a:lnTo>
                  <a:pt x="6074350" y="1890088"/>
                </a:lnTo>
                <a:lnTo>
                  <a:pt x="6019994" y="1890088"/>
                </a:lnTo>
                <a:close/>
                <a:moveTo>
                  <a:pt x="6019994" y="1919552"/>
                </a:moveTo>
                <a:lnTo>
                  <a:pt x="6019994" y="1904312"/>
                </a:lnTo>
                <a:lnTo>
                  <a:pt x="6074350" y="1904312"/>
                </a:lnTo>
                <a:lnTo>
                  <a:pt x="6074350" y="1919552"/>
                </a:lnTo>
                <a:close/>
                <a:moveTo>
                  <a:pt x="6309400" y="1980004"/>
                </a:moveTo>
                <a:lnTo>
                  <a:pt x="6376202" y="1980004"/>
                </a:lnTo>
                <a:lnTo>
                  <a:pt x="6376202" y="1990672"/>
                </a:lnTo>
                <a:lnTo>
                  <a:pt x="6309400" y="1990672"/>
                </a:lnTo>
                <a:close/>
                <a:moveTo>
                  <a:pt x="6309400" y="2000832"/>
                </a:moveTo>
                <a:lnTo>
                  <a:pt x="6376202" y="2000832"/>
                </a:lnTo>
                <a:lnTo>
                  <a:pt x="6376202" y="2011500"/>
                </a:lnTo>
                <a:lnTo>
                  <a:pt x="6309400" y="2011500"/>
                </a:lnTo>
                <a:close/>
                <a:moveTo>
                  <a:pt x="6309400" y="1959684"/>
                </a:moveTo>
                <a:lnTo>
                  <a:pt x="6376202" y="1959684"/>
                </a:lnTo>
                <a:lnTo>
                  <a:pt x="6376202" y="1970098"/>
                </a:lnTo>
                <a:lnTo>
                  <a:pt x="6309400" y="1970098"/>
                </a:lnTo>
                <a:close/>
                <a:moveTo>
                  <a:pt x="6256568" y="1855544"/>
                </a:moveTo>
                <a:lnTo>
                  <a:pt x="6256568" y="2070936"/>
                </a:lnTo>
                <a:lnTo>
                  <a:pt x="6406428" y="2070936"/>
                </a:lnTo>
                <a:lnTo>
                  <a:pt x="6406428" y="2055442"/>
                </a:lnTo>
                <a:lnTo>
                  <a:pt x="6274094" y="2055442"/>
                </a:lnTo>
                <a:lnTo>
                  <a:pt x="6274094" y="1870784"/>
                </a:lnTo>
                <a:lnTo>
                  <a:pt x="6403380" y="1870784"/>
                </a:lnTo>
                <a:lnTo>
                  <a:pt x="6403380" y="1855544"/>
                </a:lnTo>
                <a:close/>
                <a:moveTo>
                  <a:pt x="6293906" y="1886278"/>
                </a:moveTo>
                <a:lnTo>
                  <a:pt x="6293906" y="1918282"/>
                </a:lnTo>
                <a:lnTo>
                  <a:pt x="6333784" y="1918282"/>
                </a:lnTo>
                <a:lnTo>
                  <a:pt x="6333784" y="1928950"/>
                </a:lnTo>
                <a:lnTo>
                  <a:pt x="6281206" y="1928950"/>
                </a:lnTo>
                <a:lnTo>
                  <a:pt x="6281206" y="1940634"/>
                </a:lnTo>
                <a:lnTo>
                  <a:pt x="6403634" y="1940634"/>
                </a:lnTo>
                <a:lnTo>
                  <a:pt x="6403634" y="1928950"/>
                </a:lnTo>
                <a:lnTo>
                  <a:pt x="6350294" y="1928950"/>
                </a:lnTo>
                <a:lnTo>
                  <a:pt x="6350294" y="1918282"/>
                </a:lnTo>
                <a:lnTo>
                  <a:pt x="6390934" y="1918282"/>
                </a:lnTo>
                <a:lnTo>
                  <a:pt x="6390934" y="1886278"/>
                </a:lnTo>
                <a:lnTo>
                  <a:pt x="6350294" y="1886278"/>
                </a:lnTo>
                <a:lnTo>
                  <a:pt x="6350294" y="1875356"/>
                </a:lnTo>
                <a:lnTo>
                  <a:pt x="6333784" y="1875356"/>
                </a:lnTo>
                <a:lnTo>
                  <a:pt x="6333784" y="1886278"/>
                </a:lnTo>
                <a:close/>
                <a:moveTo>
                  <a:pt x="6308638" y="1895930"/>
                </a:moveTo>
                <a:lnTo>
                  <a:pt x="6333784" y="1895930"/>
                </a:lnTo>
                <a:lnTo>
                  <a:pt x="6333784" y="1908630"/>
                </a:lnTo>
                <a:lnTo>
                  <a:pt x="6308638" y="1908630"/>
                </a:lnTo>
                <a:close/>
                <a:moveTo>
                  <a:pt x="6350294" y="1895930"/>
                </a:moveTo>
                <a:lnTo>
                  <a:pt x="6375948" y="1895930"/>
                </a:lnTo>
                <a:lnTo>
                  <a:pt x="6375948" y="1908630"/>
                </a:lnTo>
                <a:lnTo>
                  <a:pt x="6350294" y="1908630"/>
                </a:lnTo>
                <a:close/>
                <a:moveTo>
                  <a:pt x="6293144" y="1949524"/>
                </a:moveTo>
                <a:lnTo>
                  <a:pt x="6293144" y="2021914"/>
                </a:lnTo>
                <a:lnTo>
                  <a:pt x="6318290" y="2021914"/>
                </a:lnTo>
                <a:cubicBezTo>
                  <a:pt x="6309400" y="2028772"/>
                  <a:pt x="6294414" y="2036900"/>
                  <a:pt x="6282476" y="2041726"/>
                </a:cubicBezTo>
                <a:cubicBezTo>
                  <a:pt x="6286032" y="2044520"/>
                  <a:pt x="6290858" y="2049092"/>
                  <a:pt x="6293144" y="2052140"/>
                </a:cubicBezTo>
                <a:cubicBezTo>
                  <a:pt x="6305590" y="2046806"/>
                  <a:pt x="6322608" y="2037154"/>
                  <a:pt x="6334546" y="2028264"/>
                </a:cubicBezTo>
                <a:lnTo>
                  <a:pt x="6323624" y="2021914"/>
                </a:lnTo>
                <a:lnTo>
                  <a:pt x="6362232" y="2021914"/>
                </a:lnTo>
                <a:lnTo>
                  <a:pt x="6352834" y="2029026"/>
                </a:lnTo>
                <a:cubicBezTo>
                  <a:pt x="6366042" y="2035630"/>
                  <a:pt x="6382044" y="2045536"/>
                  <a:pt x="6390426" y="2051886"/>
                </a:cubicBezTo>
                <a:lnTo>
                  <a:pt x="6402110" y="2042488"/>
                </a:lnTo>
                <a:cubicBezTo>
                  <a:pt x="6394490" y="2036138"/>
                  <a:pt x="6379504" y="2028010"/>
                  <a:pt x="6367312" y="2021914"/>
                </a:cubicBezTo>
                <a:lnTo>
                  <a:pt x="6393220" y="2021914"/>
                </a:lnTo>
                <a:lnTo>
                  <a:pt x="6393220" y="1949524"/>
                </a:lnTo>
                <a:close/>
                <a:moveTo>
                  <a:pt x="6206784" y="1844876"/>
                </a:moveTo>
                <a:lnTo>
                  <a:pt x="6206784" y="1898978"/>
                </a:lnTo>
                <a:lnTo>
                  <a:pt x="6174526" y="1898978"/>
                </a:lnTo>
                <a:lnTo>
                  <a:pt x="6174526" y="1916758"/>
                </a:lnTo>
                <a:lnTo>
                  <a:pt x="6205514" y="1916758"/>
                </a:lnTo>
                <a:cubicBezTo>
                  <a:pt x="6198656" y="1951556"/>
                  <a:pt x="6183924" y="1992196"/>
                  <a:pt x="6168938" y="2013786"/>
                </a:cubicBezTo>
                <a:cubicBezTo>
                  <a:pt x="6172240" y="2018104"/>
                  <a:pt x="6177066" y="2026232"/>
                  <a:pt x="6179098" y="2031566"/>
                </a:cubicBezTo>
                <a:cubicBezTo>
                  <a:pt x="6189258" y="2015564"/>
                  <a:pt x="6199164" y="1990164"/>
                  <a:pt x="6206784" y="1963240"/>
                </a:cubicBezTo>
                <a:lnTo>
                  <a:pt x="6206784" y="2078302"/>
                </a:lnTo>
                <a:lnTo>
                  <a:pt x="6224056" y="2078302"/>
                </a:lnTo>
                <a:lnTo>
                  <a:pt x="6224056" y="1955366"/>
                </a:lnTo>
                <a:cubicBezTo>
                  <a:pt x="6231422" y="1968320"/>
                  <a:pt x="6240312" y="1984322"/>
                  <a:pt x="6243868" y="1992704"/>
                </a:cubicBezTo>
                <a:lnTo>
                  <a:pt x="6254282" y="1977972"/>
                </a:lnTo>
                <a:cubicBezTo>
                  <a:pt x="6249964" y="1970860"/>
                  <a:pt x="6230406" y="1941142"/>
                  <a:pt x="6224056" y="1932506"/>
                </a:cubicBezTo>
                <a:lnTo>
                  <a:pt x="6224056" y="1916758"/>
                </a:lnTo>
                <a:lnTo>
                  <a:pt x="6250980" y="1916758"/>
                </a:lnTo>
                <a:lnTo>
                  <a:pt x="6250980" y="1898978"/>
                </a:lnTo>
                <a:lnTo>
                  <a:pt x="6224056" y="1898978"/>
                </a:lnTo>
                <a:lnTo>
                  <a:pt x="6224056" y="1844876"/>
                </a:lnTo>
                <a:close/>
              </a:path>
            </a:pathLst>
          </a:custGeom>
          <a:solidFill>
            <a:srgbClr val="F8FAF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91043 0 E" pathEditMode="relative" rAng="0" ptsTypes="AA">
                                      <p:cBhvr>
                                        <p:cTn id="6" dur="3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E1EE4E8-8D4E-4DAC-2A1F-26B7D8D501AF}"/>
              </a:ext>
            </a:extLst>
          </p:cNvPr>
          <p:cNvSpPr/>
          <p:nvPr/>
        </p:nvSpPr>
        <p:spPr>
          <a:xfrm>
            <a:off x="1" y="0"/>
            <a:ext cx="41605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nrope (本文)"/>
            </a:endParaRPr>
          </a:p>
        </p:txBody>
      </p:sp>
      <p:sp>
        <p:nvSpPr>
          <p:cNvPr id="5" name="文字 3">
            <a:extLst>
              <a:ext uri="{FF2B5EF4-FFF2-40B4-BE49-F238E27FC236}">
                <a16:creationId xmlns:a16="http://schemas.microsoft.com/office/drawing/2014/main" id="{48A990AC-2969-FC96-819F-CD940ECAAB5E}"/>
              </a:ext>
            </a:extLst>
          </p:cNvPr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4800" b="1" spc="300" dirty="0">
                <a:solidFill>
                  <a:srgbClr val="FFFFFF"/>
                </a:solidFill>
                <a:latin typeface="Manrope (本文)"/>
              </a:rPr>
              <a:t>目 錄</a:t>
            </a:r>
            <a:endParaRPr lang="zh-TW" altLang="en-US" sz="4800" spc="300" dirty="0">
              <a:latin typeface="Manrope (本文)"/>
            </a:endParaRPr>
          </a:p>
        </p:txBody>
      </p:sp>
      <p:sp>
        <p:nvSpPr>
          <p:cNvPr id="6" name="文字 4">
            <a:extLst>
              <a:ext uri="{FF2B5EF4-FFF2-40B4-BE49-F238E27FC236}">
                <a16:creationId xmlns:a16="http://schemas.microsoft.com/office/drawing/2014/main" id="{A421CA77-218E-8F36-8D1C-D2389CA0D2F8}"/>
              </a:ext>
            </a:extLst>
          </p:cNvPr>
          <p:cNvSpPr txBox="1"/>
          <p:nvPr/>
        </p:nvSpPr>
        <p:spPr>
          <a:xfrm>
            <a:off x="868680" y="32918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600" b="1" spc="6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</a:rPr>
              <a:t>CONTENTS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67F44F9E-2B10-A462-7B28-61CE796785DC}"/>
              </a:ext>
            </a:extLst>
          </p:cNvPr>
          <p:cNvGrpSpPr/>
          <p:nvPr/>
        </p:nvGrpSpPr>
        <p:grpSpPr>
          <a:xfrm>
            <a:off x="5212080" y="1049274"/>
            <a:ext cx="6192000" cy="877824"/>
            <a:chOff x="5212080" y="1049274"/>
            <a:chExt cx="6192000" cy="877824"/>
          </a:xfrm>
        </p:grpSpPr>
        <p:sp>
          <p:nvSpPr>
            <p:cNvPr id="8" name="文字 6">
              <a:extLst>
                <a:ext uri="{FF2B5EF4-FFF2-40B4-BE49-F238E27FC236}">
                  <a16:creationId xmlns:a16="http://schemas.microsoft.com/office/drawing/2014/main" id="{F51A2275-02DC-5C09-B5CD-B94321A53C6D}"/>
                </a:ext>
              </a:extLst>
            </p:cNvPr>
            <p:cNvSpPr txBox="1"/>
            <p:nvPr/>
          </p:nvSpPr>
          <p:spPr>
            <a:xfrm>
              <a:off x="5212080" y="1049274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01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9" name="文字 7">
              <a:extLst>
                <a:ext uri="{FF2B5EF4-FFF2-40B4-BE49-F238E27FC236}">
                  <a16:creationId xmlns:a16="http://schemas.microsoft.com/office/drawing/2014/main" id="{2216E356-00C6-B01D-0EF0-40191D14C0D1}"/>
                </a:ext>
              </a:extLst>
            </p:cNvPr>
            <p:cNvSpPr txBox="1"/>
            <p:nvPr/>
          </p:nvSpPr>
          <p:spPr>
            <a:xfrm>
              <a:off x="6263640" y="1079373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初評建議與改善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0" name="文字 8">
              <a:extLst>
                <a:ext uri="{FF2B5EF4-FFF2-40B4-BE49-F238E27FC236}">
                  <a16:creationId xmlns:a16="http://schemas.microsoft.com/office/drawing/2014/main" id="{B2B90574-89B3-60DC-0E91-70A0D98629BB}"/>
                </a:ext>
              </a:extLst>
            </p:cNvPr>
            <p:cNvSpPr txBox="1"/>
            <p:nvPr/>
          </p:nvSpPr>
          <p:spPr>
            <a:xfrm>
              <a:off x="6281928" y="1536573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REVIEW RESPONSE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1" name="文字 9">
              <a:extLst>
                <a:ext uri="{FF2B5EF4-FFF2-40B4-BE49-F238E27FC236}">
                  <a16:creationId xmlns:a16="http://schemas.microsoft.com/office/drawing/2014/main" id="{985620BB-1531-6AA5-79CE-EDAD3C33BEC2}"/>
                </a:ext>
              </a:extLst>
            </p:cNvPr>
            <p:cNvSpPr txBox="1"/>
            <p:nvPr/>
          </p:nvSpPr>
          <p:spPr>
            <a:xfrm>
              <a:off x="10146030" y="1140714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P.4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2" name="線條 10">
              <a:extLst>
                <a:ext uri="{FF2B5EF4-FFF2-40B4-BE49-F238E27FC236}">
                  <a16:creationId xmlns:a16="http://schemas.microsoft.com/office/drawing/2014/main" id="{00536348-55F0-B364-0727-26AB87542AC8}"/>
                </a:ext>
              </a:extLst>
            </p:cNvPr>
            <p:cNvCxnSpPr/>
            <p:nvPr/>
          </p:nvCxnSpPr>
          <p:spPr>
            <a:xfrm>
              <a:off x="5212080" y="1927098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3892E02B-D39F-43CA-A037-2CBF008DF2CE}"/>
              </a:ext>
            </a:extLst>
          </p:cNvPr>
          <p:cNvGrpSpPr/>
          <p:nvPr/>
        </p:nvGrpSpPr>
        <p:grpSpPr>
          <a:xfrm>
            <a:off x="5212080" y="2046351"/>
            <a:ext cx="6192000" cy="877824"/>
            <a:chOff x="5212080" y="2046351"/>
            <a:chExt cx="6192000" cy="877824"/>
          </a:xfrm>
        </p:grpSpPr>
        <p:sp>
          <p:nvSpPr>
            <p:cNvPr id="13" name="文字 11">
              <a:extLst>
                <a:ext uri="{FF2B5EF4-FFF2-40B4-BE49-F238E27FC236}">
                  <a16:creationId xmlns:a16="http://schemas.microsoft.com/office/drawing/2014/main" id="{281525E2-6517-8960-A0CE-2B64351F67E1}"/>
                </a:ext>
              </a:extLst>
            </p:cNvPr>
            <p:cNvSpPr txBox="1"/>
            <p:nvPr/>
          </p:nvSpPr>
          <p:spPr>
            <a:xfrm>
              <a:off x="5212080" y="2046351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02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4" name="文字 12">
              <a:extLst>
                <a:ext uri="{FF2B5EF4-FFF2-40B4-BE49-F238E27FC236}">
                  <a16:creationId xmlns:a16="http://schemas.microsoft.com/office/drawing/2014/main" id="{6799ECFB-E493-D362-03E7-C61D0ACAC432}"/>
                </a:ext>
              </a:extLst>
            </p:cNvPr>
            <p:cNvSpPr txBox="1"/>
            <p:nvPr/>
          </p:nvSpPr>
          <p:spPr>
            <a:xfrm>
              <a:off x="6263640" y="2076450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系統核心與架構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5" name="文字 13">
              <a:extLst>
                <a:ext uri="{FF2B5EF4-FFF2-40B4-BE49-F238E27FC236}">
                  <a16:creationId xmlns:a16="http://schemas.microsoft.com/office/drawing/2014/main" id="{6A422060-2675-7ABE-F571-0E20BC0DA124}"/>
                </a:ext>
              </a:extLst>
            </p:cNvPr>
            <p:cNvSpPr txBox="1"/>
            <p:nvPr/>
          </p:nvSpPr>
          <p:spPr>
            <a:xfrm>
              <a:off x="6281928" y="2533650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SYSTEM OVERVIEW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6" name="文字 14">
              <a:extLst>
                <a:ext uri="{FF2B5EF4-FFF2-40B4-BE49-F238E27FC236}">
                  <a16:creationId xmlns:a16="http://schemas.microsoft.com/office/drawing/2014/main" id="{9A66E684-F1CD-C9F3-BD08-55C19B5BDFBC}"/>
                </a:ext>
              </a:extLst>
            </p:cNvPr>
            <p:cNvSpPr txBox="1"/>
            <p:nvPr/>
          </p:nvSpPr>
          <p:spPr>
            <a:xfrm>
              <a:off x="10146030" y="2137791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P.8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7" name="線條 15">
              <a:extLst>
                <a:ext uri="{FF2B5EF4-FFF2-40B4-BE49-F238E27FC236}">
                  <a16:creationId xmlns:a16="http://schemas.microsoft.com/office/drawing/2014/main" id="{7D2AC36C-B6C2-6B65-60CE-1A1A8B60B3DF}"/>
                </a:ext>
              </a:extLst>
            </p:cNvPr>
            <p:cNvCxnSpPr/>
            <p:nvPr/>
          </p:nvCxnSpPr>
          <p:spPr>
            <a:xfrm>
              <a:off x="5212080" y="2924175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DD2BCC9B-672A-FDDF-93FF-075730A138F3}"/>
              </a:ext>
            </a:extLst>
          </p:cNvPr>
          <p:cNvGrpSpPr/>
          <p:nvPr/>
        </p:nvGrpSpPr>
        <p:grpSpPr>
          <a:xfrm>
            <a:off x="5212080" y="3043428"/>
            <a:ext cx="6192000" cy="877824"/>
            <a:chOff x="5212080" y="3043428"/>
            <a:chExt cx="6192000" cy="877824"/>
          </a:xfrm>
        </p:grpSpPr>
        <p:sp>
          <p:nvSpPr>
            <p:cNvPr id="18" name="文字 16">
              <a:extLst>
                <a:ext uri="{FF2B5EF4-FFF2-40B4-BE49-F238E27FC236}">
                  <a16:creationId xmlns:a16="http://schemas.microsoft.com/office/drawing/2014/main" id="{10A74BBF-1389-9CB2-071F-49B678CD416F}"/>
                </a:ext>
              </a:extLst>
            </p:cNvPr>
            <p:cNvSpPr txBox="1"/>
            <p:nvPr/>
          </p:nvSpPr>
          <p:spPr>
            <a:xfrm>
              <a:off x="5212080" y="3043428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03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9" name="文字 17">
              <a:extLst>
                <a:ext uri="{FF2B5EF4-FFF2-40B4-BE49-F238E27FC236}">
                  <a16:creationId xmlns:a16="http://schemas.microsoft.com/office/drawing/2014/main" id="{D2779432-7573-5C66-7B7A-3153A5BFA5D4}"/>
                </a:ext>
              </a:extLst>
            </p:cNvPr>
            <p:cNvSpPr txBox="1"/>
            <p:nvPr/>
          </p:nvSpPr>
          <p:spPr>
            <a:xfrm>
              <a:off x="6263640" y="3073527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AI 智慧服務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0" name="文字 18">
              <a:extLst>
                <a:ext uri="{FF2B5EF4-FFF2-40B4-BE49-F238E27FC236}">
                  <a16:creationId xmlns:a16="http://schemas.microsoft.com/office/drawing/2014/main" id="{7185814D-05EF-97B0-346B-0B84D8878FCC}"/>
                </a:ext>
              </a:extLst>
            </p:cNvPr>
            <p:cNvSpPr txBox="1"/>
            <p:nvPr/>
          </p:nvSpPr>
          <p:spPr>
            <a:xfrm>
              <a:off x="6281928" y="3530727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AI SERVICES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1" name="文字 19">
              <a:extLst>
                <a:ext uri="{FF2B5EF4-FFF2-40B4-BE49-F238E27FC236}">
                  <a16:creationId xmlns:a16="http://schemas.microsoft.com/office/drawing/2014/main" id="{9A080BE4-0533-8ACF-6B74-75B8929B8B45}"/>
                </a:ext>
              </a:extLst>
            </p:cNvPr>
            <p:cNvSpPr txBox="1"/>
            <p:nvPr/>
          </p:nvSpPr>
          <p:spPr>
            <a:xfrm>
              <a:off x="10146030" y="3134868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P.11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2" name="線條 20">
              <a:extLst>
                <a:ext uri="{FF2B5EF4-FFF2-40B4-BE49-F238E27FC236}">
                  <a16:creationId xmlns:a16="http://schemas.microsoft.com/office/drawing/2014/main" id="{56EA1E19-77B9-8C4D-B83D-05F500816527}"/>
                </a:ext>
              </a:extLst>
            </p:cNvPr>
            <p:cNvCxnSpPr/>
            <p:nvPr/>
          </p:nvCxnSpPr>
          <p:spPr>
            <a:xfrm>
              <a:off x="5212080" y="3921252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B9B5ACD1-93F8-2BEF-8C63-2EB65781E018}"/>
              </a:ext>
            </a:extLst>
          </p:cNvPr>
          <p:cNvGrpSpPr/>
          <p:nvPr/>
        </p:nvGrpSpPr>
        <p:grpSpPr>
          <a:xfrm>
            <a:off x="5212080" y="4050030"/>
            <a:ext cx="6192000" cy="877824"/>
            <a:chOff x="5212080" y="4050030"/>
            <a:chExt cx="6192000" cy="877824"/>
          </a:xfrm>
        </p:grpSpPr>
        <p:sp>
          <p:nvSpPr>
            <p:cNvPr id="23" name="文字 21">
              <a:extLst>
                <a:ext uri="{FF2B5EF4-FFF2-40B4-BE49-F238E27FC236}">
                  <a16:creationId xmlns:a16="http://schemas.microsoft.com/office/drawing/2014/main" id="{978FCD57-9A2D-0C01-C97B-D8BCB04AE989}"/>
                </a:ext>
              </a:extLst>
            </p:cNvPr>
            <p:cNvSpPr txBox="1"/>
            <p:nvPr/>
          </p:nvSpPr>
          <p:spPr>
            <a:xfrm>
              <a:off x="5212080" y="4050030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04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4" name="文字 22">
              <a:extLst>
                <a:ext uri="{FF2B5EF4-FFF2-40B4-BE49-F238E27FC236}">
                  <a16:creationId xmlns:a16="http://schemas.microsoft.com/office/drawing/2014/main" id="{00C20AE0-3D6E-4D00-382E-C948364BDDCF}"/>
                </a:ext>
              </a:extLst>
            </p:cNvPr>
            <p:cNvSpPr txBox="1"/>
            <p:nvPr/>
          </p:nvSpPr>
          <p:spPr>
            <a:xfrm>
              <a:off x="6263640" y="4080129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IoT 智慧書櫃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5" name="文字 23">
              <a:extLst>
                <a:ext uri="{FF2B5EF4-FFF2-40B4-BE49-F238E27FC236}">
                  <a16:creationId xmlns:a16="http://schemas.microsoft.com/office/drawing/2014/main" id="{C285C0BF-6845-7252-83F9-11942425E347}"/>
                </a:ext>
              </a:extLst>
            </p:cNvPr>
            <p:cNvSpPr txBox="1"/>
            <p:nvPr/>
          </p:nvSpPr>
          <p:spPr>
            <a:xfrm>
              <a:off x="6281928" y="4537329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SMART CABINET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6" name="文字 24">
              <a:extLst>
                <a:ext uri="{FF2B5EF4-FFF2-40B4-BE49-F238E27FC236}">
                  <a16:creationId xmlns:a16="http://schemas.microsoft.com/office/drawing/2014/main" id="{B615FA67-0FC1-FD7C-F21B-565FDB405850}"/>
                </a:ext>
              </a:extLst>
            </p:cNvPr>
            <p:cNvSpPr txBox="1"/>
            <p:nvPr/>
          </p:nvSpPr>
          <p:spPr>
            <a:xfrm>
              <a:off x="10146030" y="4141470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P.21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7" name="線條 25">
              <a:extLst>
                <a:ext uri="{FF2B5EF4-FFF2-40B4-BE49-F238E27FC236}">
                  <a16:creationId xmlns:a16="http://schemas.microsoft.com/office/drawing/2014/main" id="{3067A346-A144-E129-F68E-92AD4F9E07FD}"/>
                </a:ext>
              </a:extLst>
            </p:cNvPr>
            <p:cNvCxnSpPr/>
            <p:nvPr/>
          </p:nvCxnSpPr>
          <p:spPr>
            <a:xfrm>
              <a:off x="5212080" y="4927854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B163E174-EB58-A1C1-CA75-0B6503EA6D8D}"/>
              </a:ext>
            </a:extLst>
          </p:cNvPr>
          <p:cNvGrpSpPr/>
          <p:nvPr/>
        </p:nvGrpSpPr>
        <p:grpSpPr>
          <a:xfrm>
            <a:off x="5212080" y="5047107"/>
            <a:ext cx="6122670" cy="761619"/>
            <a:chOff x="5212080" y="5047107"/>
            <a:chExt cx="6122670" cy="761619"/>
          </a:xfrm>
        </p:grpSpPr>
        <p:sp>
          <p:nvSpPr>
            <p:cNvPr id="28" name="文字 26">
              <a:extLst>
                <a:ext uri="{FF2B5EF4-FFF2-40B4-BE49-F238E27FC236}">
                  <a16:creationId xmlns:a16="http://schemas.microsoft.com/office/drawing/2014/main" id="{6EE95688-20AB-3F8D-9757-D44B73255B03}"/>
                </a:ext>
              </a:extLst>
            </p:cNvPr>
            <p:cNvSpPr txBox="1"/>
            <p:nvPr/>
          </p:nvSpPr>
          <p:spPr>
            <a:xfrm>
              <a:off x="5212080" y="5047107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05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9" name="文字 27">
              <a:extLst>
                <a:ext uri="{FF2B5EF4-FFF2-40B4-BE49-F238E27FC236}">
                  <a16:creationId xmlns:a16="http://schemas.microsoft.com/office/drawing/2014/main" id="{00D89647-DF6E-0BC4-DC4E-252064367445}"/>
                </a:ext>
              </a:extLst>
            </p:cNvPr>
            <p:cNvSpPr txBox="1"/>
            <p:nvPr/>
          </p:nvSpPr>
          <p:spPr>
            <a:xfrm>
              <a:off x="6263640" y="5077206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成果與未來展望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30" name="文字 28">
              <a:extLst>
                <a:ext uri="{FF2B5EF4-FFF2-40B4-BE49-F238E27FC236}">
                  <a16:creationId xmlns:a16="http://schemas.microsoft.com/office/drawing/2014/main" id="{6047796D-9D11-3798-CE44-E086775E433B}"/>
                </a:ext>
              </a:extLst>
            </p:cNvPr>
            <p:cNvSpPr txBox="1"/>
            <p:nvPr/>
          </p:nvSpPr>
          <p:spPr>
            <a:xfrm>
              <a:off x="6281928" y="5534406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en-US" altLang="zh-TW" sz="1150" spc="200" dirty="0">
                  <a:solidFill>
                    <a:srgbClr val="7E8A90"/>
                  </a:solidFill>
                  <a:latin typeface="Manrope (本文)"/>
                </a:rPr>
                <a:t>RESULTS &amp; OUTLOOK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31" name="文字 29">
              <a:extLst>
                <a:ext uri="{FF2B5EF4-FFF2-40B4-BE49-F238E27FC236}">
                  <a16:creationId xmlns:a16="http://schemas.microsoft.com/office/drawing/2014/main" id="{6096ABF0-55A2-7D71-2721-0FCD42C58E89}"/>
                </a:ext>
              </a:extLst>
            </p:cNvPr>
            <p:cNvSpPr txBox="1"/>
            <p:nvPr/>
          </p:nvSpPr>
          <p:spPr>
            <a:xfrm>
              <a:off x="10146030" y="5138547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P.31</a:t>
              </a:r>
              <a:endParaRPr lang="zh-TW" altLang="en-US" sz="1400" dirty="0">
                <a:latin typeface="Manrope (本文)"/>
              </a:endParaRPr>
            </a:p>
          </p:txBody>
        </p:sp>
      </p:grp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525B93-2924-373E-9CE3-F04580CCB915}"/>
              </a:ext>
            </a:extLst>
          </p:cNvPr>
          <p:cNvSpPr txBox="1"/>
          <p:nvPr/>
        </p:nvSpPr>
        <p:spPr>
          <a:xfrm>
            <a:off x="822960" y="5927289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救</a:t>
            </a:r>
            <a:r>
              <a:rPr lang="zh-TW" altLang="en-US" sz="1400" spc="100" dirty="0">
                <a:solidFill>
                  <a:schemeClr val="bg1"/>
                </a:solidFill>
                <a:latin typeface="Manrope (本文)"/>
                <a:ea typeface="Noto Sans TC Medium" panose="020B0200000000000000" pitchFamily="34" charset="-120"/>
              </a:rPr>
              <a:t>「舊」</a:t>
            </a:r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我的書</a:t>
            </a:r>
          </a:p>
        </p:txBody>
      </p:sp>
    </p:spTree>
    <p:extLst>
      <p:ext uri="{BB962C8B-B14F-4D97-AF65-F5344CB8AC3E}">
        <p14:creationId xmlns:p14="http://schemas.microsoft.com/office/powerpoint/2010/main" val="24279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初評建議與改善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書籍資訊與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LISTING &amp; AI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6DEE5E-A22F-235B-2694-B731BA1063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2B6FB73-EDB6-62CD-E8DB-FFE1B49EE202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81B96233-B574-A8B0-CAAA-B891D37DFF3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33BEE153-E295-689C-1CD5-3C4FBCE9C74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01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93ECFAE-825B-D8D7-6775-9CF86E65ACA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附件（如光碟）是否完整需標示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82AACA09-EC29-3A58-D8D3-D7527C6A7879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實拍照片＋簡介註明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DC3D64C6-91FD-7769-09E4-EC622753FB2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P.237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D5737EE-1643-F836-EA9D-829D9809C1E6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15F81C2B-736A-A723-00AD-DF8B67E3E441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19118284-CADE-D7A5-A50B-7D68C5427D16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02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169E6C60-ED4C-266F-48D4-320B70EF1194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書況判定可導入 </a:t>
              </a:r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AI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協助定價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8F1A5321-C15B-39BE-D8F2-E2C6F7C1BA78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判斷書況＋建議售價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F4598DF-8927-E460-CEE5-047AEF3F423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237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AD77519E-B463-6076-BD24-0161370D8C08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88D6B3EE-3AE6-5849-77EE-E414BB747098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46A026CD-B348-199D-3B48-C54D1F6C5D9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03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3C250FD2-4932-4215-0A19-840E48D658DC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如何防止違禁物品與不當交易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A40A78A-BCF3-83F0-4447-C48FF74D7587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審核＋爭議裁決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6638618-C63F-2CBB-0409-61A884497DD4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90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776ED073-937C-460D-76B0-124E294AA644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4AA9883E-1C40-86C3-6A0C-2C366E61BFF2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85D8F134-52D8-2CE9-A0A0-2FB861D5741D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04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72F17D2A-18C0-02F0-315A-33F39BDF960A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付款機制尚未具備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CD114F54-7F57-C133-B15D-18687A12975D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平台暫管、驗收後撥款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A0229C83-022D-2ED5-0673-BF0A16DFAAB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322E-A3AA-4CEB-C547-CF7DB080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7A74302-1611-9129-6E35-2B7BF8014EE3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營運與服務條款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76ED5B-A4AE-DC8F-E6C4-671AD5821BDC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OPERATIONS &amp; TERMS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AA00E-AC26-D479-1237-9E6BA000E0A2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D0173C05-5EEE-23E6-0E40-8AC30D8FBEE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ED460B-F952-5100-B8DD-B15E0CDC5821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E4FF1466-9CB4-F8F4-E3E4-27657148A1AA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F7A3C81E-6E16-F68C-FA63-487FC706EC7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05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57D9CEC3-5269-553F-139C-9081FE2E34D4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77AA61C1-61B9-531C-434B-6D42CDC9E0DF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53D5224-D69C-52EE-EE24-52B73714C08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B511789-6B81-0FF4-E284-42FFC14C8B8E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46651473-5F79-8237-D570-5331A24EB309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7869C5C1-1227-43FF-8357-F52460C19ABF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06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EBF56BFF-B2FF-31EE-D575-8F69A820A115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18F98C54-45CA-1162-23F4-2CD4AA627AD0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B574C4-9A39-4E54-7E7A-66AFE8373B5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D7A348-523B-6271-ADF8-DD50647E1782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A048BCCD-D0D5-BE21-7021-BBB6073B608F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7B0C6FFA-894E-01AA-F21C-2C94D7BF37BB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07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8262CB7A-3611-5CD2-31A3-E967B06E498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3FEC736-7B6F-79F7-9499-37213679BA8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A1592B6-12A7-D287-D959-8753BE7C348E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155610A6-8F19-7DF5-3FEC-0E0956889948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3CB390F6-5F0F-08DD-34F5-19C86B0FA6E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E80503F5-BD89-B4BD-A07F-88AC9E691EFE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08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CA4BE488-DF86-BB25-1BFC-426900444A5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77EF6DA-1BAF-5E57-A40C-B1442547D976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B12C76A-E4C4-CF33-D2F9-D9929501B8D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9471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6A993-39B2-565E-A248-4B93E6C1B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3505E61-A86B-9D6B-93F8-697632AF738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智慧書櫃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7C6041-6C8B-DA8D-03A5-EE4D75FC998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SMART CABINET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348051A-37CF-BB3E-F72E-5C7536B9A6C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C1FECD3-B4B9-06BA-DE0D-EBC6390D3B3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34AF978-8761-7CE4-8F10-49CB6E22629F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53A35857-944A-4BB7-1EE1-F9F88C92A7F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CC502A97-DEA9-F515-02B0-AD5EACA87D82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09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30A4520A-B558-9D0F-1CB6-72890252BAC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3D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列印不利量產與耐用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6140047-F3F5-D8B4-23ED-DAAE00D0C9F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合板＋壓克力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71412E6-B197-F10C-2B8E-4D42250C106B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C4FDD79C-A1E1-93C8-1D00-42D442D0E5AF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738430D8-EB26-7F9D-8E9B-B6EF7B345CBB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DD1A2399-26E1-9161-A346-A046321C1560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70A9D2A1-1C11-CACF-483E-A6E3089ADDAC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手機登記與實際放書須同步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E97328C-F47F-222C-CD52-66B5E24F1D24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掃碼開門、關門才登記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2A0310-5C5A-D52D-5346-ACD81E7C13B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P.87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246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86668D0-D5D0-C914-FA45-35F5CA55A4B4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5082A80E-4B7A-1496-8DF1-B0A42863E57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8B38A3E9-7FCF-997B-CA2D-EB446C91B89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F971B548-C674-5950-DB47-11BF455D4446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每格都需要掃描裝置？成本？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5B8E3B5-7C38-6348-F9A6-CCBBB5AE4AFE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手機掃碼、一板控四門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0FC1B2C9-0470-9E3E-C4CC-A548FDE80919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25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53948411-C9A8-40F7-7184-F2DB6170BDF0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C72B413E-9646-8ED7-3E90-6028D137378C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A1D943EC-F7BD-0DFD-2E02-9D7A7DCF0255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8172A5B3-CE61-6153-9E8E-66D024766B4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無人員收件如何兼顧安全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A3D0368E-0DAB-A4D4-9BD7-D0975E5F14CA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四道驗證＋開櫃紀錄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8E8964E-FF42-0F74-CFD4-2A6A11579C7F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5739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系統核心與架構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D1920-0FDB-8C7E-39DA-868BC872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D38EDF7-A007-23AB-05A4-6331251E6AD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背景與核心需求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4EA956-841F-5D1E-5E5E-F00095B9F98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BACKGROUND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301A3-F21A-59DE-054A-B330B899641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7491F20-61CE-1108-B925-00B384490BA4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Partial Circle 4">
            <a:extLst>
              <a:ext uri="{FF2B5EF4-FFF2-40B4-BE49-F238E27FC236}">
                <a16:creationId xmlns:a16="http://schemas.microsoft.com/office/drawing/2014/main" id="{6F2558D2-844D-3AE0-FF7E-50F9BEF3018E}"/>
              </a:ext>
            </a:extLst>
          </p:cNvPr>
          <p:cNvSpPr/>
          <p:nvPr/>
        </p:nvSpPr>
        <p:spPr>
          <a:xfrm flipH="1">
            <a:off x="8735589" y="1804514"/>
            <a:ext cx="2513504" cy="2513498"/>
          </a:xfrm>
          <a:prstGeom prst="pie">
            <a:avLst>
              <a:gd name="adj1" fmla="val 5053615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5" name="Partial Circle 16">
            <a:extLst>
              <a:ext uri="{FF2B5EF4-FFF2-40B4-BE49-F238E27FC236}">
                <a16:creationId xmlns:a16="http://schemas.microsoft.com/office/drawing/2014/main" id="{D53CCEE3-72E1-B8B4-43F1-061FBBF91E2F}"/>
              </a:ext>
            </a:extLst>
          </p:cNvPr>
          <p:cNvSpPr/>
          <p:nvPr/>
        </p:nvSpPr>
        <p:spPr>
          <a:xfrm flipH="1">
            <a:off x="4697774" y="1804514"/>
            <a:ext cx="2513504" cy="2513498"/>
          </a:xfrm>
          <a:prstGeom prst="pie">
            <a:avLst>
              <a:gd name="adj1" fmla="val 3748061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11" name="Partial Circle 24">
            <a:extLst>
              <a:ext uri="{FF2B5EF4-FFF2-40B4-BE49-F238E27FC236}">
                <a16:creationId xmlns:a16="http://schemas.microsoft.com/office/drawing/2014/main" id="{7C6105F3-6970-0891-E013-1626128FC416}"/>
              </a:ext>
            </a:extLst>
          </p:cNvPr>
          <p:cNvSpPr/>
          <p:nvPr/>
        </p:nvSpPr>
        <p:spPr>
          <a:xfrm flipH="1">
            <a:off x="940494" y="1804514"/>
            <a:ext cx="2513504" cy="2513498"/>
          </a:xfrm>
          <a:prstGeom prst="pie">
            <a:avLst>
              <a:gd name="adj1" fmla="val 8658886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 dirty="0"/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C203094-8F0B-8F53-D6F0-3BCE9BF59634}"/>
              </a:ext>
            </a:extLst>
          </p:cNvPr>
          <p:cNvGrpSpPr/>
          <p:nvPr/>
        </p:nvGrpSpPr>
        <p:grpSpPr>
          <a:xfrm>
            <a:off x="1036013" y="1943897"/>
            <a:ext cx="2322471" cy="2234726"/>
            <a:chOff x="1036013" y="1943897"/>
            <a:chExt cx="2322471" cy="2234726"/>
          </a:xfrm>
        </p:grpSpPr>
        <p:sp>
          <p:nvSpPr>
            <p:cNvPr id="12" name="Oval 25">
              <a:extLst>
                <a:ext uri="{FF2B5EF4-FFF2-40B4-BE49-F238E27FC236}">
                  <a16:creationId xmlns:a16="http://schemas.microsoft.com/office/drawing/2014/main" id="{AA695EC9-3A6D-3CA8-04BC-1F9F3AA222FD}"/>
                </a:ext>
              </a:extLst>
            </p:cNvPr>
            <p:cNvSpPr/>
            <p:nvPr/>
          </p:nvSpPr>
          <p:spPr>
            <a:xfrm>
              <a:off x="107988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1F23A58C-AA01-E2FA-88E2-9674C6D01106}"/>
                </a:ext>
              </a:extLst>
            </p:cNvPr>
            <p:cNvSpPr txBox="1">
              <a:spLocks/>
            </p:cNvSpPr>
            <p:nvPr/>
          </p:nvSpPr>
          <p:spPr>
            <a:xfrm>
              <a:off x="1293259" y="2440724"/>
              <a:ext cx="1857803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35%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5" name="TextBox 30">
              <a:extLst>
                <a:ext uri="{FF2B5EF4-FFF2-40B4-BE49-F238E27FC236}">
                  <a16:creationId xmlns:a16="http://schemas.microsoft.com/office/drawing/2014/main" id="{1E570841-7275-ADBA-E012-751EA0BE8E57}"/>
                </a:ext>
              </a:extLst>
            </p:cNvPr>
            <p:cNvSpPr txBox="1"/>
            <p:nvPr/>
          </p:nvSpPr>
          <p:spPr>
            <a:xfrm>
              <a:off x="103601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有閒置書想清空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卻懶得處理</a:t>
              </a: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3F971BE3-0D1C-E529-30F1-3869A2F6756B}"/>
              </a:ext>
            </a:extLst>
          </p:cNvPr>
          <p:cNvGrpSpPr/>
          <p:nvPr/>
        </p:nvGrpSpPr>
        <p:grpSpPr>
          <a:xfrm>
            <a:off x="4793293" y="1943897"/>
            <a:ext cx="2322471" cy="2234726"/>
            <a:chOff x="4793293" y="1943897"/>
            <a:chExt cx="2322471" cy="2234726"/>
          </a:xfrm>
        </p:grpSpPr>
        <p:sp>
          <p:nvSpPr>
            <p:cNvPr id="10" name="Oval 17">
              <a:extLst>
                <a:ext uri="{FF2B5EF4-FFF2-40B4-BE49-F238E27FC236}">
                  <a16:creationId xmlns:a16="http://schemas.microsoft.com/office/drawing/2014/main" id="{9BAE6B1C-82D6-38E0-E8E5-1FC137DADABF}"/>
                </a:ext>
              </a:extLst>
            </p:cNvPr>
            <p:cNvSpPr/>
            <p:nvPr/>
          </p:nvSpPr>
          <p:spPr>
            <a:xfrm>
              <a:off x="483716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6" name="Text Placeholder 3">
              <a:extLst>
                <a:ext uri="{FF2B5EF4-FFF2-40B4-BE49-F238E27FC236}">
                  <a16:creationId xmlns:a16="http://schemas.microsoft.com/office/drawing/2014/main" id="{504A969A-213F-9EB2-42B3-EDFC301B64A5}"/>
                </a:ext>
              </a:extLst>
            </p:cNvPr>
            <p:cNvSpPr txBox="1">
              <a:spLocks/>
            </p:cNvSpPr>
            <p:nvPr/>
          </p:nvSpPr>
          <p:spPr>
            <a:xfrm>
              <a:off x="5039068" y="2440724"/>
              <a:ext cx="186169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57.9%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7" name="TextBox 30">
              <a:extLst>
                <a:ext uri="{FF2B5EF4-FFF2-40B4-BE49-F238E27FC236}">
                  <a16:creationId xmlns:a16="http://schemas.microsoft.com/office/drawing/2014/main" id="{3D9A80AC-61DA-35A3-C030-E8E17415705B}"/>
                </a:ext>
              </a:extLst>
            </p:cNvPr>
            <p:cNvSpPr txBox="1"/>
            <p:nvPr/>
          </p:nvSpPr>
          <p:spPr>
            <a:xfrm>
              <a:off x="479329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寄送不便在於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包裝與跑超商</a:t>
              </a: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7A36E4D-59A5-8349-176A-A78AB0154978}"/>
              </a:ext>
            </a:extLst>
          </p:cNvPr>
          <p:cNvGrpSpPr/>
          <p:nvPr/>
        </p:nvGrpSpPr>
        <p:grpSpPr>
          <a:xfrm>
            <a:off x="8831108" y="1943897"/>
            <a:ext cx="2322471" cy="2234726"/>
            <a:chOff x="8831108" y="1943897"/>
            <a:chExt cx="2322471" cy="2234726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85A8B154-2431-568E-AE50-90DC8C21BEA2}"/>
                </a:ext>
              </a:extLst>
            </p:cNvPr>
            <p:cNvSpPr/>
            <p:nvPr/>
          </p:nvSpPr>
          <p:spPr>
            <a:xfrm>
              <a:off x="8874981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8" name="Text Placeholder 3">
              <a:extLst>
                <a:ext uri="{FF2B5EF4-FFF2-40B4-BE49-F238E27FC236}">
                  <a16:creationId xmlns:a16="http://schemas.microsoft.com/office/drawing/2014/main" id="{594A164E-FF75-1D7D-D8B2-A3D829E486EA}"/>
                </a:ext>
              </a:extLst>
            </p:cNvPr>
            <p:cNvSpPr txBox="1">
              <a:spLocks/>
            </p:cNvSpPr>
            <p:nvPr/>
          </p:nvSpPr>
          <p:spPr>
            <a:xfrm>
              <a:off x="9065059" y="2440724"/>
              <a:ext cx="183368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51.4%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9" name="TextBox 30">
              <a:extLst>
                <a:ext uri="{FF2B5EF4-FFF2-40B4-BE49-F238E27FC236}">
                  <a16:creationId xmlns:a16="http://schemas.microsoft.com/office/drawing/2014/main" id="{E58B81E3-D298-F413-2023-E82804FE4B64}"/>
                </a:ext>
              </a:extLst>
            </p:cNvPr>
            <p:cNvSpPr txBox="1"/>
            <p:nvPr/>
          </p:nvSpPr>
          <p:spPr>
            <a:xfrm>
              <a:off x="8831108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偏好以實體儲物櫃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改善寄送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4677EDD-25BA-61CC-AD63-441F0A59156A}"/>
              </a:ext>
            </a:extLst>
          </p:cNvPr>
          <p:cNvGrpSpPr/>
          <p:nvPr/>
        </p:nvGrpSpPr>
        <p:grpSpPr>
          <a:xfrm>
            <a:off x="4484429" y="4504206"/>
            <a:ext cx="2940194" cy="878583"/>
            <a:chOff x="4484429" y="4504206"/>
            <a:chExt cx="2940194" cy="878583"/>
          </a:xfrm>
        </p:grpSpPr>
        <p:cxnSp>
          <p:nvCxnSpPr>
            <p:cNvPr id="8" name="線條 9">
              <a:extLst>
                <a:ext uri="{FF2B5EF4-FFF2-40B4-BE49-F238E27FC236}">
                  <a16:creationId xmlns:a16="http://schemas.microsoft.com/office/drawing/2014/main" id="{03DD80B9-EA95-44F1-EB40-AC176626A486}"/>
                </a:ext>
              </a:extLst>
            </p:cNvPr>
            <p:cNvCxnSpPr>
              <a:cxnSpLocks/>
            </p:cNvCxnSpPr>
            <p:nvPr/>
          </p:nvCxnSpPr>
          <p:spPr>
            <a:xfrm>
              <a:off x="5936875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33" name="對應 10">
              <a:extLst>
                <a:ext uri="{FF2B5EF4-FFF2-40B4-BE49-F238E27FC236}">
                  <a16:creationId xmlns:a16="http://schemas.microsoft.com/office/drawing/2014/main" id="{A78A62F4-A548-8B7C-152C-D7014E5FC96C}"/>
                </a:ext>
              </a:extLst>
            </p:cNvPr>
            <p:cNvSpPr/>
            <p:nvPr/>
          </p:nvSpPr>
          <p:spPr>
            <a:xfrm>
              <a:off x="4484429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7DD8293A-6AC2-129D-75C8-089D8A3E4C4E}"/>
                </a:ext>
              </a:extLst>
            </p:cNvPr>
            <p:cNvSpPr txBox="1"/>
            <p:nvPr/>
          </p:nvSpPr>
          <p:spPr>
            <a:xfrm>
              <a:off x="5202432" y="4904908"/>
              <a:ext cx="188915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智慧書櫃免寄送</a:t>
              </a:r>
            </a:p>
          </p:txBody>
        </p:sp>
        <p:pic>
          <p:nvPicPr>
            <p:cNvPr id="38" name="圖示 18">
              <a:extLst>
                <a:ext uri="{FF2B5EF4-FFF2-40B4-BE49-F238E27FC236}">
                  <a16:creationId xmlns:a16="http://schemas.microsoft.com/office/drawing/2014/main" id="{D8746F93-73B9-F97B-774E-A3BD1B4EF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8287"/>
            <a:stretch>
              <a:fillRect/>
            </a:stretch>
          </p:blipFill>
          <p:spPr>
            <a:xfrm>
              <a:off x="4927588" y="4980724"/>
              <a:ext cx="288000" cy="264131"/>
            </a:xfrm>
            <a:prstGeom prst="rect">
              <a:avLst/>
            </a:prstGeom>
          </p:spPr>
        </p:pic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6450521-43D3-ADB9-7BE5-1B06A9EFF72A}"/>
              </a:ext>
            </a:extLst>
          </p:cNvPr>
          <p:cNvSpPr txBox="1"/>
          <p:nvPr/>
        </p:nvSpPr>
        <p:spPr>
          <a:xfrm>
            <a:off x="681136" y="5641156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資料來源：本團隊二手書交易需求調查，有效問卷 </a:t>
            </a:r>
            <a:r>
              <a:rPr lang="en-US" altLang="zh-TW" sz="1500" spc="50" dirty="0">
                <a:solidFill>
                  <a:schemeClr val="accent5"/>
                </a:solidFill>
                <a:latin typeface="+mn-ea"/>
              </a:rPr>
              <a:t>498 </a:t>
            </a: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份。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FC4EFB0-E527-8478-0C34-92AD01305414}"/>
              </a:ext>
            </a:extLst>
          </p:cNvPr>
          <p:cNvGrpSpPr/>
          <p:nvPr/>
        </p:nvGrpSpPr>
        <p:grpSpPr>
          <a:xfrm>
            <a:off x="729563" y="4504206"/>
            <a:ext cx="2940194" cy="878583"/>
            <a:chOff x="729563" y="4504206"/>
            <a:chExt cx="2940194" cy="878583"/>
          </a:xfrm>
        </p:grpSpPr>
        <p:cxnSp>
          <p:nvCxnSpPr>
            <p:cNvPr id="48" name="線條 9">
              <a:extLst>
                <a:ext uri="{FF2B5EF4-FFF2-40B4-BE49-F238E27FC236}">
                  <a16:creationId xmlns:a16="http://schemas.microsoft.com/office/drawing/2014/main" id="{B1BA5099-B3CE-DE4D-7470-A0F1391296D5}"/>
                </a:ext>
              </a:extLst>
            </p:cNvPr>
            <p:cNvCxnSpPr>
              <a:cxnSpLocks/>
            </p:cNvCxnSpPr>
            <p:nvPr/>
          </p:nvCxnSpPr>
          <p:spPr>
            <a:xfrm>
              <a:off x="2182009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9" name="對應 10">
              <a:extLst>
                <a:ext uri="{FF2B5EF4-FFF2-40B4-BE49-F238E27FC236}">
                  <a16:creationId xmlns:a16="http://schemas.microsoft.com/office/drawing/2014/main" id="{C89621D4-2F24-8D8B-01D4-FAA519C321CA}"/>
                </a:ext>
              </a:extLst>
            </p:cNvPr>
            <p:cNvSpPr/>
            <p:nvPr/>
          </p:nvSpPr>
          <p:spPr>
            <a:xfrm>
              <a:off x="729563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F64A6E9-321C-318F-C8BE-99806091B2A3}"/>
                </a:ext>
              </a:extLst>
            </p:cNvPr>
            <p:cNvSpPr txBox="1"/>
            <p:nvPr/>
          </p:nvSpPr>
          <p:spPr>
            <a:xfrm>
              <a:off x="1394878" y="4904908"/>
              <a:ext cx="1945477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rgbClr val="F8FAFB"/>
                  </a:solidFill>
                  <a:latin typeface="+mj-ea"/>
                  <a:ea typeface="+mj-ea"/>
                </a:rPr>
                <a:t>AI</a:t>
              </a:r>
              <a:r>
                <a:rPr lang="en-US" altLang="zh-TW" sz="800" b="1" spc="10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降低上架負擔</a:t>
              </a:r>
            </a:p>
          </p:txBody>
        </p:sp>
        <p:pic>
          <p:nvPicPr>
            <p:cNvPr id="56" name="圖示 11">
              <a:extLst>
                <a:ext uri="{FF2B5EF4-FFF2-40B4-BE49-F238E27FC236}">
                  <a16:creationId xmlns:a16="http://schemas.microsoft.com/office/drawing/2014/main" id="{129F3DB3-47A1-A495-42DA-C95E27BB0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507"/>
            <a:stretch>
              <a:fillRect/>
            </a:stretch>
          </p:blipFill>
          <p:spPr>
            <a:xfrm>
              <a:off x="1078850" y="4955615"/>
              <a:ext cx="329184" cy="314348"/>
            </a:xfrm>
            <a:prstGeom prst="rect">
              <a:avLst/>
            </a:prstGeom>
          </p:spPr>
        </p:pic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F8D7F460-1DC0-4F96-B8CD-599F31E834D3}"/>
              </a:ext>
            </a:extLst>
          </p:cNvPr>
          <p:cNvGrpSpPr/>
          <p:nvPr/>
        </p:nvGrpSpPr>
        <p:grpSpPr>
          <a:xfrm>
            <a:off x="8522244" y="4504206"/>
            <a:ext cx="2940194" cy="878583"/>
            <a:chOff x="8522244" y="4504206"/>
            <a:chExt cx="2940194" cy="878583"/>
          </a:xfrm>
        </p:grpSpPr>
        <p:cxnSp>
          <p:nvCxnSpPr>
            <p:cNvPr id="43" name="線條 9">
              <a:extLst>
                <a:ext uri="{FF2B5EF4-FFF2-40B4-BE49-F238E27FC236}">
                  <a16:creationId xmlns:a16="http://schemas.microsoft.com/office/drawing/2014/main" id="{5E7A2E98-0516-904B-DA73-D2EADCA6CB4D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90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4" name="對應 10">
              <a:extLst>
                <a:ext uri="{FF2B5EF4-FFF2-40B4-BE49-F238E27FC236}">
                  <a16:creationId xmlns:a16="http://schemas.microsoft.com/office/drawing/2014/main" id="{EC29130A-A3B3-EB01-AAC1-F014E0985041}"/>
                </a:ext>
              </a:extLst>
            </p:cNvPr>
            <p:cNvSpPr/>
            <p:nvPr/>
          </p:nvSpPr>
          <p:spPr>
            <a:xfrm>
              <a:off x="8522244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94A4D052-84E4-2B40-F914-E83A9C5B7F13}"/>
                </a:ext>
              </a:extLst>
            </p:cNvPr>
            <p:cNvSpPr txBox="1"/>
            <p:nvPr/>
          </p:nvSpPr>
          <p:spPr>
            <a:xfrm>
              <a:off x="8951003" y="4904908"/>
              <a:ext cx="241837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50" dirty="0">
                  <a:solidFill>
                    <a:srgbClr val="F8FAFB"/>
                  </a:solidFill>
                  <a:latin typeface="+mj-ea"/>
                  <a:ea typeface="+mj-ea"/>
                </a:rPr>
                <a:t>App</a:t>
              </a:r>
              <a:r>
                <a:rPr lang="en-US" altLang="zh-TW" sz="800" b="1" spc="5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50" dirty="0">
                  <a:solidFill>
                    <a:srgbClr val="F8FAFB"/>
                  </a:solidFill>
                  <a:latin typeface="+mj-ea"/>
                  <a:ea typeface="+mj-ea"/>
                </a:rPr>
                <a:t>串接非同步交付</a:t>
              </a:r>
            </a:p>
          </p:txBody>
        </p:sp>
        <p:pic>
          <p:nvPicPr>
            <p:cNvPr id="57" name="圖示 25">
              <a:extLst>
                <a:ext uri="{FF2B5EF4-FFF2-40B4-BE49-F238E27FC236}">
                  <a16:creationId xmlns:a16="http://schemas.microsoft.com/office/drawing/2014/main" id="{2776AE23-4D73-1BF4-B94B-DF818930E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2585" r="14595" b="6135"/>
            <a:stretch>
              <a:fillRect/>
            </a:stretch>
          </p:blipFill>
          <p:spPr>
            <a:xfrm>
              <a:off x="8750983" y="4960978"/>
              <a:ext cx="253118" cy="30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7567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1" grpId="0" animBg="1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C5F5A-959B-9BDB-D3AF-13037885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9D2E695-0E1F-2F86-BF64-2125783CCF86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2D4ED85-3BB0-7F6B-34B9-F25177F5330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5E110F-AB2E-2789-737D-E85B45F2609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5E5E9CE2-BC8F-DB40-F27B-4BDC2631B2B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D6FD8076-B401-7D90-5717-AFED3DFE3727}"/>
              </a:ext>
            </a:extLst>
          </p:cNvPr>
          <p:cNvGrpSpPr/>
          <p:nvPr/>
        </p:nvGrpSpPr>
        <p:grpSpPr>
          <a:xfrm>
            <a:off x="761220" y="1571474"/>
            <a:ext cx="2541600" cy="604800"/>
            <a:chOff x="761220" y="1571474"/>
            <a:chExt cx="2541600" cy="604800"/>
          </a:xfrm>
        </p:grpSpPr>
        <p:sp>
          <p:nvSpPr>
            <p:cNvPr id="22" name="Rectangle: Rounded Corners 6">
              <a:extLst>
                <a:ext uri="{FF2B5EF4-FFF2-40B4-BE49-F238E27FC236}">
                  <a16:creationId xmlns:a16="http://schemas.microsoft.com/office/drawing/2014/main" id="{B3AC9DAC-43C5-4486-F1C4-7FA1E066EF83}"/>
                </a:ext>
              </a:extLst>
            </p:cNvPr>
            <p:cNvSpPr/>
            <p:nvPr/>
          </p:nvSpPr>
          <p:spPr>
            <a:xfrm>
              <a:off x="76122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圖示 7">
              <a:extLst>
                <a:ext uri="{FF2B5EF4-FFF2-40B4-BE49-F238E27FC236}">
                  <a16:creationId xmlns:a16="http://schemas.microsoft.com/office/drawing/2014/main" id="{A8456A8C-CFF4-279A-F454-6EF3DF07D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3538"/>
            <a:stretch>
              <a:fillRect/>
            </a:stretch>
          </p:blipFill>
          <p:spPr>
            <a:xfrm>
              <a:off x="884066" y="1731565"/>
              <a:ext cx="329184" cy="284619"/>
            </a:xfrm>
            <a:prstGeom prst="rect">
              <a:avLst/>
            </a:prstGeom>
          </p:spPr>
        </p:pic>
        <p:sp>
          <p:nvSpPr>
            <p:cNvPr id="28" name="TextBox 44">
              <a:extLst>
                <a:ext uri="{FF2B5EF4-FFF2-40B4-BE49-F238E27FC236}">
                  <a16:creationId xmlns:a16="http://schemas.microsoft.com/office/drawing/2014/main" id="{B8DECC7B-4825-B9F9-BAC0-9F7823A78CF1}"/>
                </a:ext>
              </a:extLst>
            </p:cNvPr>
            <p:cNvSpPr txBox="1"/>
            <p:nvPr/>
          </p:nvSpPr>
          <p:spPr>
            <a:xfrm>
              <a:off x="122359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AI</a:t>
              </a:r>
              <a:r>
                <a:rPr lang="en-US" altLang="zh-TW" sz="80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服務</a:t>
              </a:r>
            </a:p>
          </p:txBody>
        </p:sp>
        <p:sp>
          <p:nvSpPr>
            <p:cNvPr id="29" name="TextBox 56">
              <a:extLst>
                <a:ext uri="{FF2B5EF4-FFF2-40B4-BE49-F238E27FC236}">
                  <a16:creationId xmlns:a16="http://schemas.microsoft.com/office/drawing/2014/main" id="{2DC18769-DCA0-8754-A342-58756304D486}"/>
                </a:ext>
              </a:extLst>
            </p:cNvPr>
            <p:cNvSpPr txBox="1"/>
            <p:nvPr/>
          </p:nvSpPr>
          <p:spPr>
            <a:xfrm>
              <a:off x="122359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OpenAI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Gemini</a:t>
              </a: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163EF780-A2BD-EC3C-D5CE-097DCB2F6E4B}"/>
              </a:ext>
            </a:extLst>
          </p:cNvPr>
          <p:cNvGrpSpPr/>
          <p:nvPr/>
        </p:nvGrpSpPr>
        <p:grpSpPr>
          <a:xfrm>
            <a:off x="3470280" y="1571474"/>
            <a:ext cx="2797292" cy="604800"/>
            <a:chOff x="3470280" y="1571474"/>
            <a:chExt cx="2797292" cy="604800"/>
          </a:xfrm>
        </p:grpSpPr>
        <p:sp>
          <p:nvSpPr>
            <p:cNvPr id="41" name="Rectangle: Rounded Corners 6">
              <a:extLst>
                <a:ext uri="{FF2B5EF4-FFF2-40B4-BE49-F238E27FC236}">
                  <a16:creationId xmlns:a16="http://schemas.microsoft.com/office/drawing/2014/main" id="{C7278942-6523-086C-765B-A634F5419A94}"/>
                </a:ext>
              </a:extLst>
            </p:cNvPr>
            <p:cNvSpPr/>
            <p:nvPr/>
          </p:nvSpPr>
          <p:spPr>
            <a:xfrm>
              <a:off x="347028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4">
              <a:extLst>
                <a:ext uri="{FF2B5EF4-FFF2-40B4-BE49-F238E27FC236}">
                  <a16:creationId xmlns:a16="http://schemas.microsoft.com/office/drawing/2014/main" id="{C5EC239F-90DB-FEA2-F45B-A7C9E1BD101C}"/>
                </a:ext>
              </a:extLst>
            </p:cNvPr>
            <p:cNvSpPr txBox="1"/>
            <p:nvPr/>
          </p:nvSpPr>
          <p:spPr>
            <a:xfrm>
              <a:off x="393265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書目來源</a:t>
              </a:r>
            </a:p>
          </p:txBody>
        </p:sp>
        <p:sp>
          <p:nvSpPr>
            <p:cNvPr id="47" name="TextBox 56">
              <a:extLst>
                <a:ext uri="{FF2B5EF4-FFF2-40B4-BE49-F238E27FC236}">
                  <a16:creationId xmlns:a16="http://schemas.microsoft.com/office/drawing/2014/main" id="{C5CF2E3A-FDD7-7C5B-A036-BBE5E46B7380}"/>
                </a:ext>
              </a:extLst>
            </p:cNvPr>
            <p:cNvSpPr txBox="1"/>
            <p:nvPr/>
          </p:nvSpPr>
          <p:spPr>
            <a:xfrm>
              <a:off x="3932657" y="1836718"/>
              <a:ext cx="2334915" cy="302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Google Books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Open Library</a:t>
              </a:r>
            </a:p>
          </p:txBody>
        </p:sp>
        <p:pic>
          <p:nvPicPr>
            <p:cNvPr id="71" name="圖示 12">
              <a:extLst>
                <a:ext uri="{FF2B5EF4-FFF2-40B4-BE49-F238E27FC236}">
                  <a16:creationId xmlns:a16="http://schemas.microsoft.com/office/drawing/2014/main" id="{77CA828A-CA70-8C94-1F23-C49B60443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249"/>
            <a:stretch>
              <a:fillRect/>
            </a:stretch>
          </p:blipFill>
          <p:spPr>
            <a:xfrm>
              <a:off x="3603473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1" name="群組 160">
            <a:extLst>
              <a:ext uri="{FF2B5EF4-FFF2-40B4-BE49-F238E27FC236}">
                <a16:creationId xmlns:a16="http://schemas.microsoft.com/office/drawing/2014/main" id="{EB79E573-A675-8E01-FDD2-D2198B334F20}"/>
              </a:ext>
            </a:extLst>
          </p:cNvPr>
          <p:cNvGrpSpPr/>
          <p:nvPr/>
        </p:nvGrpSpPr>
        <p:grpSpPr>
          <a:xfrm>
            <a:off x="6179340" y="1571474"/>
            <a:ext cx="2541600" cy="604800"/>
            <a:chOff x="6179340" y="1571474"/>
            <a:chExt cx="2541600" cy="604800"/>
          </a:xfrm>
        </p:grpSpPr>
        <p:sp>
          <p:nvSpPr>
            <p:cNvPr id="53" name="Rectangle: Rounded Corners 6">
              <a:extLst>
                <a:ext uri="{FF2B5EF4-FFF2-40B4-BE49-F238E27FC236}">
                  <a16:creationId xmlns:a16="http://schemas.microsoft.com/office/drawing/2014/main" id="{DD5FD833-1729-C3C4-0CCB-F6D58944C8BC}"/>
                </a:ext>
              </a:extLst>
            </p:cNvPr>
            <p:cNvSpPr/>
            <p:nvPr/>
          </p:nvSpPr>
          <p:spPr>
            <a:xfrm>
              <a:off x="617934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44">
              <a:extLst>
                <a:ext uri="{FF2B5EF4-FFF2-40B4-BE49-F238E27FC236}">
                  <a16:creationId xmlns:a16="http://schemas.microsoft.com/office/drawing/2014/main" id="{21EA1781-4392-7A84-75AF-B4ED20FC6767}"/>
                </a:ext>
              </a:extLst>
            </p:cNvPr>
            <p:cNvSpPr txBox="1"/>
            <p:nvPr/>
          </p:nvSpPr>
          <p:spPr>
            <a:xfrm>
              <a:off x="664171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交通開放資料</a:t>
              </a:r>
            </a:p>
          </p:txBody>
        </p:sp>
        <p:sp>
          <p:nvSpPr>
            <p:cNvPr id="64" name="TextBox 56">
              <a:extLst>
                <a:ext uri="{FF2B5EF4-FFF2-40B4-BE49-F238E27FC236}">
                  <a16:creationId xmlns:a16="http://schemas.microsoft.com/office/drawing/2014/main" id="{3186094E-32FD-B731-A234-D6B0AE7C550C}"/>
                </a:ext>
              </a:extLst>
            </p:cNvPr>
            <p:cNvSpPr txBox="1"/>
            <p:nvPr/>
          </p:nvSpPr>
          <p:spPr>
            <a:xfrm>
              <a:off x="664171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 err="1">
                  <a:solidFill>
                    <a:srgbClr val="727D81"/>
                  </a:solidFill>
                </a:rPr>
                <a:t>data.taipei</a:t>
              </a:r>
              <a:endParaRPr lang="en-US" altLang="zh-TW" sz="1150" dirty="0">
                <a:solidFill>
                  <a:srgbClr val="727D81"/>
                </a:solidFill>
              </a:endParaRPr>
            </a:p>
          </p:txBody>
        </p:sp>
        <p:pic>
          <p:nvPicPr>
            <p:cNvPr id="73" name="圖示 17">
              <a:extLst>
                <a:ext uri="{FF2B5EF4-FFF2-40B4-BE49-F238E27FC236}">
                  <a16:creationId xmlns:a16="http://schemas.microsoft.com/office/drawing/2014/main" id="{0E80C2B7-E717-6D77-73BA-1AAFCD153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9249"/>
            <a:stretch>
              <a:fillRect/>
            </a:stretch>
          </p:blipFill>
          <p:spPr>
            <a:xfrm>
              <a:off x="6312534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2" name="群組 161">
            <a:extLst>
              <a:ext uri="{FF2B5EF4-FFF2-40B4-BE49-F238E27FC236}">
                <a16:creationId xmlns:a16="http://schemas.microsoft.com/office/drawing/2014/main" id="{F5FF647D-1DB3-AF8B-B85E-997F14CDA16A}"/>
              </a:ext>
            </a:extLst>
          </p:cNvPr>
          <p:cNvGrpSpPr/>
          <p:nvPr/>
        </p:nvGrpSpPr>
        <p:grpSpPr>
          <a:xfrm>
            <a:off x="8888400" y="1579014"/>
            <a:ext cx="2541600" cy="604800"/>
            <a:chOff x="8888400" y="1579014"/>
            <a:chExt cx="2541600" cy="604800"/>
          </a:xfrm>
        </p:grpSpPr>
        <p:sp>
          <p:nvSpPr>
            <p:cNvPr id="66" name="Rectangle: Rounded Corners 6">
              <a:extLst>
                <a:ext uri="{FF2B5EF4-FFF2-40B4-BE49-F238E27FC236}">
                  <a16:creationId xmlns:a16="http://schemas.microsoft.com/office/drawing/2014/main" id="{DF7D631E-38EB-8EB2-41D0-274858A3349A}"/>
                </a:ext>
              </a:extLst>
            </p:cNvPr>
            <p:cNvSpPr/>
            <p:nvPr/>
          </p:nvSpPr>
          <p:spPr>
            <a:xfrm>
              <a:off x="8888400" y="157901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44">
              <a:extLst>
                <a:ext uri="{FF2B5EF4-FFF2-40B4-BE49-F238E27FC236}">
                  <a16:creationId xmlns:a16="http://schemas.microsoft.com/office/drawing/2014/main" id="{E6EB6B42-010E-0AF9-5C44-3B425CACE05E}"/>
                </a:ext>
              </a:extLst>
            </p:cNvPr>
            <p:cNvSpPr txBox="1"/>
            <p:nvPr/>
          </p:nvSpPr>
          <p:spPr>
            <a:xfrm>
              <a:off x="9350779" y="163150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推播通知</a:t>
              </a:r>
            </a:p>
          </p:txBody>
        </p:sp>
        <p:sp>
          <p:nvSpPr>
            <p:cNvPr id="69" name="TextBox 56">
              <a:extLst>
                <a:ext uri="{FF2B5EF4-FFF2-40B4-BE49-F238E27FC236}">
                  <a16:creationId xmlns:a16="http://schemas.microsoft.com/office/drawing/2014/main" id="{1CF2EB62-9617-9F0C-747E-B639966D45CB}"/>
                </a:ext>
              </a:extLst>
            </p:cNvPr>
            <p:cNvSpPr txBox="1"/>
            <p:nvPr/>
          </p:nvSpPr>
          <p:spPr>
            <a:xfrm>
              <a:off x="9350778" y="184425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Firebase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APNs</a:t>
              </a:r>
            </a:p>
          </p:txBody>
        </p:sp>
        <p:pic>
          <p:nvPicPr>
            <p:cNvPr id="75" name="圖示 22">
              <a:extLst>
                <a:ext uri="{FF2B5EF4-FFF2-40B4-BE49-F238E27FC236}">
                  <a16:creationId xmlns:a16="http://schemas.microsoft.com/office/drawing/2014/main" id="{53E10910-65C4-5B39-0CA1-F7F9A53F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9249"/>
            <a:stretch>
              <a:fillRect/>
            </a:stretch>
          </p:blipFill>
          <p:spPr>
            <a:xfrm>
              <a:off x="9011246" y="1732046"/>
              <a:ext cx="329184" cy="298736"/>
            </a:xfrm>
            <a:prstGeom prst="rect">
              <a:avLst/>
            </a:prstGeom>
          </p:spPr>
        </p:pic>
      </p:grp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F4EBC12-7454-6E26-5476-E41DCBA2FE36}"/>
              </a:ext>
            </a:extLst>
          </p:cNvPr>
          <p:cNvGrpSpPr/>
          <p:nvPr/>
        </p:nvGrpSpPr>
        <p:grpSpPr>
          <a:xfrm>
            <a:off x="2032020" y="2176272"/>
            <a:ext cx="8127180" cy="521208"/>
            <a:chOff x="2032020" y="2176272"/>
            <a:chExt cx="8127180" cy="521208"/>
          </a:xfrm>
        </p:grpSpPr>
        <p:cxnSp>
          <p:nvCxnSpPr>
            <p:cNvPr id="77" name="線條 10">
              <a:extLst>
                <a:ext uri="{FF2B5EF4-FFF2-40B4-BE49-F238E27FC236}">
                  <a16:creationId xmlns:a16="http://schemas.microsoft.com/office/drawing/2014/main" id="{7EC60F97-5D74-7ACD-5097-4C3DECA714AF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8" name="線條 15">
              <a:extLst>
                <a:ext uri="{FF2B5EF4-FFF2-40B4-BE49-F238E27FC236}">
                  <a16:creationId xmlns:a16="http://schemas.microsoft.com/office/drawing/2014/main" id="{29D7DE8E-26F1-F22C-0DB2-04F0662D401E}"/>
                </a:ext>
              </a:extLst>
            </p:cNvPr>
            <p:cNvCxnSpPr>
              <a:cxnSpLocks/>
            </p:cNvCxnSpPr>
            <p:nvPr/>
          </p:nvCxnSpPr>
          <p:spPr>
            <a:xfrm>
              <a:off x="474108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9" name="線條 20">
              <a:extLst>
                <a:ext uri="{FF2B5EF4-FFF2-40B4-BE49-F238E27FC236}">
                  <a16:creationId xmlns:a16="http://schemas.microsoft.com/office/drawing/2014/main" id="{53CD2D08-32FF-A764-CB99-20E534BA27E7}"/>
                </a:ext>
              </a:extLst>
            </p:cNvPr>
            <p:cNvCxnSpPr>
              <a:cxnSpLocks/>
            </p:cNvCxnSpPr>
            <p:nvPr/>
          </p:nvCxnSpPr>
          <p:spPr>
            <a:xfrm>
              <a:off x="745014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0" name="線條 25">
              <a:extLst>
                <a:ext uri="{FF2B5EF4-FFF2-40B4-BE49-F238E27FC236}">
                  <a16:creationId xmlns:a16="http://schemas.microsoft.com/office/drawing/2014/main" id="{76037CB1-5A1A-AF36-16F4-AFDB4C34B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20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1" name="線條 26">
              <a:extLst>
                <a:ext uri="{FF2B5EF4-FFF2-40B4-BE49-F238E27FC236}">
                  <a16:creationId xmlns:a16="http://schemas.microsoft.com/office/drawing/2014/main" id="{715D3B3F-ABF4-A9A3-19E0-AFBB01501B1A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377440"/>
              <a:ext cx="8127180" cy="0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2" name="線條 27">
              <a:extLst>
                <a:ext uri="{FF2B5EF4-FFF2-40B4-BE49-F238E27FC236}">
                  <a16:creationId xmlns:a16="http://schemas.microsoft.com/office/drawing/2014/main" id="{1A40029E-5D83-DB50-3CF7-07760E9F93B2}"/>
                </a:ext>
              </a:extLst>
            </p:cNvPr>
            <p:cNvCxnSpPr>
              <a:cxnSpLocks/>
            </p:cNvCxnSpPr>
            <p:nvPr/>
          </p:nvCxnSpPr>
          <p:spPr>
            <a:xfrm>
              <a:off x="6095610" y="2377440"/>
              <a:ext cx="0" cy="320040"/>
            </a:xfrm>
            <a:prstGeom prst="line">
              <a:avLst/>
            </a:prstGeom>
            <a:ln w="12700">
              <a:solidFill>
                <a:srgbClr val="8AA1AC"/>
              </a:solidFill>
              <a:tailEnd type="triangle" w="med" len="med"/>
            </a:ln>
          </p:spPr>
        </p:cxnSp>
      </p:grpSp>
      <p:grpSp>
        <p:nvGrpSpPr>
          <p:cNvPr id="167" name="群組 166">
            <a:extLst>
              <a:ext uri="{FF2B5EF4-FFF2-40B4-BE49-F238E27FC236}">
                <a16:creationId xmlns:a16="http://schemas.microsoft.com/office/drawing/2014/main" id="{D14E9A0B-C9EE-A4C0-24AA-51E4BD4579DB}"/>
              </a:ext>
            </a:extLst>
          </p:cNvPr>
          <p:cNvGrpSpPr/>
          <p:nvPr/>
        </p:nvGrpSpPr>
        <p:grpSpPr>
          <a:xfrm>
            <a:off x="4297679" y="2697480"/>
            <a:ext cx="3611881" cy="3200400"/>
            <a:chOff x="4297679" y="2697480"/>
            <a:chExt cx="3611881" cy="3200400"/>
          </a:xfrm>
        </p:grpSpPr>
        <p:sp>
          <p:nvSpPr>
            <p:cNvPr id="84" name="後端區 28">
              <a:extLst>
                <a:ext uri="{FF2B5EF4-FFF2-40B4-BE49-F238E27FC236}">
                  <a16:creationId xmlns:a16="http://schemas.microsoft.com/office/drawing/2014/main" id="{6B8C257B-B941-748B-2B6D-2FDF4AAC674C}"/>
                </a:ext>
              </a:extLst>
            </p:cNvPr>
            <p:cNvSpPr/>
            <p:nvPr/>
          </p:nvSpPr>
          <p:spPr>
            <a:xfrm>
              <a:off x="4297680" y="2697480"/>
              <a:ext cx="3611880" cy="3200400"/>
            </a:xfrm>
            <a:prstGeom prst="roundRect">
              <a:avLst>
                <a:gd name="adj" fmla="val 5142"/>
              </a:avLst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86" name="TextBox 44">
              <a:extLst>
                <a:ext uri="{FF2B5EF4-FFF2-40B4-BE49-F238E27FC236}">
                  <a16:creationId xmlns:a16="http://schemas.microsoft.com/office/drawing/2014/main" id="{EDF7FCDE-ECE7-380D-D904-DD04BB92F6FD}"/>
                </a:ext>
              </a:extLst>
            </p:cNvPr>
            <p:cNvSpPr txBox="1"/>
            <p:nvPr/>
          </p:nvSpPr>
          <p:spPr>
            <a:xfrm>
              <a:off x="4297679" y="2745232"/>
              <a:ext cx="3611880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350" spc="50" dirty="0">
                  <a:solidFill>
                    <a:schemeClr val="accent5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  <a:cs typeface="Poppins" panose="00000500000000000000" pitchFamily="2" charset="0"/>
                </a:rPr>
                <a:t>後端服務</a:t>
              </a:r>
              <a:endParaRPr lang="ja-JP" altLang="en-US" sz="1350" spc="5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endParaRPr>
            </a:p>
          </p:txBody>
        </p:sp>
      </p:grp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D449B612-DDCA-C43C-B7CF-903576C05086}"/>
              </a:ext>
            </a:extLst>
          </p:cNvPr>
          <p:cNvGrpSpPr/>
          <p:nvPr/>
        </p:nvGrpSpPr>
        <p:grpSpPr>
          <a:xfrm>
            <a:off x="4526280" y="3090671"/>
            <a:ext cx="3154680" cy="1298447"/>
            <a:chOff x="4526280" y="3090671"/>
            <a:chExt cx="3154680" cy="1298447"/>
          </a:xfrm>
        </p:grpSpPr>
        <p:sp>
          <p:nvSpPr>
            <p:cNvPr id="90" name="Rectangle: Rounded Corners 6">
              <a:extLst>
                <a:ext uri="{FF2B5EF4-FFF2-40B4-BE49-F238E27FC236}">
                  <a16:creationId xmlns:a16="http://schemas.microsoft.com/office/drawing/2014/main" id="{C92990C8-8EB6-5038-3CFA-B5D391A849C5}"/>
                </a:ext>
              </a:extLst>
            </p:cNvPr>
            <p:cNvSpPr/>
            <p:nvPr/>
          </p:nvSpPr>
          <p:spPr>
            <a:xfrm>
              <a:off x="4526280" y="3090671"/>
              <a:ext cx="3154680" cy="1298447"/>
            </a:xfrm>
            <a:prstGeom prst="roundRect">
              <a:avLst>
                <a:gd name="adj" fmla="val 80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2" name="群組 111">
              <a:extLst>
                <a:ext uri="{FF2B5EF4-FFF2-40B4-BE49-F238E27FC236}">
                  <a16:creationId xmlns:a16="http://schemas.microsoft.com/office/drawing/2014/main" id="{9AA69CAB-90A1-CBCD-FCE8-5C99DF8AF78A}"/>
                </a:ext>
              </a:extLst>
            </p:cNvPr>
            <p:cNvGrpSpPr/>
            <p:nvPr/>
          </p:nvGrpSpPr>
          <p:grpSpPr>
            <a:xfrm>
              <a:off x="4751022" y="3445849"/>
              <a:ext cx="540000" cy="588091"/>
              <a:chOff x="4674822" y="3445849"/>
              <a:chExt cx="540000" cy="588091"/>
            </a:xfrm>
          </p:grpSpPr>
          <p:sp>
            <p:nvSpPr>
              <p:cNvPr id="107" name="Graphic 18">
                <a:extLst>
                  <a:ext uri="{FF2B5EF4-FFF2-40B4-BE49-F238E27FC236}">
                    <a16:creationId xmlns:a16="http://schemas.microsoft.com/office/drawing/2014/main" id="{45F7A5EF-BC05-F427-E3D4-D1253CBE17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74822" y="3445849"/>
                <a:ext cx="540000" cy="588091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04" name="圖示 32">
                <a:extLst>
                  <a:ext uri="{FF2B5EF4-FFF2-40B4-BE49-F238E27FC236}">
                    <a16:creationId xmlns:a16="http://schemas.microsoft.com/office/drawing/2014/main" id="{C5EFEDE6-56B4-A8E6-ACCA-2FBCF9E19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03907" y="3613337"/>
                <a:ext cx="286756" cy="286756"/>
              </a:xfrm>
              <a:prstGeom prst="rect">
                <a:avLst/>
              </a:prstGeom>
            </p:spPr>
          </p:pic>
        </p:grpSp>
        <p:sp>
          <p:nvSpPr>
            <p:cNvPr id="110" name="TextBox 44">
              <a:extLst>
                <a:ext uri="{FF2B5EF4-FFF2-40B4-BE49-F238E27FC236}">
                  <a16:creationId xmlns:a16="http://schemas.microsoft.com/office/drawing/2014/main" id="{12602B17-AD58-1AD8-0315-29F68E22C1FC}"/>
                </a:ext>
              </a:extLst>
            </p:cNvPr>
            <p:cNvSpPr txBox="1"/>
            <p:nvPr/>
          </p:nvSpPr>
          <p:spPr>
            <a:xfrm>
              <a:off x="5348345" y="3265954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Express API</a:t>
              </a:r>
            </a:p>
          </p:txBody>
        </p:sp>
        <p:sp>
          <p:nvSpPr>
            <p:cNvPr id="111" name="TextBox 44">
              <a:extLst>
                <a:ext uri="{FF2B5EF4-FFF2-40B4-BE49-F238E27FC236}">
                  <a16:creationId xmlns:a16="http://schemas.microsoft.com/office/drawing/2014/main" id="{FE980A01-3A18-C8AE-D09E-945F24B5AB4F}"/>
                </a:ext>
              </a:extLst>
            </p:cNvPr>
            <p:cNvSpPr txBox="1"/>
            <p:nvPr/>
          </p:nvSpPr>
          <p:spPr>
            <a:xfrm>
              <a:off x="5348345" y="3617622"/>
              <a:ext cx="2273300" cy="5699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Node.js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301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個 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API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端點</a:t>
              </a:r>
            </a:p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Socket.IO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即時訊息</a:t>
              </a:r>
            </a:p>
          </p:txBody>
        </p:sp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EE0A4A42-EB66-8F32-D124-FAA1B5A63718}"/>
              </a:ext>
            </a:extLst>
          </p:cNvPr>
          <p:cNvGrpSpPr/>
          <p:nvPr/>
        </p:nvGrpSpPr>
        <p:grpSpPr>
          <a:xfrm>
            <a:off x="4526280" y="4389120"/>
            <a:ext cx="3154680" cy="1280161"/>
            <a:chOff x="4526280" y="4389120"/>
            <a:chExt cx="3154680" cy="1280161"/>
          </a:xfrm>
        </p:grpSpPr>
        <p:cxnSp>
          <p:nvCxnSpPr>
            <p:cNvPr id="88" name="線條 35">
              <a:extLst>
                <a:ext uri="{FF2B5EF4-FFF2-40B4-BE49-F238E27FC236}">
                  <a16:creationId xmlns:a16="http://schemas.microsoft.com/office/drawing/2014/main" id="{34E5233F-FDE5-AB15-488A-A7FEA36047F5}"/>
                </a:ext>
              </a:extLst>
            </p:cNvPr>
            <p:cNvCxnSpPr/>
            <p:nvPr/>
          </p:nvCxnSpPr>
          <p:spPr>
            <a:xfrm>
              <a:off x="6103620" y="4389120"/>
              <a:ext cx="0" cy="292608"/>
            </a:xfrm>
            <a:prstGeom prst="line">
              <a:avLst/>
            </a:prstGeom>
            <a:ln w="15875">
              <a:solidFill>
                <a:srgbClr val="8AA1AC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A9000A8-8C38-1998-0C01-705A7571E887}"/>
                </a:ext>
              </a:extLst>
            </p:cNvPr>
            <p:cNvGrpSpPr/>
            <p:nvPr/>
          </p:nvGrpSpPr>
          <p:grpSpPr>
            <a:xfrm>
              <a:off x="4526280" y="4681729"/>
              <a:ext cx="3154680" cy="987552"/>
              <a:chOff x="4526280" y="4681729"/>
              <a:chExt cx="3154680" cy="987552"/>
            </a:xfrm>
          </p:grpSpPr>
          <p:sp>
            <p:nvSpPr>
              <p:cNvPr id="91" name="Rectangle: Rounded Corners 6">
                <a:extLst>
                  <a:ext uri="{FF2B5EF4-FFF2-40B4-BE49-F238E27FC236}">
                    <a16:creationId xmlns:a16="http://schemas.microsoft.com/office/drawing/2014/main" id="{957A04D8-E762-DF1A-2E91-DAA7D233FE5D}"/>
                  </a:ext>
                </a:extLst>
              </p:cNvPr>
              <p:cNvSpPr/>
              <p:nvPr/>
            </p:nvSpPr>
            <p:spPr>
              <a:xfrm>
                <a:off x="4526280" y="4681729"/>
                <a:ext cx="3154680" cy="987552"/>
              </a:xfrm>
              <a:prstGeom prst="roundRect">
                <a:avLst>
                  <a:gd name="adj" fmla="val 11377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889000" dir="8100000" sx="90000" sy="90000" algn="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9749387D-6674-C443-EA90-5295822DA9FB}"/>
                  </a:ext>
                </a:extLst>
              </p:cNvPr>
              <p:cNvGrpSpPr/>
              <p:nvPr/>
            </p:nvGrpSpPr>
            <p:grpSpPr>
              <a:xfrm>
                <a:off x="4748895" y="4881460"/>
                <a:ext cx="540000" cy="588091"/>
                <a:chOff x="4672695" y="4881460"/>
                <a:chExt cx="540000" cy="588091"/>
              </a:xfrm>
            </p:grpSpPr>
            <p:sp>
              <p:nvSpPr>
                <p:cNvPr id="109" name="Graphic 18">
                  <a:extLst>
                    <a:ext uri="{FF2B5EF4-FFF2-40B4-BE49-F238E27FC236}">
                      <a16:creationId xmlns:a16="http://schemas.microsoft.com/office/drawing/2014/main" id="{7684A58F-7BD0-DD7E-B278-A613B96A16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72695" y="4881460"/>
                  <a:ext cx="540000" cy="588091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AEBFC6"/>
                    </a:gs>
                    <a:gs pos="65000">
                      <a:srgbClr val="8098A4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pic>
              <p:nvPicPr>
                <p:cNvPr id="105" name="圖示 38">
                  <a:extLst>
                    <a:ext uri="{FF2B5EF4-FFF2-40B4-BE49-F238E27FC236}">
                      <a16:creationId xmlns:a16="http://schemas.microsoft.com/office/drawing/2014/main" id="{559FD777-126B-1C49-3C3B-3D86862A04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03907" y="5062098"/>
                  <a:ext cx="286756" cy="286756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44">
                <a:extLst>
                  <a:ext uri="{FF2B5EF4-FFF2-40B4-BE49-F238E27FC236}">
                    <a16:creationId xmlns:a16="http://schemas.microsoft.com/office/drawing/2014/main" id="{1E2B8D7B-9C11-1185-6019-B000104CE708}"/>
                  </a:ext>
                </a:extLst>
              </p:cNvPr>
              <p:cNvSpPr txBox="1"/>
              <p:nvPr/>
            </p:nvSpPr>
            <p:spPr>
              <a:xfrm>
                <a:off x="5348345" y="4826215"/>
                <a:ext cx="1991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b="1" dirty="0">
                    <a:solidFill>
                      <a:schemeClr val="tx2"/>
                    </a:solidFill>
                    <a:latin typeface="Manrope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MariaDB</a:t>
                </a:r>
              </a:p>
            </p:txBody>
          </p:sp>
          <p:sp>
            <p:nvSpPr>
              <p:cNvPr id="115" name="TextBox 44">
                <a:extLst>
                  <a:ext uri="{FF2B5EF4-FFF2-40B4-BE49-F238E27FC236}">
                    <a16:creationId xmlns:a16="http://schemas.microsoft.com/office/drawing/2014/main" id="{A4F26E74-7A70-8E99-D3B4-756D4973A5AE}"/>
                  </a:ext>
                </a:extLst>
              </p:cNvPr>
              <p:cNvSpPr txBox="1"/>
              <p:nvPr/>
            </p:nvSpPr>
            <p:spPr>
              <a:xfrm>
                <a:off x="5348345" y="5177883"/>
                <a:ext cx="2273300" cy="320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ja-JP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Prisma ORM </a:t>
                </a:r>
                <a:r>
                  <a:rPr lang="ja-JP" altLang="en-US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資料存取</a:t>
                </a:r>
              </a:p>
            </p:txBody>
          </p:sp>
        </p:grp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A2C079C-4733-70C1-3616-65098C4A2259}"/>
              </a:ext>
            </a:extLst>
          </p:cNvPr>
          <p:cNvGrpSpPr/>
          <p:nvPr/>
        </p:nvGrpSpPr>
        <p:grpSpPr>
          <a:xfrm>
            <a:off x="3273552" y="3739896"/>
            <a:ext cx="1207008" cy="568452"/>
            <a:chOff x="3273552" y="3739896"/>
            <a:chExt cx="1207008" cy="568452"/>
          </a:xfrm>
        </p:grpSpPr>
        <p:cxnSp>
          <p:nvCxnSpPr>
            <p:cNvPr id="126" name="線條 53">
              <a:extLst>
                <a:ext uri="{FF2B5EF4-FFF2-40B4-BE49-F238E27FC236}">
                  <a16:creationId xmlns:a16="http://schemas.microsoft.com/office/drawing/2014/main" id="{B88BD54E-C915-6CFB-2483-4A1CDB771104}"/>
                </a:ext>
              </a:extLst>
            </p:cNvPr>
            <p:cNvCxnSpPr/>
            <p:nvPr/>
          </p:nvCxnSpPr>
          <p:spPr>
            <a:xfrm>
              <a:off x="3511296" y="3739896"/>
              <a:ext cx="731520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7" name="文字 54">
              <a:extLst>
                <a:ext uri="{FF2B5EF4-FFF2-40B4-BE49-F238E27FC236}">
                  <a16:creationId xmlns:a16="http://schemas.microsoft.com/office/drawing/2014/main" id="{607A24AC-65D3-D70D-5250-90F952C3022B}"/>
                </a:ext>
              </a:extLst>
            </p:cNvPr>
            <p:cNvSpPr txBox="1"/>
            <p:nvPr/>
          </p:nvSpPr>
          <p:spPr>
            <a:xfrm>
              <a:off x="3273552" y="3851148"/>
              <a:ext cx="120700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HTTPS</a:t>
              </a:r>
              <a:endParaRPr lang="zh-TW" altLang="en-US" sz="1150" b="1" dirty="0"/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REST API</a:t>
              </a:r>
              <a:endParaRPr lang="zh-TW" altLang="en-US" sz="1150" b="1" dirty="0"/>
            </a:p>
          </p:txBody>
        </p:sp>
      </p:grp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0E393C16-CC66-4808-2949-8C8887A0FD49}"/>
              </a:ext>
            </a:extLst>
          </p:cNvPr>
          <p:cNvGrpSpPr/>
          <p:nvPr/>
        </p:nvGrpSpPr>
        <p:grpSpPr>
          <a:xfrm>
            <a:off x="7726680" y="3739896"/>
            <a:ext cx="1188720" cy="568452"/>
            <a:chOff x="7726680" y="3739896"/>
            <a:chExt cx="1188720" cy="568452"/>
          </a:xfrm>
        </p:grpSpPr>
        <p:cxnSp>
          <p:nvCxnSpPr>
            <p:cNvPr id="128" name="線條 55">
              <a:extLst>
                <a:ext uri="{FF2B5EF4-FFF2-40B4-BE49-F238E27FC236}">
                  <a16:creationId xmlns:a16="http://schemas.microsoft.com/office/drawing/2014/main" id="{7A437AB7-2CBC-1FFE-09DC-D979FA16109E}"/>
                </a:ext>
              </a:extLst>
            </p:cNvPr>
            <p:cNvCxnSpPr/>
            <p:nvPr/>
          </p:nvCxnSpPr>
          <p:spPr>
            <a:xfrm>
              <a:off x="7964424" y="3739896"/>
              <a:ext cx="713232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9" name="文字 56">
              <a:extLst>
                <a:ext uri="{FF2B5EF4-FFF2-40B4-BE49-F238E27FC236}">
                  <a16:creationId xmlns:a16="http://schemas.microsoft.com/office/drawing/2014/main" id="{5C888A15-FB1D-B971-8EAB-45C94C98EE50}"/>
                </a:ext>
              </a:extLst>
            </p:cNvPr>
            <p:cNvSpPr txBox="1"/>
            <p:nvPr/>
          </p:nvSpPr>
          <p:spPr>
            <a:xfrm>
              <a:off x="7726680" y="3851148"/>
              <a:ext cx="118872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spc="-50" dirty="0">
                  <a:solidFill>
                    <a:srgbClr val="46555C"/>
                  </a:solidFill>
                  <a:latin typeface="Manrope (本文)"/>
                </a:rPr>
                <a:t>HTTPS </a:t>
              </a:r>
              <a:r>
                <a:rPr lang="zh-TW" altLang="en-US" sz="1150" spc="-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輪詢</a:t>
              </a:r>
              <a:endParaRPr lang="zh-TW" altLang="en-US" sz="1150" spc="-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裝置憑證</a:t>
              </a:r>
              <a:endParaRPr lang="zh-TW" altLang="en-US" sz="11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B707DE8-1410-D8ED-9C7E-CA1A2F908669}"/>
              </a:ext>
            </a:extLst>
          </p:cNvPr>
          <p:cNvGrpSpPr/>
          <p:nvPr/>
        </p:nvGrpSpPr>
        <p:grpSpPr>
          <a:xfrm>
            <a:off x="8732521" y="3090671"/>
            <a:ext cx="2697480" cy="2578606"/>
            <a:chOff x="8732521" y="3090671"/>
            <a:chExt cx="2697480" cy="2578606"/>
          </a:xfrm>
        </p:grpSpPr>
        <p:sp>
          <p:nvSpPr>
            <p:cNvPr id="134" name="Rectangle: Rounded Corners 6">
              <a:extLst>
                <a:ext uri="{FF2B5EF4-FFF2-40B4-BE49-F238E27FC236}">
                  <a16:creationId xmlns:a16="http://schemas.microsoft.com/office/drawing/2014/main" id="{09C55062-56C1-4D20-14AF-EFA87B9BAE5F}"/>
                </a:ext>
              </a:extLst>
            </p:cNvPr>
            <p:cNvSpPr/>
            <p:nvPr/>
          </p:nvSpPr>
          <p:spPr>
            <a:xfrm>
              <a:off x="8732521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18">
              <a:extLst>
                <a:ext uri="{FF2B5EF4-FFF2-40B4-BE49-F238E27FC236}">
                  <a16:creationId xmlns:a16="http://schemas.microsoft.com/office/drawing/2014/main" id="{7A240533-9DCD-BC86-52B2-0DAEA8B87A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1120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1" name="圖示 49">
              <a:extLst>
                <a:ext uri="{FF2B5EF4-FFF2-40B4-BE49-F238E27FC236}">
                  <a16:creationId xmlns:a16="http://schemas.microsoft.com/office/drawing/2014/main" id="{7D196037-46AB-9F94-B1E0-C9BE778C2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76319" y="3445139"/>
              <a:ext cx="317480" cy="317480"/>
            </a:xfrm>
            <a:prstGeom prst="rect">
              <a:avLst/>
            </a:prstGeom>
          </p:spPr>
        </p:pic>
        <p:sp>
          <p:nvSpPr>
            <p:cNvPr id="139" name="TextBox 44">
              <a:extLst>
                <a:ext uri="{FF2B5EF4-FFF2-40B4-BE49-F238E27FC236}">
                  <a16:creationId xmlns:a16="http://schemas.microsoft.com/office/drawing/2014/main" id="{9770D3E5-6EE9-7358-BB91-75C5C25A5DA2}"/>
                </a:ext>
              </a:extLst>
            </p:cNvPr>
            <p:cNvSpPr txBox="1"/>
            <p:nvPr/>
          </p:nvSpPr>
          <p:spPr>
            <a:xfrm>
              <a:off x="8887724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ESP32-S3 </a:t>
              </a:r>
              <a:r>
                <a:rPr lang="ja-JP" altLang="en-US" b="1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書櫃</a:t>
              </a:r>
            </a:p>
          </p:txBody>
        </p:sp>
        <p:sp>
          <p:nvSpPr>
            <p:cNvPr id="140" name="TextBox 44">
              <a:extLst>
                <a:ext uri="{FF2B5EF4-FFF2-40B4-BE49-F238E27FC236}">
                  <a16:creationId xmlns:a16="http://schemas.microsoft.com/office/drawing/2014/main" id="{49ADA373-DC37-F5FA-4E99-CA9EA26CB2EB}"/>
                </a:ext>
              </a:extLst>
            </p:cNvPr>
            <p:cNvSpPr txBox="1"/>
            <p:nvPr/>
          </p:nvSpPr>
          <p:spPr>
            <a:xfrm>
              <a:off x="8887724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ESP-IDF 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韌體</a:t>
              </a:r>
            </a:p>
          </p:txBody>
        </p:sp>
        <p:sp>
          <p:nvSpPr>
            <p:cNvPr id="142" name="TextBox 44">
              <a:extLst>
                <a:ext uri="{FF2B5EF4-FFF2-40B4-BE49-F238E27FC236}">
                  <a16:creationId xmlns:a16="http://schemas.microsoft.com/office/drawing/2014/main" id="{57AB2476-BD93-9855-E328-7C99439B60AE}"/>
                </a:ext>
              </a:extLst>
            </p:cNvPr>
            <p:cNvSpPr txBox="1"/>
            <p:nvPr/>
          </p:nvSpPr>
          <p:spPr>
            <a:xfrm>
              <a:off x="8887724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動態 </a:t>
              </a:r>
              <a:r>
                <a:rPr lang="en-US" altLang="zh-TW" sz="1350" dirty="0">
                  <a:solidFill>
                    <a:srgbClr val="727D81"/>
                  </a:solidFill>
                  <a:cs typeface="Poppins" panose="00000500000000000000" pitchFamily="2" charset="0"/>
                </a:rPr>
                <a:t>QR</a:t>
              </a: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與比對碼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四扇櫃門電磁鎖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門磁回報開關門</a:t>
              </a: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9A8E16BE-A08D-87EC-0A25-8A7E7CDFEA24}"/>
              </a:ext>
            </a:extLst>
          </p:cNvPr>
          <p:cNvGrpSpPr/>
          <p:nvPr/>
        </p:nvGrpSpPr>
        <p:grpSpPr>
          <a:xfrm>
            <a:off x="756493" y="3090671"/>
            <a:ext cx="2697480" cy="2578606"/>
            <a:chOff x="756493" y="3090671"/>
            <a:chExt cx="2697480" cy="2578606"/>
          </a:xfrm>
        </p:grpSpPr>
        <p:sp>
          <p:nvSpPr>
            <p:cNvPr id="135" name="Rectangle: Rounded Corners 6">
              <a:extLst>
                <a:ext uri="{FF2B5EF4-FFF2-40B4-BE49-F238E27FC236}">
                  <a16:creationId xmlns:a16="http://schemas.microsoft.com/office/drawing/2014/main" id="{EEA79DFC-9EA3-B129-8DF2-A8C27F36E951}"/>
                </a:ext>
              </a:extLst>
            </p:cNvPr>
            <p:cNvSpPr/>
            <p:nvPr/>
          </p:nvSpPr>
          <p:spPr>
            <a:xfrm>
              <a:off x="756493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Graphic 18">
              <a:extLst>
                <a:ext uri="{FF2B5EF4-FFF2-40B4-BE49-F238E27FC236}">
                  <a16:creationId xmlns:a16="http://schemas.microsoft.com/office/drawing/2014/main" id="{4F8368D4-9CEB-DCFF-E98E-E410813F7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5092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TextBox 44">
              <a:extLst>
                <a:ext uri="{FF2B5EF4-FFF2-40B4-BE49-F238E27FC236}">
                  <a16:creationId xmlns:a16="http://schemas.microsoft.com/office/drawing/2014/main" id="{D9DC56C1-7204-3243-8C26-661B2C9487EE}"/>
                </a:ext>
              </a:extLst>
            </p:cNvPr>
            <p:cNvSpPr txBox="1"/>
            <p:nvPr/>
          </p:nvSpPr>
          <p:spPr>
            <a:xfrm>
              <a:off x="911696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Flutter App</a:t>
              </a:r>
            </a:p>
          </p:txBody>
        </p:sp>
        <p:sp>
          <p:nvSpPr>
            <p:cNvPr id="156" name="TextBox 44">
              <a:extLst>
                <a:ext uri="{FF2B5EF4-FFF2-40B4-BE49-F238E27FC236}">
                  <a16:creationId xmlns:a16="http://schemas.microsoft.com/office/drawing/2014/main" id="{EEC9B607-F5CC-2D12-7D7E-483E24B68FFD}"/>
                </a:ext>
              </a:extLst>
            </p:cNvPr>
            <p:cNvSpPr txBox="1"/>
            <p:nvPr/>
          </p:nvSpPr>
          <p:spPr>
            <a:xfrm>
              <a:off x="911696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iPhone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iPad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Android</a:t>
              </a:r>
            </a:p>
          </p:txBody>
        </p:sp>
        <p:sp>
          <p:nvSpPr>
            <p:cNvPr id="157" name="TextBox 44">
              <a:extLst>
                <a:ext uri="{FF2B5EF4-FFF2-40B4-BE49-F238E27FC236}">
                  <a16:creationId xmlns:a16="http://schemas.microsoft.com/office/drawing/2014/main" id="{BD574557-4B65-D22F-29F6-318C8D2F9D2E}"/>
                </a:ext>
              </a:extLst>
            </p:cNvPr>
            <p:cNvSpPr txBox="1"/>
            <p:nvPr/>
          </p:nvSpPr>
          <p:spPr>
            <a:xfrm>
              <a:off x="911696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買家與賣家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管理後台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AI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功能入口</a:t>
              </a:r>
            </a:p>
          </p:txBody>
        </p:sp>
        <p:pic>
          <p:nvPicPr>
            <p:cNvPr id="158" name="圖示 43">
              <a:extLst>
                <a:ext uri="{FF2B5EF4-FFF2-40B4-BE49-F238E27FC236}">
                  <a16:creationId xmlns:a16="http://schemas.microsoft.com/office/drawing/2014/main" id="{886AC279-B1C4-9E52-1CF9-816A5642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99576" y="3416564"/>
              <a:ext cx="317480" cy="317480"/>
            </a:xfrm>
            <a:prstGeom prst="rect">
              <a:avLst/>
            </a:prstGeom>
          </p:spPr>
        </p:pic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56B7B15-00B7-460E-F88A-74C770A95E57}"/>
              </a:ext>
            </a:extLst>
          </p:cNvPr>
          <p:cNvSpPr txBox="1"/>
          <p:nvPr/>
        </p:nvSpPr>
        <p:spPr>
          <a:xfrm>
            <a:off x="7565180" y="42759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86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600" dirty="0">
                <a:solidFill>
                  <a:schemeClr val="bg1"/>
                </a:solidFill>
                <a:latin typeface="+mj-ea"/>
                <a:ea typeface="+mj-ea"/>
              </a:rPr>
              <a:t>AI</a:t>
            </a:r>
            <a:r>
              <a:rPr lang="ja-JP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智慧服務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4627663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E00DE-1984-B7A7-8A5C-D3F9047E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BBD03C8-0D3B-DEA6-884D-BD44AC72D01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七項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智慧服務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6E7CC87-B4B2-99B9-7523-D30A92F2A95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SERVICES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62307A-9715-6041-46A8-E6D1EA11B5D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8C9D6558-5E21-DF34-B6A5-6D3C25189BA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1C9CB54-F5FF-CCB5-520C-16C28F8F2E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A3509EFF-0117-080F-D294-12A1D96B06AE}"/>
              </a:ext>
            </a:extLst>
          </p:cNvPr>
          <p:cNvGrpSpPr/>
          <p:nvPr/>
        </p:nvGrpSpPr>
        <p:grpSpPr>
          <a:xfrm>
            <a:off x="758952" y="2212848"/>
            <a:ext cx="3136392" cy="3584448"/>
            <a:chOff x="758952" y="2212848"/>
            <a:chExt cx="3136392" cy="3584448"/>
          </a:xfrm>
        </p:grpSpPr>
        <p:sp>
          <p:nvSpPr>
            <p:cNvPr id="8" name="卡片 8">
              <a:extLst>
                <a:ext uri="{FF2B5EF4-FFF2-40B4-BE49-F238E27FC236}">
                  <a16:creationId xmlns:a16="http://schemas.microsoft.com/office/drawing/2014/main" id="{DF3D9EBC-175B-F04A-BD00-11B1404C6D20}"/>
                </a:ext>
              </a:extLst>
            </p:cNvPr>
            <p:cNvSpPr/>
            <p:nvPr/>
          </p:nvSpPr>
          <p:spPr>
            <a:xfrm>
              <a:off x="758952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0" name="畫面底 9">
              <a:extLst>
                <a:ext uri="{FF2B5EF4-FFF2-40B4-BE49-F238E27FC236}">
                  <a16:creationId xmlns:a16="http://schemas.microsoft.com/office/drawing/2014/main" id="{3FACCCEB-8760-CE8C-F37C-AFB14F10B006}"/>
                </a:ext>
              </a:extLst>
            </p:cNvPr>
            <p:cNvSpPr/>
            <p:nvPr/>
          </p:nvSpPr>
          <p:spPr>
            <a:xfrm>
              <a:off x="886968" y="2340864"/>
              <a:ext cx="2880360" cy="1956816"/>
            </a:xfrm>
            <a:prstGeom prst="roundRect">
              <a:avLst>
                <a:gd name="adj" fmla="val 8890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1" name="!!手機" descr="上架階段的 App 畫面">
              <a:extLst>
                <a:ext uri="{FF2B5EF4-FFF2-40B4-BE49-F238E27FC236}">
                  <a16:creationId xmlns:a16="http://schemas.microsoft.com/office/drawing/2014/main" id="{C165E9B7-FC35-C0B9-4B32-AF5FD510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2000"/>
            <a:stretch>
              <a:fillRect/>
            </a:stretch>
          </p:blipFill>
          <p:spPr>
            <a:xfrm>
              <a:off x="1415542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2" name="流程線 11">
            <a:extLst>
              <a:ext uri="{FF2B5EF4-FFF2-40B4-BE49-F238E27FC236}">
                <a16:creationId xmlns:a16="http://schemas.microsoft.com/office/drawing/2014/main" id="{744D0D4F-7100-F627-340F-BC020CEE70F7}"/>
              </a:ext>
            </a:extLst>
          </p:cNvPr>
          <p:cNvCxnSpPr>
            <a:cxnSpLocks/>
          </p:cNvCxnSpPr>
          <p:nvPr/>
        </p:nvCxnSpPr>
        <p:spPr>
          <a:xfrm>
            <a:off x="2800350" y="1791668"/>
            <a:ext cx="15049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CD884F27-9A4F-3A52-1906-D1AFB252229B}"/>
              </a:ext>
            </a:extLst>
          </p:cNvPr>
          <p:cNvGrpSpPr/>
          <p:nvPr/>
        </p:nvGrpSpPr>
        <p:grpSpPr>
          <a:xfrm>
            <a:off x="4526280" y="2212848"/>
            <a:ext cx="3136392" cy="3584448"/>
            <a:chOff x="4526280" y="2212848"/>
            <a:chExt cx="3136392" cy="3584448"/>
          </a:xfrm>
        </p:grpSpPr>
        <p:sp>
          <p:nvSpPr>
            <p:cNvPr id="15" name="卡片 26">
              <a:extLst>
                <a:ext uri="{FF2B5EF4-FFF2-40B4-BE49-F238E27FC236}">
                  <a16:creationId xmlns:a16="http://schemas.microsoft.com/office/drawing/2014/main" id="{4AA787D9-7A43-4DB9-C8D4-98B7CABC3923}"/>
                </a:ext>
              </a:extLst>
            </p:cNvPr>
            <p:cNvSpPr/>
            <p:nvPr/>
          </p:nvSpPr>
          <p:spPr>
            <a:xfrm>
              <a:off x="4526280" y="2212848"/>
              <a:ext cx="3136392" cy="3584448"/>
            </a:xfrm>
            <a:prstGeom prst="roundRect">
              <a:avLst>
                <a:gd name="adj" fmla="val 5474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6" name="畫面底 27">
              <a:extLst>
                <a:ext uri="{FF2B5EF4-FFF2-40B4-BE49-F238E27FC236}">
                  <a16:creationId xmlns:a16="http://schemas.microsoft.com/office/drawing/2014/main" id="{FCA428AD-F9B9-D40B-9C9C-345AECFEFF5C}"/>
                </a:ext>
              </a:extLst>
            </p:cNvPr>
            <p:cNvSpPr/>
            <p:nvPr/>
          </p:nvSpPr>
          <p:spPr>
            <a:xfrm>
              <a:off x="4654296" y="2340864"/>
              <a:ext cx="2880360" cy="1956816"/>
            </a:xfrm>
            <a:prstGeom prst="roundRect">
              <a:avLst>
                <a:gd name="adj" fmla="val 8566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7" name="階段畫面 28" descr="選書階段的 App 畫面">
              <a:extLst>
                <a:ext uri="{FF2B5EF4-FFF2-40B4-BE49-F238E27FC236}">
                  <a16:creationId xmlns:a16="http://schemas.microsoft.com/office/drawing/2014/main" id="{0EC58B2D-E44B-DD01-8A96-356622B4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2000"/>
            <a:stretch>
              <a:fillRect/>
            </a:stretch>
          </p:blipFill>
          <p:spPr>
            <a:xfrm>
              <a:off x="5182870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8" name="流程線 29">
            <a:extLst>
              <a:ext uri="{FF2B5EF4-FFF2-40B4-BE49-F238E27FC236}">
                <a16:creationId xmlns:a16="http://schemas.microsoft.com/office/drawing/2014/main" id="{F2F6DF2F-F0FB-30E8-3231-B438F3F9BE44}"/>
              </a:ext>
            </a:extLst>
          </p:cNvPr>
          <p:cNvCxnSpPr>
            <a:cxnSpLocks/>
          </p:cNvCxnSpPr>
          <p:nvPr/>
        </p:nvCxnSpPr>
        <p:spPr>
          <a:xfrm>
            <a:off x="6877050" y="1791668"/>
            <a:ext cx="11874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4905548-9B0F-A2C4-84F6-FDBDB31EC013}"/>
              </a:ext>
            </a:extLst>
          </p:cNvPr>
          <p:cNvGrpSpPr/>
          <p:nvPr/>
        </p:nvGrpSpPr>
        <p:grpSpPr>
          <a:xfrm>
            <a:off x="8293608" y="2212848"/>
            <a:ext cx="3136392" cy="3584448"/>
            <a:chOff x="8293608" y="2212848"/>
            <a:chExt cx="3136392" cy="3584448"/>
          </a:xfrm>
        </p:grpSpPr>
        <p:sp>
          <p:nvSpPr>
            <p:cNvPr id="22" name="卡片 40">
              <a:extLst>
                <a:ext uri="{FF2B5EF4-FFF2-40B4-BE49-F238E27FC236}">
                  <a16:creationId xmlns:a16="http://schemas.microsoft.com/office/drawing/2014/main" id="{658ACF2F-EB52-04C8-F6E7-724EB1911222}"/>
                </a:ext>
              </a:extLst>
            </p:cNvPr>
            <p:cNvSpPr/>
            <p:nvPr/>
          </p:nvSpPr>
          <p:spPr>
            <a:xfrm>
              <a:off x="8293608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23" name="畫面底 41">
              <a:extLst>
                <a:ext uri="{FF2B5EF4-FFF2-40B4-BE49-F238E27FC236}">
                  <a16:creationId xmlns:a16="http://schemas.microsoft.com/office/drawing/2014/main" id="{2B3D51CA-4D6E-D8D6-DFFB-FE399A78CEDA}"/>
                </a:ext>
              </a:extLst>
            </p:cNvPr>
            <p:cNvSpPr/>
            <p:nvPr/>
          </p:nvSpPr>
          <p:spPr>
            <a:xfrm>
              <a:off x="8421624" y="2340864"/>
              <a:ext cx="2880360" cy="1956816"/>
            </a:xfrm>
            <a:prstGeom prst="roundRect">
              <a:avLst>
                <a:gd name="adj" fmla="val 8891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25" name="階段畫面 42" descr="售後階段的 App 畫面">
              <a:extLst>
                <a:ext uri="{FF2B5EF4-FFF2-40B4-BE49-F238E27FC236}">
                  <a16:creationId xmlns:a16="http://schemas.microsoft.com/office/drawing/2014/main" id="{F21A84F1-131A-2735-B6FD-1999B3C64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52000"/>
            <a:stretch>
              <a:fillRect/>
            </a:stretch>
          </p:blipFill>
          <p:spPr>
            <a:xfrm>
              <a:off x="8950198" y="2523744"/>
              <a:ext cx="1823212" cy="1773936"/>
            </a:xfrm>
            <a:prstGeom prst="rect">
              <a:avLst/>
            </a:prstGeom>
          </p:spPr>
        </p:pic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EFB35A8-3952-E635-7C4B-5E169E48F8EE}"/>
              </a:ext>
            </a:extLst>
          </p:cNvPr>
          <p:cNvGrpSpPr/>
          <p:nvPr/>
        </p:nvGrpSpPr>
        <p:grpSpPr>
          <a:xfrm>
            <a:off x="758952" y="1553924"/>
            <a:ext cx="2907792" cy="475488"/>
            <a:chOff x="758952" y="1553924"/>
            <a:chExt cx="2907792" cy="475488"/>
          </a:xfrm>
        </p:grpSpPr>
        <p:sp>
          <p:nvSpPr>
            <p:cNvPr id="5" name="文字 7">
              <a:extLst>
                <a:ext uri="{FF2B5EF4-FFF2-40B4-BE49-F238E27FC236}">
                  <a16:creationId xmlns:a16="http://schemas.microsoft.com/office/drawing/2014/main" id="{CD6D97B4-EFBC-84CD-1477-ACB127223D1B}"/>
                </a:ext>
              </a:extLst>
            </p:cNvPr>
            <p:cNvSpPr txBox="1"/>
            <p:nvPr/>
          </p:nvSpPr>
          <p:spPr>
            <a:xfrm>
              <a:off x="1289304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上架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LISTING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E0F2D705-2265-783D-E73D-E7D15C04FA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8952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E91D3381-ACC6-01D8-5680-161E36A9308A}"/>
              </a:ext>
            </a:extLst>
          </p:cNvPr>
          <p:cNvGrpSpPr/>
          <p:nvPr/>
        </p:nvGrpSpPr>
        <p:grpSpPr>
          <a:xfrm>
            <a:off x="4525416" y="1553924"/>
            <a:ext cx="2908656" cy="475488"/>
            <a:chOff x="4525416" y="1553924"/>
            <a:chExt cx="2908656" cy="475488"/>
          </a:xfrm>
        </p:grpSpPr>
        <p:sp>
          <p:nvSpPr>
            <p:cNvPr id="14" name="文字 25">
              <a:extLst>
                <a:ext uri="{FF2B5EF4-FFF2-40B4-BE49-F238E27FC236}">
                  <a16:creationId xmlns:a16="http://schemas.microsoft.com/office/drawing/2014/main" id="{C5A33F8A-0182-50E2-674E-7EAD66E278F4}"/>
                </a:ext>
              </a:extLst>
            </p:cNvPr>
            <p:cNvSpPr txBox="1"/>
            <p:nvPr/>
          </p:nvSpPr>
          <p:spPr>
            <a:xfrm>
              <a:off x="5056632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選書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DISCOVERY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9" name="Graphic 18">
              <a:extLst>
                <a:ext uri="{FF2B5EF4-FFF2-40B4-BE49-F238E27FC236}">
                  <a16:creationId xmlns:a16="http://schemas.microsoft.com/office/drawing/2014/main" id="{D93E3734-5B98-7459-30FA-8C94EAC8CF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2541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9B9517E9-C0A8-0591-9E28-66AFF71927AC}"/>
              </a:ext>
            </a:extLst>
          </p:cNvPr>
          <p:cNvGrpSpPr/>
          <p:nvPr/>
        </p:nvGrpSpPr>
        <p:grpSpPr>
          <a:xfrm>
            <a:off x="8293176" y="1553924"/>
            <a:ext cx="2908224" cy="475488"/>
            <a:chOff x="8293176" y="1553924"/>
            <a:chExt cx="2908224" cy="475488"/>
          </a:xfrm>
        </p:grpSpPr>
        <p:sp>
          <p:nvSpPr>
            <p:cNvPr id="20" name="文字 39">
              <a:extLst>
                <a:ext uri="{FF2B5EF4-FFF2-40B4-BE49-F238E27FC236}">
                  <a16:creationId xmlns:a16="http://schemas.microsoft.com/office/drawing/2014/main" id="{D0F6383D-DF60-02CB-4129-1153F4C99FBE}"/>
                </a:ext>
              </a:extLst>
            </p:cNvPr>
            <p:cNvSpPr txBox="1"/>
            <p:nvPr/>
          </p:nvSpPr>
          <p:spPr>
            <a:xfrm>
              <a:off x="8823960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售後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AFTER-SALES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FD4A1FBF-D77F-F057-DAFE-339531A8C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9317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43" name="文字 15">
            <a:extLst>
              <a:ext uri="{FF2B5EF4-FFF2-40B4-BE49-F238E27FC236}">
                <a16:creationId xmlns:a16="http://schemas.microsoft.com/office/drawing/2014/main" id="{6A56ACAB-3232-C9F5-28E1-9FE23DE0BBAD}"/>
              </a:ext>
            </a:extLst>
          </p:cNvPr>
          <p:cNvSpPr txBox="1"/>
          <p:nvPr/>
        </p:nvSpPr>
        <p:spPr>
          <a:xfrm>
            <a:off x="982218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上架輔助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資料補齊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上架審核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48" name="文字 15">
            <a:extLst>
              <a:ext uri="{FF2B5EF4-FFF2-40B4-BE49-F238E27FC236}">
                <a16:creationId xmlns:a16="http://schemas.microsoft.com/office/drawing/2014/main" id="{1B1F269A-70C1-1CC1-6D3F-4B114DE102B5}"/>
              </a:ext>
            </a:extLst>
          </p:cNvPr>
          <p:cNvSpPr txBox="1"/>
          <p:nvPr/>
        </p:nvSpPr>
        <p:spPr>
          <a:xfrm>
            <a:off x="4749546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個人化推薦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書籍顧問</a:t>
            </a:r>
          </a:p>
        </p:txBody>
      </p:sp>
      <p:sp>
        <p:nvSpPr>
          <p:cNvPr id="53" name="文字 15">
            <a:extLst>
              <a:ext uri="{FF2B5EF4-FFF2-40B4-BE49-F238E27FC236}">
                <a16:creationId xmlns:a16="http://schemas.microsoft.com/office/drawing/2014/main" id="{1617E1D3-911D-EA71-913A-D093C15E730E}"/>
              </a:ext>
            </a:extLst>
          </p:cNvPr>
          <p:cNvSpPr txBox="1"/>
          <p:nvPr/>
        </p:nvSpPr>
        <p:spPr>
          <a:xfrm>
            <a:off x="8516874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客服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爭議分析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05847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build="p"/>
      <p:bldP spid="48" grpId="0" build="p"/>
      <p:bldP spid="5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上架輔助：書目帶入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CATALOG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F02B63E6-2FBB-94B0-51EA-1AB24500FA6F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3" name="文字 9">
            <a:extLst>
              <a:ext uri="{FF2B5EF4-FFF2-40B4-BE49-F238E27FC236}">
                <a16:creationId xmlns:a16="http://schemas.microsoft.com/office/drawing/2014/main" id="{0861E0BB-83BC-A0B3-BF09-AB485E20E15E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9" name="文字 10">
            <a:extLst>
              <a:ext uri="{FF2B5EF4-FFF2-40B4-BE49-F238E27FC236}">
                <a16:creationId xmlns:a16="http://schemas.microsoft.com/office/drawing/2014/main" id="{4A16572D-CA5E-1735-2D85-6A29A8F3D262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21" name="步驟亮起底 11">
            <a:extLst>
              <a:ext uri="{FF2B5EF4-FFF2-40B4-BE49-F238E27FC236}">
                <a16:creationId xmlns:a16="http://schemas.microsoft.com/office/drawing/2014/main" id="{7A6F4BDE-BFEE-99D2-2B24-5A820C56973C}"/>
              </a:ext>
            </a:extLst>
          </p:cNvPr>
          <p:cNvSpPr/>
          <p:nvPr/>
        </p:nvSpPr>
        <p:spPr>
          <a:xfrm>
            <a:off x="758952" y="213058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步驟編號 12">
            <a:extLst>
              <a:ext uri="{FF2B5EF4-FFF2-40B4-BE49-F238E27FC236}">
                <a16:creationId xmlns:a16="http://schemas.microsoft.com/office/drawing/2014/main" id="{7D7781CD-25F1-FB18-E9DA-FC9C07DE0106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26" name="文字 13">
            <a:extLst>
              <a:ext uri="{FF2B5EF4-FFF2-40B4-BE49-F238E27FC236}">
                <a16:creationId xmlns:a16="http://schemas.microsoft.com/office/drawing/2014/main" id="{F780376F-4954-EC81-6445-80B97513C5E8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27" name="文字 14">
            <a:extLst>
              <a:ext uri="{FF2B5EF4-FFF2-40B4-BE49-F238E27FC236}">
                <a16:creationId xmlns:a16="http://schemas.microsoft.com/office/drawing/2014/main" id="{80883959-6ECE-FAA6-20A8-DB0438835349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30" name="步驟編號底 15">
            <a:extLst>
              <a:ext uri="{FF2B5EF4-FFF2-40B4-BE49-F238E27FC236}">
                <a16:creationId xmlns:a16="http://schemas.microsoft.com/office/drawing/2014/main" id="{613F4CB5-727B-9947-F110-09D9ABAD15C8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2" name="文字 16">
            <a:extLst>
              <a:ext uri="{FF2B5EF4-FFF2-40B4-BE49-F238E27FC236}">
                <a16:creationId xmlns:a16="http://schemas.microsoft.com/office/drawing/2014/main" id="{A5778209-D88D-A2C9-1A16-E7C7B91CCBBD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3" name="文字 17">
            <a:extLst>
              <a:ext uri="{FF2B5EF4-FFF2-40B4-BE49-F238E27FC236}">
                <a16:creationId xmlns:a16="http://schemas.microsoft.com/office/drawing/2014/main" id="{E67FDE88-BC21-DFA8-4E90-1860E2CC6A3B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4" name="步驟亮起底 18">
            <a:extLst>
              <a:ext uri="{FF2B5EF4-FFF2-40B4-BE49-F238E27FC236}">
                <a16:creationId xmlns:a16="http://schemas.microsoft.com/office/drawing/2014/main" id="{C1D9D731-8E93-3131-5BB0-6528C6C4EEA8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5" name="步驟編號 19">
            <a:extLst>
              <a:ext uri="{FF2B5EF4-FFF2-40B4-BE49-F238E27FC236}">
                <a16:creationId xmlns:a16="http://schemas.microsoft.com/office/drawing/2014/main" id="{ECE97AE7-E6D9-FB42-1C0B-6F341D1E4007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6" name="文字 20">
            <a:extLst>
              <a:ext uri="{FF2B5EF4-FFF2-40B4-BE49-F238E27FC236}">
                <a16:creationId xmlns:a16="http://schemas.microsoft.com/office/drawing/2014/main" id="{945BB0A0-3AE6-4775-87BD-22F997B79B21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7" name="文字 21">
            <a:extLst>
              <a:ext uri="{FF2B5EF4-FFF2-40B4-BE49-F238E27FC236}">
                <a16:creationId xmlns:a16="http://schemas.microsoft.com/office/drawing/2014/main" id="{8EEC7D15-100C-85B7-4473-C828A862560E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8" name="步驟編號底 22">
            <a:extLst>
              <a:ext uri="{FF2B5EF4-FFF2-40B4-BE49-F238E27FC236}">
                <a16:creationId xmlns:a16="http://schemas.microsoft.com/office/drawing/2014/main" id="{C4AB5CEF-0BBB-5B95-BEDC-6F6978677010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9" name="文字 23">
            <a:extLst>
              <a:ext uri="{FF2B5EF4-FFF2-40B4-BE49-F238E27FC236}">
                <a16:creationId xmlns:a16="http://schemas.microsoft.com/office/drawing/2014/main" id="{A350A854-E15E-D818-F098-89E970CBAA56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0" name="文字 24">
            <a:extLst>
              <a:ext uri="{FF2B5EF4-FFF2-40B4-BE49-F238E27FC236}">
                <a16:creationId xmlns:a16="http://schemas.microsoft.com/office/drawing/2014/main" id="{3E1B77EE-4B3D-BCDE-51E2-86D821281334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1" name="步驟亮起底 25">
            <a:extLst>
              <a:ext uri="{FF2B5EF4-FFF2-40B4-BE49-F238E27FC236}">
                <a16:creationId xmlns:a16="http://schemas.microsoft.com/office/drawing/2014/main" id="{FEB1D1C9-4B7D-540E-7DD0-7D4DF659201A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2" name="步驟編號 26">
            <a:extLst>
              <a:ext uri="{FF2B5EF4-FFF2-40B4-BE49-F238E27FC236}">
                <a16:creationId xmlns:a16="http://schemas.microsoft.com/office/drawing/2014/main" id="{60178995-D688-2DEA-7D0E-C8387306BC95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7">
            <a:extLst>
              <a:ext uri="{FF2B5EF4-FFF2-40B4-BE49-F238E27FC236}">
                <a16:creationId xmlns:a16="http://schemas.microsoft.com/office/drawing/2014/main" id="{193EA9B7-5204-EFD2-5565-E97F8727F89F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5" name="文字 28">
            <a:extLst>
              <a:ext uri="{FF2B5EF4-FFF2-40B4-BE49-F238E27FC236}">
                <a16:creationId xmlns:a16="http://schemas.microsoft.com/office/drawing/2014/main" id="{A9DB35B0-4170-6D7F-9F09-B87AA30F2FA3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6" name="步驟編號底 29">
            <a:extLst>
              <a:ext uri="{FF2B5EF4-FFF2-40B4-BE49-F238E27FC236}">
                <a16:creationId xmlns:a16="http://schemas.microsoft.com/office/drawing/2014/main" id="{266E177F-9E51-0495-9AB4-AF4DB21F475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7" name="文字 30">
            <a:extLst>
              <a:ext uri="{FF2B5EF4-FFF2-40B4-BE49-F238E27FC236}">
                <a16:creationId xmlns:a16="http://schemas.microsoft.com/office/drawing/2014/main" id="{AA5B580A-26E0-3A9F-DFC6-FB9A8DE8E80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49" name="文字 31">
            <a:extLst>
              <a:ext uri="{FF2B5EF4-FFF2-40B4-BE49-F238E27FC236}">
                <a16:creationId xmlns:a16="http://schemas.microsoft.com/office/drawing/2014/main" id="{9D468214-3E1C-80B2-A351-2115891772E8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sp>
        <p:nvSpPr>
          <p:cNvPr id="50" name="步驟亮起底 32">
            <a:extLst>
              <a:ext uri="{FF2B5EF4-FFF2-40B4-BE49-F238E27FC236}">
                <a16:creationId xmlns:a16="http://schemas.microsoft.com/office/drawing/2014/main" id="{51D3D4A9-AADC-AD16-E992-4715FEA8D87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1" name="步驟編號 33">
            <a:extLst>
              <a:ext uri="{FF2B5EF4-FFF2-40B4-BE49-F238E27FC236}">
                <a16:creationId xmlns:a16="http://schemas.microsoft.com/office/drawing/2014/main" id="{02862212-65E3-8C15-B4C4-29C9BDB20E5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2" name="文字 34">
            <a:extLst>
              <a:ext uri="{FF2B5EF4-FFF2-40B4-BE49-F238E27FC236}">
                <a16:creationId xmlns:a16="http://schemas.microsoft.com/office/drawing/2014/main" id="{838C8CD1-5C40-44B2-0580-CE266AF2B4A9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57" name="文字 35">
            <a:extLst>
              <a:ext uri="{FF2B5EF4-FFF2-40B4-BE49-F238E27FC236}">
                <a16:creationId xmlns:a16="http://schemas.microsoft.com/office/drawing/2014/main" id="{FAE875B3-6C51-04CE-E324-34C3480FD394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pic>
        <p:nvPicPr>
          <p:cNvPr id="61" name="!!手機">
            <a:hlinkClick r:id="" action="ppaction://media"/>
            <a:extLst>
              <a:ext uri="{FF2B5EF4-FFF2-40B4-BE49-F238E27FC236}">
                <a16:creationId xmlns:a16="http://schemas.microsoft.com/office/drawing/2014/main" id="{9C367D1E-8130-57D7-A039-FDEB411E1D1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995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38" dur="11717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  <p:bldLst>
      <p:bldP spid="4" grpId="0" animBg="1"/>
      <p:bldP spid="13" grpId="0" animBg="1"/>
      <p:bldP spid="19" grpId="0" animBg="1"/>
      <p:bldP spid="21" grpId="0" animBg="1"/>
      <p:bldP spid="21" grpId="1" animBg="1"/>
      <p:bldP spid="21" grpId="2" animBg="1"/>
      <p:bldP spid="21" grpId="3" animBg="1"/>
      <p:bldP spid="21" grpId="4" animBg="1"/>
      <p:bldP spid="21" grpId="5" animBg="1"/>
      <p:bldP spid="21" grpId="6" animBg="1"/>
      <p:bldP spid="21" grpId="7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30" grpId="0" animBg="1"/>
      <p:bldP spid="32" grpId="0" animBg="1"/>
      <p:bldP spid="33" grpId="0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6" grpId="6" animBg="1"/>
      <p:bldP spid="36" grpId="7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37" grpId="6" animBg="1"/>
      <p:bldP spid="37" grpId="7" animBg="1"/>
      <p:bldP spid="38" grpId="0" animBg="1"/>
      <p:bldP spid="39" grpId="0" animBg="1"/>
      <p:bldP spid="40" grpId="0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4" grpId="0" animBg="1"/>
      <p:bldP spid="44" grpId="1" animBg="1"/>
      <p:bldP spid="44" grpId="2" animBg="1"/>
      <p:bldP spid="44" grpId="3" animBg="1"/>
      <p:bldP spid="44" grpId="4" animBg="1"/>
      <p:bldP spid="44" grpId="5" animBg="1"/>
      <p:bldP spid="44" grpId="6" animBg="1"/>
      <p:bldP spid="44" grpId="7" animBg="1"/>
      <p:bldP spid="45" grpId="0" animBg="1"/>
      <p:bldP spid="45" grpId="1" animBg="1"/>
      <p:bldP spid="45" grpId="2" animBg="1"/>
      <p:bldP spid="45" grpId="3" animBg="1"/>
      <p:bldP spid="45" grpId="4" animBg="1"/>
      <p:bldP spid="45" grpId="5" animBg="1"/>
      <p:bldP spid="45" grpId="6" animBg="1"/>
      <p:bldP spid="45" grpId="7" animBg="1"/>
      <p:bldP spid="46" grpId="0" animBg="1"/>
      <p:bldP spid="47" grpId="0" animBg="1"/>
      <p:bldP spid="49" grpId="0" animBg="1"/>
      <p:bldP spid="50" grpId="0" animBg="1"/>
      <p:bldP spid="50" grpId="1" animBg="1"/>
      <p:bldP spid="50" grpId="2" animBg="1"/>
      <p:bldP spid="50" grpId="3" animBg="1"/>
      <p:bldP spid="50" grpId="4" animBg="1"/>
      <p:bldP spid="50" grpId="5" animBg="1"/>
      <p:bldP spid="50" grpId="6" animBg="1"/>
      <p:bldP spid="51" grpId="0" animBg="1"/>
      <p:bldP spid="51" grpId="1" animBg="1"/>
      <p:bldP spid="51" grpId="2" animBg="1"/>
      <p:bldP spid="51" grpId="3" animBg="1"/>
      <p:bldP spid="51" grpId="4" animBg="1"/>
      <p:bldP spid="51" grpId="5" animBg="1"/>
      <p:bldP spid="51" grpId="6" animBg="1"/>
      <p:bldP spid="52" grpId="0" animBg="1"/>
      <p:bldP spid="52" grpId="1" animBg="1"/>
      <p:bldP spid="52" grpId="2" animBg="1"/>
      <p:bldP spid="52" grpId="3" animBg="1"/>
      <p:bldP spid="52" grpId="4" animBg="1"/>
      <p:bldP spid="52" grpId="5" animBg="1"/>
      <p:bldP spid="52" grpId="6" animBg="1"/>
      <p:bldP spid="57" grpId="0" animBg="1"/>
      <p:bldP spid="57" grpId="1" animBg="1"/>
      <p:bldP spid="57" grpId="2" animBg="1"/>
      <p:bldP spid="57" grpId="3" animBg="1"/>
      <p:bldP spid="57" grpId="4" animBg="1"/>
      <p:bldP spid="57" grpId="5" animBg="1"/>
      <p:bldP spid="57" grpId="6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上架輔助：書況與售價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CONDITION &amp; PRICE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5" name="步驟編號底 8">
            <a:extLst>
              <a:ext uri="{FF2B5EF4-FFF2-40B4-BE49-F238E27FC236}">
                <a16:creationId xmlns:a16="http://schemas.microsoft.com/office/drawing/2014/main" id="{3C67EFDA-7B81-C5D8-9552-337D63662113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8" name="文字 9">
            <a:extLst>
              <a:ext uri="{FF2B5EF4-FFF2-40B4-BE49-F238E27FC236}">
                <a16:creationId xmlns:a16="http://schemas.microsoft.com/office/drawing/2014/main" id="{E40418B8-5A26-A79A-589D-9805F77B833B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0" name="文字 10">
            <a:extLst>
              <a:ext uri="{FF2B5EF4-FFF2-40B4-BE49-F238E27FC236}">
                <a16:creationId xmlns:a16="http://schemas.microsoft.com/office/drawing/2014/main" id="{B4B51E35-5433-CE34-3534-F3C09BBC0B59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1" name="步驟亮起底 11">
            <a:extLst>
              <a:ext uri="{FF2B5EF4-FFF2-40B4-BE49-F238E27FC236}">
                <a16:creationId xmlns:a16="http://schemas.microsoft.com/office/drawing/2014/main" id="{461D339A-57E4-43B2-3BD7-342BB3447263}"/>
              </a:ext>
            </a:extLst>
          </p:cNvPr>
          <p:cNvSpPr/>
          <p:nvPr/>
        </p:nvSpPr>
        <p:spPr>
          <a:xfrm>
            <a:off x="758952" y="2133941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步驟編號 12">
            <a:extLst>
              <a:ext uri="{FF2B5EF4-FFF2-40B4-BE49-F238E27FC236}">
                <a16:creationId xmlns:a16="http://schemas.microsoft.com/office/drawing/2014/main" id="{E3EA1B3D-7C85-530C-415D-B9ADF0326D90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4" name="文字 13">
            <a:extLst>
              <a:ext uri="{FF2B5EF4-FFF2-40B4-BE49-F238E27FC236}">
                <a16:creationId xmlns:a16="http://schemas.microsoft.com/office/drawing/2014/main" id="{A9FFBABD-C7F1-B0FC-5792-09D6E971996C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5" name="文字 14">
            <a:extLst>
              <a:ext uri="{FF2B5EF4-FFF2-40B4-BE49-F238E27FC236}">
                <a16:creationId xmlns:a16="http://schemas.microsoft.com/office/drawing/2014/main" id="{46BE593E-824A-440A-9553-F27C7C03F973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6" name="步驟編號底 15">
            <a:extLst>
              <a:ext uri="{FF2B5EF4-FFF2-40B4-BE49-F238E27FC236}">
                <a16:creationId xmlns:a16="http://schemas.microsoft.com/office/drawing/2014/main" id="{44F89D02-A2C1-DEE1-6545-2FEE3DB6632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7" name="文字 16">
            <a:extLst>
              <a:ext uri="{FF2B5EF4-FFF2-40B4-BE49-F238E27FC236}">
                <a16:creationId xmlns:a16="http://schemas.microsoft.com/office/drawing/2014/main" id="{C555A97B-28F2-91DF-D898-B8C535D288F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18" name="文字 17">
            <a:extLst>
              <a:ext uri="{FF2B5EF4-FFF2-40B4-BE49-F238E27FC236}">
                <a16:creationId xmlns:a16="http://schemas.microsoft.com/office/drawing/2014/main" id="{319605FE-1EF9-1705-35D8-0C8AD1853A3A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0" name="步驟亮起底 18">
            <a:extLst>
              <a:ext uri="{FF2B5EF4-FFF2-40B4-BE49-F238E27FC236}">
                <a16:creationId xmlns:a16="http://schemas.microsoft.com/office/drawing/2014/main" id="{B3571A8D-BEB4-A924-2F65-CFDF1662498E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A7D96AB7-9B34-E595-BB5A-2B5500FC0464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9F04427-D7B5-3270-61AD-A486C6A7F9C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25" name="文字 21">
            <a:extLst>
              <a:ext uri="{FF2B5EF4-FFF2-40B4-BE49-F238E27FC236}">
                <a16:creationId xmlns:a16="http://schemas.microsoft.com/office/drawing/2014/main" id="{99B3B0F0-36AA-02BA-6A6B-2C6600D488E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8" name="步驟編號底 22">
            <a:extLst>
              <a:ext uri="{FF2B5EF4-FFF2-40B4-BE49-F238E27FC236}">
                <a16:creationId xmlns:a16="http://schemas.microsoft.com/office/drawing/2014/main" id="{7A00992D-9AB8-6107-A5DD-1858D3356532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9" name="文字 23">
            <a:extLst>
              <a:ext uri="{FF2B5EF4-FFF2-40B4-BE49-F238E27FC236}">
                <a16:creationId xmlns:a16="http://schemas.microsoft.com/office/drawing/2014/main" id="{48AB47DA-E33E-37B9-EE60-A5A1079E0701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31" name="文字 24">
            <a:extLst>
              <a:ext uri="{FF2B5EF4-FFF2-40B4-BE49-F238E27FC236}">
                <a16:creationId xmlns:a16="http://schemas.microsoft.com/office/drawing/2014/main" id="{47A6D0DC-AC63-C8B4-C8E2-84551E448F73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3" name="步驟亮起底 25">
            <a:extLst>
              <a:ext uri="{FF2B5EF4-FFF2-40B4-BE49-F238E27FC236}">
                <a16:creationId xmlns:a16="http://schemas.microsoft.com/office/drawing/2014/main" id="{6114927B-55ED-2107-FC96-530F62A32591}"/>
              </a:ext>
            </a:extLst>
          </p:cNvPr>
          <p:cNvSpPr/>
          <p:nvPr/>
        </p:nvSpPr>
        <p:spPr>
          <a:xfrm>
            <a:off x="758952" y="404980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8" name="步驟編號 26">
            <a:extLst>
              <a:ext uri="{FF2B5EF4-FFF2-40B4-BE49-F238E27FC236}">
                <a16:creationId xmlns:a16="http://schemas.microsoft.com/office/drawing/2014/main" id="{430CD3E0-138F-E206-DD08-7462FD387B31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3" name="文字 27">
            <a:extLst>
              <a:ext uri="{FF2B5EF4-FFF2-40B4-BE49-F238E27FC236}">
                <a16:creationId xmlns:a16="http://schemas.microsoft.com/office/drawing/2014/main" id="{48450963-173F-A777-1F15-9592349CCC1E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54" name="文字 28">
            <a:extLst>
              <a:ext uri="{FF2B5EF4-FFF2-40B4-BE49-F238E27FC236}">
                <a16:creationId xmlns:a16="http://schemas.microsoft.com/office/drawing/2014/main" id="{12B8937B-B0FB-DF21-E69A-97AEA70A0094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55" name="步驟編號底 29">
            <a:extLst>
              <a:ext uri="{FF2B5EF4-FFF2-40B4-BE49-F238E27FC236}">
                <a16:creationId xmlns:a16="http://schemas.microsoft.com/office/drawing/2014/main" id="{6218E80B-2424-CA6C-B481-4CFC5B3B8ED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6" name="文字 30">
            <a:extLst>
              <a:ext uri="{FF2B5EF4-FFF2-40B4-BE49-F238E27FC236}">
                <a16:creationId xmlns:a16="http://schemas.microsoft.com/office/drawing/2014/main" id="{BC779846-CDEF-A67E-8742-D788C2F569E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58" name="文字 31">
            <a:extLst>
              <a:ext uri="{FF2B5EF4-FFF2-40B4-BE49-F238E27FC236}">
                <a16:creationId xmlns:a16="http://schemas.microsoft.com/office/drawing/2014/main" id="{367F0BF5-B31A-637C-0E73-AD45B72FCA10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sp>
        <p:nvSpPr>
          <p:cNvPr id="59" name="步驟亮起底 32">
            <a:extLst>
              <a:ext uri="{FF2B5EF4-FFF2-40B4-BE49-F238E27FC236}">
                <a16:creationId xmlns:a16="http://schemas.microsoft.com/office/drawing/2014/main" id="{BD288D70-7C2F-7FA1-5175-F65072A8E4A2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步驟編號 33">
            <a:extLst>
              <a:ext uri="{FF2B5EF4-FFF2-40B4-BE49-F238E27FC236}">
                <a16:creationId xmlns:a16="http://schemas.microsoft.com/office/drawing/2014/main" id="{8D38A626-B7ED-4268-B2EC-8B76263E307F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722C06E0-2ADD-1448-F0A0-2ACFC6F17A7F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CE718695-70D6-0DCF-1EC9-A3200339CB8A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6C632F0B-9776-746E-ED7A-92DC98D4B7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058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0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5" grpId="0" animBg="1"/>
      <p:bldP spid="8" grpId="0" animBg="1"/>
      <p:bldP spid="10" grpId="0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6" grpId="0" animBg="1"/>
      <p:bldP spid="17" grpId="0" animBg="1"/>
      <p:bldP spid="18" grpId="0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2" grpId="0" animBg="1"/>
      <p:bldP spid="22" grpId="1" animBg="1"/>
      <p:bldP spid="22" grpId="2" animBg="1"/>
      <p:bldP spid="22" grpId="3" animBg="1"/>
      <p:bldP spid="22" grpId="4" animBg="1"/>
      <p:bldP spid="22" grpId="5" animBg="1"/>
      <p:bldP spid="22" grpId="6" animBg="1"/>
      <p:bldP spid="22" grpId="7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8" grpId="0" animBg="1"/>
      <p:bldP spid="29" grpId="0" animBg="1"/>
      <p:bldP spid="31" grpId="0" animBg="1"/>
      <p:bldP spid="43" grpId="0" animBg="1"/>
      <p:bldP spid="43" grpId="1" animBg="1"/>
      <p:bldP spid="43" grpId="2" animBg="1"/>
      <p:bldP spid="43" grpId="3" animBg="1"/>
      <p:bldP spid="43" grpId="4" animBg="1"/>
      <p:bldP spid="43" grpId="5" animBg="1"/>
      <p:bldP spid="43" grpId="6" animBg="1"/>
      <p:bldP spid="43" grpId="7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5" grpId="0" animBg="1"/>
      <p:bldP spid="56" grpId="0" animBg="1"/>
      <p:bldP spid="58" grpId="0" animBg="1"/>
      <p:bldP spid="59" grpId="0" animBg="1"/>
      <p:bldP spid="59" grpId="1" animBg="1"/>
      <p:bldP spid="59" grpId="2" animBg="1"/>
      <p:bldP spid="59" grpId="3" animBg="1"/>
      <p:bldP spid="59" grpId="4" animBg="1"/>
      <p:bldP spid="59" grpId="5" animBg="1"/>
      <p:bldP spid="59" grpId="6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0A98E-4BE5-80A1-A49A-EA0625CD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6D714A3-7F61-DD4C-2967-CC1227C0DFF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600" b="1" spc="150" dirty="0">
                <a:latin typeface="+mn-ea"/>
              </a:rPr>
              <a:t>上架審核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B4E19C-0F88-4317-C6FB-508B065A874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SCREENING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F610CFB-CFD5-FE1D-DBA8-E61BCCA88D2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23D5148-8C6F-8717-6988-71C6127C01C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9F0D6073-D7B1-36AD-60F3-B9983C80F58C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1636DA7D-4D93-E8E5-8BB2-DD527491C695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88DAE07-54D5-160A-84F2-170CECAA45EA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90786DE-7028-99B0-AE8A-E8412299C8A6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9CCC774-8AA7-7703-6123-0A6031C0D097}"/>
              </a:ext>
            </a:extLst>
          </p:cNvPr>
          <p:cNvSpPr/>
          <p:nvPr/>
        </p:nvSpPr>
        <p:spPr>
          <a:xfrm>
            <a:off x="758952" y="213295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EC87D502-8DE9-1A64-332C-2FCAE3560A11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202AD9BD-4C3C-7376-3B94-B749265239D5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6961EC94-19E2-C3CC-7056-CBA305B11168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D30F914D-6A53-DE9A-7C67-6224C1CAB5F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2A84E09-622F-ED2A-6C6F-AC44131DA79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429178BE-578A-44A7-6AF6-1FE32CBBDAA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BB9694C-3CD6-D2A3-842E-2019E91D3D16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2E57306E-A5A9-357C-6EFC-A1C9B815EAFA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E87085C-AE7F-397B-8482-1B201788BEC7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B30E7C0-A0F7-D306-E76B-B7FE016BBEE3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A1A2F2-BF43-D6D6-95A1-55461864E877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45C8811F-9EE7-7D8F-9C13-070701DD755F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7940DDE8-93B2-B6E7-1EBD-DE88E5DF11FB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3F6DA104-355D-4840-40A6-0AB2B41FCA85}"/>
              </a:ext>
            </a:extLst>
          </p:cNvPr>
          <p:cNvSpPr/>
          <p:nvPr/>
        </p:nvSpPr>
        <p:spPr>
          <a:xfrm>
            <a:off x="758952" y="404171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9C57AA7-1918-110C-71FD-DCAF192F5AF4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9D0C69E7-81A8-CE40-DCCE-DA897B86D0B7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D0111520-444E-A981-872D-0F975DE460DD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B6DCE156-CED0-1C24-2F9A-88488C8AF48B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436AE810-6553-FE4E-7F39-30AE5E55A48E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C9FE8C27-D9FC-E7D6-966F-81CE75D9EFA2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結果與理由通知賣家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565E398C-D781-C873-D359-C354D494E61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8F45DCB2-8B22-8926-4478-4A537ED895BA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EBB03DBD-B295-077A-97E3-E83D2EB68B9C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32FFAE49-3588-8129-D286-8616149A442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結果與理由通知賣家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4DF49753-7EBD-F8C1-8E94-880C52F9AC8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61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4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2" grpId="0" animBg="1"/>
      <p:bldP spid="32" grpId="1" animBg="1"/>
      <p:bldP spid="32" grpId="2" animBg="1"/>
      <p:bldP spid="32" grpId="3" animBg="1"/>
      <p:bldP spid="32" grpId="4" animBg="1"/>
      <p:bldP spid="33" grpId="0" animBg="1"/>
      <p:bldP spid="33" grpId="1" animBg="1"/>
      <p:bldP spid="33" grpId="2" animBg="1"/>
      <p:bldP spid="33" grpId="3" animBg="1"/>
      <p:bldP spid="33" grpId="4" animBg="1"/>
      <p:bldP spid="34" grpId="0" animBg="1"/>
      <p:bldP spid="34" grpId="1" animBg="1"/>
      <p:bldP spid="34" grpId="2" animBg="1"/>
      <p:bldP spid="34" grpId="3" animBg="1"/>
      <p:bldP spid="34" grpId="4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7228-9BB5-E23A-5897-AB96EFCF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BC98AD1-5FF9-C4A9-F441-77E810DC30C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聊天防詐提醒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FFAD03-652B-DD1A-E246-AA0FDB70AD3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CHAT ANTI-FRAUD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7B8F474-5B51-244F-C63C-C172F4562F5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98FF3BA-1D35-A8D9-9A9E-A9AEE3BC56D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D6922352-3A3D-F75B-9739-305254F60E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C67347E3-84F1-2622-4770-2F6F1F734A75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7ED32D2-F8FC-56D9-7C98-AD4984D52CC9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916886EA-751A-93FE-21CD-23090914CCCB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5A1F7916-43FA-3293-1CA7-6F33C95E76EB}"/>
              </a:ext>
            </a:extLst>
          </p:cNvPr>
          <p:cNvSpPr/>
          <p:nvPr/>
        </p:nvSpPr>
        <p:spPr>
          <a:xfrm>
            <a:off x="758952" y="2133941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B1726EEA-DF29-E8C5-56EB-1EC8C3658A1E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3B5B9EB-7C55-8052-BD74-4A325ACB6AF5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43E68F5D-B5A6-33A2-7DB0-EAD4EDD10C1F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B4CBBDD2-1228-6F68-1AD7-BB05D621EB58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1DA09EE-3229-28E4-903F-0F7C53E88593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49953-96D8-8A98-C599-11DBCE2B921C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B340D273-4ABA-8B39-298A-441CE5C39C90}"/>
              </a:ext>
            </a:extLst>
          </p:cNvPr>
          <p:cNvSpPr/>
          <p:nvPr/>
        </p:nvSpPr>
        <p:spPr>
          <a:xfrm>
            <a:off x="758952" y="3279308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028AE521-D585-D754-040B-9888278354BA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A8647520-EC08-57B7-33B8-FD11931EFC21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9E103D1-93FC-7317-4378-D5DA608F1E0E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39D7E994-62E8-EC98-3C8F-6C1EF6568AC9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A888983B-6A37-A212-3FA0-9D03142DEBF7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0D9A1156-06BB-21DA-CB7C-D5F03417BAD0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85D87379-2651-6169-136E-27A26073B73F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E332034B-2409-32A0-3C27-0EB48486E14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F2B22916-23FF-CB8C-0251-63F541807F4C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772EB02E-149D-ED1E-CDE8-F24ECA2918C7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9CD56208-B448-9557-D9DA-757CC2520F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04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84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56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5" grpId="0" animBg="1"/>
      <p:bldP spid="25" grpId="1" animBg="1"/>
      <p:bldP spid="25" grpId="2" animBg="1"/>
      <p:bldP spid="25" grpId="3" animBg="1"/>
      <p:bldP spid="25" grpId="4" animBg="1"/>
      <p:bldP spid="26" grpId="0" animBg="1"/>
      <p:bldP spid="26" grpId="1" animBg="1"/>
      <p:bldP spid="26" grpId="2" animBg="1"/>
      <p:bldP spid="26" grpId="3" animBg="1"/>
      <p:bldP spid="26" grpId="4" animBg="1"/>
      <p:bldP spid="27" grpId="0" animBg="1"/>
      <p:bldP spid="27" grpId="1" animBg="1"/>
      <p:bldP spid="27" grpId="2" animBg="1"/>
      <p:bldP spid="27" grpId="3" animBg="1"/>
      <p:bldP spid="27" grpId="4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C7F2-D1D4-4E7B-3FEB-38F1317E5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03106FE1-0191-83AA-D78F-A00DB2BE840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個人化推薦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6479C-1146-E3DA-2555-3E48FAAAA778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PERSONALIZED RECOMMENDATION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B0E11A-757C-3905-4A91-8D7280383F8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36A9EC1-6DFD-D71A-128E-2942C5CAFE1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C90DBBE4-462D-10B6-3BF8-014F2507B27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D56F6098-0C95-F24F-196D-C415B2CAD505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3150581-B2EB-1130-7562-A99606DD85AE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2E7CE4E-CBF8-4761-6A9F-44B973EDEB2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1A65F09C-A7A9-4724-DAE7-AF7E0A2F8641}"/>
              </a:ext>
            </a:extLst>
          </p:cNvPr>
          <p:cNvSpPr/>
          <p:nvPr/>
        </p:nvSpPr>
        <p:spPr>
          <a:xfrm>
            <a:off x="758952" y="213752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D0E03B10-E3A0-FCD0-172C-97FA65E03EA9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3515F62A-3FBC-BC50-B216-3E69CBB6D272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2B7D9087-59F5-0B39-BAE7-9399BD0FB0B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535153EE-CDE4-2B18-BC4F-A9D012A6890F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536C3B62-9D30-3F39-D5AA-1A16F76854CC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3ED24-4AE7-8613-251C-93910D2726B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713C5EA-0E3B-64F6-0D39-5A84DE4A0E5F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766FF9C8-BE54-4E4C-86C3-DF0A60370E50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6CED67AF-FFD1-B896-56D8-0A0B8B6B6053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A1C48D9-092A-F232-524B-D345B1DBBD7C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AF974EBA-8FFF-EBFB-C02F-6E800D3E959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D3EB05C7-0F36-2839-0099-8BAE6C2B496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1A220660-E848-78DB-D0D9-10F3F532A6F5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BB754BF-799A-56D7-83AA-E634C601CEB7}"/>
              </a:ext>
            </a:extLst>
          </p:cNvPr>
          <p:cNvSpPr/>
          <p:nvPr/>
        </p:nvSpPr>
        <p:spPr>
          <a:xfrm>
            <a:off x="758952" y="4036363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F502B233-0962-D3AB-151A-704B7D1F475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E0AD3925-8735-4964-D9AE-B63583AC5C3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1C71A4F6-5BE7-E26C-036B-2520F7051233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D16B503F-6C33-D2A1-D32F-59A715871E9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85428256-40B7-67A8-2986-6E53F9363CB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861004B5-2B48-F277-74D7-643AECD03FBC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ACA8B29A-8114-95FE-3167-FC182B1F8E21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EC38984-946C-CD9E-0834-5EDFFA4DC7E8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B1758E42-B0D8-0AEA-F84B-78FCA36E8B5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5AC6E44-16ED-0971-566F-67537806B1F6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E0053FA7-9704-35B9-940B-9A3CE4103E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21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934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C8E47-F436-7203-2463-AFC8A12F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C17754E-C9D7-1ECD-2208-E9C82DE24FF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書籍顧問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3533C1-298B-62ED-1F37-41135072F06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BOOK ADVISOR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DF7AFC-EA1F-FF66-484E-896B023DF03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A3969D0D-EC62-639C-DE8B-0196A2CD602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8D7F702-AA71-6C08-7336-D02D822F6A1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2677B85A-211C-03DC-6AB0-1113E6D2C69D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56E47655-4955-3832-D937-40D21F59E6A7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F482C84C-7306-23EB-E090-37CDED5E4827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36996718-5358-8821-DC67-4316A1280139}"/>
              </a:ext>
            </a:extLst>
          </p:cNvPr>
          <p:cNvSpPr/>
          <p:nvPr/>
        </p:nvSpPr>
        <p:spPr>
          <a:xfrm>
            <a:off x="758952" y="212668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4A574FB6-A554-20ED-DD70-74A179615E7C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108EE83-3EAF-E0BA-18B4-6A44931B4D8F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B41FACA4-2B5F-118C-5D1C-42586E0171AD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636FAF23-6E47-55EB-769A-6857CB2CCA3C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A10D1B36-E999-11CC-1915-B979FD1D0D04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28CADE8C-C61C-DE6A-5899-BEBC06DA1216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4E8165C-0B4D-04F9-ACD4-970A4355F513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85D9AC-6977-2248-AD1C-E65E6EEF9CE3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1965900C-BA29-1859-1371-D3044B183A7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CB6CFF9E-769F-97D6-9DE4-DE99AF5F7FCF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05959C-E5B0-1823-84D0-4C310EA5DB58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79C7B9CC-4A83-B5EE-7990-C422BB78FBCE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A7C25152-BC32-9DF6-885A-3DFDECCD11C6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F7D86AD-0488-BED6-C1E4-93E2633BD6AD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90CC7954-2494-9A8D-7044-7A67148F77C4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DAF22101-A25D-B5BF-F086-1608CE7ED8B9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ECF58C9-0530-B675-C32B-7BEB148E763D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32ACE2DC-CC97-527C-D5ED-981CC0B74077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C9CD136C-3ABA-1629-F3BA-49FC6AD3C5B8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465B4738-3EBB-AAD9-764D-A9485C0BC85B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2FCB132B-BB1D-2396-41F0-7E379E90D0EA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CC139AF-984E-48F6-391D-AE756B1B15ED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463D389C-68BF-79AB-049E-809089C5107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E2247CDA-EA45-D016-44EB-3990507147E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C0FABAED-F62F-45CF-DD4C-63F31B07B27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01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1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4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2" grpId="0" animBg="1"/>
      <p:bldP spid="32" grpId="1" animBg="1"/>
      <p:bldP spid="32" grpId="2" animBg="1"/>
      <p:bldP spid="32" grpId="3" animBg="1"/>
      <p:bldP spid="32" grpId="4" animBg="1"/>
      <p:bldP spid="33" grpId="0" animBg="1"/>
      <p:bldP spid="33" grpId="1" animBg="1"/>
      <p:bldP spid="33" grpId="2" animBg="1"/>
      <p:bldP spid="33" grpId="3" animBg="1"/>
      <p:bldP spid="33" grpId="4" animBg="1"/>
      <p:bldP spid="34" grpId="0" animBg="1"/>
      <p:bldP spid="34" grpId="1" animBg="1"/>
      <p:bldP spid="34" grpId="2" animBg="1"/>
      <p:bldP spid="34" grpId="3" animBg="1"/>
      <p:bldP spid="34" grpId="4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CFE4-5376-902B-897A-A18DCA60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F9930DB-E711-542C-441C-0AEDFD09CCA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客服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865529-34BF-9B38-6128-3CAAE9D69C81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SUPPORT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C270AE-748F-589D-8982-852012B9B7A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99DDE17-F4EB-EEFC-3D6B-8153D17CB88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2ED6BEDF-7DE8-0B1A-AC00-10267AE9F1B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6141084C-B5F2-CF02-9E37-CB5B97A58827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A558964-FE67-DF3F-A004-A32B3D64469F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0307D14F-E651-D0B1-9098-014DEC05A13E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CA40C236-5EC6-D0E6-B810-F9FA073E6FB5}"/>
              </a:ext>
            </a:extLst>
          </p:cNvPr>
          <p:cNvSpPr/>
          <p:nvPr/>
        </p:nvSpPr>
        <p:spPr>
          <a:xfrm>
            <a:off x="758952" y="213056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3300E16F-21BF-828C-D4F0-45892E4D5F3F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18625AD-718F-EAF2-65B5-D3A02312E5B4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002F11CF-0154-8A7C-0B0C-D422FE00805D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037BD508-177B-B100-3ED5-C1D2D6BFB88E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F8D9A088-443B-878D-3284-C03460F30279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580A009C-F5C5-1331-D44A-58C91B8B7E31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6A3E211-2E48-1BF8-BABA-63F07708F997}"/>
              </a:ext>
            </a:extLst>
          </p:cNvPr>
          <p:cNvSpPr/>
          <p:nvPr/>
        </p:nvSpPr>
        <p:spPr>
          <a:xfrm>
            <a:off x="758952" y="3281916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245107-D889-66CE-957F-7BAE42640669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02BCD688-525B-A1DB-AB61-66DA0717DD53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DAEE54A3-0534-7024-0630-42C0CB8058F3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1CCBF719-852D-00B7-FB79-5C5216F82F92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6A6B6796-CCDF-70D2-4BC5-9E417BA016B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9B57B292-E523-CFD7-7EF2-BB5099ACE98A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6E120EC-F69F-EED7-798F-25C52EB6A96E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A5793BD-8794-C1BA-20F7-979CE7AD75A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02E50BB0-B0D4-3B4A-4F5A-5D4F191088D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0CC0666-9076-3A2E-6A32-72C2D1F9794E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FA5A04C9-4336-EBF0-7848-9D376CB39E8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813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7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28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73744-E797-BCB4-57E9-1BC23F97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5C7283F-EACB-DEEC-2ACA-6DF6088B4F7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爭議分析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7CFFAED-07EA-101D-1145-3B0E4CE9A81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DISPUTE ANALYSIS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DFB89A-3742-CFBA-296A-30AA0B58C67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69DEA1E-AAEF-A9A1-7D09-7DAF8ED489E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E81081A8-EACC-06AA-0450-91515796A4C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3E58A95C-B960-D8CE-916B-E269BA6DA19C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E98A6B56-55F7-65EA-DFFD-0373AC73257A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7226CE13-F646-25E1-5F2E-9D016416528C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E9D40A4-E69F-4064-1B69-95AF912A5A0B}"/>
              </a:ext>
            </a:extLst>
          </p:cNvPr>
          <p:cNvSpPr/>
          <p:nvPr/>
        </p:nvSpPr>
        <p:spPr>
          <a:xfrm>
            <a:off x="758952" y="213746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0853CDB3-8A50-499D-3178-2B891E0AF974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DE3B2C7-C770-336E-D121-AF5986685A57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7149A23F-9D9B-8FD0-1740-B617B607F848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E8B88E92-DA0E-D278-7F37-A476285E43D1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9CA9714E-0D3B-0C60-B38C-FDCD332FBA2B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C6E09908-5E2C-29F4-5105-E01228F0A8D7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E412652-C547-B79D-A835-6110332B6E78}"/>
              </a:ext>
            </a:extLst>
          </p:cNvPr>
          <p:cNvSpPr/>
          <p:nvPr/>
        </p:nvSpPr>
        <p:spPr>
          <a:xfrm>
            <a:off x="758952" y="30847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CAB72F75-19DD-5156-2957-08E3AC163DFF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FFDF2FF-FFCF-6D9D-FE45-4E592E2C9904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62008754-FE09-3920-9A8A-8744DECD1E1A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09934032-5462-FC51-93FC-B0F39A87138F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B1474925-6F8C-D0AC-98B2-F5C43BB06BDF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B80C8711-86D5-9F52-87B2-DBFE7EB74521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AA20B60-3FE0-D033-BA0C-56EF1EDA9356}"/>
              </a:ext>
            </a:extLst>
          </p:cNvPr>
          <p:cNvSpPr/>
          <p:nvPr/>
        </p:nvSpPr>
        <p:spPr>
          <a:xfrm>
            <a:off x="758952" y="404849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AC7EBA05-421A-ABB4-61A6-F66CE731BFBB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881EFC90-8370-E649-6E4F-3F3E889DCF2C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5C4738A-5F91-090B-7453-93A01B8F76A3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2C7553A0-AB58-3AEF-B8F9-1E1BC41E3F8E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69D59B10-BF48-9FF3-D4C5-783FB7AF6FF1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B98C6734-F6A8-93B4-59B9-EDD536A3E87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E9F95C2C-8266-4C73-DCD3-1BF8E5CAD8A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0F2AF76E-D13D-AC15-D9ED-ABE976D4B8D3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DDA64C6D-E4ED-34F7-B03E-2DD7E1DEB08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CBB560E-7858-A632-2A9F-205D48E0359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1AD1CB80-6F00-666E-0779-C6E7C39FDD5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211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6000" b="1" spc="500" dirty="0">
                <a:solidFill>
                  <a:schemeClr val="bg1"/>
                </a:solidFill>
                <a:latin typeface="+mj-ea"/>
                <a:ea typeface="+mj-ea"/>
              </a:rPr>
              <a:t>IoT</a:t>
            </a:r>
            <a:r>
              <a:rPr lang="en-US" altLang="zh-TW" sz="800" b="1" spc="5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TW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智慧書櫃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ADE80-0F5F-D997-F1F1-4EB99D9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18">
            <a:extLst>
              <a:ext uri="{FF2B5EF4-FFF2-40B4-BE49-F238E27FC236}">
                <a16:creationId xmlns:a16="http://schemas.microsoft.com/office/drawing/2014/main" id="{7A38B456-98B8-B362-7BFF-1517E044A650}"/>
              </a:ext>
            </a:extLst>
          </p:cNvPr>
          <p:cNvSpPr/>
          <p:nvPr/>
        </p:nvSpPr>
        <p:spPr>
          <a:xfrm>
            <a:off x="6446520" y="1676736"/>
            <a:ext cx="4983480" cy="4212000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  <a:effectLst>
            <a:outerShdw blurRad="850900" dist="939800" dir="5400000" sx="85000" sy="85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7">
            <a:extLst>
              <a:ext uri="{FF2B5EF4-FFF2-40B4-BE49-F238E27FC236}">
                <a16:creationId xmlns:a16="http://schemas.microsoft.com/office/drawing/2014/main" id="{81F99D99-F554-05FC-826A-D9506DF40C71}"/>
              </a:ext>
            </a:extLst>
          </p:cNvPr>
          <p:cNvSpPr/>
          <p:nvPr/>
        </p:nvSpPr>
        <p:spPr>
          <a:xfrm>
            <a:off x="6723887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4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AFTER</a:t>
            </a:r>
          </a:p>
        </p:txBody>
      </p:sp>
      <p:sp>
        <p:nvSpPr>
          <p:cNvPr id="39" name="TextBox 44">
            <a:extLst>
              <a:ext uri="{FF2B5EF4-FFF2-40B4-BE49-F238E27FC236}">
                <a16:creationId xmlns:a16="http://schemas.microsoft.com/office/drawing/2014/main" id="{A5381006-2BD6-3FCF-F19D-1D5423617FC0}"/>
              </a:ext>
            </a:extLst>
          </p:cNvPr>
          <p:cNvSpPr txBox="1"/>
          <p:nvPr/>
        </p:nvSpPr>
        <p:spPr>
          <a:xfrm>
            <a:off x="7874648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合板＋壓克力＋電磁鎖</a:t>
            </a:r>
          </a:p>
        </p:txBody>
      </p:sp>
      <p:sp>
        <p:nvSpPr>
          <p:cNvPr id="40" name="文字 18">
            <a:extLst>
              <a:ext uri="{FF2B5EF4-FFF2-40B4-BE49-F238E27FC236}">
                <a16:creationId xmlns:a16="http://schemas.microsoft.com/office/drawing/2014/main" id="{FBAA6A8C-9D1B-CF86-5554-0CE8EEB352AC}"/>
              </a:ext>
            </a:extLst>
          </p:cNvPr>
          <p:cNvSpPr txBox="1"/>
          <p:nvPr/>
        </p:nvSpPr>
        <p:spPr>
          <a:xfrm>
            <a:off x="6723887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9mm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合板＋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5mm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壓克力雷射切割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四扇櫃門，各由 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12V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電磁鎖控制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2.8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吋橫向螢幕・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31 × 31 × 38 cm</a:t>
            </a:r>
          </a:p>
        </p:txBody>
      </p:sp>
      <p:sp>
        <p:nvSpPr>
          <p:cNvPr id="24" name="Rectangle: Rounded Corners 18">
            <a:extLst>
              <a:ext uri="{FF2B5EF4-FFF2-40B4-BE49-F238E27FC236}">
                <a16:creationId xmlns:a16="http://schemas.microsoft.com/office/drawing/2014/main" id="{2C179116-44A7-8F95-D6F4-998955D16F3D}"/>
              </a:ext>
            </a:extLst>
          </p:cNvPr>
          <p:cNvSpPr/>
          <p:nvPr/>
        </p:nvSpPr>
        <p:spPr>
          <a:xfrm>
            <a:off x="758952" y="1676736"/>
            <a:ext cx="4983480" cy="4212000"/>
          </a:xfrm>
          <a:prstGeom prst="roundRect">
            <a:avLst>
              <a:gd name="adj" fmla="val 7869"/>
            </a:avLst>
          </a:prstGeom>
          <a:solidFill>
            <a:srgbClr val="EBEFF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37">
            <a:extLst>
              <a:ext uri="{FF2B5EF4-FFF2-40B4-BE49-F238E27FC236}">
                <a16:creationId xmlns:a16="http://schemas.microsoft.com/office/drawing/2014/main" id="{F5ADEA47-9D3B-6EE6-55FD-45216A0DB666}"/>
              </a:ext>
            </a:extLst>
          </p:cNvPr>
          <p:cNvSpPr/>
          <p:nvPr/>
        </p:nvSpPr>
        <p:spPr>
          <a:xfrm>
            <a:off x="1033273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BEFORE</a:t>
            </a:r>
          </a:p>
        </p:txBody>
      </p:sp>
      <p:sp>
        <p:nvSpPr>
          <p:cNvPr id="30" name="TextBox 44">
            <a:extLst>
              <a:ext uri="{FF2B5EF4-FFF2-40B4-BE49-F238E27FC236}">
                <a16:creationId xmlns:a16="http://schemas.microsoft.com/office/drawing/2014/main" id="{B812198D-0D1D-4599-4C17-6A353227F388}"/>
              </a:ext>
            </a:extLst>
          </p:cNvPr>
          <p:cNvSpPr txBox="1"/>
          <p:nvPr/>
        </p:nvSpPr>
        <p:spPr>
          <a:xfrm>
            <a:off x="2184034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pc="50" dirty="0">
                <a:solidFill>
                  <a:schemeClr val="accent6"/>
                </a:solidFill>
                <a:latin typeface="Manrope (本文)"/>
                <a:cs typeface="Poppins" panose="00000500000000000000" pitchFamily="2" charset="0"/>
              </a:rPr>
              <a:t>3D </a:t>
            </a:r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列印＋步進馬達</a:t>
            </a:r>
          </a:p>
        </p:txBody>
      </p:sp>
      <p:sp>
        <p:nvSpPr>
          <p:cNvPr id="34" name="文字 18">
            <a:extLst>
              <a:ext uri="{FF2B5EF4-FFF2-40B4-BE49-F238E27FC236}">
                <a16:creationId xmlns:a16="http://schemas.microsoft.com/office/drawing/2014/main" id="{3CE699B1-54EA-E150-554C-A396E88BC29C}"/>
              </a:ext>
            </a:extLst>
          </p:cNvPr>
          <p:cNvSpPr txBox="1"/>
          <p:nvPr/>
        </p:nvSpPr>
        <p:spPr>
          <a:xfrm>
            <a:off x="1033273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3D 列印蜂巢面板與機構件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Nema 17 步進馬達＋齒條帶動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列印耗時、強度有限，不利量產</a:t>
            </a:r>
          </a:p>
        </p:txBody>
      </p:sp>
      <p:pic>
        <p:nvPicPr>
          <p:cNvPr id="42" name="馬達 12">
            <a:extLst>
              <a:ext uri="{FF2B5EF4-FFF2-40B4-BE49-F238E27FC236}">
                <a16:creationId xmlns:a16="http://schemas.microsoft.com/office/drawing/2014/main" id="{6FA3CC9F-4112-1075-4C70-5943F200B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944" y="3568644"/>
            <a:ext cx="944150" cy="94415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24893126"/>
                  </p:ext>
                </p:extLst>
              </p:nvPr>
            </p:nvGraphicFramePr>
            <p:xfrm>
              <a:off x="3370773" y="2593980"/>
              <a:ext cx="712335" cy="71233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712335" cy="712335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362668" ay="2443315" az="9003922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9389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773" y="2593980"/>
                <a:ext cx="712335" cy="712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62507344"/>
                  </p:ext>
                </p:extLst>
              </p:nvPr>
            </p:nvGraphicFramePr>
            <p:xfrm>
              <a:off x="4264174" y="2880238"/>
              <a:ext cx="1115988" cy="176622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115988" cy="176622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1474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64174" y="2880238"/>
                <a:ext cx="1115988" cy="176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85672828"/>
                  </p:ext>
                </p:extLst>
              </p:nvPr>
            </p:nvGraphicFramePr>
            <p:xfrm>
              <a:off x="4415273" y="3736902"/>
              <a:ext cx="755363" cy="603257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755363" cy="603257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2600" ay="4722878" az="5310866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9738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15273" y="3736902"/>
                <a:ext cx="755363" cy="60325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47642FDA-1ACB-9D68-6D4E-499C55F28D91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書櫃改版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68A8A85-163B-910C-A757-4A0F3A840039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BEFORE &amp; AFTER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558D3B9-B932-B39D-F62B-021BE14DB00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2D68FF0-A869-1224-C8B5-4CB2E7CDFAC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97599188"/>
                  </p:ext>
                </p:extLst>
              </p:nvPr>
            </p:nvGraphicFramePr>
            <p:xfrm>
              <a:off x="1266912" y="2440882"/>
              <a:ext cx="1533210" cy="2081484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1533210" cy="208148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60118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66912" y="2440882"/>
                <a:ext cx="1533210" cy="2081484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23731060"/>
                  </p:ext>
                </p:extLst>
              </p:nvPr>
            </p:nvGraphicFramePr>
            <p:xfrm>
              <a:off x="7620768" y="2052661"/>
              <a:ext cx="2634986" cy="2548346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0" y="0"/>
                      <a:ext cx="2634986" cy="2548346"/>
                    </a:xfrm>
                    <a:prstGeom prst="rect">
                      <a:avLst/>
                    </a:prstGeom>
                  </am3d:spPr>
                  <am3d:camera>
                    <am3d:pos x="0" y="10067235" z="71632099"/>
                    <am3d:up dx="0" dy="35649650" dz="-5010231"/>
                    <am3d:lookAt x="0" y="0" z="0"/>
                    <am3d:perspective fov="2700000"/>
                  </am3d:camera>
                  <am3d:trans>
                    <am3d:meterPerModelUnit n="2631579" d="1000000"/>
                    <am3d:preTrans dx="0" dy="-18000000" dz="-369473"/>
                    <am3d:scale>
                      <am3d:sx n="1000000" d="1000000"/>
                      <am3d:sy n="1000000" d="1000000"/>
                      <am3d:sz n="1000000" d="1000000"/>
                    </am3d:scale>
                    <am3d:rot ay="2070000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295427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20768" y="2052661"/>
                <a:ext cx="2634986" cy="25483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04638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22" dur="8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2500">
                                          <p:val>
                                            <p:fltVal val="4.693"/>
                                          </p:val>
                                        </p:tav>
                                        <p:tav tm="5000">
                                          <p:val>
                                            <p:fltVal val="9.2705"/>
                                          </p:val>
                                        </p:tav>
                                        <p:tav tm="7500">
                                          <p:val>
                                            <p:fltVal val="13.6197"/>
                                          </p:val>
                                        </p:tav>
                                        <p:tav tm="10000">
                                          <p:val>
                                            <p:fltVal val="17.6336"/>
                                          </p:val>
                                        </p:tav>
                                        <p:tav tm="12500">
                                          <p:val>
                                            <p:fltVal val="21.2132"/>
                                          </p:val>
                                        </p:tav>
                                        <p:tav tm="15000">
                                          <p:val>
                                            <p:fltVal val="24.2705"/>
                                          </p:val>
                                        </p:tav>
                                        <p:tav tm="17500">
                                          <p:val>
                                            <p:fltVal val="26.7302"/>
                                          </p:val>
                                        </p:tav>
                                        <p:tav tm="20000">
                                          <p:val>
                                            <p:fltVal val="28.5317"/>
                                          </p:val>
                                        </p:tav>
                                        <p:tav tm="22500">
                                          <p:val>
                                            <p:fltVal val="29.6307"/>
                                          </p:val>
                                        </p:tav>
                                        <p:tav tm="25000">
                                          <p:val>
                                            <p:fltVal val="30"/>
                                          </p:val>
                                        </p:tav>
                                        <p:tav tm="27500">
                                          <p:val>
                                            <p:fltVal val="29.6307"/>
                                          </p:val>
                                        </p:tav>
                                        <p:tav tm="30000">
                                          <p:val>
                                            <p:fltVal val="28.5317"/>
                                          </p:val>
                                        </p:tav>
                                        <p:tav tm="32500">
                                          <p:val>
                                            <p:fltVal val="26.7302"/>
                                          </p:val>
                                        </p:tav>
                                        <p:tav tm="35000">
                                          <p:val>
                                            <p:fltVal val="24.2705"/>
                                          </p:val>
                                        </p:tav>
                                        <p:tav tm="37500">
                                          <p:val>
                                            <p:fltVal val="21.2132"/>
                                          </p:val>
                                        </p:tav>
                                        <p:tav tm="40000">
                                          <p:val>
                                            <p:fltVal val="17.6336"/>
                                          </p:val>
                                        </p:tav>
                                        <p:tav tm="42500">
                                          <p:val>
                                            <p:fltVal val="13.6197"/>
                                          </p:val>
                                        </p:tav>
                                        <p:tav tm="45000">
                                          <p:val>
                                            <p:fltVal val="9.2705"/>
                                          </p:val>
                                        </p:tav>
                                        <p:tav tm="47500">
                                          <p:val>
                                            <p:fltVal val="4.693"/>
                                          </p:val>
                                        </p:tav>
                                        <p:tav tm="50000">
                                          <p:val>
                                            <p:fltVal val="0"/>
                                          </p:val>
                                        </p:tav>
                                        <p:tav tm="52500">
                                          <p:val>
                                            <p:fltVal val="-4.693"/>
                                          </p:val>
                                        </p:tav>
                                        <p:tav tm="55000">
                                          <p:val>
                                            <p:fltVal val="-9.2705"/>
                                          </p:val>
                                        </p:tav>
                                        <p:tav tm="57500">
                                          <p:val>
                                            <p:fltVal val="-13.6197"/>
                                          </p:val>
                                        </p:tav>
                                        <p:tav tm="60000">
                                          <p:val>
                                            <p:fltVal val="-17.6336"/>
                                          </p:val>
                                        </p:tav>
                                        <p:tav tm="62500">
                                          <p:val>
                                            <p:fltVal val="-21.2132"/>
                                          </p:val>
                                        </p:tav>
                                        <p:tav tm="65000">
                                          <p:val>
                                            <p:fltVal val="-24.2705"/>
                                          </p:val>
                                        </p:tav>
                                        <p:tav tm="67500">
                                          <p:val>
                                            <p:fltVal val="-26.7302"/>
                                          </p:val>
                                        </p:tav>
                                        <p:tav tm="70000">
                                          <p:val>
                                            <p:fltVal val="-28.5317"/>
                                          </p:val>
                                        </p:tav>
                                        <p:tav tm="72500">
                                          <p:val>
                                            <p:fltVal val="-29.6307"/>
                                          </p:val>
                                        </p:tav>
                                        <p:tav tm="75000">
                                          <p:val>
                                            <p:fltVal val="-30"/>
                                          </p:val>
                                        </p:tav>
                                        <p:tav tm="77500">
                                          <p:val>
                                            <p:fltVal val="-29.6307"/>
                                          </p:val>
                                        </p:tav>
                                        <p:tav tm="80000">
                                          <p:val>
                                            <p:fltVal val="-28.5317"/>
                                          </p:val>
                                        </p:tav>
                                        <p:tav tm="82500">
                                          <p:val>
                                            <p:fltVal val="-26.7302"/>
                                          </p:val>
                                        </p:tav>
                                        <p:tav tm="85000">
                                          <p:val>
                                            <p:fltVal val="-24.2705"/>
                                          </p:val>
                                        </p:tav>
                                        <p:tav tm="87500">
                                          <p:val>
                                            <p:fltVal val="-21.2132"/>
                                          </p:val>
                                        </p:tav>
                                        <p:tav tm="90000">
                                          <p:val>
                                            <p:fltVal val="-17.6336"/>
                                          </p:val>
                                        </p:tav>
                                        <p:tav tm="92500">
                                          <p:val>
                                            <p:fltVal val="-13.6197"/>
                                          </p:val>
                                        </p:tav>
                                        <p:tav tm="95000">
                                          <p:val>
                                            <p:fltVal val="-9.2705"/>
                                          </p:val>
                                        </p:tav>
                                        <p:tav tm="97500">
                                          <p:val>
                                            <p:fltVal val="-4.693"/>
                                          </p:val>
                                        </p:tav>
                                        <p:tav tm="100000">
                                          <p:val>
                                            <p:fltVal val="-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5D15E-5191-2F3E-9507-5DD8EE5C4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A5D77ADE-FFAC-DE51-D2BB-9B5065E73C3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硬體組成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A8E29-4731-943A-7377-A9D1473DA1A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HARDWARE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96805F-3EF3-B104-ACD4-72E694D3AC6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13CB2263-6F28-87CC-1D7C-16A7672CC5A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8" name="!!透視">
            <a:extLst>
              <a:ext uri="{FF2B5EF4-FFF2-40B4-BE49-F238E27FC236}">
                <a16:creationId xmlns:a16="http://schemas.microsoft.com/office/drawing/2014/main" id="{42761B07-8C07-6835-0854-27811B953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578" y="1639200"/>
            <a:ext cx="4156364" cy="4572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2729738"/>
                  </p:ext>
                </p:extLst>
              </p:nvPr>
            </p:nvGraphicFramePr>
            <p:xfrm>
              <a:off x="5324475" y="2300768"/>
              <a:ext cx="1402100" cy="542673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402100" cy="542673"/>
                    </a:xfrm>
                    <a:prstGeom prst="rect">
                      <a:avLst/>
                    </a:prstGeom>
                  </am3d:spPr>
                  <am3d:camera>
                    <am3d:pos x="0" y="0" z="5605135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85526" d="1000000"/>
                    <am3d:preTrans dx="249868" dy="-2550557" dz="409619"/>
                    <am3d:scale>
                      <am3d:sx n="1000000" d="1000000"/>
                      <am3d:sy n="1000000" d="1000000"/>
                      <am3d:sz n="1000000" d="1000000"/>
                    </am3d:scale>
                    <am3d:rot ax="1082197" ay="-340902" az="-11079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49310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4475" y="2300768"/>
                <a:ext cx="1402100" cy="542673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文字 9">
            <a:extLst>
              <a:ext uri="{FF2B5EF4-FFF2-40B4-BE49-F238E27FC236}">
                <a16:creationId xmlns:a16="http://schemas.microsoft.com/office/drawing/2014/main" id="{67563E03-A337-8349-B245-31479A828E17}"/>
              </a:ext>
            </a:extLst>
          </p:cNvPr>
          <p:cNvSpPr txBox="1"/>
          <p:nvPr/>
        </p:nvSpPr>
        <p:spPr>
          <a:xfrm>
            <a:off x="742018" y="17855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電源輸入</a:t>
            </a:r>
          </a:p>
        </p:txBody>
      </p:sp>
      <p:sp>
        <p:nvSpPr>
          <p:cNvPr id="48" name="文字 10">
            <a:extLst>
              <a:ext uri="{FF2B5EF4-FFF2-40B4-BE49-F238E27FC236}">
                <a16:creationId xmlns:a16="http://schemas.microsoft.com/office/drawing/2014/main" id="{2EC53C07-AAC9-5B1E-ACA8-DEF9A3D94DD0}"/>
              </a:ext>
            </a:extLst>
          </p:cNvPr>
          <p:cNvSpPr txBox="1"/>
          <p:nvPr/>
        </p:nvSpPr>
        <p:spPr>
          <a:xfrm>
            <a:off x="742018" y="21329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頂板開孔接入 DC 插座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49" name="線條 11">
            <a:extLst>
              <a:ext uri="{FF2B5EF4-FFF2-40B4-BE49-F238E27FC236}">
                <a16:creationId xmlns:a16="http://schemas.microsoft.com/office/drawing/2014/main" id="{B6CC9BAD-E3CE-9342-D694-03C73AC8D856}"/>
              </a:ext>
            </a:extLst>
          </p:cNvPr>
          <p:cNvCxnSpPr/>
          <p:nvPr/>
        </p:nvCxnSpPr>
        <p:spPr>
          <a:xfrm>
            <a:off x="3337560" y="1968384"/>
            <a:ext cx="2271453" cy="57482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0" name="標記點 12">
            <a:extLst>
              <a:ext uri="{FF2B5EF4-FFF2-40B4-BE49-F238E27FC236}">
                <a16:creationId xmlns:a16="http://schemas.microsoft.com/office/drawing/2014/main" id="{9655E291-39A1-1FE2-CF4A-E851738FE486}"/>
              </a:ext>
            </a:extLst>
          </p:cNvPr>
          <p:cNvSpPr/>
          <p:nvPr/>
        </p:nvSpPr>
        <p:spPr>
          <a:xfrm>
            <a:off x="5558721" y="2492917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2" name="文字 13">
            <a:extLst>
              <a:ext uri="{FF2B5EF4-FFF2-40B4-BE49-F238E27FC236}">
                <a16:creationId xmlns:a16="http://schemas.microsoft.com/office/drawing/2014/main" id="{65A4ED6A-2A6F-EEF6-3211-A65FA15832F2}"/>
              </a:ext>
            </a:extLst>
          </p:cNvPr>
          <p:cNvSpPr txBox="1"/>
          <p:nvPr/>
        </p:nvSpPr>
        <p:spPr>
          <a:xfrm>
            <a:off x="742018" y="26999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自製主控板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Rev A</a:t>
            </a:r>
          </a:p>
        </p:txBody>
      </p:sp>
      <p:sp>
        <p:nvSpPr>
          <p:cNvPr id="53" name="文字 14">
            <a:extLst>
              <a:ext uri="{FF2B5EF4-FFF2-40B4-BE49-F238E27FC236}">
                <a16:creationId xmlns:a16="http://schemas.microsoft.com/office/drawing/2014/main" id="{62965AAF-658B-3BBC-4354-536B23998F24}"/>
              </a:ext>
            </a:extLst>
          </p:cNvPr>
          <p:cNvSpPr txBox="1"/>
          <p:nvPr/>
        </p:nvSpPr>
        <p:spPr>
          <a:xfrm>
            <a:off x="742018" y="30473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平放於頂層，ESP32-S3 主控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4" name="線條 15">
            <a:extLst>
              <a:ext uri="{FF2B5EF4-FFF2-40B4-BE49-F238E27FC236}">
                <a16:creationId xmlns:a16="http://schemas.microsoft.com/office/drawing/2014/main" id="{A8AFC0E0-F5E0-1F28-C834-EE12B12A70EA}"/>
              </a:ext>
            </a:extLst>
          </p:cNvPr>
          <p:cNvCxnSpPr/>
          <p:nvPr/>
        </p:nvCxnSpPr>
        <p:spPr>
          <a:xfrm flipV="1">
            <a:off x="3337560" y="2713620"/>
            <a:ext cx="2730731" cy="169164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5" name="標記點 16">
            <a:extLst>
              <a:ext uri="{FF2B5EF4-FFF2-40B4-BE49-F238E27FC236}">
                <a16:creationId xmlns:a16="http://schemas.microsoft.com/office/drawing/2014/main" id="{7AD24BBF-D0F1-4479-799A-DD0380E284AD}"/>
              </a:ext>
            </a:extLst>
          </p:cNvPr>
          <p:cNvSpPr/>
          <p:nvPr/>
        </p:nvSpPr>
        <p:spPr>
          <a:xfrm>
            <a:off x="6017999" y="26633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6" name="文字 17">
            <a:extLst>
              <a:ext uri="{FF2B5EF4-FFF2-40B4-BE49-F238E27FC236}">
                <a16:creationId xmlns:a16="http://schemas.microsoft.com/office/drawing/2014/main" id="{350C4B40-4D02-6CCB-4AB6-88F0D12E5E2B}"/>
              </a:ext>
            </a:extLst>
          </p:cNvPr>
          <p:cNvSpPr txBox="1"/>
          <p:nvPr/>
        </p:nvSpPr>
        <p:spPr>
          <a:xfrm>
            <a:off x="742018" y="37971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電磁鎖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57" name="文字 18">
            <a:extLst>
              <a:ext uri="{FF2B5EF4-FFF2-40B4-BE49-F238E27FC236}">
                <a16:creationId xmlns:a16="http://schemas.microsoft.com/office/drawing/2014/main" id="{49504541-6E71-6A05-AF74-BF5B8460AD9C}"/>
              </a:ext>
            </a:extLst>
          </p:cNvPr>
          <p:cNvSpPr txBox="1"/>
          <p:nvPr/>
        </p:nvSpPr>
        <p:spPr>
          <a:xfrm>
            <a:off x="742018" y="41446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裝於櫃門左側，斷電上鎖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8" name="線條 19">
            <a:extLst>
              <a:ext uri="{FF2B5EF4-FFF2-40B4-BE49-F238E27FC236}">
                <a16:creationId xmlns:a16="http://schemas.microsoft.com/office/drawing/2014/main" id="{FFC88F60-EC3C-B71A-20F7-2D6CF1FD0EB3}"/>
              </a:ext>
            </a:extLst>
          </p:cNvPr>
          <p:cNvCxnSpPr/>
          <p:nvPr/>
        </p:nvCxnSpPr>
        <p:spPr>
          <a:xfrm>
            <a:off x="3337560" y="3980064"/>
            <a:ext cx="2034540" cy="423118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9" name="標記點 20">
            <a:extLst>
              <a:ext uri="{FF2B5EF4-FFF2-40B4-BE49-F238E27FC236}">
                <a16:creationId xmlns:a16="http://schemas.microsoft.com/office/drawing/2014/main" id="{0B8E1339-7300-2911-0CD3-ED90950C0BC3}"/>
              </a:ext>
            </a:extLst>
          </p:cNvPr>
          <p:cNvSpPr/>
          <p:nvPr/>
        </p:nvSpPr>
        <p:spPr>
          <a:xfrm>
            <a:off x="5321808" y="4352890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文字 21">
            <a:extLst>
              <a:ext uri="{FF2B5EF4-FFF2-40B4-BE49-F238E27FC236}">
                <a16:creationId xmlns:a16="http://schemas.microsoft.com/office/drawing/2014/main" id="{5F445F4E-3B22-4C69-025E-8B820B26ECEC}"/>
              </a:ext>
            </a:extLst>
          </p:cNvPr>
          <p:cNvSpPr txBox="1"/>
          <p:nvPr/>
        </p:nvSpPr>
        <p:spPr>
          <a:xfrm>
            <a:off x="742018" y="47115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門磁開關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61" name="文字 22">
            <a:extLst>
              <a:ext uri="{FF2B5EF4-FFF2-40B4-BE49-F238E27FC236}">
                <a16:creationId xmlns:a16="http://schemas.microsoft.com/office/drawing/2014/main" id="{96F0EF0D-569B-F847-B407-52A8F5B1B346}"/>
              </a:ext>
            </a:extLst>
          </p:cNvPr>
          <p:cNvSpPr txBox="1"/>
          <p:nvPr/>
        </p:nvSpPr>
        <p:spPr>
          <a:xfrm>
            <a:off x="742018" y="50590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偵測櫃門是否關閉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2" name="線條 23">
            <a:extLst>
              <a:ext uri="{FF2B5EF4-FFF2-40B4-BE49-F238E27FC236}">
                <a16:creationId xmlns:a16="http://schemas.microsoft.com/office/drawing/2014/main" id="{4780CFFE-3174-5D20-2377-9BDE346A7325}"/>
              </a:ext>
            </a:extLst>
          </p:cNvPr>
          <p:cNvCxnSpPr/>
          <p:nvPr/>
        </p:nvCxnSpPr>
        <p:spPr>
          <a:xfrm flipV="1">
            <a:off x="3337560" y="4800115"/>
            <a:ext cx="2531225" cy="94349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3" name="標記點 24">
            <a:extLst>
              <a:ext uri="{FF2B5EF4-FFF2-40B4-BE49-F238E27FC236}">
                <a16:creationId xmlns:a16="http://schemas.microsoft.com/office/drawing/2014/main" id="{892047F4-F7D2-91B6-8C02-089D30ADD7A2}"/>
              </a:ext>
            </a:extLst>
          </p:cNvPr>
          <p:cNvSpPr/>
          <p:nvPr/>
        </p:nvSpPr>
        <p:spPr>
          <a:xfrm>
            <a:off x="5818493" y="4749823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4" name="文字 25">
            <a:extLst>
              <a:ext uri="{FF2B5EF4-FFF2-40B4-BE49-F238E27FC236}">
                <a16:creationId xmlns:a16="http://schemas.microsoft.com/office/drawing/2014/main" id="{8CA06799-1BD3-1D4B-D8AA-114043FB1DF1}"/>
              </a:ext>
            </a:extLst>
          </p:cNvPr>
          <p:cNvSpPr txBox="1"/>
          <p:nvPr/>
        </p:nvSpPr>
        <p:spPr>
          <a:xfrm>
            <a:off x="8904902" y="216955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2.8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吋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TFT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 螢幕</a:t>
            </a:r>
          </a:p>
        </p:txBody>
      </p:sp>
      <p:sp>
        <p:nvSpPr>
          <p:cNvPr id="66" name="文字 26">
            <a:extLst>
              <a:ext uri="{FF2B5EF4-FFF2-40B4-BE49-F238E27FC236}">
                <a16:creationId xmlns:a16="http://schemas.microsoft.com/office/drawing/2014/main" id="{AF788725-E884-D16C-B662-0418216E604C}"/>
              </a:ext>
            </a:extLst>
          </p:cNvPr>
          <p:cNvSpPr txBox="1"/>
          <p:nvPr/>
        </p:nvSpPr>
        <p:spPr>
          <a:xfrm>
            <a:off x="8904902" y="251702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橫向 320×240，純顯示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7" name="線條 27">
            <a:extLst>
              <a:ext uri="{FF2B5EF4-FFF2-40B4-BE49-F238E27FC236}">
                <a16:creationId xmlns:a16="http://schemas.microsoft.com/office/drawing/2014/main" id="{96E6EEFE-61E1-A43D-A66C-EA3071AED4D3}"/>
              </a:ext>
            </a:extLst>
          </p:cNvPr>
          <p:cNvCxnSpPr/>
          <p:nvPr/>
        </p:nvCxnSpPr>
        <p:spPr>
          <a:xfrm flipH="1">
            <a:off x="7292340" y="2352432"/>
            <a:ext cx="1531620" cy="83293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8" name="標記點 28">
            <a:extLst>
              <a:ext uri="{FF2B5EF4-FFF2-40B4-BE49-F238E27FC236}">
                <a16:creationId xmlns:a16="http://schemas.microsoft.com/office/drawing/2014/main" id="{B23A7167-29C0-0964-B6BB-472379579A70}"/>
              </a:ext>
            </a:extLst>
          </p:cNvPr>
          <p:cNvSpPr/>
          <p:nvPr/>
        </p:nvSpPr>
        <p:spPr>
          <a:xfrm>
            <a:off x="7242048" y="3135075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9" name="文字 29">
            <a:extLst>
              <a:ext uri="{FF2B5EF4-FFF2-40B4-BE49-F238E27FC236}">
                <a16:creationId xmlns:a16="http://schemas.microsoft.com/office/drawing/2014/main" id="{362BD58D-40B0-8091-005C-2703470087B4}"/>
              </a:ext>
            </a:extLst>
          </p:cNvPr>
          <p:cNvSpPr txBox="1"/>
          <p:nvPr/>
        </p:nvSpPr>
        <p:spPr>
          <a:xfrm>
            <a:off x="8904902" y="324854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壓克力櫃門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A01–A04</a:t>
            </a:r>
          </a:p>
        </p:txBody>
      </p:sp>
      <p:sp>
        <p:nvSpPr>
          <p:cNvPr id="70" name="文字 30">
            <a:extLst>
              <a:ext uri="{FF2B5EF4-FFF2-40B4-BE49-F238E27FC236}">
                <a16:creationId xmlns:a16="http://schemas.microsoft.com/office/drawing/2014/main" id="{F08BE5F9-2A70-6CE6-D01E-7587047E3B09}"/>
              </a:ext>
            </a:extLst>
          </p:cNvPr>
          <p:cNvSpPr txBox="1"/>
          <p:nvPr/>
        </p:nvSpPr>
        <p:spPr>
          <a:xfrm>
            <a:off x="8904902" y="35960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由上而下，每格一本書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71" name="線條 31">
            <a:extLst>
              <a:ext uri="{FF2B5EF4-FFF2-40B4-BE49-F238E27FC236}">
                <a16:creationId xmlns:a16="http://schemas.microsoft.com/office/drawing/2014/main" id="{6A0DB2F4-30B7-BEA1-1437-F84DC79874D3}"/>
              </a:ext>
            </a:extLst>
          </p:cNvPr>
          <p:cNvCxnSpPr/>
          <p:nvPr/>
        </p:nvCxnSpPr>
        <p:spPr>
          <a:xfrm flipH="1">
            <a:off x="7125566" y="3431424"/>
            <a:ext cx="1698394" cy="443796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72" name="標記點 32">
            <a:extLst>
              <a:ext uri="{FF2B5EF4-FFF2-40B4-BE49-F238E27FC236}">
                <a16:creationId xmlns:a16="http://schemas.microsoft.com/office/drawing/2014/main" id="{E3AB59E2-B8ED-48FA-EF8E-5E4F5E348254}"/>
              </a:ext>
            </a:extLst>
          </p:cNvPr>
          <p:cNvSpPr/>
          <p:nvPr/>
        </p:nvSpPr>
        <p:spPr>
          <a:xfrm>
            <a:off x="7075274" y="38249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60F5DCD-FBB6-7BEB-0002-F88030234E22}"/>
              </a:ext>
            </a:extLst>
          </p:cNvPr>
          <p:cNvSpPr/>
          <p:nvPr/>
        </p:nvSpPr>
        <p:spPr>
          <a:xfrm>
            <a:off x="4002578" y="4749823"/>
            <a:ext cx="799667" cy="973399"/>
          </a:xfrm>
          <a:prstGeom prst="rect">
            <a:avLst/>
          </a:prstGeom>
          <a:gradFill flip="none" rotWithShape="1">
            <a:gsLst>
              <a:gs pos="33000">
                <a:srgbClr val="F8FAFB"/>
              </a:gs>
              <a:gs pos="100000">
                <a:srgbClr val="F8FAFB">
                  <a:alpha val="2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7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8" grpId="0"/>
      <p:bldP spid="50" grpId="0" animBg="1"/>
      <p:bldP spid="52" grpId="0"/>
      <p:bldP spid="53" grpId="0"/>
      <p:bldP spid="55" grpId="0" animBg="1"/>
      <p:bldP spid="56" grpId="0"/>
      <p:bldP spid="57" grpId="0"/>
      <p:bldP spid="59" grpId="0" animBg="1"/>
      <p:bldP spid="60" grpId="0"/>
      <p:bldP spid="61" grpId="0"/>
      <p:bldP spid="63" grpId="0" animBg="1"/>
      <p:bldP spid="64" grpId="0"/>
      <p:bldP spid="66" grpId="0"/>
      <p:bldP spid="68" grpId="0" animBg="1"/>
      <p:bldP spid="69" grpId="0"/>
      <p:bldP spid="70" grpId="0"/>
      <p:bldP spid="7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3BCE-FF80-4BF5-6EA3-101C3AF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2163B52-EDDA-E456-BB70-25A0F7E12E8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自製主控板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F9C748-A05D-20F2-5D99-DAB2462DCB5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CUSTOM PCB · REV 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BF3C55-E35C-53FB-5D5A-FBBDB834492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7F3670D-FC75-3877-454B-14E642B9240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C0897EC2-658F-A74F-C9F5-292E2326F9D9}"/>
              </a:ext>
            </a:extLst>
          </p:cNvPr>
          <p:cNvGrpSpPr/>
          <p:nvPr/>
        </p:nvGrpSpPr>
        <p:grpSpPr>
          <a:xfrm>
            <a:off x="7315200" y="1626233"/>
            <a:ext cx="4114800" cy="731520"/>
            <a:chOff x="7315200" y="1626233"/>
            <a:chExt cx="4114800" cy="731520"/>
          </a:xfrm>
        </p:grpSpPr>
        <p:sp>
          <p:nvSpPr>
            <p:cNvPr id="3" name="卡片 10">
              <a:extLst>
                <a:ext uri="{FF2B5EF4-FFF2-40B4-BE49-F238E27FC236}">
                  <a16:creationId xmlns:a16="http://schemas.microsoft.com/office/drawing/2014/main" id="{1361CFF8-711E-BA3F-EFAA-1FCC8199E880}"/>
                </a:ext>
              </a:extLst>
            </p:cNvPr>
            <p:cNvSpPr/>
            <p:nvPr/>
          </p:nvSpPr>
          <p:spPr>
            <a:xfrm>
              <a:off x="7315200" y="1626233"/>
              <a:ext cx="4114800" cy="731520"/>
            </a:xfrm>
            <a:prstGeom prst="roundRect">
              <a:avLst>
                <a:gd name="adj" fmla="val 20208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文字 13">
              <a:extLst>
                <a:ext uri="{FF2B5EF4-FFF2-40B4-BE49-F238E27FC236}">
                  <a16:creationId xmlns:a16="http://schemas.microsoft.com/office/drawing/2014/main" id="{4FF4F8E6-0948-C2D3-58DA-FF75D281AAA7}"/>
                </a:ext>
              </a:extLst>
            </p:cNvPr>
            <p:cNvSpPr txBox="1"/>
            <p:nvPr/>
          </p:nvSpPr>
          <p:spPr>
            <a:xfrm>
              <a:off x="8065008" y="1699385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電源</a:t>
              </a:r>
            </a:p>
          </p:txBody>
        </p:sp>
        <p:sp>
          <p:nvSpPr>
            <p:cNvPr id="45" name="文字 14">
              <a:extLst>
                <a:ext uri="{FF2B5EF4-FFF2-40B4-BE49-F238E27FC236}">
                  <a16:creationId xmlns:a16="http://schemas.microsoft.com/office/drawing/2014/main" id="{DB8FBB72-0C50-9631-13BE-29B4BB6534BB}"/>
                </a:ext>
              </a:extLst>
            </p:cNvPr>
            <p:cNvSpPr txBox="1"/>
            <p:nvPr/>
          </p:nvSpPr>
          <p:spPr>
            <a:xfrm>
              <a:off x="8686800" y="1681097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12V DC 輸入，L7805 穩壓 5V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8" name="Graphic 18">
              <a:extLst>
                <a:ext uri="{FF2B5EF4-FFF2-40B4-BE49-F238E27FC236}">
                  <a16:creationId xmlns:a16="http://schemas.microsoft.com/office/drawing/2014/main" id="{8AA83BFF-E1E5-C6BE-83E9-D4B240CF1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1733232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12">
              <a:extLst>
                <a:ext uri="{FF2B5EF4-FFF2-40B4-BE49-F238E27FC236}">
                  <a16:creationId xmlns:a16="http://schemas.microsoft.com/office/drawing/2014/main" id="{97EA48E4-7B5E-3377-E861-C188CD10B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6111" y="1863936"/>
              <a:ext cx="266273" cy="266273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ACB1697-77F2-B8CA-77F1-C23C919DB26F}"/>
              </a:ext>
            </a:extLst>
          </p:cNvPr>
          <p:cNvGrpSpPr/>
          <p:nvPr/>
        </p:nvGrpSpPr>
        <p:grpSpPr>
          <a:xfrm>
            <a:off x="7315200" y="2505742"/>
            <a:ext cx="4114800" cy="731520"/>
            <a:chOff x="7315200" y="2467481"/>
            <a:chExt cx="4114800" cy="731520"/>
          </a:xfrm>
        </p:grpSpPr>
        <p:sp>
          <p:nvSpPr>
            <p:cNvPr id="47" name="卡片 15">
              <a:extLst>
                <a:ext uri="{FF2B5EF4-FFF2-40B4-BE49-F238E27FC236}">
                  <a16:creationId xmlns:a16="http://schemas.microsoft.com/office/drawing/2014/main" id="{3F6892B6-F693-7D5D-9199-2C3D36E2FE6D}"/>
                </a:ext>
              </a:extLst>
            </p:cNvPr>
            <p:cNvSpPr/>
            <p:nvPr/>
          </p:nvSpPr>
          <p:spPr>
            <a:xfrm>
              <a:off x="7315200" y="2467481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字 18">
              <a:extLst>
                <a:ext uri="{FF2B5EF4-FFF2-40B4-BE49-F238E27FC236}">
                  <a16:creationId xmlns:a16="http://schemas.microsoft.com/office/drawing/2014/main" id="{DC3EE52C-6695-B47F-A6C6-57F51095F9D0}"/>
                </a:ext>
              </a:extLst>
            </p:cNvPr>
            <p:cNvSpPr txBox="1"/>
            <p:nvPr/>
          </p:nvSpPr>
          <p:spPr>
            <a:xfrm>
              <a:off x="8065008" y="25406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主控</a:t>
              </a:r>
            </a:p>
          </p:txBody>
        </p:sp>
        <p:sp>
          <p:nvSpPr>
            <p:cNvPr id="51" name="文字 19">
              <a:extLst>
                <a:ext uri="{FF2B5EF4-FFF2-40B4-BE49-F238E27FC236}">
                  <a16:creationId xmlns:a16="http://schemas.microsoft.com/office/drawing/2014/main" id="{BDDF1D48-6EB7-9988-4F4A-87026A797D0B}"/>
                </a:ext>
              </a:extLst>
            </p:cNvPr>
            <p:cNvSpPr txBox="1"/>
            <p:nvPr/>
          </p:nvSpPr>
          <p:spPr>
            <a:xfrm>
              <a:off x="8686800" y="2522345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ESP32-S3-DevKitC-1（N16R8）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以排母插接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9" name="Graphic 18">
              <a:extLst>
                <a:ext uri="{FF2B5EF4-FFF2-40B4-BE49-F238E27FC236}">
                  <a16:creationId xmlns:a16="http://schemas.microsoft.com/office/drawing/2014/main" id="{39ABFFD5-5A7E-F815-59CB-5E7D3B1D64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2574480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49" name="圖示 17">
              <a:extLst>
                <a:ext uri="{FF2B5EF4-FFF2-40B4-BE49-F238E27FC236}">
                  <a16:creationId xmlns:a16="http://schemas.microsoft.com/office/drawing/2014/main" id="{B6126F8D-9871-3E8E-ABFA-A7686D00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66111" y="2715344"/>
              <a:ext cx="266273" cy="266273"/>
            </a:xfrm>
            <a:prstGeom prst="rect">
              <a:avLst/>
            </a:prstGeom>
          </p:spPr>
        </p:pic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FA524850-4637-4085-B3C6-0BC17A528D70}"/>
              </a:ext>
            </a:extLst>
          </p:cNvPr>
          <p:cNvGrpSpPr/>
          <p:nvPr/>
        </p:nvGrpSpPr>
        <p:grpSpPr>
          <a:xfrm>
            <a:off x="7315200" y="3385251"/>
            <a:ext cx="4114800" cy="731520"/>
            <a:chOff x="7315200" y="3308729"/>
            <a:chExt cx="4114800" cy="731520"/>
          </a:xfrm>
        </p:grpSpPr>
        <p:sp>
          <p:nvSpPr>
            <p:cNvPr id="52" name="卡片 20">
              <a:extLst>
                <a:ext uri="{FF2B5EF4-FFF2-40B4-BE49-F238E27FC236}">
                  <a16:creationId xmlns:a16="http://schemas.microsoft.com/office/drawing/2014/main" id="{A9A0C2C4-1C4F-C3EE-FB75-2E9A03BDB143}"/>
                </a:ext>
              </a:extLst>
            </p:cNvPr>
            <p:cNvSpPr/>
            <p:nvPr/>
          </p:nvSpPr>
          <p:spPr>
            <a:xfrm>
              <a:off x="7315200" y="3308729"/>
              <a:ext cx="4114800" cy="731520"/>
            </a:xfrm>
            <a:prstGeom prst="roundRect">
              <a:avLst>
                <a:gd name="adj" fmla="val 23681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字 23">
              <a:extLst>
                <a:ext uri="{FF2B5EF4-FFF2-40B4-BE49-F238E27FC236}">
                  <a16:creationId xmlns:a16="http://schemas.microsoft.com/office/drawing/2014/main" id="{9B0DEF61-8096-0586-F443-F18C9B0EAE9D}"/>
                </a:ext>
              </a:extLst>
            </p:cNvPr>
            <p:cNvSpPr txBox="1"/>
            <p:nvPr/>
          </p:nvSpPr>
          <p:spPr>
            <a:xfrm>
              <a:off x="8065008" y="3381881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驅動</a:t>
              </a:r>
            </a:p>
          </p:txBody>
        </p:sp>
        <p:sp>
          <p:nvSpPr>
            <p:cNvPr id="56" name="文字 24">
              <a:extLst>
                <a:ext uri="{FF2B5EF4-FFF2-40B4-BE49-F238E27FC236}">
                  <a16:creationId xmlns:a16="http://schemas.microsoft.com/office/drawing/2014/main" id="{44124A70-4991-96AD-BED3-21BA0EED4C30}"/>
                </a:ext>
              </a:extLst>
            </p:cNvPr>
            <p:cNvSpPr txBox="1"/>
            <p:nvPr/>
          </p:nvSpPr>
          <p:spPr>
            <a:xfrm>
              <a:off x="8686800" y="3363593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PC815 光耦＋S8050，繼電器 ×4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0" name="Graphic 18">
              <a:extLst>
                <a:ext uri="{FF2B5EF4-FFF2-40B4-BE49-F238E27FC236}">
                  <a16:creationId xmlns:a16="http://schemas.microsoft.com/office/drawing/2014/main" id="{97B88152-49DB-062E-9FF9-9857983805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3415728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4" name="圖示 22">
              <a:extLst>
                <a:ext uri="{FF2B5EF4-FFF2-40B4-BE49-F238E27FC236}">
                  <a16:creationId xmlns:a16="http://schemas.microsoft.com/office/drawing/2014/main" id="{02EF970D-8135-04D4-E343-01974FF6A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6111" y="3561672"/>
              <a:ext cx="266273" cy="266273"/>
            </a:xfrm>
            <a:prstGeom prst="rect">
              <a:avLst/>
            </a:prstGeom>
          </p:spPr>
        </p:pic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51EDB68-EEF3-B587-411D-7A0E0D08290C}"/>
              </a:ext>
            </a:extLst>
          </p:cNvPr>
          <p:cNvGrpSpPr/>
          <p:nvPr/>
        </p:nvGrpSpPr>
        <p:grpSpPr>
          <a:xfrm>
            <a:off x="7315200" y="4264760"/>
            <a:ext cx="4114800" cy="731520"/>
            <a:chOff x="7315200" y="4149977"/>
            <a:chExt cx="4114800" cy="731520"/>
          </a:xfrm>
        </p:grpSpPr>
        <p:sp>
          <p:nvSpPr>
            <p:cNvPr id="57" name="卡片 25">
              <a:extLst>
                <a:ext uri="{FF2B5EF4-FFF2-40B4-BE49-F238E27FC236}">
                  <a16:creationId xmlns:a16="http://schemas.microsoft.com/office/drawing/2014/main" id="{7CD2E96B-A8E3-DEA0-CAF2-9AF42952ECB1}"/>
                </a:ext>
              </a:extLst>
            </p:cNvPr>
            <p:cNvSpPr/>
            <p:nvPr/>
          </p:nvSpPr>
          <p:spPr>
            <a:xfrm>
              <a:off x="7315200" y="4149977"/>
              <a:ext cx="4114800" cy="731520"/>
            </a:xfrm>
            <a:prstGeom prst="roundRect">
              <a:avLst>
                <a:gd name="adj" fmla="val 17604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文字 28">
              <a:extLst>
                <a:ext uri="{FF2B5EF4-FFF2-40B4-BE49-F238E27FC236}">
                  <a16:creationId xmlns:a16="http://schemas.microsoft.com/office/drawing/2014/main" id="{42F46876-878F-7134-6534-E480D695BE99}"/>
                </a:ext>
              </a:extLst>
            </p:cNvPr>
            <p:cNvSpPr txBox="1"/>
            <p:nvPr/>
          </p:nvSpPr>
          <p:spPr>
            <a:xfrm>
              <a:off x="8065008" y="4223129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保護</a:t>
              </a:r>
            </a:p>
          </p:txBody>
        </p:sp>
        <p:sp>
          <p:nvSpPr>
            <p:cNvPr id="61" name="文字 29">
              <a:extLst>
                <a:ext uri="{FF2B5EF4-FFF2-40B4-BE49-F238E27FC236}">
                  <a16:creationId xmlns:a16="http://schemas.microsoft.com/office/drawing/2014/main" id="{6F90CF86-EA94-5AC8-77CC-E3596645D9CA}"/>
                </a:ext>
              </a:extLst>
            </p:cNvPr>
            <p:cNvSpPr txBox="1"/>
            <p:nvPr/>
          </p:nvSpPr>
          <p:spPr>
            <a:xfrm>
              <a:off x="8686800" y="4204841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續流二極體、5.08mm 端子台、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LED 狀態指示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1" name="Graphic 18">
              <a:extLst>
                <a:ext uri="{FF2B5EF4-FFF2-40B4-BE49-F238E27FC236}">
                  <a16:creationId xmlns:a16="http://schemas.microsoft.com/office/drawing/2014/main" id="{36906B80-857A-EE58-11BC-4E5B41C8EA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4256976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9" name="圖示 27">
              <a:extLst>
                <a:ext uri="{FF2B5EF4-FFF2-40B4-BE49-F238E27FC236}">
                  <a16:creationId xmlns:a16="http://schemas.microsoft.com/office/drawing/2014/main" id="{232F8414-A20E-3901-1F6D-9E18A2EED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66111" y="4392760"/>
              <a:ext cx="266273" cy="266273"/>
            </a:xfrm>
            <a:prstGeom prst="rect">
              <a:avLst/>
            </a:prstGeom>
          </p:spPr>
        </p:pic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37C6BDF-A85F-A989-A6BA-51BAFD0E2771}"/>
              </a:ext>
            </a:extLst>
          </p:cNvPr>
          <p:cNvGrpSpPr/>
          <p:nvPr/>
        </p:nvGrpSpPr>
        <p:grpSpPr>
          <a:xfrm>
            <a:off x="7315200" y="5144268"/>
            <a:ext cx="4114800" cy="731520"/>
            <a:chOff x="7315200" y="4991225"/>
            <a:chExt cx="4114800" cy="731520"/>
          </a:xfrm>
        </p:grpSpPr>
        <p:sp>
          <p:nvSpPr>
            <p:cNvPr id="62" name="卡片 30">
              <a:extLst>
                <a:ext uri="{FF2B5EF4-FFF2-40B4-BE49-F238E27FC236}">
                  <a16:creationId xmlns:a16="http://schemas.microsoft.com/office/drawing/2014/main" id="{F3FCECAE-638A-FB36-BE2B-F1EDB26FF3BC}"/>
                </a:ext>
              </a:extLst>
            </p:cNvPr>
            <p:cNvSpPr/>
            <p:nvPr/>
          </p:nvSpPr>
          <p:spPr>
            <a:xfrm>
              <a:off x="7315200" y="4991225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文字 33">
              <a:extLst>
                <a:ext uri="{FF2B5EF4-FFF2-40B4-BE49-F238E27FC236}">
                  <a16:creationId xmlns:a16="http://schemas.microsoft.com/office/drawing/2014/main" id="{237743EE-BEB9-4FB4-B6A8-7F36FBACCACB}"/>
                </a:ext>
              </a:extLst>
            </p:cNvPr>
            <p:cNvSpPr txBox="1"/>
            <p:nvPr/>
          </p:nvSpPr>
          <p:spPr>
            <a:xfrm>
              <a:off x="8065008" y="5064377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接頭</a:t>
              </a:r>
            </a:p>
          </p:txBody>
        </p:sp>
        <p:sp>
          <p:nvSpPr>
            <p:cNvPr id="66" name="文字 34">
              <a:extLst>
                <a:ext uri="{FF2B5EF4-FFF2-40B4-BE49-F238E27FC236}">
                  <a16:creationId xmlns:a16="http://schemas.microsoft.com/office/drawing/2014/main" id="{4AF054CC-5863-E3E5-DFD0-8C9A33A32142}"/>
                </a:ext>
              </a:extLst>
            </p:cNvPr>
            <p:cNvSpPr txBox="1"/>
            <p:nvPr/>
          </p:nvSpPr>
          <p:spPr>
            <a:xfrm>
              <a:off x="8686800" y="5046089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門磁 J7–J10（3V3）、螢幕 J6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2" name="Graphic 18">
              <a:extLst>
                <a:ext uri="{FF2B5EF4-FFF2-40B4-BE49-F238E27FC236}">
                  <a16:creationId xmlns:a16="http://schemas.microsoft.com/office/drawing/2014/main" id="{53381354-CEAD-09C4-E20B-6B04F2DEA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5098224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4" name="圖示 32">
              <a:extLst>
                <a:ext uri="{FF2B5EF4-FFF2-40B4-BE49-F238E27FC236}">
                  <a16:creationId xmlns:a16="http://schemas.microsoft.com/office/drawing/2014/main" id="{16331F9C-8339-B377-1592-B5A46660A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66111" y="5234008"/>
              <a:ext cx="266273" cy="26627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1157234"/>
                  </p:ext>
                </p:extLst>
              </p:nvPr>
            </p:nvGraphicFramePr>
            <p:xfrm>
              <a:off x="1299503" y="2110309"/>
              <a:ext cx="5159673" cy="36199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5159673" cy="3619994"/>
                    </a:xfrm>
                    <a:prstGeom prst="rect">
                      <a:avLst/>
                    </a:prstGeom>
                  </am3d:spPr>
                  <am3d:camera>
                    <am3d:pos x="0" y="29285038" z="65775273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7" d="1000000"/>
                    <am3d:preTrans dx="249867" dy="-2550558" dz="409618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67961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9503" y="2110309"/>
                <a:ext cx="5159673" cy="36199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682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8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726E5-A372-0E27-DAA6-E673DC91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群組 88">
            <a:extLst>
              <a:ext uri="{FF2B5EF4-FFF2-40B4-BE49-F238E27FC236}">
                <a16:creationId xmlns:a16="http://schemas.microsoft.com/office/drawing/2014/main" id="{1144A1DB-EBC9-5A20-45CC-BABE474EA9D6}"/>
              </a:ext>
            </a:extLst>
          </p:cNvPr>
          <p:cNvGrpSpPr/>
          <p:nvPr/>
        </p:nvGrpSpPr>
        <p:grpSpPr>
          <a:xfrm>
            <a:off x="3395182" y="2774043"/>
            <a:ext cx="2790000" cy="2249292"/>
            <a:chOff x="3395182" y="2774043"/>
            <a:chExt cx="2790000" cy="2249292"/>
          </a:xfrm>
        </p:grpSpPr>
        <p:sp>
          <p:nvSpPr>
            <p:cNvPr id="11" name="Arrow: Chevron 12">
              <a:extLst>
                <a:ext uri="{FF2B5EF4-FFF2-40B4-BE49-F238E27FC236}">
                  <a16:creationId xmlns:a16="http://schemas.microsoft.com/office/drawing/2014/main" id="{21AB49E2-1A67-6AB5-3152-13A5908BEFE5}"/>
                </a:ext>
              </a:extLst>
            </p:cNvPr>
            <p:cNvSpPr/>
            <p:nvPr/>
          </p:nvSpPr>
          <p:spPr>
            <a:xfrm>
              <a:off x="339518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3" name="TextBox 9">
              <a:extLst>
                <a:ext uri="{FF2B5EF4-FFF2-40B4-BE49-F238E27FC236}">
                  <a16:creationId xmlns:a16="http://schemas.microsoft.com/office/drawing/2014/main" id="{7CBFED3F-1122-EAC3-5EC9-64A2B552C2B4}"/>
                </a:ext>
              </a:extLst>
            </p:cNvPr>
            <p:cNvSpPr txBox="1"/>
            <p:nvPr/>
          </p:nvSpPr>
          <p:spPr>
            <a:xfrm>
              <a:off x="390050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須在書櫃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200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公尺內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拒絕定位、精度不足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或過舊皆不開櫃</a:t>
              </a:r>
            </a:p>
          </p:txBody>
        </p:sp>
        <p:sp>
          <p:nvSpPr>
            <p:cNvPr id="74" name="TextBox 10">
              <a:extLst>
                <a:ext uri="{FF2B5EF4-FFF2-40B4-BE49-F238E27FC236}">
                  <a16:creationId xmlns:a16="http://schemas.microsoft.com/office/drawing/2014/main" id="{C2258F2D-786F-8034-4822-77C7EC298347}"/>
                </a:ext>
              </a:extLst>
            </p:cNvPr>
            <p:cNvSpPr txBox="1"/>
            <p:nvPr/>
          </p:nvSpPr>
          <p:spPr>
            <a:xfrm>
              <a:off x="390050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定位必要</a:t>
              </a:r>
            </a:p>
          </p:txBody>
        </p:sp>
      </p:grpSp>
      <p:grpSp>
        <p:nvGrpSpPr>
          <p:cNvPr id="90" name="群組 89">
            <a:extLst>
              <a:ext uri="{FF2B5EF4-FFF2-40B4-BE49-F238E27FC236}">
                <a16:creationId xmlns:a16="http://schemas.microsoft.com/office/drawing/2014/main" id="{FFA0B671-2DFB-456E-4B95-ED075C26ED19}"/>
              </a:ext>
            </a:extLst>
          </p:cNvPr>
          <p:cNvGrpSpPr/>
          <p:nvPr/>
        </p:nvGrpSpPr>
        <p:grpSpPr>
          <a:xfrm>
            <a:off x="6031412" y="2774043"/>
            <a:ext cx="2790000" cy="2249292"/>
            <a:chOff x="6031412" y="2774043"/>
            <a:chExt cx="2790000" cy="2249292"/>
          </a:xfrm>
        </p:grpSpPr>
        <p:sp>
          <p:nvSpPr>
            <p:cNvPr id="33" name="Arrow: Chevron 16">
              <a:extLst>
                <a:ext uri="{FF2B5EF4-FFF2-40B4-BE49-F238E27FC236}">
                  <a16:creationId xmlns:a16="http://schemas.microsoft.com/office/drawing/2014/main" id="{0D183452-0AAC-432E-773C-F21F9AC0D13A}"/>
                </a:ext>
              </a:extLst>
            </p:cNvPr>
            <p:cNvSpPr/>
            <p:nvPr/>
          </p:nvSpPr>
          <p:spPr>
            <a:xfrm>
              <a:off x="603141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8" name="TextBox 9">
              <a:extLst>
                <a:ext uri="{FF2B5EF4-FFF2-40B4-BE49-F238E27FC236}">
                  <a16:creationId xmlns:a16="http://schemas.microsoft.com/office/drawing/2014/main" id="{C71B1B73-8155-A40A-AF7C-A6F521FA3101}"/>
                </a:ext>
              </a:extLst>
            </p:cNvPr>
            <p:cNvSpPr txBox="1"/>
            <p:nvPr/>
          </p:nvSpPr>
          <p:spPr>
            <a:xfrm>
              <a:off x="653673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手機輸入螢幕上的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兩位數字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60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秒內、一次機會</a:t>
              </a:r>
            </a:p>
          </p:txBody>
        </p:sp>
        <p:sp>
          <p:nvSpPr>
            <p:cNvPr id="79" name="TextBox 10">
              <a:extLst>
                <a:ext uri="{FF2B5EF4-FFF2-40B4-BE49-F238E27FC236}">
                  <a16:creationId xmlns:a16="http://schemas.microsoft.com/office/drawing/2014/main" id="{FFE25C8D-976C-76BC-A468-632E564C2A1C}"/>
                </a:ext>
              </a:extLst>
            </p:cNvPr>
            <p:cNvSpPr txBox="1"/>
            <p:nvPr/>
          </p:nvSpPr>
          <p:spPr>
            <a:xfrm>
              <a:off x="653673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兩位數比對</a:t>
              </a:r>
            </a:p>
          </p:txBody>
        </p:sp>
      </p:grp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1AFF45A8-C43E-DEE5-6CE0-30B29E83D200}"/>
              </a:ext>
            </a:extLst>
          </p:cNvPr>
          <p:cNvGrpSpPr/>
          <p:nvPr/>
        </p:nvGrpSpPr>
        <p:grpSpPr>
          <a:xfrm>
            <a:off x="8667642" y="2774043"/>
            <a:ext cx="2790000" cy="2249292"/>
            <a:chOff x="8667642" y="2774043"/>
            <a:chExt cx="2790000" cy="2249292"/>
          </a:xfrm>
        </p:grpSpPr>
        <p:sp>
          <p:nvSpPr>
            <p:cNvPr id="15" name="Arrow: Chevron 16">
              <a:extLst>
                <a:ext uri="{FF2B5EF4-FFF2-40B4-BE49-F238E27FC236}">
                  <a16:creationId xmlns:a16="http://schemas.microsoft.com/office/drawing/2014/main" id="{0CD113C8-52D6-553A-2001-322E69E01A95}"/>
                </a:ext>
              </a:extLst>
            </p:cNvPr>
            <p:cNvSpPr/>
            <p:nvPr/>
          </p:nvSpPr>
          <p:spPr>
            <a:xfrm>
              <a:off x="866764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82" name="TextBox 9">
              <a:extLst>
                <a:ext uri="{FF2B5EF4-FFF2-40B4-BE49-F238E27FC236}">
                  <a16:creationId xmlns:a16="http://schemas.microsoft.com/office/drawing/2014/main" id="{D4821B42-11AD-B9A3-F42D-EB352BBBF465}"/>
                </a:ext>
              </a:extLst>
            </p:cNvPr>
            <p:cNvSpPr txBox="1"/>
            <p:nvPr/>
          </p:nvSpPr>
          <p:spPr>
            <a:xfrm>
              <a:off x="917296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書櫃以裝置憑證連線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回報開門與關門後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才登記存書或取書</a:t>
              </a:r>
            </a:p>
          </p:txBody>
        </p:sp>
        <p:sp>
          <p:nvSpPr>
            <p:cNvPr id="83" name="TextBox 10">
              <a:extLst>
                <a:ext uri="{FF2B5EF4-FFF2-40B4-BE49-F238E27FC236}">
                  <a16:creationId xmlns:a16="http://schemas.microsoft.com/office/drawing/2014/main" id="{E20E6535-283F-A0FA-C6F2-E6F6773A2E5B}"/>
                </a:ext>
              </a:extLst>
            </p:cNvPr>
            <p:cNvSpPr txBox="1"/>
            <p:nvPr/>
          </p:nvSpPr>
          <p:spPr>
            <a:xfrm>
              <a:off x="917296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裝置憑證</a:t>
              </a: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8F03D27B-7AA4-3D9B-3248-8D648F3EBB5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存取安全：四道驗證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BA1F54-B231-71EB-3BE3-7680AC13801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ACCESS SECURITY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91199AE-D71B-CA0C-4183-71E68A77447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1B6091D-397A-6083-3138-931114B53DCA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4E5D3D6D-1290-295A-F641-A6BD714AA645}"/>
              </a:ext>
            </a:extLst>
          </p:cNvPr>
          <p:cNvGrpSpPr/>
          <p:nvPr/>
        </p:nvGrpSpPr>
        <p:grpSpPr>
          <a:xfrm>
            <a:off x="758952" y="2774043"/>
            <a:ext cx="2790000" cy="2249292"/>
            <a:chOff x="758952" y="2774043"/>
            <a:chExt cx="2790000" cy="2249292"/>
          </a:xfrm>
        </p:grpSpPr>
        <p:sp>
          <p:nvSpPr>
            <p:cNvPr id="4" name="Arrow: Chevron 8">
              <a:extLst>
                <a:ext uri="{FF2B5EF4-FFF2-40B4-BE49-F238E27FC236}">
                  <a16:creationId xmlns:a16="http://schemas.microsoft.com/office/drawing/2014/main" id="{BDC71D46-48E7-0DB7-F747-E420982BD105}"/>
                </a:ext>
              </a:extLst>
            </p:cNvPr>
            <p:cNvSpPr/>
            <p:nvPr/>
          </p:nvSpPr>
          <p:spPr>
            <a:xfrm>
              <a:off x="75895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13CF5061-CF6C-4215-D06E-908739E3DDEC}"/>
                </a:ext>
              </a:extLst>
            </p:cNvPr>
            <p:cNvSpPr txBox="1"/>
            <p:nvPr/>
          </p:nvSpPr>
          <p:spPr>
            <a:xfrm>
              <a:off x="126427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螢幕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QR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每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30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秒更新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45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秒後失效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截圖轉傳無效</a:t>
              </a:r>
            </a:p>
          </p:txBody>
        </p:sp>
        <p:sp>
          <p:nvSpPr>
            <p:cNvPr id="37" name="TextBox 10">
              <a:extLst>
                <a:ext uri="{FF2B5EF4-FFF2-40B4-BE49-F238E27FC236}">
                  <a16:creationId xmlns:a16="http://schemas.microsoft.com/office/drawing/2014/main" id="{EF3A6D61-F9F9-B86F-C506-00EA57588626}"/>
                </a:ext>
              </a:extLst>
            </p:cNvPr>
            <p:cNvSpPr txBox="1"/>
            <p:nvPr/>
          </p:nvSpPr>
          <p:spPr>
            <a:xfrm>
              <a:off x="126427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動態 </a:t>
              </a:r>
              <a:r>
                <a:rPr lang="en-IN" sz="200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QR Code</a:t>
              </a:r>
            </a:p>
          </p:txBody>
        </p:sp>
      </p:grp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810BBD29-2812-F9E6-7F0E-A7A9DB1C7B41}"/>
              </a:ext>
            </a:extLst>
          </p:cNvPr>
          <p:cNvGrpSpPr/>
          <p:nvPr/>
        </p:nvGrpSpPr>
        <p:grpSpPr>
          <a:xfrm>
            <a:off x="1729866" y="2223506"/>
            <a:ext cx="848172" cy="923708"/>
            <a:chOff x="1729866" y="2223506"/>
            <a:chExt cx="848172" cy="923708"/>
          </a:xfrm>
        </p:grpSpPr>
        <p:sp>
          <p:nvSpPr>
            <p:cNvPr id="41" name="Graphic 18">
              <a:extLst>
                <a:ext uri="{FF2B5EF4-FFF2-40B4-BE49-F238E27FC236}">
                  <a16:creationId xmlns:a16="http://schemas.microsoft.com/office/drawing/2014/main" id="{7D8C0385-ED9D-CB12-6901-DB567816F050}"/>
                </a:ext>
              </a:extLst>
            </p:cNvPr>
            <p:cNvSpPr/>
            <p:nvPr/>
          </p:nvSpPr>
          <p:spPr>
            <a:xfrm>
              <a:off x="1729866" y="2223506"/>
              <a:ext cx="848172" cy="923708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noFill/>
            <a:ln w="12700" cap="flat">
              <a:solidFill>
                <a:schemeClr val="accent1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Graphic 18">
              <a:extLst>
                <a:ext uri="{FF2B5EF4-FFF2-40B4-BE49-F238E27FC236}">
                  <a16:creationId xmlns:a16="http://schemas.microsoft.com/office/drawing/2014/main" id="{634DF3AD-581C-CF6B-656C-165A3AE351D0}"/>
                </a:ext>
              </a:extLst>
            </p:cNvPr>
            <p:cNvSpPr/>
            <p:nvPr/>
          </p:nvSpPr>
          <p:spPr>
            <a:xfrm>
              <a:off x="1822439" y="2324323"/>
              <a:ext cx="663025" cy="722073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8" name="圖示 9">
              <a:extLst>
                <a:ext uri="{FF2B5EF4-FFF2-40B4-BE49-F238E27FC236}">
                  <a16:creationId xmlns:a16="http://schemas.microsoft.com/office/drawing/2014/main" id="{66AEC17E-4CA3-CB40-0894-D4CD1583E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46237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5" name="群組 84">
            <a:extLst>
              <a:ext uri="{FF2B5EF4-FFF2-40B4-BE49-F238E27FC236}">
                <a16:creationId xmlns:a16="http://schemas.microsoft.com/office/drawing/2014/main" id="{D1AAD4E3-EE26-2EB1-9AC2-5F9D25312781}"/>
              </a:ext>
            </a:extLst>
          </p:cNvPr>
          <p:cNvGrpSpPr/>
          <p:nvPr/>
        </p:nvGrpSpPr>
        <p:grpSpPr>
          <a:xfrm>
            <a:off x="4366096" y="2223506"/>
            <a:ext cx="848172" cy="923708"/>
            <a:chOff x="4366096" y="2223506"/>
            <a:chExt cx="848172" cy="923708"/>
          </a:xfrm>
        </p:grpSpPr>
        <p:grpSp>
          <p:nvGrpSpPr>
            <p:cNvPr id="50" name="Group 40">
              <a:extLst>
                <a:ext uri="{FF2B5EF4-FFF2-40B4-BE49-F238E27FC236}">
                  <a16:creationId xmlns:a16="http://schemas.microsoft.com/office/drawing/2014/main" id="{4E1E338E-40FB-12DA-5360-F3DAB8257954}"/>
                </a:ext>
              </a:extLst>
            </p:cNvPr>
            <p:cNvGrpSpPr/>
            <p:nvPr/>
          </p:nvGrpSpPr>
          <p:grpSpPr>
            <a:xfrm>
              <a:off x="4366096" y="2223506"/>
              <a:ext cx="848172" cy="923708"/>
              <a:chOff x="1410247" y="3914845"/>
              <a:chExt cx="1163166" cy="1266756"/>
            </a:xfrm>
          </p:grpSpPr>
          <p:sp>
            <p:nvSpPr>
              <p:cNvPr id="52" name="Graphic 18">
                <a:extLst>
                  <a:ext uri="{FF2B5EF4-FFF2-40B4-BE49-F238E27FC236}">
                    <a16:creationId xmlns:a16="http://schemas.microsoft.com/office/drawing/2014/main" id="{38627F5A-BD0A-957A-ACFA-956382F2D16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Graphic 18">
                <a:extLst>
                  <a:ext uri="{FF2B5EF4-FFF2-40B4-BE49-F238E27FC236}">
                    <a16:creationId xmlns:a16="http://schemas.microsoft.com/office/drawing/2014/main" id="{7721C628-EED7-E913-FFBE-F7DB48778C85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69" name="圖示 16">
              <a:extLst>
                <a:ext uri="{FF2B5EF4-FFF2-40B4-BE49-F238E27FC236}">
                  <a16:creationId xmlns:a16="http://schemas.microsoft.com/office/drawing/2014/main" id="{423869BF-E20D-1F8A-C6DB-8010B4CAA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8693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F78A0144-CC39-6A4F-D6A8-FA60FE6C36E0}"/>
              </a:ext>
            </a:extLst>
          </p:cNvPr>
          <p:cNvGrpSpPr/>
          <p:nvPr/>
        </p:nvGrpSpPr>
        <p:grpSpPr>
          <a:xfrm>
            <a:off x="7002326" y="2223506"/>
            <a:ext cx="848172" cy="923708"/>
            <a:chOff x="7002326" y="2223506"/>
            <a:chExt cx="848172" cy="923708"/>
          </a:xfrm>
        </p:grpSpPr>
        <p:grpSp>
          <p:nvGrpSpPr>
            <p:cNvPr id="55" name="Group 40">
              <a:extLst>
                <a:ext uri="{FF2B5EF4-FFF2-40B4-BE49-F238E27FC236}">
                  <a16:creationId xmlns:a16="http://schemas.microsoft.com/office/drawing/2014/main" id="{50014B53-D105-B230-C1E0-8E477E16E114}"/>
                </a:ext>
              </a:extLst>
            </p:cNvPr>
            <p:cNvGrpSpPr/>
            <p:nvPr/>
          </p:nvGrpSpPr>
          <p:grpSpPr>
            <a:xfrm>
              <a:off x="7002326" y="2223506"/>
              <a:ext cx="848172" cy="923708"/>
              <a:chOff x="1410247" y="3914845"/>
              <a:chExt cx="1163166" cy="1266756"/>
            </a:xfrm>
          </p:grpSpPr>
          <p:sp>
            <p:nvSpPr>
              <p:cNvPr id="57" name="Graphic 18">
                <a:extLst>
                  <a:ext uri="{FF2B5EF4-FFF2-40B4-BE49-F238E27FC236}">
                    <a16:creationId xmlns:a16="http://schemas.microsoft.com/office/drawing/2014/main" id="{04BDD51D-ED59-6FFA-78CD-3F8F64AB39FB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Graphic 18">
                <a:extLst>
                  <a:ext uri="{FF2B5EF4-FFF2-40B4-BE49-F238E27FC236}">
                    <a16:creationId xmlns:a16="http://schemas.microsoft.com/office/drawing/2014/main" id="{94973052-E8A0-CBCA-C40D-A3217E1C4784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0" name="圖示 23">
              <a:extLst>
                <a:ext uri="{FF2B5EF4-FFF2-40B4-BE49-F238E27FC236}">
                  <a16:creationId xmlns:a16="http://schemas.microsoft.com/office/drawing/2014/main" id="{C941F700-8C84-C94A-1AE0-D82F3E6C5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23849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03548172-E525-D276-537B-7842ED9C4F13}"/>
              </a:ext>
            </a:extLst>
          </p:cNvPr>
          <p:cNvGrpSpPr/>
          <p:nvPr/>
        </p:nvGrpSpPr>
        <p:grpSpPr>
          <a:xfrm>
            <a:off x="9638556" y="2223506"/>
            <a:ext cx="848172" cy="923708"/>
            <a:chOff x="9638556" y="2223506"/>
            <a:chExt cx="848172" cy="923708"/>
          </a:xfrm>
        </p:grpSpPr>
        <p:grpSp>
          <p:nvGrpSpPr>
            <p:cNvPr id="60" name="Group 40">
              <a:extLst>
                <a:ext uri="{FF2B5EF4-FFF2-40B4-BE49-F238E27FC236}">
                  <a16:creationId xmlns:a16="http://schemas.microsoft.com/office/drawing/2014/main" id="{CB213B6F-320B-2D73-03F0-44FC73B2FF60}"/>
                </a:ext>
              </a:extLst>
            </p:cNvPr>
            <p:cNvGrpSpPr/>
            <p:nvPr/>
          </p:nvGrpSpPr>
          <p:grpSpPr>
            <a:xfrm>
              <a:off x="9638556" y="2223506"/>
              <a:ext cx="848172" cy="923708"/>
              <a:chOff x="1410247" y="3914845"/>
              <a:chExt cx="1163166" cy="1266756"/>
            </a:xfrm>
          </p:grpSpPr>
          <p:sp>
            <p:nvSpPr>
              <p:cNvPr id="62" name="Graphic 18">
                <a:extLst>
                  <a:ext uri="{FF2B5EF4-FFF2-40B4-BE49-F238E27FC236}">
                    <a16:creationId xmlns:a16="http://schemas.microsoft.com/office/drawing/2014/main" id="{B6BD7764-0F19-2C2E-0F52-6712E94C7C1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Graphic 18">
                <a:extLst>
                  <a:ext uri="{FF2B5EF4-FFF2-40B4-BE49-F238E27FC236}">
                    <a16:creationId xmlns:a16="http://schemas.microsoft.com/office/drawing/2014/main" id="{B5A48FB1-D848-8742-2A6E-9A4DA0543356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1" name="圖示 30">
              <a:extLst>
                <a:ext uri="{FF2B5EF4-FFF2-40B4-BE49-F238E27FC236}">
                  <a16:creationId xmlns:a16="http://schemas.microsoft.com/office/drawing/2014/main" id="{B8C5E218-E3F3-113B-5BBF-C7307E88F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62655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245685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0" presetClass="path" presetSubtype="0" accel="26000" decel="74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0" presetClass="path" presetSubtype="0" accel="26000" decel="74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4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9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28372 0.25208 L -3.54167E-6 2.96296E-6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80" y="-126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9532 0.17338 L 4.79167E-6 2.96296E-6 " pathEditMode="relative" rAng="0" ptsTypes="AA">
                                      <p:cBhvr>
                                        <p:cTn id="29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66" y="-8681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4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0" presetClass="path" presetSubtype="0" accel="26000" decel="74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4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D938F-3A76-CAAC-E61A-59487820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69A62E6-2628-CC9D-78F9-2CB9C69DD03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賣家存書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4D84AA-C5C5-7517-335F-7C30D60D12E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DEPOSIT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B5BB990-45A0-6893-490A-8FCDAFA6062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16D6337-F2C3-4DE0-4D74-8ED2C58750E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書櫃">
            <a:hlinkClick r:id="" action="ppaction://media"/>
            <a:extLst>
              <a:ext uri="{FF2B5EF4-FFF2-40B4-BE49-F238E27FC236}">
                <a16:creationId xmlns:a16="http://schemas.microsoft.com/office/drawing/2014/main" id="{09B805D7-32D9-C4EF-1B61-3F4F6ED1E8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452724" y="1376436"/>
            <a:ext cx="4810417" cy="4329374"/>
          </a:xfrm>
          <a:prstGeom prst="rect">
            <a:avLst/>
          </a:prstGeom>
        </p:spPr>
      </p:pic>
      <p:pic>
        <p:nvPicPr>
          <p:cNvPr id="5" name="!!手機">
            <a:hlinkClick r:id="" action="ppaction://media"/>
            <a:extLst>
              <a:ext uri="{FF2B5EF4-FFF2-40B4-BE49-F238E27FC236}">
                <a16:creationId xmlns:a16="http://schemas.microsoft.com/office/drawing/2014/main" id="{F259AA7E-65C4-0BB6-6A20-D3F89962660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21748" y="1568835"/>
            <a:ext cx="1954052" cy="3960914"/>
          </a:xfrm>
          <a:prstGeom prst="rect">
            <a:avLst/>
          </a:prstGeom>
        </p:spPr>
      </p:pic>
      <p:sp>
        <p:nvSpPr>
          <p:cNvPr id="8" name="字幕 8">
            <a:extLst>
              <a:ext uri="{FF2B5EF4-FFF2-40B4-BE49-F238E27FC236}">
                <a16:creationId xmlns:a16="http://schemas.microsoft.com/office/drawing/2014/main" id="{7074B451-9DEE-C0AC-A9CE-C88C6D12F2A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10" name="字幕 9">
            <a:extLst>
              <a:ext uri="{FF2B5EF4-FFF2-40B4-BE49-F238E27FC236}">
                <a16:creationId xmlns:a16="http://schemas.microsoft.com/office/drawing/2014/main" id="{0B6975BF-7759-5AF0-63D5-78919B7B57E7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確認存書項目</a:t>
            </a:r>
          </a:p>
        </p:txBody>
      </p:sp>
      <p:sp>
        <p:nvSpPr>
          <p:cNvPr id="12" name="字幕 10">
            <a:extLst>
              <a:ext uri="{FF2B5EF4-FFF2-40B4-BE49-F238E27FC236}">
                <a16:creationId xmlns:a16="http://schemas.microsoft.com/office/drawing/2014/main" id="{339B08A5-685F-C243-DCF3-77F1A0CBD7F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13" name="字幕 11">
            <a:extLst>
              <a:ext uri="{FF2B5EF4-FFF2-40B4-BE49-F238E27FC236}">
                <a16:creationId xmlns:a16="http://schemas.microsoft.com/office/drawing/2014/main" id="{8F4E54C3-7F5C-D275-DD23-871E48E97D8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4" name="字幕 12">
            <a:extLst>
              <a:ext uri="{FF2B5EF4-FFF2-40B4-BE49-F238E27FC236}">
                <a16:creationId xmlns:a16="http://schemas.microsoft.com/office/drawing/2014/main" id="{4BF6147C-5148-A5B3-9142-AE12D3D3A7C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放入書籍並關門</a:t>
            </a:r>
          </a:p>
        </p:txBody>
      </p:sp>
      <p:sp>
        <p:nvSpPr>
          <p:cNvPr id="16" name="字幕 13">
            <a:extLst>
              <a:ext uri="{FF2B5EF4-FFF2-40B4-BE49-F238E27FC236}">
                <a16:creationId xmlns:a16="http://schemas.microsoft.com/office/drawing/2014/main" id="{A72BA87F-F61F-80C6-CC9C-A39D70222BB6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存書完成，通知買家取書</a:t>
            </a:r>
          </a:p>
        </p:txBody>
      </p:sp>
    </p:spTree>
    <p:extLst>
      <p:ext uri="{BB962C8B-B14F-4D97-AF65-F5344CB8AC3E}">
        <p14:creationId xmlns:p14="http://schemas.microsoft.com/office/powerpoint/2010/main" val="34459869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1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1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8" grpId="0" animBg="1"/>
      <p:bldP spid="8" grpId="1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前往書櫃：交通資訊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GETTING THERE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手機">
            <a:hlinkClick r:id="" action="ppaction://media"/>
            <a:extLst>
              <a:ext uri="{FF2B5EF4-FFF2-40B4-BE49-F238E27FC236}">
                <a16:creationId xmlns:a16="http://schemas.microsoft.com/office/drawing/2014/main" id="{A771519F-9A5F-3B21-18C1-CEDC3D17CD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22739" y="1421987"/>
            <a:ext cx="2353012" cy="4769618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E8927420-6960-908D-C128-F93C144704D5}"/>
              </a:ext>
            </a:extLst>
          </p:cNvPr>
          <p:cNvGrpSpPr/>
          <p:nvPr/>
        </p:nvGrpSpPr>
        <p:grpSpPr>
          <a:xfrm>
            <a:off x="788900" y="1714517"/>
            <a:ext cx="6080567" cy="621792"/>
            <a:chOff x="788900" y="1611340"/>
            <a:chExt cx="6080567" cy="621792"/>
          </a:xfrm>
        </p:grpSpPr>
        <p:sp>
          <p:nvSpPr>
            <p:cNvPr id="10" name="文字 13">
              <a:extLst>
                <a:ext uri="{FF2B5EF4-FFF2-40B4-BE49-F238E27FC236}">
                  <a16:creationId xmlns:a16="http://schemas.microsoft.com/office/drawing/2014/main" id="{77FD534E-015C-1C10-8D4A-02C5C0EFAB7E}"/>
                </a:ext>
              </a:extLst>
            </p:cNvPr>
            <p:cNvSpPr txBox="1"/>
            <p:nvPr/>
          </p:nvSpPr>
          <p:spPr>
            <a:xfrm>
              <a:off x="1427952" y="1629628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捷運</a:t>
              </a:r>
            </a:p>
          </p:txBody>
        </p:sp>
        <p:sp>
          <p:nvSpPr>
            <p:cNvPr id="12" name="文字 14">
              <a:extLst>
                <a:ext uri="{FF2B5EF4-FFF2-40B4-BE49-F238E27FC236}">
                  <a16:creationId xmlns:a16="http://schemas.microsoft.com/office/drawing/2014/main" id="{BEB99F2B-538D-BFD2-07C8-82B3CDB54B90}"/>
                </a:ext>
              </a:extLst>
            </p:cNvPr>
            <p:cNvSpPr txBox="1"/>
            <p:nvPr/>
          </p:nvSpPr>
          <p:spPr>
            <a:xfrm>
              <a:off x="2862356" y="161134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最近車站與出口、無障礙電梯、票價</a:t>
              </a:r>
            </a:p>
          </p:txBody>
        </p:sp>
        <p:sp>
          <p:nvSpPr>
            <p:cNvPr id="13" name="Graphic 18">
              <a:extLst>
                <a:ext uri="{FF2B5EF4-FFF2-40B4-BE49-F238E27FC236}">
                  <a16:creationId xmlns:a16="http://schemas.microsoft.com/office/drawing/2014/main" id="{FEBD9220-FDA8-CBDD-6F05-B5C329A15A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169609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5" name="圖示 9">
              <a:extLst>
                <a:ext uri="{FF2B5EF4-FFF2-40B4-BE49-F238E27FC236}">
                  <a16:creationId xmlns:a16="http://schemas.microsoft.com/office/drawing/2014/main" id="{6D13EF8A-A059-F06F-82DC-C96E7C0A0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933" y="1792044"/>
              <a:ext cx="288000" cy="288000"/>
            </a:xfrm>
            <a:prstGeom prst="rect">
              <a:avLst/>
            </a:prstGeom>
          </p:spPr>
        </p:pic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F7CEE9E-B83F-7FAD-3869-32C8B0CC0CFC}"/>
              </a:ext>
            </a:extLst>
          </p:cNvPr>
          <p:cNvGrpSpPr/>
          <p:nvPr/>
        </p:nvGrpSpPr>
        <p:grpSpPr>
          <a:xfrm>
            <a:off x="788900" y="2447711"/>
            <a:ext cx="6080567" cy="621792"/>
            <a:chOff x="788900" y="2454575"/>
            <a:chExt cx="6080567" cy="621792"/>
          </a:xfrm>
        </p:grpSpPr>
        <p:sp>
          <p:nvSpPr>
            <p:cNvPr id="16" name="文字 13">
              <a:extLst>
                <a:ext uri="{FF2B5EF4-FFF2-40B4-BE49-F238E27FC236}">
                  <a16:creationId xmlns:a16="http://schemas.microsoft.com/office/drawing/2014/main" id="{8BCC2A04-B6DC-F5BD-7EDF-0849921171CC}"/>
                </a:ext>
              </a:extLst>
            </p:cNvPr>
            <p:cNvSpPr txBox="1"/>
            <p:nvPr/>
          </p:nvSpPr>
          <p:spPr>
            <a:xfrm>
              <a:off x="1427952" y="247286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公車</a:t>
              </a:r>
            </a:p>
          </p:txBody>
        </p:sp>
        <p:sp>
          <p:nvSpPr>
            <p:cNvPr id="17" name="文字 14">
              <a:extLst>
                <a:ext uri="{FF2B5EF4-FFF2-40B4-BE49-F238E27FC236}">
                  <a16:creationId xmlns:a16="http://schemas.microsoft.com/office/drawing/2014/main" id="{E57EA492-A3DE-B0EF-0D4D-88163F90F643}"/>
                </a:ext>
              </a:extLst>
            </p:cNvPr>
            <p:cNvSpPr txBox="1"/>
            <p:nvPr/>
          </p:nvSpPr>
          <p:spPr>
            <a:xfrm>
              <a:off x="2862356" y="245457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300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公尺內站牌與即時預估到站</a:t>
              </a:r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8A4EC26-F69A-1BE4-5E1E-F2E91A7E4E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253932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8" name="圖示 13">
              <a:extLst>
                <a:ext uri="{FF2B5EF4-FFF2-40B4-BE49-F238E27FC236}">
                  <a16:creationId xmlns:a16="http://schemas.microsoft.com/office/drawing/2014/main" id="{73EBBD56-C4C7-3527-2ABF-125ADC80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933" y="2632367"/>
              <a:ext cx="288000" cy="288000"/>
            </a:xfrm>
            <a:prstGeom prst="rect">
              <a:avLst/>
            </a:prstGeom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DE2B08C-9637-F0AA-BA4D-E7AC238C764C}"/>
              </a:ext>
            </a:extLst>
          </p:cNvPr>
          <p:cNvGrpSpPr/>
          <p:nvPr/>
        </p:nvGrpSpPr>
        <p:grpSpPr>
          <a:xfrm>
            <a:off x="788900" y="3180905"/>
            <a:ext cx="6080567" cy="621792"/>
            <a:chOff x="788900" y="3297810"/>
            <a:chExt cx="6080567" cy="621792"/>
          </a:xfrm>
        </p:grpSpPr>
        <p:sp>
          <p:nvSpPr>
            <p:cNvPr id="22" name="文字 13">
              <a:extLst>
                <a:ext uri="{FF2B5EF4-FFF2-40B4-BE49-F238E27FC236}">
                  <a16:creationId xmlns:a16="http://schemas.microsoft.com/office/drawing/2014/main" id="{E4FC3950-FA2B-2A17-56A4-EB1DF1FBB4C7}"/>
                </a:ext>
              </a:extLst>
            </p:cNvPr>
            <p:cNvSpPr txBox="1"/>
            <p:nvPr/>
          </p:nvSpPr>
          <p:spPr>
            <a:xfrm>
              <a:off x="1427952" y="3316098"/>
              <a:ext cx="1240604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en-US" altLang="zh-TW" sz="2000" b="1" dirty="0" err="1">
                  <a:solidFill>
                    <a:schemeClr val="tx2"/>
                  </a:solidFill>
                  <a:ea typeface="Noto Sans TC Medium" panose="020B0200000000000000" pitchFamily="34" charset="-128"/>
                </a:rPr>
                <a:t>YouBike</a:t>
              </a:r>
              <a:endParaRPr lang="en-US" altLang="zh-TW" sz="2000" b="1" dirty="0">
                <a:solidFill>
                  <a:schemeClr val="tx2"/>
                </a:solidFill>
                <a:ea typeface="Noto Sans TC Medium" panose="020B0200000000000000" pitchFamily="34" charset="-128"/>
              </a:endParaRPr>
            </a:p>
          </p:txBody>
        </p:sp>
        <p:sp>
          <p:nvSpPr>
            <p:cNvPr id="23" name="文字 14">
              <a:extLst>
                <a:ext uri="{FF2B5EF4-FFF2-40B4-BE49-F238E27FC236}">
                  <a16:creationId xmlns:a16="http://schemas.microsoft.com/office/drawing/2014/main" id="{C3913C5B-64C4-C10E-FD23-478ADBB51C24}"/>
                </a:ext>
              </a:extLst>
            </p:cNvPr>
            <p:cNvSpPr txBox="1"/>
            <p:nvPr/>
          </p:nvSpPr>
          <p:spPr>
            <a:xfrm>
              <a:off x="2862356" y="329781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500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公尺內站點可借與可還數量</a:t>
              </a:r>
            </a:p>
          </p:txBody>
        </p:sp>
        <p:sp>
          <p:nvSpPr>
            <p:cNvPr id="24" name="Graphic 18">
              <a:extLst>
                <a:ext uri="{FF2B5EF4-FFF2-40B4-BE49-F238E27FC236}">
                  <a16:creationId xmlns:a16="http://schemas.microsoft.com/office/drawing/2014/main" id="{60265E50-76B6-9CC7-B5BA-8F69DDCAD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338256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9" name="圖示 17">
              <a:extLst>
                <a:ext uri="{FF2B5EF4-FFF2-40B4-BE49-F238E27FC236}">
                  <a16:creationId xmlns:a16="http://schemas.microsoft.com/office/drawing/2014/main" id="{E35330C5-5BAA-EDD7-861D-8501FCED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933" y="3472693"/>
              <a:ext cx="288000" cy="288000"/>
            </a:xfrm>
            <a:prstGeom prst="rect">
              <a:avLst/>
            </a:prstGeom>
          </p:spPr>
        </p:pic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DC2C836-BCB9-EEA9-CC7E-6AA547AD8471}"/>
              </a:ext>
            </a:extLst>
          </p:cNvPr>
          <p:cNvGrpSpPr/>
          <p:nvPr/>
        </p:nvGrpSpPr>
        <p:grpSpPr>
          <a:xfrm>
            <a:off x="788900" y="3914099"/>
            <a:ext cx="6080567" cy="621792"/>
            <a:chOff x="788900" y="4141045"/>
            <a:chExt cx="6080567" cy="621792"/>
          </a:xfrm>
        </p:grpSpPr>
        <p:sp>
          <p:nvSpPr>
            <p:cNvPr id="26" name="文字 13">
              <a:extLst>
                <a:ext uri="{FF2B5EF4-FFF2-40B4-BE49-F238E27FC236}">
                  <a16:creationId xmlns:a16="http://schemas.microsoft.com/office/drawing/2014/main" id="{B8D09651-0894-BE0E-DF55-281BEB4282A2}"/>
                </a:ext>
              </a:extLst>
            </p:cNvPr>
            <p:cNvSpPr txBox="1"/>
            <p:nvPr/>
          </p:nvSpPr>
          <p:spPr>
            <a:xfrm>
              <a:off x="1427952" y="41593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停車</a:t>
              </a:r>
            </a:p>
          </p:txBody>
        </p:sp>
        <p:sp>
          <p:nvSpPr>
            <p:cNvPr id="27" name="文字 14">
              <a:extLst>
                <a:ext uri="{FF2B5EF4-FFF2-40B4-BE49-F238E27FC236}">
                  <a16:creationId xmlns:a16="http://schemas.microsoft.com/office/drawing/2014/main" id="{808F3493-78AD-97BB-E0D2-8D697CEA025E}"/>
                </a:ext>
              </a:extLst>
            </p:cNvPr>
            <p:cNvSpPr txBox="1"/>
            <p:nvPr/>
          </p:nvSpPr>
          <p:spPr>
            <a:xfrm>
              <a:off x="2862356" y="414104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停車場剩餘車位、路邊停車格位</a:t>
              </a: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036C5053-979E-2B48-0BBA-5DD082E7D9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422579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0" name="圖示 21">
              <a:extLst>
                <a:ext uri="{FF2B5EF4-FFF2-40B4-BE49-F238E27FC236}">
                  <a16:creationId xmlns:a16="http://schemas.microsoft.com/office/drawing/2014/main" id="{97C5129F-21C0-B864-6C8A-EA3BEB14B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8933" y="4319602"/>
              <a:ext cx="288000" cy="288000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4E41425F-9E52-C6EE-0218-025D79F5256C}"/>
              </a:ext>
            </a:extLst>
          </p:cNvPr>
          <p:cNvGrpSpPr/>
          <p:nvPr/>
        </p:nvGrpSpPr>
        <p:grpSpPr>
          <a:xfrm>
            <a:off x="788900" y="4647295"/>
            <a:ext cx="6080567" cy="621792"/>
            <a:chOff x="788900" y="4984281"/>
            <a:chExt cx="6080567" cy="621792"/>
          </a:xfrm>
        </p:grpSpPr>
        <p:sp>
          <p:nvSpPr>
            <p:cNvPr id="30" name="文字 13">
              <a:extLst>
                <a:ext uri="{FF2B5EF4-FFF2-40B4-BE49-F238E27FC236}">
                  <a16:creationId xmlns:a16="http://schemas.microsoft.com/office/drawing/2014/main" id="{F3350F08-E5E1-3C99-9EEB-DD9788DBEBE0}"/>
                </a:ext>
              </a:extLst>
            </p:cNvPr>
            <p:cNvSpPr txBox="1"/>
            <p:nvPr/>
          </p:nvSpPr>
          <p:spPr>
            <a:xfrm>
              <a:off x="1427952" y="5002569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計程車</a:t>
              </a:r>
            </a:p>
          </p:txBody>
        </p:sp>
        <p:sp>
          <p:nvSpPr>
            <p:cNvPr id="31" name="文字 14">
              <a:extLst>
                <a:ext uri="{FF2B5EF4-FFF2-40B4-BE49-F238E27FC236}">
                  <a16:creationId xmlns:a16="http://schemas.microsoft.com/office/drawing/2014/main" id="{838DECF5-BFD6-9504-BE2D-81067F824496}"/>
                </a:ext>
              </a:extLst>
            </p:cNvPr>
            <p:cNvSpPr txBox="1"/>
            <p:nvPr/>
          </p:nvSpPr>
          <p:spPr>
            <a:xfrm>
              <a:off x="2862356" y="4984281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800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公尺內計程車招呼站</a:t>
              </a:r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38F7B14A-35A4-F4D5-170D-7A3F4FB51F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5069031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25">
              <a:extLst>
                <a:ext uri="{FF2B5EF4-FFF2-40B4-BE49-F238E27FC236}">
                  <a16:creationId xmlns:a16="http://schemas.microsoft.com/office/drawing/2014/main" id="{98455C0A-0275-05F5-0086-1A52CD7B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48933" y="5166511"/>
              <a:ext cx="288000" cy="288000"/>
            </a:xfrm>
            <a:prstGeom prst="rect">
              <a:avLst/>
            </a:prstGeom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704EC4-C06C-920C-6349-7A22EE116CD0}"/>
              </a:ext>
            </a:extLst>
          </p:cNvPr>
          <p:cNvSpPr txBox="1"/>
          <p:nvPr/>
        </p:nvSpPr>
        <p:spPr>
          <a:xfrm>
            <a:off x="681136" y="5511864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資料來源：臺北市資料大平臺</a:t>
            </a:r>
          </a:p>
        </p:txBody>
      </p:sp>
    </p:spTree>
    <p:extLst>
      <p:ext uri="{BB962C8B-B14F-4D97-AF65-F5344CB8AC3E}">
        <p14:creationId xmlns:p14="http://schemas.microsoft.com/office/powerpoint/2010/main" val="2187253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PICK-UP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14" name="!!書櫃">
            <a:hlinkClick r:id="" action="ppaction://media"/>
            <a:extLst>
              <a:ext uri="{FF2B5EF4-FFF2-40B4-BE49-F238E27FC236}">
                <a16:creationId xmlns:a16="http://schemas.microsoft.com/office/drawing/2014/main" id="{B5EF7C0F-7FEE-AFAD-9027-78543C7727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52112" y="1394936"/>
            <a:ext cx="4846434" cy="4361792"/>
          </a:xfrm>
          <a:prstGeom prst="rect">
            <a:avLst/>
          </a:prstGeom>
        </p:spPr>
      </p:pic>
      <p:pic>
        <p:nvPicPr>
          <p:cNvPr id="15" name="!!手機">
            <a:hlinkClick r:id="" action="ppaction://media"/>
            <a:extLst>
              <a:ext uri="{FF2B5EF4-FFF2-40B4-BE49-F238E27FC236}">
                <a16:creationId xmlns:a16="http://schemas.microsoft.com/office/drawing/2014/main" id="{24F74523-BB1B-4E46-0788-C8E900E58D6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62120" y="1579721"/>
            <a:ext cx="1968684" cy="3990576"/>
          </a:xfrm>
          <a:prstGeom prst="rect">
            <a:avLst/>
          </a:prstGeom>
        </p:spPr>
      </p:pic>
      <p:sp>
        <p:nvSpPr>
          <p:cNvPr id="19" name="字幕 8">
            <a:extLst>
              <a:ext uri="{FF2B5EF4-FFF2-40B4-BE49-F238E27FC236}">
                <a16:creationId xmlns:a16="http://schemas.microsoft.com/office/drawing/2014/main" id="{5076ED70-2276-EB09-CA85-B5941DFF8B58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20" name="字幕 9">
            <a:extLst>
              <a:ext uri="{FF2B5EF4-FFF2-40B4-BE49-F238E27FC236}">
                <a16:creationId xmlns:a16="http://schemas.microsoft.com/office/drawing/2014/main" id="{DB7F0510-113B-169C-7BBB-9CF57410F720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確認取書項目</a:t>
            </a:r>
          </a:p>
        </p:txBody>
      </p:sp>
      <p:sp>
        <p:nvSpPr>
          <p:cNvPr id="21" name="字幕 10">
            <a:extLst>
              <a:ext uri="{FF2B5EF4-FFF2-40B4-BE49-F238E27FC236}">
                <a16:creationId xmlns:a16="http://schemas.microsoft.com/office/drawing/2014/main" id="{FF9F6BC2-4C3C-597F-86B5-0D99B5FE2EB7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25" name="字幕 11">
            <a:extLst>
              <a:ext uri="{FF2B5EF4-FFF2-40B4-BE49-F238E27FC236}">
                <a16:creationId xmlns:a16="http://schemas.microsoft.com/office/drawing/2014/main" id="{0A4335FB-231C-B42B-642B-08720BC38993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29" name="字幕 12">
            <a:extLst>
              <a:ext uri="{FF2B5EF4-FFF2-40B4-BE49-F238E27FC236}">
                <a16:creationId xmlns:a16="http://schemas.microsoft.com/office/drawing/2014/main" id="{A47D389D-932B-9857-E16E-9E524B17BFD1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取出書籍並關門</a:t>
            </a:r>
          </a:p>
        </p:txBody>
      </p:sp>
      <p:sp>
        <p:nvSpPr>
          <p:cNvPr id="33" name="字幕 13">
            <a:extLst>
              <a:ext uri="{FF2B5EF4-FFF2-40B4-BE49-F238E27FC236}">
                <a16:creationId xmlns:a16="http://schemas.microsoft.com/office/drawing/2014/main" id="{53BDF075-DF7A-C98F-A35D-37481FCFDDF6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取書完成，進入驗收</a:t>
            </a:r>
          </a:p>
        </p:txBody>
      </p:sp>
    </p:spTree>
    <p:extLst>
      <p:ext uri="{BB962C8B-B14F-4D97-AF65-F5344CB8AC3E}">
        <p14:creationId xmlns:p14="http://schemas.microsoft.com/office/powerpoint/2010/main" val="236383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67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9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5" grpId="0" animBg="1"/>
      <p:bldP spid="25" grpId="1" animBg="1"/>
      <p:bldP spid="29" grpId="0" animBg="1"/>
      <p:bldP spid="29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驗收與撥款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PAYOUT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步驟編號底 8">
            <a:extLst>
              <a:ext uri="{FF2B5EF4-FFF2-40B4-BE49-F238E27FC236}">
                <a16:creationId xmlns:a16="http://schemas.microsoft.com/office/drawing/2014/main" id="{F85D6993-E0B0-A0AF-3D86-3C0035DF1EA8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" name="文字 9">
            <a:extLst>
              <a:ext uri="{FF2B5EF4-FFF2-40B4-BE49-F238E27FC236}">
                <a16:creationId xmlns:a16="http://schemas.microsoft.com/office/drawing/2014/main" id="{C884C466-B18C-CACA-F1F1-11A879195C6C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5" name="文字 10">
            <a:extLst>
              <a:ext uri="{FF2B5EF4-FFF2-40B4-BE49-F238E27FC236}">
                <a16:creationId xmlns:a16="http://schemas.microsoft.com/office/drawing/2014/main" id="{61A20894-9CBB-EDA8-4BC4-2521F1F83990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8" name="步驟亮起底 11">
            <a:extLst>
              <a:ext uri="{FF2B5EF4-FFF2-40B4-BE49-F238E27FC236}">
                <a16:creationId xmlns:a16="http://schemas.microsoft.com/office/drawing/2014/main" id="{E4A43F3F-6A54-8B36-61F5-DF0159C10E04}"/>
              </a:ext>
            </a:extLst>
          </p:cNvPr>
          <p:cNvSpPr/>
          <p:nvPr/>
        </p:nvSpPr>
        <p:spPr>
          <a:xfrm>
            <a:off x="758952" y="2142065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步驟編號 12">
            <a:extLst>
              <a:ext uri="{FF2B5EF4-FFF2-40B4-BE49-F238E27FC236}">
                <a16:creationId xmlns:a16="http://schemas.microsoft.com/office/drawing/2014/main" id="{FF2F559F-F6D0-05DB-CC72-FD847689736D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1" name="文字 13">
            <a:extLst>
              <a:ext uri="{FF2B5EF4-FFF2-40B4-BE49-F238E27FC236}">
                <a16:creationId xmlns:a16="http://schemas.microsoft.com/office/drawing/2014/main" id="{FDEFCA65-5B79-E542-0439-155C7C274BD3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12" name="文字 14">
            <a:extLst>
              <a:ext uri="{FF2B5EF4-FFF2-40B4-BE49-F238E27FC236}">
                <a16:creationId xmlns:a16="http://schemas.microsoft.com/office/drawing/2014/main" id="{64C81922-64B9-1318-FA69-27F53210E567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13" name="步驟編號底 15">
            <a:extLst>
              <a:ext uri="{FF2B5EF4-FFF2-40B4-BE49-F238E27FC236}">
                <a16:creationId xmlns:a16="http://schemas.microsoft.com/office/drawing/2014/main" id="{376AB532-C413-7A55-7ED6-93702CA0B894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6" name="文字 16">
            <a:extLst>
              <a:ext uri="{FF2B5EF4-FFF2-40B4-BE49-F238E27FC236}">
                <a16:creationId xmlns:a16="http://schemas.microsoft.com/office/drawing/2014/main" id="{9BA868F3-5ADF-B2E5-3023-0A5A49E5550F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17" name="文字 17">
            <a:extLst>
              <a:ext uri="{FF2B5EF4-FFF2-40B4-BE49-F238E27FC236}">
                <a16:creationId xmlns:a16="http://schemas.microsoft.com/office/drawing/2014/main" id="{1965F341-B30B-8018-E5BA-8303E123E98F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18" name="步驟亮起底 18">
            <a:extLst>
              <a:ext uri="{FF2B5EF4-FFF2-40B4-BE49-F238E27FC236}">
                <a16:creationId xmlns:a16="http://schemas.microsoft.com/office/drawing/2014/main" id="{CE0335C7-3BFF-B068-11D2-2FE38EC93670}"/>
              </a:ext>
            </a:extLst>
          </p:cNvPr>
          <p:cNvSpPr/>
          <p:nvPr/>
        </p:nvSpPr>
        <p:spPr>
          <a:xfrm>
            <a:off x="758952" y="3074656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C6410CFD-24D3-710B-BBEC-1EC0F2CBDD56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6A03FB5-3A44-2EBC-62E9-7E8E5BA49733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24" name="文字 21">
            <a:extLst>
              <a:ext uri="{FF2B5EF4-FFF2-40B4-BE49-F238E27FC236}">
                <a16:creationId xmlns:a16="http://schemas.microsoft.com/office/drawing/2014/main" id="{78D5FDA0-A7D2-9D0F-A2D0-943381D89C6E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26" name="步驟編號底 22">
            <a:extLst>
              <a:ext uri="{FF2B5EF4-FFF2-40B4-BE49-F238E27FC236}">
                <a16:creationId xmlns:a16="http://schemas.microsoft.com/office/drawing/2014/main" id="{0BA6B3EA-EFB7-2922-0E94-33D7131704D2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7" name="文字 23">
            <a:extLst>
              <a:ext uri="{FF2B5EF4-FFF2-40B4-BE49-F238E27FC236}">
                <a16:creationId xmlns:a16="http://schemas.microsoft.com/office/drawing/2014/main" id="{DAEA6134-0D00-31BD-E2D5-362F486A59D2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28" name="文字 24">
            <a:extLst>
              <a:ext uri="{FF2B5EF4-FFF2-40B4-BE49-F238E27FC236}">
                <a16:creationId xmlns:a16="http://schemas.microsoft.com/office/drawing/2014/main" id="{053727AD-1BA7-0DD8-557C-6E238DB87852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0" name="步驟亮起底 25">
            <a:extLst>
              <a:ext uri="{FF2B5EF4-FFF2-40B4-BE49-F238E27FC236}">
                <a16:creationId xmlns:a16="http://schemas.microsoft.com/office/drawing/2014/main" id="{C01DADC1-4579-469D-E967-E13EA863D03A}"/>
              </a:ext>
            </a:extLst>
          </p:cNvPr>
          <p:cNvSpPr/>
          <p:nvPr/>
        </p:nvSpPr>
        <p:spPr>
          <a:xfrm>
            <a:off x="758952" y="3998038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1" name="步驟編號 26">
            <a:extLst>
              <a:ext uri="{FF2B5EF4-FFF2-40B4-BE49-F238E27FC236}">
                <a16:creationId xmlns:a16="http://schemas.microsoft.com/office/drawing/2014/main" id="{FF2ABFDD-127F-10CE-6A24-D3117380302C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2" name="文字 27">
            <a:extLst>
              <a:ext uri="{FF2B5EF4-FFF2-40B4-BE49-F238E27FC236}">
                <a16:creationId xmlns:a16="http://schemas.microsoft.com/office/drawing/2014/main" id="{4FDF6E77-BB58-22E8-C968-31823D2203F9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34" name="文字 28">
            <a:extLst>
              <a:ext uri="{FF2B5EF4-FFF2-40B4-BE49-F238E27FC236}">
                <a16:creationId xmlns:a16="http://schemas.microsoft.com/office/drawing/2014/main" id="{B5CD3682-A05E-5C7F-F419-635EECC70F98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5" name="步驟編號底 29">
            <a:extLst>
              <a:ext uri="{FF2B5EF4-FFF2-40B4-BE49-F238E27FC236}">
                <a16:creationId xmlns:a16="http://schemas.microsoft.com/office/drawing/2014/main" id="{4BE775E8-3F02-F602-2A18-519B3FA0C2EF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6" name="文字 30">
            <a:extLst>
              <a:ext uri="{FF2B5EF4-FFF2-40B4-BE49-F238E27FC236}">
                <a16:creationId xmlns:a16="http://schemas.microsoft.com/office/drawing/2014/main" id="{DE9F7085-868E-ADA1-7D32-557FE1CC134F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37" name="文字 31">
            <a:extLst>
              <a:ext uri="{FF2B5EF4-FFF2-40B4-BE49-F238E27FC236}">
                <a16:creationId xmlns:a16="http://schemas.microsoft.com/office/drawing/2014/main" id="{3A110377-64BB-5C1D-3DDF-BE70EC3CD236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38" name="步驟亮起底 32">
            <a:extLst>
              <a:ext uri="{FF2B5EF4-FFF2-40B4-BE49-F238E27FC236}">
                <a16:creationId xmlns:a16="http://schemas.microsoft.com/office/drawing/2014/main" id="{D6408305-EBF3-63A3-B1E9-019FB9D84623}"/>
              </a:ext>
            </a:extLst>
          </p:cNvPr>
          <p:cNvSpPr/>
          <p:nvPr/>
        </p:nvSpPr>
        <p:spPr>
          <a:xfrm>
            <a:off x="758952" y="4919472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9" name="步驟編號 33">
            <a:extLst>
              <a:ext uri="{FF2B5EF4-FFF2-40B4-BE49-F238E27FC236}">
                <a16:creationId xmlns:a16="http://schemas.microsoft.com/office/drawing/2014/main" id="{FD3160B5-695D-5CDD-7F77-2C18193F5E05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0" name="文字 34">
            <a:extLst>
              <a:ext uri="{FF2B5EF4-FFF2-40B4-BE49-F238E27FC236}">
                <a16:creationId xmlns:a16="http://schemas.microsoft.com/office/drawing/2014/main" id="{216C7A70-F8C7-DEB2-8A1E-E16B09CC6118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41" name="文字 35">
            <a:extLst>
              <a:ext uri="{FF2B5EF4-FFF2-40B4-BE49-F238E27FC236}">
                <a16:creationId xmlns:a16="http://schemas.microsoft.com/office/drawing/2014/main" id="{374AFCDF-47AC-D9CB-48AF-3AA5028491D5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42" name="餘額 36">
            <a:extLst>
              <a:ext uri="{FF2B5EF4-FFF2-40B4-BE49-F238E27FC236}">
                <a16:creationId xmlns:a16="http://schemas.microsoft.com/office/drawing/2014/main" id="{C09244A3-E121-7BBE-E4FB-B7A3D3C57EEF}"/>
              </a:ext>
            </a:extLst>
          </p:cNvPr>
          <p:cNvSpPr/>
          <p:nvPr/>
        </p:nvSpPr>
        <p:spPr>
          <a:xfrm>
            <a:off x="4311620" y="5111496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B48A4A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</a:rPr>
              <a:t>賣家錢包餘額 9,194 → 9,444</a:t>
            </a:r>
            <a:endParaRPr lang="zh-TW" altLang="en-US" sz="1400" dirty="0"/>
          </a:p>
        </p:txBody>
      </p:sp>
      <p:pic>
        <p:nvPicPr>
          <p:cNvPr id="43" name="!!手機">
            <a:hlinkClick r:id="" action="ppaction://media"/>
            <a:extLst>
              <a:ext uri="{FF2B5EF4-FFF2-40B4-BE49-F238E27FC236}">
                <a16:creationId xmlns:a16="http://schemas.microsoft.com/office/drawing/2014/main" id="{688F4191-BC00-8403-552A-D49ABD1D0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81324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116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4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54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6" grpId="0" animBg="1"/>
      <p:bldP spid="17" grpId="0" animBg="1"/>
      <p:bldP spid="18" grpId="0" animBg="1"/>
      <p:bldP spid="18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6" grpId="0" animBg="1"/>
      <p:bldP spid="27" grpId="0" animBg="1"/>
      <p:bldP spid="28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4" grpId="0" animBg="1"/>
      <p:bldP spid="34" grpId="1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A3A83-9CD1-4577-7C0A-AF7AA1E43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F35D827-562A-A9F5-935C-77177FB6F39B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維運與例外處理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990F15-9262-459D-1325-48D8604D8E9A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AA6BF0-F9D0-9736-2919-811707B125A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5BAC43D-DF17-D6BF-B74C-9921EB6C1C5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BC255CAE-A5C3-D2D9-7DEE-58383611F36C}"/>
              </a:ext>
            </a:extLst>
          </p:cNvPr>
          <p:cNvGrpSpPr/>
          <p:nvPr/>
        </p:nvGrpSpPr>
        <p:grpSpPr>
          <a:xfrm>
            <a:off x="758952" y="1790704"/>
            <a:ext cx="3285998" cy="4032000"/>
            <a:chOff x="758952" y="1790704"/>
            <a:chExt cx="3285998" cy="4032000"/>
          </a:xfrm>
        </p:grpSpPr>
        <p:sp useBgFill="1">
          <p:nvSpPr>
            <p:cNvPr id="34" name="Rectangle: Rounded Corners 21">
              <a:extLst>
                <a:ext uri="{FF2B5EF4-FFF2-40B4-BE49-F238E27FC236}">
                  <a16:creationId xmlns:a16="http://schemas.microsoft.com/office/drawing/2014/main" id="{DCE6472E-258F-65EA-E469-B3DF57005746}"/>
                </a:ext>
              </a:extLst>
            </p:cNvPr>
            <p:cNvSpPr/>
            <p:nvPr/>
          </p:nvSpPr>
          <p:spPr>
            <a:xfrm>
              <a:off x="75895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Graphic 18">
              <a:extLst>
                <a:ext uri="{FF2B5EF4-FFF2-40B4-BE49-F238E27FC236}">
                  <a16:creationId xmlns:a16="http://schemas.microsoft.com/office/drawing/2014/main" id="{5654A907-9ED3-600C-6BFD-C9C534C38F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395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46" name="線條 10">
              <a:extLst>
                <a:ext uri="{FF2B5EF4-FFF2-40B4-BE49-F238E27FC236}">
                  <a16:creationId xmlns:a16="http://schemas.microsoft.com/office/drawing/2014/main" id="{C0C2D724-CCEB-8C1B-D015-AD77461CF48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95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48" name="文字 13">
              <a:extLst>
                <a:ext uri="{FF2B5EF4-FFF2-40B4-BE49-F238E27FC236}">
                  <a16:creationId xmlns:a16="http://schemas.microsoft.com/office/drawing/2014/main" id="{E20FDDBE-6700-11B7-324A-7AE138FEC84A}"/>
                </a:ext>
              </a:extLst>
            </p:cNvPr>
            <p:cNvSpPr txBox="1"/>
            <p:nvPr/>
          </p:nvSpPr>
          <p:spPr>
            <a:xfrm>
              <a:off x="170815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裝置管理</a:t>
              </a:r>
            </a:p>
          </p:txBody>
        </p:sp>
        <p:sp>
          <p:nvSpPr>
            <p:cNvPr id="50" name="文字 14">
              <a:extLst>
                <a:ext uri="{FF2B5EF4-FFF2-40B4-BE49-F238E27FC236}">
                  <a16:creationId xmlns:a16="http://schemas.microsoft.com/office/drawing/2014/main" id="{8901D2DA-04BB-24D6-2D05-4C461E024BC8}"/>
                </a:ext>
              </a:extLst>
            </p:cNvPr>
            <p:cNvSpPr txBox="1"/>
            <p:nvPr/>
          </p:nvSpPr>
          <p:spPr>
            <a:xfrm>
              <a:off x="103395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配對碼</a:t>
              </a:r>
            </a:p>
          </p:txBody>
        </p:sp>
        <p:sp>
          <p:nvSpPr>
            <p:cNvPr id="51" name="文字 14">
              <a:extLst>
                <a:ext uri="{FF2B5EF4-FFF2-40B4-BE49-F238E27FC236}">
                  <a16:creationId xmlns:a16="http://schemas.microsoft.com/office/drawing/2014/main" id="{4FA2AEF8-DB8E-8B91-6CC4-000F9FCC4EF5}"/>
                </a:ext>
              </a:extLst>
            </p:cNvPr>
            <p:cNvSpPr txBox="1"/>
            <p:nvPr/>
          </p:nvSpPr>
          <p:spPr>
            <a:xfrm>
              <a:off x="103395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螢幕顯示，管理員後台輸入</a:t>
              </a:r>
            </a:p>
          </p:txBody>
        </p:sp>
        <p:sp>
          <p:nvSpPr>
            <p:cNvPr id="54" name="文字 14">
              <a:extLst>
                <a:ext uri="{FF2B5EF4-FFF2-40B4-BE49-F238E27FC236}">
                  <a16:creationId xmlns:a16="http://schemas.microsoft.com/office/drawing/2014/main" id="{8BF8E3E7-A9F1-5514-6CBA-D3E9C3F921B1}"/>
                </a:ext>
              </a:extLst>
            </p:cNvPr>
            <p:cNvSpPr txBox="1"/>
            <p:nvPr/>
          </p:nvSpPr>
          <p:spPr>
            <a:xfrm>
              <a:off x="103395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遠端</a:t>
              </a:r>
            </a:p>
          </p:txBody>
        </p:sp>
        <p:sp>
          <p:nvSpPr>
            <p:cNvPr id="55" name="文字 14">
              <a:extLst>
                <a:ext uri="{FF2B5EF4-FFF2-40B4-BE49-F238E27FC236}">
                  <a16:creationId xmlns:a16="http://schemas.microsoft.com/office/drawing/2014/main" id="{9E5783A9-B01B-60E5-F5B3-6AD4E9DF6D00}"/>
                </a:ext>
              </a:extLst>
            </p:cNvPr>
            <p:cNvSpPr txBox="1"/>
            <p:nvPr/>
          </p:nvSpPr>
          <p:spPr>
            <a:xfrm>
              <a:off x="103395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開櫃、調整螢幕亮度</a:t>
              </a:r>
            </a:p>
          </p:txBody>
        </p:sp>
        <p:sp>
          <p:nvSpPr>
            <p:cNvPr id="65" name="文字 14">
              <a:extLst>
                <a:ext uri="{FF2B5EF4-FFF2-40B4-BE49-F238E27FC236}">
                  <a16:creationId xmlns:a16="http://schemas.microsoft.com/office/drawing/2014/main" id="{6D3BB553-F6EB-01A6-EA0F-2B5947F1618D}"/>
                </a:ext>
              </a:extLst>
            </p:cNvPr>
            <p:cNvSpPr txBox="1"/>
            <p:nvPr/>
          </p:nvSpPr>
          <p:spPr>
            <a:xfrm>
              <a:off x="103395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年</a:t>
              </a:r>
            </a:p>
          </p:txBody>
        </p:sp>
        <p:sp>
          <p:nvSpPr>
            <p:cNvPr id="66" name="文字 14">
              <a:extLst>
                <a:ext uri="{FF2B5EF4-FFF2-40B4-BE49-F238E27FC236}">
                  <a16:creationId xmlns:a16="http://schemas.microsoft.com/office/drawing/2014/main" id="{B6BA11DD-6417-B0FB-9541-8E6981DB3E87}"/>
                </a:ext>
              </a:extLst>
            </p:cNvPr>
            <p:cNvSpPr txBox="1"/>
            <p:nvPr/>
          </p:nvSpPr>
          <p:spPr>
            <a:xfrm>
              <a:off x="103395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開關門事件紀錄保存</a:t>
              </a:r>
            </a:p>
          </p:txBody>
        </p:sp>
        <p:pic>
          <p:nvPicPr>
            <p:cNvPr id="101" name="圖示 8">
              <a:extLst>
                <a:ext uri="{FF2B5EF4-FFF2-40B4-BE49-F238E27FC236}">
                  <a16:creationId xmlns:a16="http://schemas.microsoft.com/office/drawing/2014/main" id="{820FC7DC-6610-0D65-4A78-DD9C6FFB5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3520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7DF0D625-4BE9-598F-7FEB-FF88534F76AB}"/>
              </a:ext>
            </a:extLst>
          </p:cNvPr>
          <p:cNvGrpSpPr/>
          <p:nvPr/>
        </p:nvGrpSpPr>
        <p:grpSpPr>
          <a:xfrm>
            <a:off x="4451477" y="1790704"/>
            <a:ext cx="3285998" cy="4032000"/>
            <a:chOff x="4451477" y="1790704"/>
            <a:chExt cx="3285998" cy="4032000"/>
          </a:xfrm>
        </p:grpSpPr>
        <p:sp useBgFill="1">
          <p:nvSpPr>
            <p:cNvPr id="79" name="Rectangle: Rounded Corners 21">
              <a:extLst>
                <a:ext uri="{FF2B5EF4-FFF2-40B4-BE49-F238E27FC236}">
                  <a16:creationId xmlns:a16="http://schemas.microsoft.com/office/drawing/2014/main" id="{8A33A336-D64D-5720-4C26-B5D60BE3AC87}"/>
                </a:ext>
              </a:extLst>
            </p:cNvPr>
            <p:cNvSpPr/>
            <p:nvPr/>
          </p:nvSpPr>
          <p:spPr>
            <a:xfrm>
              <a:off x="4451477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Graphic 18">
              <a:extLst>
                <a:ext uri="{FF2B5EF4-FFF2-40B4-BE49-F238E27FC236}">
                  <a16:creationId xmlns:a16="http://schemas.microsoft.com/office/drawing/2014/main" id="{9EA971A3-3385-8A37-69FC-AFBD11C36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6476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81" name="線條 10">
              <a:extLst>
                <a:ext uri="{FF2B5EF4-FFF2-40B4-BE49-F238E27FC236}">
                  <a16:creationId xmlns:a16="http://schemas.microsoft.com/office/drawing/2014/main" id="{DD38D412-5CCD-DE55-54D3-3CD23AB22ABF}"/>
                </a:ext>
              </a:extLst>
            </p:cNvPr>
            <p:cNvCxnSpPr>
              <a:cxnSpLocks/>
            </p:cNvCxnSpPr>
            <p:nvPr/>
          </p:nvCxnSpPr>
          <p:spPr>
            <a:xfrm>
              <a:off x="4726476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82" name="文字 13">
              <a:extLst>
                <a:ext uri="{FF2B5EF4-FFF2-40B4-BE49-F238E27FC236}">
                  <a16:creationId xmlns:a16="http://schemas.microsoft.com/office/drawing/2014/main" id="{8B61CD5F-A726-F7D7-3462-2D0A8F927350}"/>
                </a:ext>
              </a:extLst>
            </p:cNvPr>
            <p:cNvSpPr txBox="1"/>
            <p:nvPr/>
          </p:nvSpPr>
          <p:spPr>
            <a:xfrm>
              <a:off x="5400675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異常處置</a:t>
              </a:r>
            </a:p>
          </p:txBody>
        </p:sp>
        <p:sp>
          <p:nvSpPr>
            <p:cNvPr id="83" name="文字 14">
              <a:extLst>
                <a:ext uri="{FF2B5EF4-FFF2-40B4-BE49-F238E27FC236}">
                  <a16:creationId xmlns:a16="http://schemas.microsoft.com/office/drawing/2014/main" id="{A8A593A4-17E4-4F30-833B-DD72C6287D49}"/>
                </a:ext>
              </a:extLst>
            </p:cNvPr>
            <p:cNvSpPr txBox="1"/>
            <p:nvPr/>
          </p:nvSpPr>
          <p:spPr>
            <a:xfrm>
              <a:off x="4726477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5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4" name="文字 14">
              <a:extLst>
                <a:ext uri="{FF2B5EF4-FFF2-40B4-BE49-F238E27FC236}">
                  <a16:creationId xmlns:a16="http://schemas.microsoft.com/office/drawing/2014/main" id="{AA12D14A-9E4B-E38B-0C6E-9150DFB9A9A4}"/>
                </a:ext>
              </a:extLst>
            </p:cNvPr>
            <p:cNvSpPr txBox="1"/>
            <p:nvPr/>
          </p:nvSpPr>
          <p:spPr>
            <a:xfrm>
              <a:off x="4726477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離線通知管理員</a:t>
              </a:r>
            </a:p>
          </p:txBody>
        </p:sp>
        <p:sp>
          <p:nvSpPr>
            <p:cNvPr id="85" name="文字 14">
              <a:extLst>
                <a:ext uri="{FF2B5EF4-FFF2-40B4-BE49-F238E27FC236}">
                  <a16:creationId xmlns:a16="http://schemas.microsoft.com/office/drawing/2014/main" id="{9B4BAEAE-F60F-6D5A-3ABE-BEA44466217F}"/>
                </a:ext>
              </a:extLst>
            </p:cNvPr>
            <p:cNvSpPr txBox="1"/>
            <p:nvPr/>
          </p:nvSpPr>
          <p:spPr>
            <a:xfrm>
              <a:off x="4726477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2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6" name="文字 14">
              <a:extLst>
                <a:ext uri="{FF2B5EF4-FFF2-40B4-BE49-F238E27FC236}">
                  <a16:creationId xmlns:a16="http://schemas.microsoft.com/office/drawing/2014/main" id="{79B2DB93-A4C2-1263-780E-30F6B72A6CF9}"/>
                </a:ext>
              </a:extLst>
            </p:cNvPr>
            <p:cNvSpPr txBox="1"/>
            <p:nvPr/>
          </p:nvSpPr>
          <p:spPr>
            <a:xfrm>
              <a:off x="4726477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故障改為手動回報</a:t>
              </a:r>
            </a:p>
          </p:txBody>
        </p:sp>
        <p:sp>
          <p:nvSpPr>
            <p:cNvPr id="87" name="文字 14">
              <a:extLst>
                <a:ext uri="{FF2B5EF4-FFF2-40B4-BE49-F238E27FC236}">
                  <a16:creationId xmlns:a16="http://schemas.microsoft.com/office/drawing/2014/main" id="{B3314296-3CD2-BDED-6747-A31344B5415E}"/>
                </a:ext>
              </a:extLst>
            </p:cNvPr>
            <p:cNvSpPr txBox="1"/>
            <p:nvPr/>
          </p:nvSpPr>
          <p:spPr>
            <a:xfrm>
              <a:off x="4726477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確認</a:t>
              </a:r>
            </a:p>
          </p:txBody>
        </p:sp>
        <p:sp>
          <p:nvSpPr>
            <p:cNvPr id="88" name="文字 14">
              <a:extLst>
                <a:ext uri="{FF2B5EF4-FFF2-40B4-BE49-F238E27FC236}">
                  <a16:creationId xmlns:a16="http://schemas.microsoft.com/office/drawing/2014/main" id="{5CB879DF-234C-B090-B668-1466A850EAC5}"/>
                </a:ext>
              </a:extLst>
            </p:cNvPr>
            <p:cNvSpPr txBox="1"/>
            <p:nvPr/>
          </p:nvSpPr>
          <p:spPr>
            <a:xfrm>
              <a:off x="4726477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手動回報須管理員確認</a:t>
              </a:r>
            </a:p>
          </p:txBody>
        </p:sp>
        <p:pic>
          <p:nvPicPr>
            <p:cNvPr id="102" name="圖示 19">
              <a:extLst>
                <a:ext uri="{FF2B5EF4-FFF2-40B4-BE49-F238E27FC236}">
                  <a16:creationId xmlns:a16="http://schemas.microsoft.com/office/drawing/2014/main" id="{9FB7EFBA-2D08-3995-13C2-5344B7A24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6426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4A05FA49-BADB-6F89-78B4-64922B4130A2}"/>
              </a:ext>
            </a:extLst>
          </p:cNvPr>
          <p:cNvGrpSpPr/>
          <p:nvPr/>
        </p:nvGrpSpPr>
        <p:grpSpPr>
          <a:xfrm>
            <a:off x="8144002" y="1790704"/>
            <a:ext cx="3285998" cy="4032000"/>
            <a:chOff x="8144002" y="1790704"/>
            <a:chExt cx="3285998" cy="4032000"/>
          </a:xfrm>
        </p:grpSpPr>
        <p:sp useBgFill="1">
          <p:nvSpPr>
            <p:cNvPr id="90" name="Rectangle: Rounded Corners 21">
              <a:extLst>
                <a:ext uri="{FF2B5EF4-FFF2-40B4-BE49-F238E27FC236}">
                  <a16:creationId xmlns:a16="http://schemas.microsoft.com/office/drawing/2014/main" id="{A2EFB2B0-9115-82F6-02ED-06AA90E644A0}"/>
                </a:ext>
              </a:extLst>
            </p:cNvPr>
            <p:cNvSpPr/>
            <p:nvPr/>
          </p:nvSpPr>
          <p:spPr>
            <a:xfrm>
              <a:off x="814400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Graphic 18">
              <a:extLst>
                <a:ext uri="{FF2B5EF4-FFF2-40B4-BE49-F238E27FC236}">
                  <a16:creationId xmlns:a16="http://schemas.microsoft.com/office/drawing/2014/main" id="{3032CE86-2F98-5498-CB32-14559D81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1900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92" name="線條 10">
              <a:extLst>
                <a:ext uri="{FF2B5EF4-FFF2-40B4-BE49-F238E27FC236}">
                  <a16:creationId xmlns:a16="http://schemas.microsoft.com/office/drawing/2014/main" id="{CF9ED0AB-63F4-54F5-1D10-CC5DC3D2A79B}"/>
                </a:ext>
              </a:extLst>
            </p:cNvPr>
            <p:cNvCxnSpPr>
              <a:cxnSpLocks/>
            </p:cNvCxnSpPr>
            <p:nvPr/>
          </p:nvCxnSpPr>
          <p:spPr>
            <a:xfrm>
              <a:off x="841900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93" name="文字 13">
              <a:extLst>
                <a:ext uri="{FF2B5EF4-FFF2-40B4-BE49-F238E27FC236}">
                  <a16:creationId xmlns:a16="http://schemas.microsoft.com/office/drawing/2014/main" id="{003F4C75-2B58-707A-5F2C-48363354ACDB}"/>
                </a:ext>
              </a:extLst>
            </p:cNvPr>
            <p:cNvSpPr txBox="1"/>
            <p:nvPr/>
          </p:nvSpPr>
          <p:spPr>
            <a:xfrm>
              <a:off x="909320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逾期處理</a:t>
              </a:r>
            </a:p>
          </p:txBody>
        </p:sp>
        <p:sp>
          <p:nvSpPr>
            <p:cNvPr id="94" name="文字 14">
              <a:extLst>
                <a:ext uri="{FF2B5EF4-FFF2-40B4-BE49-F238E27FC236}">
                  <a16:creationId xmlns:a16="http://schemas.microsoft.com/office/drawing/2014/main" id="{B3B7D091-387D-0722-B5C2-74CBEEF90123}"/>
                </a:ext>
              </a:extLst>
            </p:cNvPr>
            <p:cNvSpPr txBox="1"/>
            <p:nvPr/>
          </p:nvSpPr>
          <p:spPr>
            <a:xfrm>
              <a:off x="841900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7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5" name="文字 14">
              <a:extLst>
                <a:ext uri="{FF2B5EF4-FFF2-40B4-BE49-F238E27FC236}">
                  <a16:creationId xmlns:a16="http://schemas.microsoft.com/office/drawing/2014/main" id="{1F0324E8-0712-8765-A72C-9BD52923E10C}"/>
                </a:ext>
              </a:extLst>
            </p:cNvPr>
            <p:cNvSpPr txBox="1"/>
            <p:nvPr/>
          </p:nvSpPr>
          <p:spPr>
            <a:xfrm>
              <a:off x="841900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未存書或未取書，取消退款</a:t>
              </a:r>
            </a:p>
          </p:txBody>
        </p:sp>
        <p:sp>
          <p:nvSpPr>
            <p:cNvPr id="96" name="文字 14">
              <a:extLst>
                <a:ext uri="{FF2B5EF4-FFF2-40B4-BE49-F238E27FC236}">
                  <a16:creationId xmlns:a16="http://schemas.microsoft.com/office/drawing/2014/main" id="{4E420799-CCE9-E279-A457-040F623FA9A4}"/>
                </a:ext>
              </a:extLst>
            </p:cNvPr>
            <p:cNvSpPr txBox="1"/>
            <p:nvPr/>
          </p:nvSpPr>
          <p:spPr>
            <a:xfrm>
              <a:off x="841900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14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7" name="文字 14">
              <a:extLst>
                <a:ext uri="{FF2B5EF4-FFF2-40B4-BE49-F238E27FC236}">
                  <a16:creationId xmlns:a16="http://schemas.microsoft.com/office/drawing/2014/main" id="{2C15464C-9C74-299D-7457-2C5DDA5EA85E}"/>
                </a:ext>
              </a:extLst>
            </p:cNvPr>
            <p:cNvSpPr txBox="1"/>
            <p:nvPr/>
          </p:nvSpPr>
          <p:spPr>
            <a:xfrm>
              <a:off x="841900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先行存書由平台取出</a:t>
              </a:r>
            </a:p>
          </p:txBody>
        </p:sp>
        <p:sp>
          <p:nvSpPr>
            <p:cNvPr id="98" name="文字 14">
              <a:extLst>
                <a:ext uri="{FF2B5EF4-FFF2-40B4-BE49-F238E27FC236}">
                  <a16:creationId xmlns:a16="http://schemas.microsoft.com/office/drawing/2014/main" id="{781D5198-1324-E3F4-3035-C52B165675DF}"/>
                </a:ext>
              </a:extLst>
            </p:cNvPr>
            <p:cNvSpPr txBox="1"/>
            <p:nvPr/>
          </p:nvSpPr>
          <p:spPr>
            <a:xfrm>
              <a:off x="841900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ja-JP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30</a:t>
              </a:r>
              <a:r>
                <a:rPr lang="en-US" altLang="ja-JP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9" name="文字 14">
              <a:extLst>
                <a:ext uri="{FF2B5EF4-FFF2-40B4-BE49-F238E27FC236}">
                  <a16:creationId xmlns:a16="http://schemas.microsoft.com/office/drawing/2014/main" id="{D79C49AE-A326-1941-FD72-FFC961BE58ED}"/>
                </a:ext>
              </a:extLst>
            </p:cNvPr>
            <p:cNvSpPr txBox="1"/>
            <p:nvPr/>
          </p:nvSpPr>
          <p:spPr>
            <a:xfrm>
              <a:off x="841900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平台保管期限</a:t>
              </a:r>
            </a:p>
          </p:txBody>
        </p:sp>
        <p:pic>
          <p:nvPicPr>
            <p:cNvPr id="103" name="圖示 30">
              <a:extLst>
                <a:ext uri="{FF2B5EF4-FFF2-40B4-BE49-F238E27FC236}">
                  <a16:creationId xmlns:a16="http://schemas.microsoft.com/office/drawing/2014/main" id="{89F9C29A-F06D-DFC4-AD79-ABD00898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09332" y="2120781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7971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成果與未來展望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07384 L 2.5E-6 -4.0740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8CF16-8DE6-468B-ED9D-AB5CAEDDA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E35960A6-D56B-343C-4B03-D2B3F3824AB5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成果總結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CE311B-620E-2D95-FD45-FD7AFAD3AE2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RESULTS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7C19F99-50D6-196F-F722-C28FEFC7C26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B6801FB-3BB7-2FFD-CABA-35159B1081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DB7CF383-811D-8930-DF7D-8D4C7ABBCD9D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ADD3B4F5-308C-E566-1D94-E9C64D8F44A4}"/>
              </a:ext>
            </a:extLst>
          </p:cNvPr>
          <p:cNvGrpSpPr/>
          <p:nvPr/>
        </p:nvGrpSpPr>
        <p:grpSpPr>
          <a:xfrm>
            <a:off x="548456" y="1750842"/>
            <a:ext cx="3557016" cy="1773936"/>
            <a:chOff x="758952" y="1691640"/>
            <a:chExt cx="3557016" cy="1773936"/>
          </a:xfrm>
        </p:grpSpPr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0CE32C31-3FBA-B06A-FEAF-D8AAC4A10729}"/>
                </a:ext>
              </a:extLst>
            </p:cNvPr>
            <p:cNvSpPr txBox="1"/>
            <p:nvPr/>
          </p:nvSpPr>
          <p:spPr>
            <a:xfrm>
              <a:off x="758952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indent="0" algn="ctr">
                <a:buNone/>
              </a:pPr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301</a:t>
              </a:r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4425A010-9645-37C2-41FB-36CA9EAADD34}"/>
                </a:ext>
              </a:extLst>
            </p:cNvPr>
            <p:cNvSpPr txBox="1"/>
            <p:nvPr/>
          </p:nvSpPr>
          <p:spPr>
            <a:xfrm>
              <a:off x="758952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端點</a:t>
              </a:r>
              <a:endParaRPr lang="en-US" sz="2200" b="1" spc="10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315BF7C0-2F61-1AAE-1267-2FC3ED8497D5}"/>
                </a:ext>
              </a:extLst>
            </p:cNvPr>
            <p:cNvSpPr txBox="1"/>
            <p:nvPr/>
          </p:nvSpPr>
          <p:spPr>
            <a:xfrm>
              <a:off x="758952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RESTful API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62F984B-F89E-1244-4076-2E530B5F660E}"/>
              </a:ext>
            </a:extLst>
          </p:cNvPr>
          <p:cNvGrpSpPr/>
          <p:nvPr/>
        </p:nvGrpSpPr>
        <p:grpSpPr>
          <a:xfrm>
            <a:off x="4315968" y="1750842"/>
            <a:ext cx="3557016" cy="1773936"/>
            <a:chOff x="4315968" y="1691640"/>
            <a:chExt cx="3557016" cy="1773936"/>
          </a:xfrm>
        </p:grpSpPr>
        <p:sp>
          <p:nvSpPr>
            <p:cNvPr id="33" name="Text 6">
              <a:extLst>
                <a:ext uri="{FF2B5EF4-FFF2-40B4-BE49-F238E27FC236}">
                  <a16:creationId xmlns:a16="http://schemas.microsoft.com/office/drawing/2014/main" id="{55086A97-671E-C451-534E-D0C894EC658D}"/>
                </a:ext>
              </a:extLst>
            </p:cNvPr>
            <p:cNvSpPr txBox="1"/>
            <p:nvPr/>
          </p:nvSpPr>
          <p:spPr>
            <a:xfrm>
              <a:off x="4315968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1,558</a:t>
              </a: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F39C220C-BEC0-2015-320A-B6ED9AAF455B}"/>
                </a:ext>
              </a:extLst>
            </p:cNvPr>
            <p:cNvSpPr txBox="1"/>
            <p:nvPr/>
          </p:nvSpPr>
          <p:spPr>
            <a:xfrm>
              <a:off x="4315968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後端測試</a:t>
              </a:r>
              <a:endParaRPr lang="en-US" sz="2200" b="1" spc="100" dirty="0"/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8E8F21E3-184F-D990-00AD-38F72D232076}"/>
                </a:ext>
              </a:extLst>
            </p:cNvPr>
            <p:cNvSpPr txBox="1"/>
            <p:nvPr/>
          </p:nvSpPr>
          <p:spPr>
            <a:xfrm>
              <a:off x="4315968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 err="1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F5FA9570-1661-D1B5-A6A8-BAFBEFBC1743}"/>
              </a:ext>
            </a:extLst>
          </p:cNvPr>
          <p:cNvGrpSpPr/>
          <p:nvPr/>
        </p:nvGrpSpPr>
        <p:grpSpPr>
          <a:xfrm>
            <a:off x="8083480" y="1750842"/>
            <a:ext cx="3557016" cy="1773936"/>
            <a:chOff x="7872984" y="1691640"/>
            <a:chExt cx="3557016" cy="1773936"/>
          </a:xfrm>
        </p:grpSpPr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8A711A6C-C43B-C9C3-F18D-881447321B85}"/>
                </a:ext>
              </a:extLst>
            </p:cNvPr>
            <p:cNvSpPr txBox="1"/>
            <p:nvPr/>
          </p:nvSpPr>
          <p:spPr>
            <a:xfrm>
              <a:off x="7872984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2,571</a:t>
              </a:r>
            </a:p>
          </p:txBody>
        </p:sp>
        <p:sp>
          <p:nvSpPr>
            <p:cNvPr id="41" name="Text 10">
              <a:extLst>
                <a:ext uri="{FF2B5EF4-FFF2-40B4-BE49-F238E27FC236}">
                  <a16:creationId xmlns:a16="http://schemas.microsoft.com/office/drawing/2014/main" id="{94D43965-B7C6-27A8-A3FF-5893B41E4096}"/>
                </a:ext>
              </a:extLst>
            </p:cNvPr>
            <p:cNvSpPr txBox="1"/>
            <p:nvPr/>
          </p:nvSpPr>
          <p:spPr>
            <a:xfrm>
              <a:off x="7872984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App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測試</a:t>
              </a:r>
              <a:endParaRPr lang="en-US" sz="2200" b="1" spc="100" dirty="0"/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5CCF4D5C-38EB-0F7C-AF0B-6E5108DD735E}"/>
                </a:ext>
              </a:extLst>
            </p:cNvPr>
            <p:cNvSpPr txBox="1"/>
            <p:nvPr/>
          </p:nvSpPr>
          <p:spPr>
            <a:xfrm>
              <a:off x="7872984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F3A8AEE4-DDF7-B776-6095-1603ADF4680E}"/>
              </a:ext>
            </a:extLst>
          </p:cNvPr>
          <p:cNvGrpSpPr/>
          <p:nvPr/>
        </p:nvGrpSpPr>
        <p:grpSpPr>
          <a:xfrm>
            <a:off x="2432212" y="3853962"/>
            <a:ext cx="3557016" cy="1773936"/>
            <a:chOff x="2537460" y="3794760"/>
            <a:chExt cx="3557016" cy="1773936"/>
          </a:xfrm>
        </p:grpSpPr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AB852297-2377-1A84-E2F3-F6C78E48ABED}"/>
                </a:ext>
              </a:extLst>
            </p:cNvPr>
            <p:cNvSpPr txBox="1"/>
            <p:nvPr/>
          </p:nvSpPr>
          <p:spPr>
            <a:xfrm>
              <a:off x="2537460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7</a:t>
              </a: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38C600AE-8B1D-D4FC-A329-034F823020EF}"/>
                </a:ext>
              </a:extLst>
            </p:cNvPr>
            <p:cNvSpPr txBox="1"/>
            <p:nvPr/>
          </p:nvSpPr>
          <p:spPr>
            <a:xfrm>
              <a:off x="2537460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項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服務</a:t>
              </a:r>
              <a:endParaRPr lang="en-US" sz="2200" b="1" spc="10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DB1689F9-7CE9-CCE8-1FF3-7D53CE7ED1C9}"/>
                </a:ext>
              </a:extLst>
            </p:cNvPr>
            <p:cNvSpPr txBox="1"/>
            <p:nvPr/>
          </p:nvSpPr>
          <p:spPr>
            <a:xfrm>
              <a:off x="2537460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上架到售後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27F30B-4EDB-A661-65A8-3DAAAAFEC074}"/>
              </a:ext>
            </a:extLst>
          </p:cNvPr>
          <p:cNvGrpSpPr/>
          <p:nvPr/>
        </p:nvGrpSpPr>
        <p:grpSpPr>
          <a:xfrm>
            <a:off x="6199724" y="3853962"/>
            <a:ext cx="3557016" cy="1773936"/>
            <a:chOff x="6094476" y="3794760"/>
            <a:chExt cx="3557016" cy="1773936"/>
          </a:xfrm>
        </p:grpSpPr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186F1017-B9CB-A088-A6DD-4342C2ED928C}"/>
                </a:ext>
              </a:extLst>
            </p:cNvPr>
            <p:cNvSpPr txBox="1"/>
            <p:nvPr/>
          </p:nvSpPr>
          <p:spPr>
            <a:xfrm>
              <a:off x="6094476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</a:t>
              </a: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19113FD1-9921-754A-6F67-34D14B99935A}"/>
                </a:ext>
              </a:extLst>
            </p:cNvPr>
            <p:cNvSpPr txBox="1"/>
            <p:nvPr/>
          </p:nvSpPr>
          <p:spPr>
            <a:xfrm>
              <a:off x="6094476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種裝置</a:t>
              </a:r>
              <a:endParaRPr lang="en-US" sz="2200" b="1" spc="100" dirty="0"/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0FFC85DC-2ABE-6601-CC53-D6A7A4BF09DC}"/>
                </a:ext>
              </a:extLst>
            </p:cNvPr>
            <p:cNvSpPr txBox="1"/>
            <p:nvPr/>
          </p:nvSpPr>
          <p:spPr>
            <a:xfrm>
              <a:off x="6094476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iPhone・iPad・Android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94806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9" dur="750" spd="-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4" dur="750" spd="-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9" dur="750" spd="-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4" dur="750" spd="-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9" dur="750" spd="-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D7825-A69F-8DA8-97E0-2484C00A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3D23989-F01E-F8D2-D394-C1A0C0251A99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未來展望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4699710-D8DC-6D02-612A-0DA0B2C28A9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FUTURE OUTLOOK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229B9-3EFA-252C-8B7B-017747B7D6D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26387E00-2989-38B2-FA32-201D4B4A07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404A15A4-3310-1A5E-1BB5-A9921109A52A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2A7FB0-EC9C-98E5-D0B6-1F21A9A15FA4}"/>
              </a:ext>
            </a:extLst>
          </p:cNvPr>
          <p:cNvGrpSpPr/>
          <p:nvPr/>
        </p:nvGrpSpPr>
        <p:grpSpPr>
          <a:xfrm>
            <a:off x="6808925" y="3990518"/>
            <a:ext cx="2106257" cy="1115721"/>
            <a:chOff x="7521106" y="3389304"/>
            <a:chExt cx="2106257" cy="1115721"/>
          </a:xfrm>
        </p:grpSpPr>
        <p:sp>
          <p:nvSpPr>
            <p:cNvPr id="4" name="TextBox 55">
              <a:extLst>
                <a:ext uri="{FF2B5EF4-FFF2-40B4-BE49-F238E27FC236}">
                  <a16:creationId xmlns:a16="http://schemas.microsoft.com/office/drawing/2014/main" id="{31A8BC6A-CD5F-7E3B-429F-4AF8F2AF731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ja-JP" altLang="en-US" sz="2000" b="1" spc="50" dirty="0">
                  <a:solidFill>
                    <a:schemeClr val="accent6"/>
                  </a:solidFill>
                </a:rPr>
                <a:t>場域擴充</a:t>
              </a:r>
            </a:p>
          </p:txBody>
        </p:sp>
        <p:sp>
          <p:nvSpPr>
            <p:cNvPr id="5" name="TextBox 56">
              <a:extLst>
                <a:ext uri="{FF2B5EF4-FFF2-40B4-BE49-F238E27FC236}">
                  <a16:creationId xmlns:a16="http://schemas.microsoft.com/office/drawing/2014/main" id="{E829EE61-A5E0-E909-4182-1B92EE13050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拓展至更多校園</a:t>
              </a:r>
              <a:br>
                <a:rPr lang="zh-TW" altLang="en-US" sz="1600" dirty="0">
                  <a:solidFill>
                    <a:schemeClr val="tx2"/>
                  </a:solidFill>
                </a:rPr>
              </a:br>
              <a:r>
                <a:rPr lang="zh-TW" altLang="en-US" sz="1600" dirty="0">
                  <a:solidFill>
                    <a:schemeClr val="tx2"/>
                  </a:solidFill>
                </a:rPr>
                <a:t>與公共場域</a:t>
              </a:r>
            </a:p>
          </p:txBody>
        </p:sp>
      </p:grp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B81A8B92-A2DF-930B-80CC-DE5EAA843511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5542A16-B147-C01C-15C0-07E8DCE23222}"/>
              </a:ext>
            </a:extLst>
          </p:cNvPr>
          <p:cNvGrpSpPr/>
          <p:nvPr/>
        </p:nvGrpSpPr>
        <p:grpSpPr>
          <a:xfrm>
            <a:off x="910184" y="2656954"/>
            <a:ext cx="2073349" cy="1115721"/>
            <a:chOff x="758890" y="2656954"/>
            <a:chExt cx="2073349" cy="1115721"/>
          </a:xfrm>
        </p:grpSpPr>
        <p:sp>
          <p:nvSpPr>
            <p:cNvPr id="11" name="TextBox 55">
              <a:extLst>
                <a:ext uri="{FF2B5EF4-FFF2-40B4-BE49-F238E27FC236}">
                  <a16:creationId xmlns:a16="http://schemas.microsoft.com/office/drawing/2014/main" id="{4930493F-45F7-B8C6-B372-2B4E4B1C1700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第三方支付</a:t>
              </a:r>
            </a:p>
          </p:txBody>
        </p:sp>
        <p:sp>
          <p:nvSpPr>
            <p:cNvPr id="12" name="TextBox 56">
              <a:extLst>
                <a:ext uri="{FF2B5EF4-FFF2-40B4-BE49-F238E27FC236}">
                  <a16:creationId xmlns:a16="http://schemas.microsoft.com/office/drawing/2014/main" id="{0743C0AE-DBC0-209B-F895-FAFD72469A42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串接合法金流</a:t>
              </a:r>
              <a:br>
                <a:rPr lang="zh-TW" altLang="en-US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提供儲值與提領</a:t>
              </a: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D4BAAD41-661C-797E-8770-3B9EED5F5EEA}"/>
              </a:ext>
            </a:extLst>
          </p:cNvPr>
          <p:cNvGrpSpPr/>
          <p:nvPr/>
        </p:nvGrpSpPr>
        <p:grpSpPr>
          <a:xfrm>
            <a:off x="3767313" y="3091873"/>
            <a:ext cx="3420261" cy="1115721"/>
            <a:chOff x="3074521" y="3050121"/>
            <a:chExt cx="3420261" cy="1115721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1755EB73-7797-7599-CC46-4AA3103A632F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en-US" altLang="zh-TW" sz="2000" b="1" spc="50" dirty="0">
                  <a:solidFill>
                    <a:schemeClr val="accent6"/>
                  </a:solidFill>
                </a:rPr>
                <a:t>App 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正式上架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D7EA8B6-2191-E6AA-61D6-ECF388358344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上架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App Store</a:t>
              </a:r>
              <a:br>
                <a:rPr lang="en-US" altLang="zh-TW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與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Google Play</a:t>
              </a: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79D0535-3F58-85FD-4D43-A7C3BF524F8E}"/>
              </a:ext>
            </a:extLst>
          </p:cNvPr>
          <p:cNvGrpSpPr/>
          <p:nvPr/>
        </p:nvGrpSpPr>
        <p:grpSpPr>
          <a:xfrm>
            <a:off x="3873251" y="4510232"/>
            <a:ext cx="602076" cy="655695"/>
            <a:chOff x="3741691" y="4510232"/>
            <a:chExt cx="602076" cy="655695"/>
          </a:xfrm>
        </p:grpSpPr>
        <p:sp>
          <p:nvSpPr>
            <p:cNvPr id="23" name="Graphic 18">
              <a:extLst>
                <a:ext uri="{FF2B5EF4-FFF2-40B4-BE49-F238E27FC236}">
                  <a16:creationId xmlns:a16="http://schemas.microsoft.com/office/drawing/2014/main" id="{67D32459-DBFF-5313-9AB6-687FC38D666D}"/>
                </a:ext>
              </a:extLst>
            </p:cNvPr>
            <p:cNvSpPr/>
            <p:nvPr/>
          </p:nvSpPr>
          <p:spPr>
            <a:xfrm>
              <a:off x="3741691" y="451023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8392D101-BE25-098F-E23A-6E7C84FCCF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26729" y="4622079"/>
              <a:ext cx="432000" cy="432000"/>
            </a:xfrm>
            <a:prstGeom prst="rect">
              <a:avLst/>
            </a:prstGeom>
          </p:spPr>
        </p:pic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EA08C1D-3EB5-3A77-3771-13443FE78AFD}"/>
              </a:ext>
            </a:extLst>
          </p:cNvPr>
          <p:cNvGrpSpPr/>
          <p:nvPr/>
        </p:nvGrpSpPr>
        <p:grpSpPr>
          <a:xfrm>
            <a:off x="9609805" y="2953071"/>
            <a:ext cx="1962150" cy="1115721"/>
            <a:chOff x="5389687" y="4946559"/>
            <a:chExt cx="1962150" cy="1115721"/>
          </a:xfrm>
        </p:grpSpPr>
        <p:sp>
          <p:nvSpPr>
            <p:cNvPr id="40" name="TextBox 55">
              <a:extLst>
                <a:ext uri="{FF2B5EF4-FFF2-40B4-BE49-F238E27FC236}">
                  <a16:creationId xmlns:a16="http://schemas.microsoft.com/office/drawing/2014/main" id="{0F26ACC3-CCF0-66E6-0393-C4DE06BB0372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579BD085-705A-A944-6299-87C0A29A373F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交易服務費等</a:t>
              </a:r>
            </a:p>
          </p:txBody>
        </p: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D6510ACE-8B26-6C80-7396-3757A96EEF14}"/>
              </a:ext>
            </a:extLst>
          </p:cNvPr>
          <p:cNvGrpSpPr/>
          <p:nvPr/>
        </p:nvGrpSpPr>
        <p:grpSpPr>
          <a:xfrm>
            <a:off x="6914936" y="3053001"/>
            <a:ext cx="602076" cy="655695"/>
            <a:chOff x="6724173" y="3270077"/>
            <a:chExt cx="602076" cy="655695"/>
          </a:xfrm>
        </p:grpSpPr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83789E31-1A46-00DE-C63A-23705BC63AD3}"/>
                </a:ext>
              </a:extLst>
            </p:cNvPr>
            <p:cNvSpPr/>
            <p:nvPr/>
          </p:nvSpPr>
          <p:spPr>
            <a:xfrm>
              <a:off x="6724173" y="327007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8" name="圖形 47">
              <a:extLst>
                <a:ext uri="{FF2B5EF4-FFF2-40B4-BE49-F238E27FC236}">
                  <a16:creationId xmlns:a16="http://schemas.microsoft.com/office/drawing/2014/main" id="{0B265B98-3BBD-A865-BFFB-4890D43DB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09211" y="3381924"/>
              <a:ext cx="432000" cy="432000"/>
            </a:xfrm>
            <a:prstGeom prst="rect">
              <a:avLst/>
            </a:prstGeom>
          </p:spPr>
        </p:pic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2322C5C5-AC79-6DEA-C639-67CD0656A9C0}"/>
              </a:ext>
            </a:extLst>
          </p:cNvPr>
          <p:cNvGrpSpPr/>
          <p:nvPr/>
        </p:nvGrpSpPr>
        <p:grpSpPr>
          <a:xfrm>
            <a:off x="1016514" y="4040692"/>
            <a:ext cx="602076" cy="655695"/>
            <a:chOff x="865220" y="4040692"/>
            <a:chExt cx="602076" cy="655695"/>
          </a:xfrm>
        </p:grpSpPr>
        <p:sp>
          <p:nvSpPr>
            <p:cNvPr id="20" name="Graphic 18">
              <a:extLst>
                <a:ext uri="{FF2B5EF4-FFF2-40B4-BE49-F238E27FC236}">
                  <a16:creationId xmlns:a16="http://schemas.microsoft.com/office/drawing/2014/main" id="{EA070A35-D20A-F87F-AFA3-950AC99219E8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31DC1E95-33CE-BFEB-69DB-D71ED0F47C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7ABEC4F-4688-8172-A578-C28350BDCC9A}"/>
              </a:ext>
            </a:extLst>
          </p:cNvPr>
          <p:cNvGrpSpPr/>
          <p:nvPr/>
        </p:nvGrpSpPr>
        <p:grpSpPr>
          <a:xfrm>
            <a:off x="9712822" y="1989378"/>
            <a:ext cx="602076" cy="655695"/>
            <a:chOff x="9561528" y="1989378"/>
            <a:chExt cx="602076" cy="655695"/>
          </a:xfrm>
        </p:grpSpPr>
        <p:sp>
          <p:nvSpPr>
            <p:cNvPr id="46" name="Graphic 18">
              <a:extLst>
                <a:ext uri="{FF2B5EF4-FFF2-40B4-BE49-F238E27FC236}">
                  <a16:creationId xmlns:a16="http://schemas.microsoft.com/office/drawing/2014/main" id="{D2DFEBCF-A019-4B59-83B2-13AEDAE4AA4F}"/>
                </a:ext>
              </a:extLst>
            </p:cNvPr>
            <p:cNvSpPr/>
            <p:nvPr/>
          </p:nvSpPr>
          <p:spPr>
            <a:xfrm>
              <a:off x="9561528" y="1989378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D0924898-7599-F91A-5C02-A5930676E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46566" y="2101225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98766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58333E-6 0 L 4.58333E-6 -0.11852 " pathEditMode="relative" rAng="0" ptsTypes="AA">
                                      <p:cBhvr>
                                        <p:cTn id="12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1.25E-6 4.07407E-6 L 1.25E-6 -0.11852 " pathEditMode="relative" rAng="0" ptsTypes="AA">
                                      <p:cBhvr>
                                        <p:cTn id="1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66667E-6 -4.44444E-6 L -1.66667E-6 0.13311 " pathEditMode="relative" rAng="0" ptsTypes="AA">
                                      <p:cBhvr>
                                        <p:cTn id="22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2.08333E-7 4.44444E-6 L 2.08333E-7 0.1331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6 L 0.02631 0.16666 C 0.01563 0.16666 -2.91667E-6 0.1206 -2.91667E-6 0.08287 L -2.91667E-6 4.44444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2.29167E-6 0.12061 2.29167E-6 0.08287 L 2.29167E-6 -4.07407E-6 " pathEditMode="relative" rAng="0" ptsTypes="AAAA">
                                      <p:cBhvr>
                                        <p:cTn id="37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3.125E-6 0.12061 3.125E-6 0.08287 L 3.125E-6 -4.07407E-6 " pathEditMode="relative" rAng="0" ptsTypes="AAAA">
                                      <p:cBhvr>
                                        <p:cTn id="4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8 0.16667 L 0.02631 0.16667 C 0.01563 0.16667 -4.16667E-6 0.1206 -4.16667E-6 0.08287 L -4.16667E-6 -1.48148E-6 " pathEditMode="relative" rAng="0" ptsTypes="AAAA">
                                      <p:cBhvr>
                                        <p:cTn id="47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D6145-EDE9-853B-7D71-722BA076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6717BD2-9D24-AB27-F1B5-7358EEEA551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00" dirty="0">
                <a:latin typeface="+mn-ea"/>
              </a:rPr>
              <a:t>GitHub</a:t>
            </a:r>
            <a:r>
              <a:rPr lang="en-US" altLang="zh-TW" b="1" spc="10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開發貢獻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85D12-623D-947B-12F4-2D318594347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CONTRIBUTIONS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3A5685-8CF4-2BF9-1C4A-07A83B2F263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E83A7CD-BCD6-918D-ECF7-8E4B4C464C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F866844-ABDF-6D7B-CC82-91AA2DDEF51E}"/>
              </a:ext>
            </a:extLst>
          </p:cNvPr>
          <p:cNvGrpSpPr/>
          <p:nvPr/>
        </p:nvGrpSpPr>
        <p:grpSpPr>
          <a:xfrm>
            <a:off x="758952" y="1653944"/>
            <a:ext cx="2743200" cy="2011680"/>
            <a:chOff x="758952" y="1653944"/>
            <a:chExt cx="2743200" cy="2011680"/>
          </a:xfrm>
        </p:grpSpPr>
        <p:sp>
          <p:nvSpPr>
            <p:cNvPr id="116" name="Rectangle: Rounded Corners 4">
              <a:extLst>
                <a:ext uri="{FF2B5EF4-FFF2-40B4-BE49-F238E27FC236}">
                  <a16:creationId xmlns:a16="http://schemas.microsoft.com/office/drawing/2014/main" id="{B7C08DD7-5AD2-FA85-5206-6745230B25CE}"/>
                </a:ext>
              </a:extLst>
            </p:cNvPr>
            <p:cNvSpPr/>
            <p:nvPr/>
          </p:nvSpPr>
          <p:spPr>
            <a:xfrm>
              <a:off x="758952" y="1653944"/>
              <a:ext cx="2743200" cy="201168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提交標籤 7">
              <a:extLst>
                <a:ext uri="{FF2B5EF4-FFF2-40B4-BE49-F238E27FC236}">
                  <a16:creationId xmlns:a16="http://schemas.microsoft.com/office/drawing/2014/main" id="{4B892184-A0D7-B5EC-5D1B-4FC47B4DAA85}"/>
                </a:ext>
              </a:extLst>
            </p:cNvPr>
            <p:cNvSpPr txBox="1"/>
            <p:nvPr/>
          </p:nvSpPr>
          <p:spPr>
            <a:xfrm>
              <a:off x="1033272" y="189168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300" spc="50" dirty="0">
                  <a:solidFill>
                    <a:srgbClr val="727D81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總提交次數</a:t>
              </a:r>
            </a:p>
          </p:txBody>
        </p:sp>
        <p:sp>
          <p:nvSpPr>
            <p:cNvPr id="122" name="提交總數 8">
              <a:extLst>
                <a:ext uri="{FF2B5EF4-FFF2-40B4-BE49-F238E27FC236}">
                  <a16:creationId xmlns:a16="http://schemas.microsoft.com/office/drawing/2014/main" id="{F3BF7525-92F7-7462-F138-6EF793FE1DAF}"/>
                </a:ext>
              </a:extLst>
            </p:cNvPr>
            <p:cNvSpPr txBox="1"/>
            <p:nvPr/>
          </p:nvSpPr>
          <p:spPr>
            <a:xfrm>
              <a:off x="1033272" y="2151406"/>
              <a:ext cx="219456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5400" b="1" dirty="0">
                  <a:solidFill>
                    <a:schemeClr val="accent1"/>
                  </a:solidFill>
                  <a:cs typeface="Manrope"/>
                </a:rPr>
                <a:t>555</a:t>
              </a:r>
              <a:endParaRPr lang="zh-TW" altLang="en-US" sz="1600" dirty="0">
                <a:solidFill>
                  <a:schemeClr val="accent1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endParaRPr>
            </a:p>
          </p:txBody>
        </p:sp>
        <p:cxnSp>
          <p:nvCxnSpPr>
            <p:cNvPr id="123" name="提交分隔 9">
              <a:extLst>
                <a:ext uri="{FF2B5EF4-FFF2-40B4-BE49-F238E27FC236}">
                  <a16:creationId xmlns:a16="http://schemas.microsoft.com/office/drawing/2014/main" id="{C878B5C8-7132-7DE1-9D58-B3C2918AF350}"/>
                </a:ext>
              </a:extLst>
            </p:cNvPr>
            <p:cNvCxnSpPr/>
            <p:nvPr/>
          </p:nvCxnSpPr>
          <p:spPr>
            <a:xfrm>
              <a:off x="1033272" y="3091466"/>
              <a:ext cx="219456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125" name="統計期間 11">
              <a:extLst>
                <a:ext uri="{FF2B5EF4-FFF2-40B4-BE49-F238E27FC236}">
                  <a16:creationId xmlns:a16="http://schemas.microsoft.com/office/drawing/2014/main" id="{F51EE0FB-A19C-D377-39B5-1C2FA4E1EFDB}"/>
                </a:ext>
              </a:extLst>
            </p:cNvPr>
            <p:cNvSpPr txBox="1"/>
            <p:nvPr/>
          </p:nvSpPr>
          <p:spPr>
            <a:xfrm>
              <a:off x="1033272" y="3241782"/>
              <a:ext cx="2194560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>
                <a:buNone/>
              </a:pPr>
              <a:r>
                <a:rPr lang="zh-TW" altLang="en-US" sz="1400" b="1" dirty="0">
                  <a:solidFill>
                    <a:schemeClr val="accent1"/>
                  </a:solidFill>
                  <a:cs typeface="Manrope"/>
                </a:rPr>
                <a:t>2026/3/15  –  2026/10/4</a:t>
              </a:r>
              <a:endParaRPr lang="zh-TW" alt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4A865EE6-6C6C-A4A7-982E-F2E2F2D0A1C2}"/>
              </a:ext>
            </a:extLst>
          </p:cNvPr>
          <p:cNvGrpSpPr/>
          <p:nvPr/>
        </p:nvGrpSpPr>
        <p:grpSpPr>
          <a:xfrm>
            <a:off x="3703320" y="1653944"/>
            <a:ext cx="7725600" cy="2011677"/>
            <a:chOff x="3703320" y="1653944"/>
            <a:chExt cx="7725600" cy="2011677"/>
          </a:xfrm>
        </p:grpSpPr>
        <p:sp>
          <p:nvSpPr>
            <p:cNvPr id="115" name="Rectangle: Rounded Corners 4">
              <a:extLst>
                <a:ext uri="{FF2B5EF4-FFF2-40B4-BE49-F238E27FC236}">
                  <a16:creationId xmlns:a16="http://schemas.microsoft.com/office/drawing/2014/main" id="{CC999323-960E-C983-8AFA-155AD09134D7}"/>
                </a:ext>
              </a:extLst>
            </p:cNvPr>
            <p:cNvSpPr/>
            <p:nvPr/>
          </p:nvSpPr>
          <p:spPr>
            <a:xfrm>
              <a:off x="3703320" y="1653944"/>
              <a:ext cx="7725600" cy="2011677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28" name="提交長條圖 15" descr="每週提交次數（GitHub）">
              <a:extLst>
                <a:ext uri="{FF2B5EF4-FFF2-40B4-BE49-F238E27FC236}">
                  <a16:creationId xmlns:a16="http://schemas.microsoft.com/office/drawing/2014/main" id="{1EC156F0-8DC6-9569-A77E-96BF4BFA9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1920" y="1847476"/>
              <a:ext cx="7269480" cy="1599907"/>
            </a:xfrm>
            <a:prstGeom prst="rect">
              <a:avLst/>
            </a:prstGeom>
          </p:spPr>
        </p:pic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67BAD14B-CFC5-F552-C8A9-F77D8D4557FB}"/>
              </a:ext>
            </a:extLst>
          </p:cNvPr>
          <p:cNvGrpSpPr/>
          <p:nvPr/>
        </p:nvGrpSpPr>
        <p:grpSpPr>
          <a:xfrm>
            <a:off x="758952" y="3894218"/>
            <a:ext cx="2530800" cy="1940400"/>
            <a:chOff x="758952" y="3894218"/>
            <a:chExt cx="2530800" cy="1940400"/>
          </a:xfrm>
        </p:grpSpPr>
        <p:sp>
          <p:nvSpPr>
            <p:cNvPr id="120" name="Rectangle: Rounded Corners 4">
              <a:extLst>
                <a:ext uri="{FF2B5EF4-FFF2-40B4-BE49-F238E27FC236}">
                  <a16:creationId xmlns:a16="http://schemas.microsoft.com/office/drawing/2014/main" id="{D63398D0-E6B0-E3DE-E2CC-4B342CFDA6BF}"/>
                </a:ext>
              </a:extLst>
            </p:cNvPr>
            <p:cNvSpPr/>
            <p:nvPr/>
          </p:nvSpPr>
          <p:spPr>
            <a:xfrm>
              <a:off x="758952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33" name="組員頭像 21">
              <a:extLst>
                <a:ext uri="{FF2B5EF4-FFF2-40B4-BE49-F238E27FC236}">
                  <a16:creationId xmlns:a16="http://schemas.microsoft.com/office/drawing/2014/main" id="{A48F00AE-EAAF-84C8-719F-3DAB6F5A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1832" y="4077098"/>
              <a:ext cx="432000" cy="432000"/>
            </a:xfrm>
            <a:prstGeom prst="rect">
              <a:avLst/>
            </a:prstGeom>
          </p:spPr>
        </p:pic>
        <p:sp>
          <p:nvSpPr>
            <p:cNvPr id="134" name="頭像框 22">
              <a:extLst>
                <a:ext uri="{FF2B5EF4-FFF2-40B4-BE49-F238E27FC236}">
                  <a16:creationId xmlns:a16="http://schemas.microsoft.com/office/drawing/2014/main" id="{2E717A93-6ECA-F7C6-72EF-321147D4FA40}"/>
                </a:ext>
              </a:extLst>
            </p:cNvPr>
            <p:cNvSpPr/>
            <p:nvPr/>
          </p:nvSpPr>
          <p:spPr>
            <a:xfrm>
              <a:off x="941832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35" name="組員姓名 23">
              <a:extLst>
                <a:ext uri="{FF2B5EF4-FFF2-40B4-BE49-F238E27FC236}">
                  <a16:creationId xmlns:a16="http://schemas.microsoft.com/office/drawing/2014/main" id="{E411E528-E56B-4825-23D3-1175844997C7}"/>
                </a:ext>
              </a:extLst>
            </p:cNvPr>
            <p:cNvSpPr txBox="1"/>
            <p:nvPr/>
          </p:nvSpPr>
          <p:spPr>
            <a:xfrm>
              <a:off x="1545336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許凱俊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36" name="組員學號 24">
              <a:extLst>
                <a:ext uri="{FF2B5EF4-FFF2-40B4-BE49-F238E27FC236}">
                  <a16:creationId xmlns:a16="http://schemas.microsoft.com/office/drawing/2014/main" id="{CA0BE3EF-B6A6-E154-630B-27A8FDEE5E9D}"/>
                </a:ext>
              </a:extLst>
            </p:cNvPr>
            <p:cNvSpPr txBox="1"/>
            <p:nvPr/>
          </p:nvSpPr>
          <p:spPr>
            <a:xfrm>
              <a:off x="1545336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11246063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37" name="排名 25">
              <a:extLst>
                <a:ext uri="{FF2B5EF4-FFF2-40B4-BE49-F238E27FC236}">
                  <a16:creationId xmlns:a16="http://schemas.microsoft.com/office/drawing/2014/main" id="{82299E7E-F499-D03C-7225-21F45EF1F4B8}"/>
                </a:ext>
              </a:extLst>
            </p:cNvPr>
            <p:cNvSpPr/>
            <p:nvPr/>
          </p:nvSpPr>
          <p:spPr>
            <a:xfrm>
              <a:off x="2667762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B48A4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cs typeface="Manrope"/>
                </a:rPr>
                <a:t>#1</a:t>
              </a:r>
              <a:endParaRPr lang="zh-TW" altLang="en-US" sz="1100" dirty="0"/>
            </a:p>
          </p:txBody>
        </p:sp>
        <p:sp>
          <p:nvSpPr>
            <p:cNvPr id="138" name="組員提交 26">
              <a:extLst>
                <a:ext uri="{FF2B5EF4-FFF2-40B4-BE49-F238E27FC236}">
                  <a16:creationId xmlns:a16="http://schemas.microsoft.com/office/drawing/2014/main" id="{47EB68AB-7CC8-4012-5B8F-675EEB53B870}"/>
                </a:ext>
              </a:extLst>
            </p:cNvPr>
            <p:cNvSpPr txBox="1"/>
            <p:nvPr/>
          </p:nvSpPr>
          <p:spPr>
            <a:xfrm>
              <a:off x="941832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295</a:t>
              </a:r>
              <a:r>
                <a:rPr lang="zh-TW" altLang="en-US" sz="1150" b="1" dirty="0">
                  <a:solidFill>
                    <a:srgbClr val="55636A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39" name="增刪行數 27">
              <a:extLst>
                <a:ext uri="{FF2B5EF4-FFF2-40B4-BE49-F238E27FC236}">
                  <a16:creationId xmlns:a16="http://schemas.microsoft.com/office/drawing/2014/main" id="{01BC6DF5-04A5-F78C-95B3-E527E3E3D087}"/>
                </a:ext>
              </a:extLst>
            </p:cNvPr>
            <p:cNvSpPr txBox="1"/>
            <p:nvPr/>
          </p:nvSpPr>
          <p:spPr>
            <a:xfrm>
              <a:off x="2055114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+566,786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−155,400</a:t>
              </a:r>
              <a:endParaRPr lang="zh-TW" altLang="en-US" sz="1050" b="1" dirty="0"/>
            </a:p>
          </p:txBody>
        </p:sp>
        <p:pic>
          <p:nvPicPr>
            <p:cNvPr id="140" name="組員長條圖 28" descr="許凱俊 每週提交次數">
              <a:extLst>
                <a:ext uri="{FF2B5EF4-FFF2-40B4-BE49-F238E27FC236}">
                  <a16:creationId xmlns:a16="http://schemas.microsoft.com/office/drawing/2014/main" id="{E211C00A-A102-E27D-EAAF-D4A9E135E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112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5C83870-FEA9-02C9-B5CD-D95CCC141609}"/>
              </a:ext>
            </a:extLst>
          </p:cNvPr>
          <p:cNvGrpSpPr/>
          <p:nvPr/>
        </p:nvGrpSpPr>
        <p:grpSpPr>
          <a:xfrm>
            <a:off x="3472368" y="3894218"/>
            <a:ext cx="2530800" cy="1940400"/>
            <a:chOff x="3472368" y="3894218"/>
            <a:chExt cx="2530800" cy="1940400"/>
          </a:xfrm>
        </p:grpSpPr>
        <p:sp>
          <p:nvSpPr>
            <p:cNvPr id="119" name="Rectangle: Rounded Corners 4">
              <a:extLst>
                <a:ext uri="{FF2B5EF4-FFF2-40B4-BE49-F238E27FC236}">
                  <a16:creationId xmlns:a16="http://schemas.microsoft.com/office/drawing/2014/main" id="{1D895746-0D57-18B7-F87F-D92CEDF95A8C}"/>
                </a:ext>
              </a:extLst>
            </p:cNvPr>
            <p:cNvSpPr/>
            <p:nvPr/>
          </p:nvSpPr>
          <p:spPr>
            <a:xfrm>
              <a:off x="3472368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1" name="組員頭像 30">
              <a:extLst>
                <a:ext uri="{FF2B5EF4-FFF2-40B4-BE49-F238E27FC236}">
                  <a16:creationId xmlns:a16="http://schemas.microsoft.com/office/drawing/2014/main" id="{C27CDD9C-FFCB-E2B1-9131-F8F339FB4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5314" y="4077098"/>
              <a:ext cx="432000" cy="432000"/>
            </a:xfrm>
            <a:prstGeom prst="rect">
              <a:avLst/>
            </a:prstGeom>
          </p:spPr>
        </p:pic>
        <p:sp>
          <p:nvSpPr>
            <p:cNvPr id="142" name="頭像框 31">
              <a:extLst>
                <a:ext uri="{FF2B5EF4-FFF2-40B4-BE49-F238E27FC236}">
                  <a16:creationId xmlns:a16="http://schemas.microsoft.com/office/drawing/2014/main" id="{D4855C05-3A38-D065-16CE-DC00CB447AF1}"/>
                </a:ext>
              </a:extLst>
            </p:cNvPr>
            <p:cNvSpPr/>
            <p:nvPr/>
          </p:nvSpPr>
          <p:spPr>
            <a:xfrm>
              <a:off x="3655314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43" name="組員姓名 32">
              <a:extLst>
                <a:ext uri="{FF2B5EF4-FFF2-40B4-BE49-F238E27FC236}">
                  <a16:creationId xmlns:a16="http://schemas.microsoft.com/office/drawing/2014/main" id="{FA822808-642F-DDC0-22BB-1910CD2ADB78}"/>
                </a:ext>
              </a:extLst>
            </p:cNvPr>
            <p:cNvSpPr txBox="1"/>
            <p:nvPr/>
          </p:nvSpPr>
          <p:spPr>
            <a:xfrm>
              <a:off x="4258818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陳秉鴻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44" name="組員學號 33">
              <a:extLst>
                <a:ext uri="{FF2B5EF4-FFF2-40B4-BE49-F238E27FC236}">
                  <a16:creationId xmlns:a16="http://schemas.microsoft.com/office/drawing/2014/main" id="{1CC4ADFC-A0C2-C89F-95AA-60CEFF1C148F}"/>
                </a:ext>
              </a:extLst>
            </p:cNvPr>
            <p:cNvSpPr txBox="1"/>
            <p:nvPr/>
          </p:nvSpPr>
          <p:spPr>
            <a:xfrm>
              <a:off x="4258818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11246065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45" name="排名 34">
              <a:extLst>
                <a:ext uri="{FF2B5EF4-FFF2-40B4-BE49-F238E27FC236}">
                  <a16:creationId xmlns:a16="http://schemas.microsoft.com/office/drawing/2014/main" id="{2D19ACB4-2506-FBAA-3296-E88EB27756C5}"/>
                </a:ext>
              </a:extLst>
            </p:cNvPr>
            <p:cNvSpPr/>
            <p:nvPr/>
          </p:nvSpPr>
          <p:spPr>
            <a:xfrm>
              <a:off x="5381244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#2</a:t>
              </a:r>
              <a:endParaRPr lang="zh-TW" altLang="en-US" sz="1100" dirty="0"/>
            </a:p>
          </p:txBody>
        </p:sp>
        <p:sp>
          <p:nvSpPr>
            <p:cNvPr id="146" name="組員提交 35">
              <a:extLst>
                <a:ext uri="{FF2B5EF4-FFF2-40B4-BE49-F238E27FC236}">
                  <a16:creationId xmlns:a16="http://schemas.microsoft.com/office/drawing/2014/main" id="{0FC8A706-781D-B14C-0FF4-5D475706B6E9}"/>
                </a:ext>
              </a:extLst>
            </p:cNvPr>
            <p:cNvSpPr txBox="1"/>
            <p:nvPr/>
          </p:nvSpPr>
          <p:spPr>
            <a:xfrm>
              <a:off x="3655314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144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47" name="增刪行數 36">
              <a:extLst>
                <a:ext uri="{FF2B5EF4-FFF2-40B4-BE49-F238E27FC236}">
                  <a16:creationId xmlns:a16="http://schemas.microsoft.com/office/drawing/2014/main" id="{F00F674F-858E-49C2-CA17-AC5B35D47251}"/>
                </a:ext>
              </a:extLst>
            </p:cNvPr>
            <p:cNvSpPr txBox="1"/>
            <p:nvPr/>
          </p:nvSpPr>
          <p:spPr>
            <a:xfrm>
              <a:off x="4768596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+302,626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−165,716</a:t>
              </a:r>
              <a:endParaRPr lang="zh-TW" altLang="en-US" sz="1050" b="1" dirty="0"/>
            </a:p>
          </p:txBody>
        </p:sp>
        <p:pic>
          <p:nvPicPr>
            <p:cNvPr id="148" name="組員長條圖 37" descr="陳秉鴻 每週提交次數">
              <a:extLst>
                <a:ext uri="{FF2B5EF4-FFF2-40B4-BE49-F238E27FC236}">
                  <a16:creationId xmlns:a16="http://schemas.microsoft.com/office/drawing/2014/main" id="{12BA365F-C095-3322-98C0-2D39F2DB6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9594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CA163FB2-0660-C6E4-D73E-563610657989}"/>
              </a:ext>
            </a:extLst>
          </p:cNvPr>
          <p:cNvGrpSpPr/>
          <p:nvPr/>
        </p:nvGrpSpPr>
        <p:grpSpPr>
          <a:xfrm>
            <a:off x="6185784" y="3894218"/>
            <a:ext cx="2530800" cy="1940400"/>
            <a:chOff x="6185784" y="3894218"/>
            <a:chExt cx="2530800" cy="1940400"/>
          </a:xfrm>
        </p:grpSpPr>
        <p:sp>
          <p:nvSpPr>
            <p:cNvPr id="118" name="Rectangle: Rounded Corners 4">
              <a:extLst>
                <a:ext uri="{FF2B5EF4-FFF2-40B4-BE49-F238E27FC236}">
                  <a16:creationId xmlns:a16="http://schemas.microsoft.com/office/drawing/2014/main" id="{33BF17E3-3606-D767-A148-B0D884C6E33A}"/>
                </a:ext>
              </a:extLst>
            </p:cNvPr>
            <p:cNvSpPr/>
            <p:nvPr/>
          </p:nvSpPr>
          <p:spPr>
            <a:xfrm>
              <a:off x="6185784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9" name="組員頭像 39">
              <a:extLst>
                <a:ext uri="{FF2B5EF4-FFF2-40B4-BE49-F238E27FC236}">
                  <a16:creationId xmlns:a16="http://schemas.microsoft.com/office/drawing/2014/main" id="{6AB9D087-3D9E-C74A-F553-44FC299E1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8796" y="4077098"/>
              <a:ext cx="432000" cy="432000"/>
            </a:xfrm>
            <a:prstGeom prst="rect">
              <a:avLst/>
            </a:prstGeom>
          </p:spPr>
        </p:pic>
        <p:sp>
          <p:nvSpPr>
            <p:cNvPr id="150" name="頭像框 40">
              <a:extLst>
                <a:ext uri="{FF2B5EF4-FFF2-40B4-BE49-F238E27FC236}">
                  <a16:creationId xmlns:a16="http://schemas.microsoft.com/office/drawing/2014/main" id="{12904A6C-CC07-FE9C-2BFA-E5DF7B97E3CC}"/>
                </a:ext>
              </a:extLst>
            </p:cNvPr>
            <p:cNvSpPr/>
            <p:nvPr/>
          </p:nvSpPr>
          <p:spPr>
            <a:xfrm>
              <a:off x="6368796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1" name="組員姓名 41">
              <a:extLst>
                <a:ext uri="{FF2B5EF4-FFF2-40B4-BE49-F238E27FC236}">
                  <a16:creationId xmlns:a16="http://schemas.microsoft.com/office/drawing/2014/main" id="{3DB96A26-9283-B78A-C9E8-F5E5F2DC83B7}"/>
                </a:ext>
              </a:extLst>
            </p:cNvPr>
            <p:cNvSpPr txBox="1"/>
            <p:nvPr/>
          </p:nvSpPr>
          <p:spPr>
            <a:xfrm>
              <a:off x="6972300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江芸萱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52" name="組員學號 42">
              <a:extLst>
                <a:ext uri="{FF2B5EF4-FFF2-40B4-BE49-F238E27FC236}">
                  <a16:creationId xmlns:a16="http://schemas.microsoft.com/office/drawing/2014/main" id="{1135E5A4-D9AF-75DE-11D0-810A984320F7}"/>
                </a:ext>
              </a:extLst>
            </p:cNvPr>
            <p:cNvSpPr txBox="1"/>
            <p:nvPr/>
          </p:nvSpPr>
          <p:spPr>
            <a:xfrm>
              <a:off x="6972300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11246074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53" name="排名 43">
              <a:extLst>
                <a:ext uri="{FF2B5EF4-FFF2-40B4-BE49-F238E27FC236}">
                  <a16:creationId xmlns:a16="http://schemas.microsoft.com/office/drawing/2014/main" id="{0C3CE531-544C-7767-BDB2-F13D2B1287B8}"/>
                </a:ext>
              </a:extLst>
            </p:cNvPr>
            <p:cNvSpPr/>
            <p:nvPr/>
          </p:nvSpPr>
          <p:spPr>
            <a:xfrm>
              <a:off x="8094726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#3</a:t>
              </a:r>
              <a:endParaRPr lang="zh-TW" altLang="en-US" sz="1100" dirty="0"/>
            </a:p>
          </p:txBody>
        </p:sp>
        <p:sp>
          <p:nvSpPr>
            <p:cNvPr id="154" name="組員提交 44">
              <a:extLst>
                <a:ext uri="{FF2B5EF4-FFF2-40B4-BE49-F238E27FC236}">
                  <a16:creationId xmlns:a16="http://schemas.microsoft.com/office/drawing/2014/main" id="{E7B14152-515A-663E-EDD5-8B83D09B7F6D}"/>
                </a:ext>
              </a:extLst>
            </p:cNvPr>
            <p:cNvSpPr txBox="1"/>
            <p:nvPr/>
          </p:nvSpPr>
          <p:spPr>
            <a:xfrm>
              <a:off x="6368796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61</a:t>
              </a:r>
              <a:r>
                <a:rPr lang="zh-TW" altLang="en-US" sz="1150" dirty="0">
                  <a:solidFill>
                    <a:schemeClr val="tx2"/>
                  </a:solidFill>
                </a:rPr>
                <a:t> 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55" name="增刪行數 45">
              <a:extLst>
                <a:ext uri="{FF2B5EF4-FFF2-40B4-BE49-F238E27FC236}">
                  <a16:creationId xmlns:a16="http://schemas.microsoft.com/office/drawing/2014/main" id="{B5268F31-888A-5D3E-D7EF-82557A197B91}"/>
                </a:ext>
              </a:extLst>
            </p:cNvPr>
            <p:cNvSpPr txBox="1"/>
            <p:nvPr/>
          </p:nvSpPr>
          <p:spPr>
            <a:xfrm>
              <a:off x="7482078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+174,347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−37,689</a:t>
              </a:r>
              <a:endParaRPr lang="zh-TW" altLang="en-US" sz="1050" b="1" dirty="0"/>
            </a:p>
          </p:txBody>
        </p:sp>
        <p:pic>
          <p:nvPicPr>
            <p:cNvPr id="156" name="組員長條圖 46" descr="江芸萱 每週提交次數">
              <a:extLst>
                <a:ext uri="{FF2B5EF4-FFF2-40B4-BE49-F238E27FC236}">
                  <a16:creationId xmlns:a16="http://schemas.microsoft.com/office/drawing/2014/main" id="{28B1FB57-63D0-A17A-630E-8FBB62D67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3076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DC8A6C6B-B873-9CED-0D9C-2C0E7FE1739E}"/>
              </a:ext>
            </a:extLst>
          </p:cNvPr>
          <p:cNvGrpSpPr/>
          <p:nvPr/>
        </p:nvGrpSpPr>
        <p:grpSpPr>
          <a:xfrm>
            <a:off x="8899200" y="3894218"/>
            <a:ext cx="2530800" cy="1940400"/>
            <a:chOff x="8899200" y="3894218"/>
            <a:chExt cx="2530800" cy="1940400"/>
          </a:xfrm>
        </p:grpSpPr>
        <p:sp>
          <p:nvSpPr>
            <p:cNvPr id="117" name="Rectangle: Rounded Corners 4">
              <a:extLst>
                <a:ext uri="{FF2B5EF4-FFF2-40B4-BE49-F238E27FC236}">
                  <a16:creationId xmlns:a16="http://schemas.microsoft.com/office/drawing/2014/main" id="{6ABF12BB-AF32-1EED-069B-63228DCDB2B4}"/>
                </a:ext>
              </a:extLst>
            </p:cNvPr>
            <p:cNvSpPr/>
            <p:nvPr/>
          </p:nvSpPr>
          <p:spPr>
            <a:xfrm>
              <a:off x="8899200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57" name="組員頭像 48">
              <a:extLst>
                <a:ext uri="{FF2B5EF4-FFF2-40B4-BE49-F238E27FC236}">
                  <a16:creationId xmlns:a16="http://schemas.microsoft.com/office/drawing/2014/main" id="{7D736E66-5C1F-4501-E323-20E612EF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82278" y="4077098"/>
              <a:ext cx="432000" cy="432000"/>
            </a:xfrm>
            <a:prstGeom prst="rect">
              <a:avLst/>
            </a:prstGeom>
          </p:spPr>
        </p:pic>
        <p:sp>
          <p:nvSpPr>
            <p:cNvPr id="158" name="頭像框 49">
              <a:extLst>
                <a:ext uri="{FF2B5EF4-FFF2-40B4-BE49-F238E27FC236}">
                  <a16:creationId xmlns:a16="http://schemas.microsoft.com/office/drawing/2014/main" id="{B9430966-A312-FB7F-5404-5AFB8C713FAD}"/>
                </a:ext>
              </a:extLst>
            </p:cNvPr>
            <p:cNvSpPr/>
            <p:nvPr/>
          </p:nvSpPr>
          <p:spPr>
            <a:xfrm>
              <a:off x="9082278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9" name="組員姓名 50">
              <a:extLst>
                <a:ext uri="{FF2B5EF4-FFF2-40B4-BE49-F238E27FC236}">
                  <a16:creationId xmlns:a16="http://schemas.microsoft.com/office/drawing/2014/main" id="{5107B76D-17B8-6C11-1703-3E256B270414}"/>
                </a:ext>
              </a:extLst>
            </p:cNvPr>
            <p:cNvSpPr txBox="1"/>
            <p:nvPr/>
          </p:nvSpPr>
          <p:spPr>
            <a:xfrm>
              <a:off x="9685782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連卉媗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60" name="組員學號 51">
              <a:extLst>
                <a:ext uri="{FF2B5EF4-FFF2-40B4-BE49-F238E27FC236}">
                  <a16:creationId xmlns:a16="http://schemas.microsoft.com/office/drawing/2014/main" id="{755ACF80-528A-58AC-3E90-EE2CCC8554FF}"/>
                </a:ext>
              </a:extLst>
            </p:cNvPr>
            <p:cNvSpPr txBox="1"/>
            <p:nvPr/>
          </p:nvSpPr>
          <p:spPr>
            <a:xfrm>
              <a:off x="9685782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11246072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61" name="排名 52">
              <a:extLst>
                <a:ext uri="{FF2B5EF4-FFF2-40B4-BE49-F238E27FC236}">
                  <a16:creationId xmlns:a16="http://schemas.microsoft.com/office/drawing/2014/main" id="{F940F7B8-2534-6667-B4AC-695AE5FF2620}"/>
                </a:ext>
              </a:extLst>
            </p:cNvPr>
            <p:cNvSpPr/>
            <p:nvPr/>
          </p:nvSpPr>
          <p:spPr>
            <a:xfrm>
              <a:off x="10808208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#4</a:t>
              </a:r>
              <a:endParaRPr lang="zh-TW" altLang="en-US" sz="1100" dirty="0"/>
            </a:p>
          </p:txBody>
        </p:sp>
        <p:sp>
          <p:nvSpPr>
            <p:cNvPr id="162" name="組員提交 53">
              <a:extLst>
                <a:ext uri="{FF2B5EF4-FFF2-40B4-BE49-F238E27FC236}">
                  <a16:creationId xmlns:a16="http://schemas.microsoft.com/office/drawing/2014/main" id="{6BD4FAE8-F5D8-2EC9-DBB3-EBE3386A0C73}"/>
                </a:ext>
              </a:extLst>
            </p:cNvPr>
            <p:cNvSpPr txBox="1"/>
            <p:nvPr/>
          </p:nvSpPr>
          <p:spPr>
            <a:xfrm>
              <a:off x="9082278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55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63" name="增刪行數 54">
              <a:extLst>
                <a:ext uri="{FF2B5EF4-FFF2-40B4-BE49-F238E27FC236}">
                  <a16:creationId xmlns:a16="http://schemas.microsoft.com/office/drawing/2014/main" id="{C6D9E668-0E13-078C-827E-A29C90897DCC}"/>
                </a:ext>
              </a:extLst>
            </p:cNvPr>
            <p:cNvSpPr txBox="1"/>
            <p:nvPr/>
          </p:nvSpPr>
          <p:spPr>
            <a:xfrm>
              <a:off x="10195560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+115,368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−29,734</a:t>
              </a:r>
              <a:endParaRPr lang="zh-TW" altLang="en-US" sz="1050" b="1" dirty="0"/>
            </a:p>
          </p:txBody>
        </p:sp>
        <p:pic>
          <p:nvPicPr>
            <p:cNvPr id="164" name="組員長條圖 55" descr="連卉媗 每週提交次數">
              <a:extLst>
                <a:ext uri="{FF2B5EF4-FFF2-40B4-BE49-F238E27FC236}">
                  <a16:creationId xmlns:a16="http://schemas.microsoft.com/office/drawing/2014/main" id="{002FA3BB-F7D0-5FEC-A4A3-95143E361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36558" y="5020442"/>
              <a:ext cx="2256282" cy="689420"/>
            </a:xfrm>
            <a:prstGeom prst="rect">
              <a:avLst/>
            </a:prstGeom>
          </p:spPr>
        </p:pic>
      </p:grp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5EA84D26-7BE1-5F09-D485-AF9FFA2CA77B}"/>
              </a:ext>
            </a:extLst>
          </p:cNvPr>
          <p:cNvSpPr txBox="1"/>
          <p:nvPr/>
        </p:nvSpPr>
        <p:spPr>
          <a:xfrm>
            <a:off x="381548" y="19011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086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01891" y="2490014"/>
            <a:ext cx="3788218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200" b="1" kern="0" spc="1000" dirty="0">
                <a:solidFill>
                  <a:schemeClr val="tx2"/>
                </a:solidFill>
                <a:latin typeface="+mj-ea"/>
                <a:ea typeface="+mj-ea"/>
              </a:rPr>
              <a:t>感謝聆</a:t>
            </a:r>
            <a:r>
              <a:rPr lang="zh-TW" altLang="en-US" sz="6200" b="1" kern="0" spc="300" dirty="0">
                <a:solidFill>
                  <a:schemeClr val="tx2"/>
                </a:solidFill>
                <a:latin typeface="+mj-ea"/>
                <a:ea typeface="+mj-ea"/>
              </a:rPr>
              <a:t>聽</a:t>
            </a:r>
            <a:endParaRPr kumimoji="0" lang="id-ID" sz="62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84208" y="3598546"/>
            <a:ext cx="3023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2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2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42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60511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Q&amp;A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600" dirty="0">
                <a:solidFill>
                  <a:schemeClr val="bg1"/>
                </a:solidFill>
                <a:latin typeface="+mj-ea"/>
                <a:ea typeface="+mj-ea"/>
              </a:rPr>
              <a:t>評審問答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498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400" spc="2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敬請評審老師指教</a:t>
            </a: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5220</TotalTime>
  <Words>3403</Words>
  <Application>Microsoft Office PowerPoint</Application>
  <PresentationFormat>寬螢幕</PresentationFormat>
  <Paragraphs>641</Paragraphs>
  <Slides>35</Slides>
  <Notes>35</Notes>
  <HiddenSlides>0</HiddenSlides>
  <MMClips>14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6" baseType="lpstr">
      <vt:lpstr>Manrope (本文)</vt:lpstr>
      <vt:lpstr>Noto Sans TC</vt:lpstr>
      <vt:lpstr>Noto Sans TC (本文)</vt:lpstr>
      <vt:lpstr>Noto Sans TC Medium</vt:lpstr>
      <vt:lpstr>Aptos</vt:lpstr>
      <vt:lpstr>Arial</vt:lpstr>
      <vt:lpstr>Manrope</vt:lpstr>
      <vt:lpstr>Open Sans</vt:lpstr>
      <vt:lpstr>Poppins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四技第115414組-救「舊」我的書</dc:title>
  <dc:creator>11246065_陳秉鴻</dc:creator>
  <cp:lastModifiedBy>11246065_陳秉鴻</cp:lastModifiedBy>
  <cp:revision>107</cp:revision>
  <dcterms:created xsi:type="dcterms:W3CDTF">2026-05-19T08:20:24Z</dcterms:created>
  <dcterms:modified xsi:type="dcterms:W3CDTF">2026-10-15T02:28:59Z</dcterms:modified>
</cp:coreProperties>
</file>