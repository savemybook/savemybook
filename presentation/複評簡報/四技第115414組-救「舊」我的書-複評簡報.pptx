
<file path=[Content_Types].xml><?xml version="1.0" encoding="utf-8"?>
<Types xmlns="http://schemas.openxmlformats.org/package/2006/content-types">
  <Default Extension="mp4" ContentType="video/mp4"/>
  <Default Extension="gif" ContentType="image/gif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1001"/>
    <p:sldId id="258" r:id="rId1002"/>
    <p:sldId id="259" r:id="rId1003"/>
    <p:sldId id="260" r:id="rId1004"/>
    <p:sldId id="261" r:id="rId1005"/>
    <p:sldId id="262" r:id="rId1006"/>
    <p:sldId id="263" r:id="rId1007"/>
    <p:sldId id="264" r:id="rId1008"/>
    <p:sldId id="265" r:id="rId1009"/>
    <p:sldId id="266" r:id="rId1010"/>
    <p:sldId id="267" r:id="rId1011"/>
    <p:sldId id="268" r:id="rId1012"/>
    <p:sldId id="269" r:id="rId1013"/>
    <p:sldId id="270" r:id="rId1014"/>
    <p:sldId id="271" r:id="rId1015"/>
    <p:sldId id="272" r:id="rId1016"/>
    <p:sldId id="273" r:id="rId1017"/>
    <p:sldId id="274" r:id="rId1018"/>
    <p:sldId id="275" r:id="rId1019"/>
    <p:sldId id="276" r:id="rId1020"/>
    <p:sldId id="277" r:id="rId1021"/>
    <p:sldId id="278" r:id="rId1022"/>
    <p:sldId id="279" r:id="rId1023"/>
    <p:sldId id="280" r:id="rId1024"/>
    <p:sldId id="281" r:id="rId1025"/>
    <p:sldId id="282" r:id="rId1026"/>
    <p:sldId id="283" r:id="rId1027"/>
    <p:sldId id="284" r:id="rId1028"/>
    <p:sldId id="285" r:id="rId1029"/>
    <p:sldId id="286" r:id="rId1030"/>
    <p:sldId id="287" r:id="rId1031"/>
    <p:sldId id="288" r:id="rId1032"/>
    <p:sldId id="289" r:id="rId1033"/>
    <p:sldId id="290" r:id="rId1034"/>
    <p:sldId id="291" r:id="rId103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與目錄" id="{2DFDF3D7-F0CA-5AF7-B323-3502DC8CF993}">
          <p14:sldIdLst>
            <p14:sldId id="257"/>
            <p14:sldId id="258"/>
          </p14:sldIdLst>
        </p14:section>
        <p14:section name="01 初評建議與改善" id="{CC9AF8C1-2001-5934-9561-10AE0DDDEA13}">
          <p14:sldIdLst>
            <p14:sldId id="259"/>
            <p14:sldId id="260"/>
            <p14:sldId id="261"/>
            <p14:sldId id="262"/>
          </p14:sldIdLst>
        </p14:section>
        <p14:section name="02 系統核心與架構" id="{F05E7739-8281-5477-8B11-DC34CE7E0248}">
          <p14:sldIdLst>
            <p14:sldId id="263"/>
            <p14:sldId id="264"/>
            <p14:sldId id="265"/>
          </p14:sldIdLst>
        </p14:section>
        <p14:section name="03 AI 智慧服務" id="{C2712848-E730-5169-A4BC-DDBE15198FB1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04 IoT 智慧書櫃" id="{21DC51CA-850D-5B3D-87D1-0BDED2A5A167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05 成果與後續規劃" id="{751DC42E-A600-5EB9-8848-6F9A44A943C9}">
          <p14:sldIdLst>
            <p14:sldId id="286"/>
            <p14:sldId id="287"/>
            <p14:sldId id="288"/>
            <p14:sldId id="289"/>
            <p14:sldId id="290"/>
          </p14:sldIdLst>
        </p14:section>
        <p14:section name="評審問答" id="{3B0ABED3-6F2C-57CE-91AA-BEDCED26AA6D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7D81"/>
    <a:srgbClr val="77909E"/>
    <a:srgbClr val="C31A2D"/>
    <a:srgbClr val="EA6070"/>
    <a:srgbClr val="FEBD6E"/>
    <a:srgbClr val="FEC076"/>
    <a:srgbClr val="FD9D24"/>
    <a:srgbClr val="D9B169"/>
    <a:srgbClr val="BE8B30"/>
    <a:srgbClr val="F8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45" autoAdjust="0"/>
    <p:restoredTop sz="96121" autoAdjust="0"/>
  </p:normalViewPr>
  <p:slideViewPr>
    <p:cSldViewPr snapToGrid="0">
      <p:cViewPr varScale="1">
        <p:scale>
          <a:sx n="106" d="100"/>
          <a:sy n="106" d="100"/>
        </p:scale>
        <p:origin x="8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6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40" Type="http://schemas.openxmlformats.org/officeDocument/2006/relationships/viewProps" Target="viewProps.xml"/><Relationship Id="rId38" Type="http://schemas.openxmlformats.org/officeDocument/2006/relationships/notesMaster" Target="notesMasters/notesMaster1.xml"/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Relationship Id="rId1016" Type="http://schemas.openxmlformats.org/officeDocument/2006/relationships/slide" Target="slides/slide16.xml"/><Relationship Id="rId1017" Type="http://schemas.openxmlformats.org/officeDocument/2006/relationships/slide" Target="slides/slide17.xml"/><Relationship Id="rId1018" Type="http://schemas.openxmlformats.org/officeDocument/2006/relationships/slide" Target="slides/slide18.xml"/><Relationship Id="rId1019" Type="http://schemas.openxmlformats.org/officeDocument/2006/relationships/slide" Target="slides/slide19.xml"/><Relationship Id="rId1020" Type="http://schemas.openxmlformats.org/officeDocument/2006/relationships/slide" Target="slides/slide20.xml"/><Relationship Id="rId1021" Type="http://schemas.openxmlformats.org/officeDocument/2006/relationships/slide" Target="slides/slide21.xml"/><Relationship Id="rId1022" Type="http://schemas.openxmlformats.org/officeDocument/2006/relationships/slide" Target="slides/slide22.xml"/><Relationship Id="rId1023" Type="http://schemas.openxmlformats.org/officeDocument/2006/relationships/slide" Target="slides/slide23.xml"/><Relationship Id="rId1024" Type="http://schemas.openxmlformats.org/officeDocument/2006/relationships/slide" Target="slides/slide24.xml"/><Relationship Id="rId1025" Type="http://schemas.openxmlformats.org/officeDocument/2006/relationships/slide" Target="slides/slide25.xml"/><Relationship Id="rId1026" Type="http://schemas.openxmlformats.org/officeDocument/2006/relationships/slide" Target="slides/slide26.xml"/><Relationship Id="rId1027" Type="http://schemas.openxmlformats.org/officeDocument/2006/relationships/slide" Target="slides/slide27.xml"/><Relationship Id="rId1028" Type="http://schemas.openxmlformats.org/officeDocument/2006/relationships/slide" Target="slides/slide28.xml"/><Relationship Id="rId1029" Type="http://schemas.openxmlformats.org/officeDocument/2006/relationships/slide" Target="slides/slide29.xml"/><Relationship Id="rId1030" Type="http://schemas.openxmlformats.org/officeDocument/2006/relationships/slide" Target="slides/slide30.xml"/><Relationship Id="rId1031" Type="http://schemas.openxmlformats.org/officeDocument/2006/relationships/slide" Target="slides/slide31.xml"/><Relationship Id="rId1032" Type="http://schemas.openxmlformats.org/officeDocument/2006/relationships/slide" Target="slides/slide32.xml"/><Relationship Id="rId1033" Type="http://schemas.openxmlformats.org/officeDocument/2006/relationships/slide" Target="slides/slide33.xml"/><Relationship Id="rId1034" Type="http://schemas.openxmlformats.org/officeDocument/2006/relationships/slide" Target="slides/slide34.xml"/><Relationship Id="rId1035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462BA-EC03-4984-B865-F4659AC46FAC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140D6-8F10-47D1-B4B8-907EF7F5B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88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20 秒｜累計 0:20】</a:t>
            </a:r>
          </a:p>
          <a:p>
            <a:r>
              <a:rPr lang="zh-TW" altLang="en-US" dirty="0"/>
              <a:t>各位評審老師好，我們是四技第 115414 組，專題名稱是「救『舊』我的書」。本系統結合 AI 智慧服務、App 交易平台與 IoT 智慧書櫃，讓二手書從上架、交易到交付，都能在 App 與書櫃上完成。今天的報告聚焦在初評後的改善，以及 AI 與智慧書櫃兩個核心。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15 秒｜累計 0:35】</a:t>
            </a:r>
          </a:p>
          <a:p>
            <a:r>
              <a:rPr lang="zh-TW" altLang="en-US" dirty="0"/>
              <a:t>報告分為五個部分：首先說明初評建議的改善，接著是系統核心與架構，再來是 AI 智慧服務與 IoT 智慧書櫃兩大重點，最後是成果與後續規劃。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5 秒｜累計 0:40】</a:t>
            </a:r>
          </a:p>
          <a:p>
            <a:r>
              <a:rPr lang="zh-TW" altLang="en-US" dirty="0"/>
              <a:t>首先是初評建議與改善情形。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33 秒｜累計 1:13】</a:t>
            </a:r>
          </a:p>
          <a:p>
            <a:r>
              <a:rPr lang="zh-TW" altLang="en-US" dirty="0"/>
              <a:t>評審老師的初評建議，我們分成三個面向說明。第一是書籍資訊與 AI。附件是否完整，上架須拍攝封面、封底與條碼，並可補拍內頁與附件、於書況說明註明。書況改由 AI 依照片判斷等級並列出依據；書目以 ISBN 帶入，並依定價、書況與站內行情建議售價區間。防止上架非書籍，則以規則比對加上 AI 文字與照片審核，可疑者送管理員複核。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33 秒｜累計 1:46】</a:t>
            </a:r>
          </a:p>
          <a:p>
            <a:r>
              <a:rPr lang="zh-TW" altLang="en-US" dirty="0"/>
              <a:t>第二是交易與營運。付款改為站內代幣，由平台暫管，買家取書後確認書況，或 24 小時內未申請爭議才撥款，爭議由管理員裁決。與讀冊二手書寄賣相比，本系統免寄送、可就近存取，比較已補入文件。逾期未取回屬寄託關係，平台取出後保管 30 天，可領回或寄回。設置地點以校園室內場域試點，管理員於後台監控裝置並遠端處理。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33 秒｜累計 2:19】</a:t>
            </a:r>
          </a:p>
          <a:p>
            <a:r>
              <a:rPr lang="zh-TW" altLang="en-US" dirty="0"/>
              <a:t>第三是智慧書櫃。為了讓手機登記與實際放書一致，必須掃描書櫃螢幕上的 QR Code 才能開門，書櫃回報關門後才登記存書或取書。櫃體從 3D 列印改為合板與壓克力雷射切割，便於量產。一片 ESP32-S3 控制四扇櫃門，並自行設計主控板。安全性則以動態 QR Code、200 公尺定位、兩位數比對與裝置憑證四道驗證把關。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5 秒｜累計 2:24】</a:t>
            </a:r>
          </a:p>
          <a:p>
            <a:r>
              <a:rPr lang="zh-TW" altLang="en-US" dirty="0"/>
              <a:t>接著說明系統核心與架構。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30 秒｜累計 2:54】</a:t>
            </a:r>
          </a:p>
          <a:p>
            <a:r>
              <a:rPr lang="zh-TW" altLang="en-US" dirty="0"/>
              <a:t>回顧初評的問卷，498 份有效問卷中，35% 的人有閒置書想清空卻懶得處理，57.9% 認為寄送麻煩在於包裝與跑超商，51.4% 偏好以實體儲物櫃改善。因此本系統以 AI 降低上架負擔、以智慧書櫃免除寄送，並由 App 串接非同步交付。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40 秒｜累計 3:34】</a:t>
            </a:r>
          </a:p>
          <a:p>
            <a:r>
              <a:rPr lang="zh-TW" altLang="en-US" dirty="0"/>
              <a:t>系統分為三端。使用者端是 Flutter 開發的 App，支援 iPhone、iPad 與 Android，管理後台也整合在 App 中；後端以 Node.js 與 Express 提供 301 個 API 端點，透過 Prisma 存取 MariaDB，並以 Socket.IO 傳送即時訊息；書櫃端是 ESP32-S3，以 HTTPS 與裝置憑證和後端同步。外部服務包含 AI 服務、書目來源、臺北市資料大平臺的交通資料，以及 Firebase 推播。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5 秒｜累計 3:39】</a:t>
            </a:r>
          </a:p>
          <a:p>
            <a:r>
              <a:rPr lang="zh-TW" altLang="en-US" dirty="0"/>
              <a:t>第三部分是 AI 智慧服務。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25 秒｜累計 4:04】</a:t>
            </a:r>
          </a:p>
          <a:p>
            <a:r>
              <a:rPr lang="zh-TW" altLang="en-US" dirty="0"/>
              <a:t>本系統依交易流程導入七項 AI。上架階段有上架輔助、資料補齊與上架審核；選書階段有個人化推薦與 AI 書籍顧問；售後階段有 AI 客服與爭議分析。所有 AI 結果都只是建議，最後由使用者或管理員確認，並保留決策紀錄。接下來依交易順序逐一示範。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30 秒｜累計 4:34】</a:t>
            </a:r>
          </a:p>
          <a:p>
            <a:r>
              <a:rPr lang="zh-TW" altLang="en-US" dirty="0"/>
              <a:t>以雪喵上架《HTML &amp; CSS：網站設計建置優化之道》為例。輸入 ISBN 後按下 AI 帶入，系統向 Google Books、Open Library 與網路搜尋查詢書目，由 AI 整理成書名、作者、出版資訊、簡介與分類並附上來源，賣家逐項勾選後套用。查無來源時欄位維持空白，不讓 AI 自行撰寫，上架後再由背景依來源補齊。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30 秒｜累計 5:04】</a:t>
            </a:r>
          </a:p>
          <a:p>
            <a:r>
              <a:rPr lang="zh-TW" altLang="en-US" dirty="0"/>
              <a:t>接著上傳封面、封底與條碼頁照片，再按一次 AI 帶入。AI 會查詢原始定價並分析照片，判斷書況等級並列出依據，例如封面只有少量細微刮痕、書角完整。這本定價 580 元的書判斷為近全新，依書況與站內行情建議售價 250 元，區間 200 到 300 元。照片不足時會提醒補拍；賣家調整書況，建議售價也會重新計算。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20 秒｜累計 5:24】</a:t>
            </a:r>
          </a:p>
          <a:p>
            <a:r>
              <a:rPr lang="zh-TW" altLang="en-US" dirty="0"/>
              <a:t>送出的書會先經過上架審核：規則比對館藏章、聯絡方式等字詞，AI 再檢查文字與照片。這本書的照片有圖書館分類號標籤，AI 標記疑似館藏並送人工確認；管理員放大照片後拒絕上架，並通知賣家理由。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18 秒｜累計 5:42】</a:t>
            </a:r>
          </a:p>
          <a:p>
            <a:r>
              <a:rPr lang="zh-TW" altLang="en-US" dirty="0"/>
              <a:t>聊天也有防護。賣家 Gary 傳送 LINE 帳號並要求直接轉帳，系統依規則即時偵測，在訊息下方與聊天室頂端提醒雙方，並提供防詐須知與檢舉；同一帳號多次傳送高風險訊息，會通知管理員。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20 秒｜累計 6:02】</a:t>
            </a:r>
          </a:p>
          <a:p>
            <a:r>
              <a:rPr lang="zh-TW" altLang="en-US" dirty="0"/>
              <a:t>買家首頁會依收藏與瀏覽紀錄，以語意向量找出相關書籍，並由 AI 附上推薦理由；例如 es 收藏過《AI for UX》，系統推薦這本 HTML &amp; CSS，理由是從 UX 設計延伸到網頁實作。點進商品頁，下方還有相似書籍。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22 秒｜累計 6:24】</a:t>
            </a:r>
          </a:p>
          <a:p>
            <a:r>
              <a:rPr lang="zh-TW" altLang="en-US" dirty="0"/>
              <a:t>有明確需求時，可以詢問 AI 書籍顧問。輸入「想學網頁設計，預算 300 以內」，顧問會拆解用途與預算，只推薦站內可購買的書；這裡建議先讀 HTML &amp; CSS，再搭配 Vue.js，兩本都在預算內，點選書卡即可查看商品。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25 秒｜累計 6:49】</a:t>
            </a:r>
          </a:p>
          <a:p>
            <a:r>
              <a:rPr lang="zh-TW" altLang="en-US" dirty="0"/>
              <a:t>遇到問題時可以詢問 AI 客服。它依平台規則，以及使用者本人的訂單、錢包與上架審核紀錄回答；例如詢問取書後發現缺頁能否退款，AI 會帶出這筆訂單的申請期限與爭議流程。無法處理的問題可轉接客服人員。回覆可以評分，對話保存 90 天，並已於隱私權政策揭露。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25 秒｜累計 7:14】</a:t>
            </a:r>
          </a:p>
          <a:p>
            <a:r>
              <a:rPr lang="zh-TW" altLang="en-US" dirty="0"/>
              <a:t>如果取書後發現書況不符，買家可在 24 小時內申請爭議並附上照片，款項暫停撥付。AI 會比對上架照片、書況說明與佐證照片，逐點整理有利買家或賣家的依據；這個案例的刮痕在上架照片已可辨識、但未以文字說明，AI 建議協調處理。最終由管理員裁決，AI 不直接判決。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5 秒｜累計 7:19】</a:t>
            </a:r>
          </a:p>
          <a:p>
            <a:r>
              <a:rPr lang="zh-TW" altLang="en-US" dirty="0"/>
              <a:t>接下來進入第四部分：IoT 智慧書櫃。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30 秒｜累計 7:49】</a:t>
            </a:r>
          </a:p>
          <a:p>
            <a:r>
              <a:rPr lang="zh-TW" altLang="en-US" dirty="0"/>
              <a:t>先看書櫃的改版。左邊是初評版本，以 3D 列印的蜂巢面板與機構件，搭配步進馬達與齒條帶動，列印耗時、強度也有限，不利量產。右邊是複評版本，櫃體改為 9mm 合板，櫃門是 5mm 壓克力雷射切割，四扇櫃門各由一顆 12V 電磁鎖控制；右上角是 2.8 吋橫向螢幕，整體尺寸 31 × 31 × 38 公分。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35 秒｜累計 8:24】</a:t>
            </a:r>
          </a:p>
          <a:p>
            <a:r>
              <a:rPr lang="zh-TW" altLang="en-US" dirty="0"/>
              <a:t>這是書櫃的透視圖。12V 電源從頂板開孔接入，供應平放在頂層的自製主控板；主控板以 ESP32-S3 為核心，透過四路繼電器驅動四顆 12V 電磁鎖，對應由上而下的 A01 到 A04 四扇櫃門。每扇門都有門磁開關，偵測櫃門是否確實關閉。右上角的螢幕顯示動態 QR Code、比對數字與作業狀態，本身不需觸控，所有輸入都在手機上完成。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35 秒｜累計 8:59】</a:t>
            </a:r>
          </a:p>
          <a:p>
            <a:r>
              <a:rPr lang="zh-TW" altLang="en-US" dirty="0"/>
              <a:t>鏡頭推進到頂層的這片主控板。DoorLock 主控板 Rev A 是我們自行設計、要裝進書櫃的正式主控板，取代杜邦線與模組堆疊，目前已送打樣，回廠後就會裝入書櫃。板上以 12V 輸入，經 L7805 穩壓為 5V；ESP32-S3 開發板以排母插接；四路繼電器由 PC815 光耦合器與 S8050 電晶體驅動，電磁鎖接在端子台，並有續流二極體保護。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40 秒｜累計 9:39】</a:t>
            </a:r>
          </a:p>
          <a:p>
            <a:r>
              <a:rPr lang="zh-TW" altLang="en-US" dirty="0"/>
              <a:t>書櫃沒有人員駐守，因此開門前要通過四道驗證。第一，書櫃螢幕的 QR Code 每 30 秒更新、45 秒失效，截圖轉傳無效。第二，手機必須提供書櫃 200 公尺內的定位，拒絕定位、精度不足或過舊都不能開櫃。第三，手機輸入螢幕上的兩位數，60 秒內、只有一次機會。第四，書櫃以裝置憑證連線，回報開門與關門後，系統才登記存書或取書。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35 秒｜累計 10:14】</a:t>
            </a:r>
          </a:p>
          <a:p>
            <a:r>
              <a:rPr lang="zh-TW" altLang="en-US" dirty="0"/>
              <a:t>實際存書時，賣家雪喵到北商的書櫃前，用 App 掃描螢幕上的 QR Code，確認要存放的書，再輸入螢幕顯示的比對碼 25。比對成功後，系統分配空櫃門，A01 隨即開鎖；放入《HTML &amp; CSS》並關上櫃門，書櫃回報關門，存書就完成了，系統同時通知買家前往取書。左邊的書櫃動畫和右邊的手機操作是同步的。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25 秒｜累計 10:39】</a:t>
            </a:r>
          </a:p>
          <a:p>
            <a:r>
              <a:rPr lang="zh-TW" altLang="en-US" dirty="0"/>
              <a:t>買家 es 收到通知後，可在訂單查看前往書櫃的交通資訊。以北商為例，最近的捷運站是善導寺站，2 號出口步行約 150 公尺；另有公車即時到站、YouBike 可借數量、停車與計程車招呼站。資料來自臺北市資料大平臺，最近車站在手機端計算，位置不會傳到伺服器。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25 秒｜累計 11:04】</a:t>
            </a:r>
          </a:p>
          <a:p>
            <a:r>
              <a:rPr lang="zh-TW" altLang="en-US" dirty="0"/>
              <a:t>es 抵達書櫃後，流程和存書相同：掃描螢幕上的 QR Code、確認取書項目，再輸入比對碼 25。比對成功後 A01 開鎖，es 取出書籍並關上櫃門；書櫃回報關門後，訂單進入驗收階段，App 也會提醒買家先確認書況，再完成訂單。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20 秒｜累計 11:24】</a:t>
            </a:r>
          </a:p>
          <a:p>
            <a:r>
              <a:rPr lang="zh-TW" altLang="en-US" dirty="0"/>
              <a:t>款項在付款時就由平台暫管。es 確認書況後按下完成訂單，或取書滿 24 小時未申請爭議，訂單就會自動完成，款項才撥入賣家錢包。畫面右側可以看到賣家收到撥款通知，錢包增加 250 代幣，交易完成。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30 秒｜累計 11:54】</a:t>
            </a:r>
          </a:p>
          <a:p>
            <a:r>
              <a:rPr lang="zh-TW" altLang="en-US" dirty="0"/>
              <a:t>維運方面，裝置以螢幕顯示配對碼，由管理員在後台輸入完成配對，後台可查看連線狀態、遠端開櫃與調整螢幕亮度。裝置離線超過 5 分鐘會通知管理員；離線或故障時改為手動回報，須經管理員確認才生效。逾期方面，訂單 7 天內未存書或未取書會取消並退款；先行存書滿 14 天，由平台取出並保管 30 天。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5 秒｜累計 11:59】</a:t>
            </a:r>
          </a:p>
          <a:p>
            <a:r>
              <a:rPr lang="zh-TW" altLang="en-US" dirty="0"/>
              <a:t>最後是成果與後續規劃。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30 秒｜累計 12:29】</a:t>
            </a:r>
          </a:p>
          <a:p>
            <a:r>
              <a:rPr lang="zh-TW" altLang="en-US" dirty="0"/>
              <a:t>總結目前成果：系統共有 301 個 API 端點，後端 1,563 項與 App 2,815 項測試全數通過，七項 AI 服務皆已整合，並支援 iPhone、iPad 與 Android。書櫃實機已測通並完成配對，自製主控板 Rev A 已送打樣；從上架、付款、存書、取書到撥款與爭議，完整流程皆可實際操作。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20 秒｜累計 12:49】</a:t>
            </a:r>
          </a:p>
          <a:p>
            <a:r>
              <a:rPr lang="zh-TW" altLang="en-US" dirty="0"/>
              <a:t>這是 3 月 15 日到 10 月 4 日的 GitHub 提交紀錄，四位組員共 555 次提交。3 到 5 月是初評前的開發高峰；9 月起則集中在 AI 功能、書櫃韌體與複評改善。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25 秒｜累計 13:14】</a:t>
            </a:r>
          </a:p>
          <a:p>
            <a:r>
              <a:rPr lang="zh-TW" altLang="en-US" dirty="0"/>
              <a:t>後續規劃有四項：第一，串接合法的第三方支付，提供儲值與提領；第二，App 正式上架 App Store 與 Google Play；第三，擴展到更多校園與公共場域，以 10% 交易手續費作為收益試算假設；第四，延伸到其他二手物品。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10 秒｜累計 13:24】</a:t>
            </a:r>
          </a:p>
          <a:p>
            <a:r>
              <a:rPr lang="zh-TW" altLang="en-US" dirty="0"/>
              <a:t>以上是我們的報告，謝謝各位評審老師，敬請指教。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【本頁約 0 秒｜累計 13:24】</a:t>
            </a:r>
          </a:p>
          <a:p>
            <a:r>
              <a:rPr lang="zh-TW" altLang="en-US" dirty="0"/>
              <a:t>（問答時間，以下為可能提問與回答要點）</a:t>
            </a:r>
          </a:p>
          <a:p>
            <a:r>
              <a:rPr lang="zh-TW" altLang="en-US" dirty="0"/>
              <a:t>Q：書櫃斷電或故障時，書會不會拿不出來？</a:t>
            </a:r>
          </a:p>
          <a:p>
            <a:r>
              <a:rPr lang="zh-TW" altLang="en-US" dirty="0"/>
              <a:t>A：電磁鎖斷電時維持上鎖，書在櫃內是安全的；裝置離線或故障超過 2 分鐘，App 改為手動回報，由管理員到場處理並確認後才變更訂單狀態。</a:t>
            </a:r>
          </a:p>
          <a:p>
            <a:r>
              <a:rPr lang="zh-TW" altLang="en-US" dirty="0"/>
              <a:t>Q：如何避免有人不在現場就遠端開櫃？</a:t>
            </a:r>
          </a:p>
          <a:p>
            <a:r>
              <a:rPr lang="zh-TW" altLang="en-US" dirty="0"/>
              <a:t>A：開櫃要通過四道驗證：書櫃螢幕的動態 QR Code 每 30 秒更新、45 秒失效；手機定位須在 200 公尺內；比對碼只顯示在書櫃螢幕上，輸入錯誤兩次暫停 10 分鐘；書櫃以裝置憑證連線。</a:t>
            </a:r>
          </a:p>
          <a:p>
            <a:r>
              <a:rPr lang="zh-TW" altLang="en-US" dirty="0"/>
              <a:t>Q：AI 判斷錯誤怎麼辦？</a:t>
            </a:r>
          </a:p>
          <a:p>
            <a:r>
              <a:rPr lang="zh-TW" altLang="en-US" dirty="0"/>
              <a:t>A：AI 只提供建議，書況與售價由賣家確認後才套用；上架審核有疑慮者送管理員複核；交易爭議由管理員依證據裁決，AI 分析僅供參考。</a:t>
            </a:r>
          </a:p>
          <a:p>
            <a:r>
              <a:rPr lang="zh-TW" altLang="en-US" dirty="0"/>
              <a:t>Q：買家拿到的書與描述不符如何保障？</a:t>
            </a:r>
          </a:p>
          <a:p>
            <a:r>
              <a:rPr lang="zh-TW" altLang="en-US" dirty="0"/>
              <a:t>A：款項由平台暫管，取書後 24 小時內可申請爭議並附照片，期間暫停撥款，由管理員裁決退款或撥款。</a:t>
            </a:r>
          </a:p>
          <a:p>
            <a:r>
              <a:rPr lang="zh-TW" altLang="en-US" dirty="0"/>
              <a:t>Q：AI 使用成本如何控制？</a:t>
            </a:r>
          </a:p>
          <a:p>
            <a:r>
              <a:rPr lang="zh-TW" altLang="en-US" dirty="0"/>
              <a:t>A：後台可設定每月預算上限，服務異常時有備援處理，並記錄每次 AI 使用量。</a:t>
            </a:r>
          </a:p>
          <a:p>
            <a:r>
              <a:rPr lang="zh-TW" altLang="en-US" dirty="0"/>
              <a:t>Q：個人資料與位置隱私？</a:t>
            </a:r>
          </a:p>
          <a:p>
            <a:r>
              <a:rPr lang="zh-TW" altLang="en-US" dirty="0"/>
              <a:t>A：開櫃時才傳送定位驗證距離；前往書櫃的最近車站在手機端計算，不傳到伺服器。使用 AI 前須同意 AI 使用說明，決策紀錄不含使用者原文，AI 對話保存 90 天。</a:t>
            </a:r>
          </a:p>
          <a:p>
            <a:r>
              <a:rPr lang="zh-TW" altLang="en-US" dirty="0"/>
              <a:t>Q：平台如何獲利？</a:t>
            </a:r>
          </a:p>
          <a:p>
            <a:r>
              <a:rPr lang="zh-TW" altLang="en-US" dirty="0"/>
              <a:t>A：以 10% 交易手續費作為收益試算的假設，目前系統尚未收取，後續串接第三方支付後實施。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CBCD6-DA0E-068D-0B22-4A7F6C1F0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89EDDD-BE1F-7DE7-8857-4DD4ADD36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EE0816-98E8-108B-8236-7EDB856D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7B57EA-45FC-92BE-3E10-97B23DD4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ED4720-97CA-51CA-6A02-B350111D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73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23CD8-DD4F-24D0-6912-CA20ADDB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C4E930-BCD6-97BC-3365-F2161DAC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8B31B-2050-0A34-38C6-D0BD2715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D12FB-A09E-D694-8776-A622DE48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C68E6A-0FC7-71AB-6C8D-5F6E5061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12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DB5425-0AF6-4894-F37C-143DAC43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179CF8-12F4-F3EF-A98A-50D9CE93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675756-F8C8-7CF1-D334-B8E2F5B7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A5C48F-EC15-7656-B51D-9536A14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A757AB-3085-37EC-1949-F6450661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76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4C2F4-680F-EF66-54DF-620C397F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DDD993-42EC-8B77-0E8E-5B2DE73A3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FF110E-FC6C-420E-7CFC-1B9A1902E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CAC335-0916-D7E9-1020-57E950C4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99B3A7-3247-089E-D3A1-A652C3AB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FF99E-4A48-0D68-B52A-B5107BD3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92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84C73-EF2A-06E1-C88D-19ADFF6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B89AE7-A2A3-140D-16DC-2B0287BD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0FC15B-5D91-46B7-72E3-84D27B9B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BB321C2-D28B-EF2A-1710-C139E7446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5C955B-5895-1668-355B-126BF44E3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536E26-B145-7A54-E93E-719786BA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01A1CE-676C-B92E-07E7-14AA8A03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D36E90-BE8F-EC26-C7CF-3AEEA84D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2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E484B-B9E5-2EFC-577C-0A5525C7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DE99B8-233E-356C-CEB0-7E0DF599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E61FDC-21D3-9E07-B1C4-B455A1EE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CA94C0-2579-8A54-3B08-6FD42006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65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94E9A7-530B-BCF7-EC22-702761B8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2D0E4A-F11F-0146-4909-368F424E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D170D2-B481-5B9F-3A7A-224EFE98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40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D7426-9AE6-AB2C-488C-4EC50F0E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F5A7FA-BEE0-205A-8752-825C3929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C632BA-1257-1C11-4522-0A0F94959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050E62-4799-8FFC-DF75-08834057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1CCBA2-6040-C6A2-9599-256A55E6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34BF37-0D8E-9374-345C-EEB78C1A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60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EE6C28-DCAF-439D-CDA0-BD59D555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8E4B44-F534-A400-1406-91EE85D03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745EA9-45A2-1378-FAF3-71DF97228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08EAAB-8680-3E35-9735-D01D5779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E64D2E-1418-26F8-FA0B-0AE8134F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CACE9A-561E-EF64-EBDB-7D70BBB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13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B84E3-0F2B-E5C1-533B-9596A27B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2427A7-0F29-A064-3AC2-E1F83BBB7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9CD2FB-A672-9001-C0FD-28FCFFE1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C700CD-E5BB-E39A-56FB-19F22572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A44F1-2ACE-73EB-6093-84C6E0A4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31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941E94-C7D9-2499-F23D-47FD178E0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54C61C-A654-E214-C970-7DB5EE6AC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4025D6-C922-DA5E-2D81-216C6168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4B930E-9785-8964-2B90-AB080A58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CE0C5B-2C0F-869A-62D4-2EECAA9F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09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CE76CD7-18FA-0DC6-3AEC-1DFEC1B5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F9C4F1-00C3-6599-F818-49F61D79A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F6823C-F31C-E52F-EBC3-3E544D64F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1FC8C7-C36B-F329-4CC2-55101E48F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B3C781-8624-116B-AE11-8F511226D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A8344CE-ED16-4DF8-B71B-368BD23895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18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4.png"/><Relationship Id="rId10" Type="http://schemas.openxmlformats.org/officeDocument/2006/relationships/image" Target="../media/image1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6" Type="http://schemas.openxmlformats.org/officeDocument/2006/relationships/image" Target="../media/image22.png"/><Relationship Id="rId4" Type="http://schemas.microsoft.com/office/2007/relationships/media" Target="../media/media23.mp4"/><Relationship Id="rId5" Type="http://schemas.openxmlformats.org/officeDocument/2006/relationships/video" Target="../media/media23.mp4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6" Type="http://schemas.openxmlformats.org/officeDocument/2006/relationships/image" Target="../media/image25.png"/><Relationship Id="rId4" Type="http://schemas.microsoft.com/office/2007/relationships/media" Target="../media/media26.mp4"/><Relationship Id="rId5" Type="http://schemas.openxmlformats.org/officeDocument/2006/relationships/video" Target="../media/media26.mp4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6" Type="http://schemas.openxmlformats.org/officeDocument/2006/relationships/image" Target="../media/image28.png"/><Relationship Id="rId4" Type="http://schemas.microsoft.com/office/2007/relationships/media" Target="../media/media29.mp4"/><Relationship Id="rId5" Type="http://schemas.openxmlformats.org/officeDocument/2006/relationships/video" Target="../media/media29.mp4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6" Type="http://schemas.openxmlformats.org/officeDocument/2006/relationships/image" Target="../media/image30.png"/><Relationship Id="rId4" Type="http://schemas.microsoft.com/office/2007/relationships/media" Target="../media/media31.mp4"/><Relationship Id="rId5" Type="http://schemas.openxmlformats.org/officeDocument/2006/relationships/video" Target="../media/media31.mp4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6" Type="http://schemas.openxmlformats.org/officeDocument/2006/relationships/image" Target="../media/image32.png"/><Relationship Id="rId4" Type="http://schemas.microsoft.com/office/2007/relationships/media" Target="../media/media33.mp4"/><Relationship Id="rId5" Type="http://schemas.openxmlformats.org/officeDocument/2006/relationships/video" Target="../media/media33.mp4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6" Type="http://schemas.openxmlformats.org/officeDocument/2006/relationships/image" Target="../media/image34.png"/><Relationship Id="rId4" Type="http://schemas.microsoft.com/office/2007/relationships/media" Target="../media/media35.mp4"/><Relationship Id="rId5" Type="http://schemas.openxmlformats.org/officeDocument/2006/relationships/video" Target="../media/media35.mp4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6" Type="http://schemas.openxmlformats.org/officeDocument/2006/relationships/image" Target="../media/image36.png"/><Relationship Id="rId4" Type="http://schemas.microsoft.com/office/2007/relationships/media" Target="../media/media37.mp4"/><Relationship Id="rId5" Type="http://schemas.openxmlformats.org/officeDocument/2006/relationships/video" Target="../media/media37.mp4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6" Type="http://schemas.openxmlformats.org/officeDocument/2006/relationships/image" Target="../media/image39.png"/><Relationship Id="rId4" Type="http://schemas.microsoft.com/office/2007/relationships/media" Target="../media/media40.mp4"/><Relationship Id="rId5" Type="http://schemas.openxmlformats.org/officeDocument/2006/relationships/video" Target="../media/media40.mp4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Relationship Id="rId5" Type="http://schemas.openxmlformats.org/officeDocument/2006/relationships/image" Target="../media/image42.png"/><Relationship Id="rId7" Type="http://schemas.openxmlformats.org/officeDocument/2006/relationships/image" Target="../media/image43.png"/><Relationship Id="rId9" Type="http://schemas.openxmlformats.org/officeDocument/2006/relationships/image" Target="../media/image44.png"/><Relationship Id="rId11" Type="http://schemas.openxmlformats.org/officeDocument/2006/relationships/image" Target="../media/image45.png"/><Relationship Id="rId13" Type="http://schemas.openxmlformats.org/officeDocument/2006/relationships/image" Target="../media/image1.png"/><Relationship Id="rId4" Type="http://schemas.microsoft.com/office/2017/06/relationships/model3d" Target="../media/media46.glb"/><Relationship Id="rId6" Type="http://schemas.microsoft.com/office/2017/06/relationships/model3d" Target="../media/media47.glb"/><Relationship Id="rId8" Type="http://schemas.microsoft.com/office/2017/06/relationships/model3d" Target="../media/media48.glb"/><Relationship Id="rId10" Type="http://schemas.microsoft.com/office/2017/06/relationships/model3d" Target="../media/media49.glb"/><Relationship Id="rId12" Type="http://schemas.microsoft.com/office/2017/06/relationships/model3d" Target="../media/media50.glb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2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4" Type="http://schemas.microsoft.com/office/2007/relationships/media" Target="../media/media61.mp4"/><Relationship Id="rId5" Type="http://schemas.openxmlformats.org/officeDocument/2006/relationships/video" Target="../media/media61.mp4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5" Type="http://schemas.openxmlformats.org/officeDocument/2006/relationships/image" Target="../media/image65.png"/><Relationship Id="rId8" Type="http://schemas.openxmlformats.org/officeDocument/2006/relationships/image" Target="../media/image66.png"/><Relationship Id="rId3" Type="http://schemas.microsoft.com/office/2007/relationships/media" Target="../media/media67.mp4"/><Relationship Id="rId4" Type="http://schemas.openxmlformats.org/officeDocument/2006/relationships/video" Target="../media/media67.mp4"/><Relationship Id="rId6" Type="http://schemas.microsoft.com/office/2007/relationships/media" Target="../media/media68.mp4"/><Relationship Id="rId7" Type="http://schemas.openxmlformats.org/officeDocument/2006/relationships/video" Target="../media/media68.mp4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11" Type="http://schemas.openxmlformats.org/officeDocument/2006/relationships/image" Target="../media/image75.png"/><Relationship Id="rId9" Type="http://schemas.microsoft.com/office/2007/relationships/media" Target="../media/media76.mp4"/><Relationship Id="rId10" Type="http://schemas.openxmlformats.org/officeDocument/2006/relationships/video" Target="../media/media76.mp4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5" Type="http://schemas.openxmlformats.org/officeDocument/2006/relationships/image" Target="../media/image77.png"/><Relationship Id="rId8" Type="http://schemas.openxmlformats.org/officeDocument/2006/relationships/image" Target="../media/image78.png"/><Relationship Id="rId3" Type="http://schemas.microsoft.com/office/2007/relationships/media" Target="../media/media79.mp4"/><Relationship Id="rId4" Type="http://schemas.openxmlformats.org/officeDocument/2006/relationships/video" Target="../media/media79.mp4"/><Relationship Id="rId6" Type="http://schemas.microsoft.com/office/2007/relationships/media" Target="../media/media80.mp4"/><Relationship Id="rId7" Type="http://schemas.openxmlformats.org/officeDocument/2006/relationships/video" Target="../media/media80.mp4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5" Type="http://schemas.openxmlformats.org/officeDocument/2006/relationships/image" Target="../media/image81.png"/><Relationship Id="rId3" Type="http://schemas.microsoft.com/office/2007/relationships/media" Target="../media/media82.mp4"/><Relationship Id="rId4" Type="http://schemas.openxmlformats.org/officeDocument/2006/relationships/video" Target="../media/media82.mp4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86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6.png"/><Relationship Id="rId4" Type="http://schemas.openxmlformats.org/officeDocument/2006/relationships/image" Target="../media/image4.png"/><Relationship Id="rId5" Type="http://schemas.openxmlformats.org/officeDocument/2006/relationships/image" Target="../media/image63.png"/><Relationship Id="rId6" Type="http://schemas.openxmlformats.org/officeDocument/2006/relationships/image" Target="../media/image3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86412A9-BB27-426E-A415-81B54D60BF37}"/>
              </a:ext>
            </a:extLst>
          </p:cNvPr>
          <p:cNvSpPr/>
          <p:nvPr/>
        </p:nvSpPr>
        <p:spPr>
          <a:xfrm>
            <a:off x="0" y="4664364"/>
            <a:ext cx="12191999" cy="2193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5898751-C33B-2F9B-088F-AAD6C644C542}"/>
              </a:ext>
            </a:extLst>
          </p:cNvPr>
          <p:cNvSpPr txBox="1"/>
          <p:nvPr/>
        </p:nvSpPr>
        <p:spPr>
          <a:xfrm>
            <a:off x="967525" y="5200075"/>
            <a:ext cx="146163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指導老師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pc="100" dirty="0">
                <a:solidFill>
                  <a:srgbClr val="F8FAFB"/>
                </a:solidFill>
              </a:rPr>
              <a:t>林俊杰 老師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CDA2FE4-A722-F248-99CD-7A28539E3E87}"/>
              </a:ext>
            </a:extLst>
          </p:cNvPr>
          <p:cNvSpPr txBox="1"/>
          <p:nvPr/>
        </p:nvSpPr>
        <p:spPr>
          <a:xfrm>
            <a:off x="2722307" y="5200075"/>
            <a:ext cx="207607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組長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3 </a:t>
            </a:r>
            <a:r>
              <a:rPr lang="zh-TW" altLang="en-US" spc="100" dirty="0">
                <a:solidFill>
                  <a:srgbClr val="F8FAFB"/>
                </a:solidFill>
              </a:rPr>
              <a:t>許凱俊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BDBDDDE-BDE8-0A91-3C2F-B00497B00458}"/>
              </a:ext>
            </a:extLst>
          </p:cNvPr>
          <p:cNvSpPr txBox="1"/>
          <p:nvPr/>
        </p:nvSpPr>
        <p:spPr>
          <a:xfrm>
            <a:off x="5091528" y="5200075"/>
            <a:ext cx="6132946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組員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5</a:t>
            </a:r>
            <a:r>
              <a:rPr lang="zh-TW" altLang="en-US" spc="100" dirty="0">
                <a:solidFill>
                  <a:srgbClr val="F8FAFB"/>
                </a:solidFill>
              </a:rPr>
              <a:t> 陳秉鴻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2</a:t>
            </a:r>
            <a:r>
              <a:rPr lang="zh-TW" altLang="en-US" spc="100" dirty="0">
                <a:solidFill>
                  <a:srgbClr val="F8FAFB"/>
                </a:solidFill>
              </a:rPr>
              <a:t> 連卉媗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4</a:t>
            </a:r>
            <a:r>
              <a:rPr lang="zh-TW" altLang="en-US" spc="100" dirty="0">
                <a:solidFill>
                  <a:srgbClr val="F8FAFB"/>
                </a:solidFill>
              </a:rPr>
              <a:t> 江芸萱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A348579-313E-8E09-6699-96ED2776B5BE}"/>
              </a:ext>
            </a:extLst>
          </p:cNvPr>
          <p:cNvSpPr txBox="1"/>
          <p:nvPr/>
        </p:nvSpPr>
        <p:spPr>
          <a:xfrm>
            <a:off x="967526" y="1661776"/>
            <a:ext cx="589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-500" dirty="0">
                <a:latin typeface="+mj-ea"/>
                <a:ea typeface="+mj-ea"/>
              </a:rPr>
              <a:t>救</a:t>
            </a:r>
            <a:r>
              <a:rPr lang="zh-TW" altLang="en-US" sz="6000" b="1" spc="500" dirty="0">
                <a:solidFill>
                  <a:schemeClr val="accent1"/>
                </a:solidFill>
                <a:latin typeface="+mj-ea"/>
                <a:ea typeface="+mj-ea"/>
              </a:rPr>
              <a:t>「舊</a:t>
            </a:r>
            <a:r>
              <a:rPr lang="zh-TW" altLang="en-US" sz="6000" b="1" spc="-500" dirty="0">
                <a:solidFill>
                  <a:schemeClr val="accent1"/>
                </a:solidFill>
                <a:latin typeface="+mj-ea"/>
                <a:ea typeface="+mj-ea"/>
              </a:rPr>
              <a:t>」</a:t>
            </a:r>
            <a:r>
              <a:rPr lang="zh-TW" altLang="en-US" sz="6000" b="1" spc="200" dirty="0">
                <a:latin typeface="+mj-ea"/>
                <a:ea typeface="+mj-ea"/>
              </a:rPr>
              <a:t>我的書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8F283BB-5562-FE4D-8A09-AF8E67F36418}"/>
              </a:ext>
            </a:extLst>
          </p:cNvPr>
          <p:cNvSpPr txBox="1"/>
          <p:nvPr/>
        </p:nvSpPr>
        <p:spPr>
          <a:xfrm>
            <a:off x="967526" y="2859942"/>
            <a:ext cx="676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spc="100" dirty="0"/>
              <a:t>AI 智慧服務 × App 交易平台 × IoT 智慧書櫃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A6338D1-7CFE-CFD4-ECD9-34285F9A9BB4}"/>
              </a:ext>
            </a:extLst>
          </p:cNvPr>
          <p:cNvSpPr txBox="1"/>
          <p:nvPr/>
        </p:nvSpPr>
        <p:spPr>
          <a:xfrm>
            <a:off x="967526" y="667053"/>
            <a:ext cx="42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500" spc="100" dirty="0">
                <a:solidFill>
                  <a:schemeClr val="accent1"/>
                </a:solidFill>
                <a:latin typeface="+mj-lt"/>
                <a:ea typeface="+mj-ea"/>
              </a:rPr>
              <a:t>四技第 115414 組｜複評簡報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FE5436B-E09D-E14C-4DED-869AADD7F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8120" y="735345"/>
            <a:ext cx="3291840" cy="318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09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目錄色塊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" name="文字 3"/>
          <p:cNvSpPr txBox="1"/>
          <p:nvPr/>
        </p:nvSpPr>
        <p:spPr>
          <a:xfrm>
            <a:off x="822960" y="23317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5400" b="1" spc="600" dirty="0">
                <a:solidFill>
                  <a:srgbClr val="FFFFFF"/>
                </a:solidFill>
                <a:latin typeface="+mn-ea"/>
              </a:rPr>
              <a:t>目錄</a:t>
            </a:r>
            <a:endParaRPr lang="zh-TW" altLang="en-US" sz="5400" dirty="0"/>
          </a:p>
        </p:txBody>
      </p:sp>
      <p:sp>
        <p:nvSpPr>
          <p:cNvPr id="4" name="文字 4"/>
          <p:cNvSpPr txBox="1"/>
          <p:nvPr/>
        </p:nvSpPr>
        <p:spPr>
          <a:xfrm>
            <a:off x="868680" y="32461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spc="500" dirty="0">
                <a:solidFill>
                  <a:srgbClr val="D5DEE2"/>
                </a:solidFill>
              </a:rPr>
              <a:t>CONTENTS</a:t>
            </a:r>
            <a:endParaRPr lang="zh-TW" altLang="en-US" sz="1500" dirty="0"/>
          </a:p>
        </p:txBody>
      </p:sp>
      <p:sp>
        <p:nvSpPr>
          <p:cNvPr id="5" name="文字 5"/>
          <p:cNvSpPr txBox="1"/>
          <p:nvPr/>
        </p:nvSpPr>
        <p:spPr>
          <a:xfrm>
            <a:off x="868680" y="59893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300" b="0" dirty="0">
                <a:solidFill>
                  <a:srgbClr val="D5DEE2"/>
                </a:solidFill>
              </a:rPr>
              <a:t>救「</a:t>
            </a:r>
            <a:r>
              <a:rPr lang="zh-TW" altLang="en-US" sz="1300" b="1" dirty="0">
                <a:solidFill>
                  <a:srgbClr val="FFFFFF"/>
                </a:solidFill>
              </a:rPr>
              <a:t>舊</a:t>
            </a:r>
            <a:r>
              <a:rPr lang="zh-TW" altLang="en-US" sz="1300" b="0" dirty="0">
                <a:solidFill>
                  <a:srgbClr val="D5DEE2"/>
                </a:solidFill>
              </a:rPr>
              <a:t>」我的書</a:t>
            </a:r>
            <a:endParaRPr lang="zh-TW" altLang="en-US" sz="1300" dirty="0"/>
          </a:p>
        </p:txBody>
      </p:sp>
      <p:sp>
        <p:nvSpPr>
          <p:cNvPr id="6" name="文字 6"/>
          <p:cNvSpPr txBox="1"/>
          <p:nvPr/>
        </p:nvSpPr>
        <p:spPr>
          <a:xfrm>
            <a:off x="4983480" y="107899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0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3000" dirty="0"/>
          </a:p>
        </p:txBody>
      </p:sp>
      <p:sp>
        <p:nvSpPr>
          <p:cNvPr id="7" name="文字 7"/>
          <p:cNvSpPr txBox="1"/>
          <p:nvPr/>
        </p:nvSpPr>
        <p:spPr>
          <a:xfrm>
            <a:off x="6035040" y="104241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1F2A30"/>
                </a:solidFill>
              </a:rPr>
              <a:t>初評建議與改善</a:t>
            </a:r>
            <a:endParaRPr lang="zh-TW" altLang="en-US" sz="2400" dirty="0"/>
          </a:p>
        </p:txBody>
      </p:sp>
      <p:sp>
        <p:nvSpPr>
          <p:cNvPr id="8" name="文字 8"/>
          <p:cNvSpPr txBox="1"/>
          <p:nvPr/>
        </p:nvSpPr>
        <p:spPr>
          <a:xfrm>
            <a:off x="6053328" y="149961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0" spc="200" dirty="0">
                <a:solidFill>
                  <a:srgbClr val="7E8A90"/>
                </a:solidFill>
              </a:rPr>
              <a:t>REVIEW RESPONSE</a:t>
            </a:r>
            <a:endParaRPr lang="zh-TW" altLang="en-US" sz="1150" dirty="0"/>
          </a:p>
        </p:txBody>
      </p:sp>
      <p:sp>
        <p:nvSpPr>
          <p:cNvPr id="9" name="文字 9"/>
          <p:cNvSpPr txBox="1"/>
          <p:nvPr/>
        </p:nvSpPr>
        <p:spPr>
          <a:xfrm>
            <a:off x="10241280" y="11704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400" b="1" dirty="0">
                <a:solidFill>
                  <a:srgbClr val="607D8B"/>
                </a:solidFill>
              </a:rPr>
              <a:t>P.4</a:t>
            </a:r>
            <a:endParaRPr lang="zh-TW" altLang="en-US" sz="1400" dirty="0"/>
          </a:p>
        </p:txBody>
      </p:sp>
      <p:cxnSp>
        <p:nvCxnSpPr>
          <p:cNvPr id="10" name="線條 10"/>
          <p:cNvCxnSpPr/>
          <p:nvPr/>
        </p:nvCxnSpPr>
        <p:spPr>
          <a:xfrm>
            <a:off x="4983480" y="1956816"/>
            <a:ext cx="6446520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11" name="文字 11"/>
          <p:cNvSpPr txBox="1"/>
          <p:nvPr/>
        </p:nvSpPr>
        <p:spPr>
          <a:xfrm>
            <a:off x="4983480" y="2066544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0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3000" dirty="0"/>
          </a:p>
        </p:txBody>
      </p:sp>
      <p:sp>
        <p:nvSpPr>
          <p:cNvPr id="12" name="文字 12"/>
          <p:cNvSpPr txBox="1"/>
          <p:nvPr/>
        </p:nvSpPr>
        <p:spPr>
          <a:xfrm>
            <a:off x="6035040" y="20299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1F2A30"/>
                </a:solidFill>
              </a:rPr>
              <a:t>系統核心與架構</a:t>
            </a:r>
            <a:endParaRPr lang="zh-TW" altLang="en-US" sz="2400" dirty="0"/>
          </a:p>
        </p:txBody>
      </p:sp>
      <p:sp>
        <p:nvSpPr>
          <p:cNvPr id="13" name="文字 13"/>
          <p:cNvSpPr txBox="1"/>
          <p:nvPr/>
        </p:nvSpPr>
        <p:spPr>
          <a:xfrm>
            <a:off x="6053328" y="24871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0" spc="200" dirty="0">
                <a:solidFill>
                  <a:srgbClr val="7E8A90"/>
                </a:solidFill>
              </a:rPr>
              <a:t>SYSTEM OVERVIEW</a:t>
            </a:r>
            <a:endParaRPr lang="zh-TW" altLang="en-US" sz="1150" dirty="0"/>
          </a:p>
        </p:txBody>
      </p:sp>
      <p:sp>
        <p:nvSpPr>
          <p:cNvPr id="14" name="文字 14"/>
          <p:cNvSpPr txBox="1"/>
          <p:nvPr/>
        </p:nvSpPr>
        <p:spPr>
          <a:xfrm>
            <a:off x="10241280" y="215798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400" b="1" dirty="0">
                <a:solidFill>
                  <a:srgbClr val="607D8B"/>
                </a:solidFill>
              </a:rPr>
              <a:t>P.8</a:t>
            </a:r>
            <a:endParaRPr lang="zh-TW" altLang="en-US" sz="1400" dirty="0"/>
          </a:p>
        </p:txBody>
      </p:sp>
      <p:cxnSp>
        <p:nvCxnSpPr>
          <p:cNvPr id="15" name="線條 15"/>
          <p:cNvCxnSpPr/>
          <p:nvPr/>
        </p:nvCxnSpPr>
        <p:spPr>
          <a:xfrm>
            <a:off x="4983480" y="2944368"/>
            <a:ext cx="6446520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16" name="文字 16"/>
          <p:cNvSpPr txBox="1"/>
          <p:nvPr/>
        </p:nvSpPr>
        <p:spPr>
          <a:xfrm>
            <a:off x="4983480" y="3054096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0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3000" dirty="0"/>
          </a:p>
        </p:txBody>
      </p:sp>
      <p:sp>
        <p:nvSpPr>
          <p:cNvPr id="17" name="文字 17"/>
          <p:cNvSpPr txBox="1"/>
          <p:nvPr/>
        </p:nvSpPr>
        <p:spPr>
          <a:xfrm>
            <a:off x="6035040" y="30175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1F2A30"/>
                </a:solidFill>
              </a:rPr>
              <a:t>AI 智慧服務</a:t>
            </a:r>
            <a:endParaRPr lang="zh-TW" altLang="en-US" sz="2400" dirty="0"/>
          </a:p>
        </p:txBody>
      </p:sp>
      <p:sp>
        <p:nvSpPr>
          <p:cNvPr id="18" name="文字 18"/>
          <p:cNvSpPr txBox="1"/>
          <p:nvPr/>
        </p:nvSpPr>
        <p:spPr>
          <a:xfrm>
            <a:off x="6053328" y="3474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0" spc="200" dirty="0">
                <a:solidFill>
                  <a:srgbClr val="7E8A90"/>
                </a:solidFill>
              </a:rPr>
              <a:t>AI SERVICES</a:t>
            </a:r>
            <a:endParaRPr lang="zh-TW" altLang="en-US" sz="1150" dirty="0"/>
          </a:p>
        </p:txBody>
      </p:sp>
      <p:sp>
        <p:nvSpPr>
          <p:cNvPr id="19" name="文字 19"/>
          <p:cNvSpPr txBox="1"/>
          <p:nvPr/>
        </p:nvSpPr>
        <p:spPr>
          <a:xfrm>
            <a:off x="10241280" y="314553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400" b="1" dirty="0">
                <a:solidFill>
                  <a:srgbClr val="607D8B"/>
                </a:solidFill>
              </a:rPr>
              <a:t>P.11</a:t>
            </a:r>
            <a:endParaRPr lang="zh-TW" altLang="en-US" sz="1400" dirty="0"/>
          </a:p>
        </p:txBody>
      </p:sp>
      <p:cxnSp>
        <p:nvCxnSpPr>
          <p:cNvPr id="20" name="線條 20"/>
          <p:cNvCxnSpPr/>
          <p:nvPr/>
        </p:nvCxnSpPr>
        <p:spPr>
          <a:xfrm>
            <a:off x="4983480" y="3931920"/>
            <a:ext cx="6446520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21" name="文字 21"/>
          <p:cNvSpPr txBox="1"/>
          <p:nvPr/>
        </p:nvSpPr>
        <p:spPr>
          <a:xfrm>
            <a:off x="4983480" y="4041648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0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3000" dirty="0"/>
          </a:p>
        </p:txBody>
      </p:sp>
      <p:sp>
        <p:nvSpPr>
          <p:cNvPr id="22" name="文字 22"/>
          <p:cNvSpPr txBox="1"/>
          <p:nvPr/>
        </p:nvSpPr>
        <p:spPr>
          <a:xfrm>
            <a:off x="6035040" y="40050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1F2A30"/>
                </a:solidFill>
              </a:rPr>
              <a:t>IoT 智慧書櫃</a:t>
            </a:r>
            <a:endParaRPr lang="zh-TW" altLang="en-US" sz="2400" dirty="0"/>
          </a:p>
        </p:txBody>
      </p:sp>
      <p:sp>
        <p:nvSpPr>
          <p:cNvPr id="23" name="文字 23"/>
          <p:cNvSpPr txBox="1"/>
          <p:nvPr/>
        </p:nvSpPr>
        <p:spPr>
          <a:xfrm>
            <a:off x="6053328" y="44622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0" spc="200" dirty="0">
                <a:solidFill>
                  <a:srgbClr val="7E8A90"/>
                </a:solidFill>
              </a:rPr>
              <a:t>SMART CABINET</a:t>
            </a:r>
            <a:endParaRPr lang="zh-TW" altLang="en-US" sz="1150" dirty="0"/>
          </a:p>
        </p:txBody>
      </p:sp>
      <p:sp>
        <p:nvSpPr>
          <p:cNvPr id="24" name="文字 24"/>
          <p:cNvSpPr txBox="1"/>
          <p:nvPr/>
        </p:nvSpPr>
        <p:spPr>
          <a:xfrm>
            <a:off x="10241280" y="413308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400" b="1" dirty="0">
                <a:solidFill>
                  <a:srgbClr val="607D8B"/>
                </a:solidFill>
              </a:rPr>
              <a:t>P.21</a:t>
            </a:r>
            <a:endParaRPr lang="zh-TW" altLang="en-US" sz="1400" dirty="0"/>
          </a:p>
        </p:txBody>
      </p:sp>
      <p:cxnSp>
        <p:nvCxnSpPr>
          <p:cNvPr id="25" name="線條 25"/>
          <p:cNvCxnSpPr/>
          <p:nvPr/>
        </p:nvCxnSpPr>
        <p:spPr>
          <a:xfrm>
            <a:off x="4983480" y="4919472"/>
            <a:ext cx="6446520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26" name="文字 26"/>
          <p:cNvSpPr txBox="1"/>
          <p:nvPr/>
        </p:nvSpPr>
        <p:spPr>
          <a:xfrm>
            <a:off x="4983480" y="50292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0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05</a:t>
            </a:r>
            <a:endParaRPr lang="zh-TW" altLang="en-US" sz="3000" dirty="0"/>
          </a:p>
        </p:txBody>
      </p:sp>
      <p:sp>
        <p:nvSpPr>
          <p:cNvPr id="27" name="文字 27"/>
          <p:cNvSpPr txBox="1"/>
          <p:nvPr/>
        </p:nvSpPr>
        <p:spPr>
          <a:xfrm>
            <a:off x="6035040" y="499262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1F2A30"/>
                </a:solidFill>
              </a:rPr>
              <a:t>成果與後續規劃</a:t>
            </a:r>
            <a:endParaRPr lang="zh-TW" altLang="en-US" sz="2400" dirty="0"/>
          </a:p>
        </p:txBody>
      </p:sp>
      <p:sp>
        <p:nvSpPr>
          <p:cNvPr id="28" name="文字 28"/>
          <p:cNvSpPr txBox="1"/>
          <p:nvPr/>
        </p:nvSpPr>
        <p:spPr>
          <a:xfrm>
            <a:off x="6053328" y="54498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0" spc="200" dirty="0">
                <a:solidFill>
                  <a:srgbClr val="7E8A90"/>
                </a:solidFill>
              </a:rPr>
              <a:t>RESULTS &amp; ROADMAP</a:t>
            </a:r>
            <a:endParaRPr lang="zh-TW" altLang="en-US" sz="1150" dirty="0"/>
          </a:p>
        </p:txBody>
      </p:sp>
      <p:sp>
        <p:nvSpPr>
          <p:cNvPr id="29" name="文字 29"/>
          <p:cNvSpPr txBox="1"/>
          <p:nvPr/>
        </p:nvSpPr>
        <p:spPr>
          <a:xfrm>
            <a:off x="10241280" y="51206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400" b="1" dirty="0">
                <a:solidFill>
                  <a:srgbClr val="607D8B"/>
                </a:solidFill>
              </a:rPr>
              <a:t>P.31</a:t>
            </a:r>
            <a:endParaRPr lang="zh-TW" alt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43455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01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初評建議與改善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初評改善：書籍資訊與 AI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初評改善：書籍資訊與 AI</a:t>
            </a:r>
            <a:endParaRPr lang="zh-TW" altLang="en-US" sz="3600" dirty="0"/>
          </a:p>
        </p:txBody>
      </p:sp>
      <p:sp>
        <p:nvSpPr>
          <p:cNvPr id="3" name="!!英文標籤｜REVIEW RESPONSE · LISTING &amp; AI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REVIEW RESPONSE · LISTING &amp; AI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4</a:t>
            </a:fld>
            <a:endParaRPr lang="zh-TW" altLang="en-US" sz="1400" spc="200" dirty="0"/>
          </a:p>
        </p:txBody>
      </p:sp>
      <p:sp>
        <p:nvSpPr>
          <p:cNvPr id="6" name="!!卡片1"/>
          <p:cNvSpPr/>
          <p:nvPr/>
        </p:nvSpPr>
        <p:spPr>
          <a:xfrm>
            <a:off x="758952" y="160020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7" name="!!評審建議1"/>
          <p:cNvSpPr txBox="1"/>
          <p:nvPr/>
        </p:nvSpPr>
        <p:spPr>
          <a:xfrm>
            <a:off x="1655064" y="18379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8" name="文字 8"/>
          <p:cNvSpPr txBox="1"/>
          <p:nvPr/>
        </p:nvSpPr>
        <p:spPr>
          <a:xfrm>
            <a:off x="1088136" y="1783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800" dirty="0"/>
          </a:p>
        </p:txBody>
      </p:sp>
      <p:sp>
        <p:nvSpPr>
          <p:cNvPr id="9" name="標籤 9"/>
          <p:cNvSpPr/>
          <p:nvPr/>
        </p:nvSpPr>
        <p:spPr>
          <a:xfrm>
            <a:off x="4951476" y="180136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46555C"/>
                </a:solidFill>
              </a:rPr>
              <a:t>App</a:t>
            </a:r>
            <a:endParaRPr lang="zh-TW" altLang="en-US" sz="1150" dirty="0"/>
          </a:p>
        </p:txBody>
      </p:sp>
      <p:sp>
        <p:nvSpPr>
          <p:cNvPr id="10" name="文字 10"/>
          <p:cNvSpPr txBox="1"/>
          <p:nvPr/>
        </p:nvSpPr>
        <p:spPr>
          <a:xfrm>
            <a:off x="1088136" y="220370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「附件（如光碟）是否完整需標示」</a:t>
            </a:r>
            <a:endParaRPr lang="zh-TW" altLang="en-US" sz="1500" dirty="0"/>
          </a:p>
        </p:txBody>
      </p:sp>
      <p:sp>
        <p:nvSpPr>
          <p:cNvPr id="11" name="文字 11"/>
          <p:cNvSpPr txBox="1"/>
          <p:nvPr/>
        </p:nvSpPr>
        <p:spPr>
          <a:xfrm>
            <a:off x="1088136" y="260604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實拍照片＋書況說明</a:t>
            </a:r>
            <a:endParaRPr lang="zh-TW" altLang="en-US" sz="2500" dirty="0"/>
          </a:p>
        </p:txBody>
      </p:sp>
      <p:sp>
        <p:nvSpPr>
          <p:cNvPr id="12" name="文字 12"/>
          <p:cNvSpPr txBox="1"/>
          <p:nvPr/>
        </p:nvSpPr>
        <p:spPr>
          <a:xfrm>
            <a:off x="4219956" y="32735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P.13</a:t>
            </a:r>
            <a:endParaRPr lang="zh-TW" altLang="en-US" sz="1250" dirty="0"/>
          </a:p>
        </p:txBody>
      </p:sp>
      <p:sp>
        <p:nvSpPr>
          <p:cNvPr id="13" name="!!卡片2"/>
          <p:cNvSpPr/>
          <p:nvPr/>
        </p:nvSpPr>
        <p:spPr>
          <a:xfrm>
            <a:off x="6231636" y="160020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4" name="!!評審建議2"/>
          <p:cNvSpPr txBox="1"/>
          <p:nvPr/>
        </p:nvSpPr>
        <p:spPr>
          <a:xfrm>
            <a:off x="7127748" y="18379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15" name="文字 15"/>
          <p:cNvSpPr txBox="1"/>
          <p:nvPr/>
        </p:nvSpPr>
        <p:spPr>
          <a:xfrm>
            <a:off x="6560820" y="1783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800" dirty="0"/>
          </a:p>
        </p:txBody>
      </p:sp>
      <p:sp>
        <p:nvSpPr>
          <p:cNvPr id="16" name="標籤 16"/>
          <p:cNvSpPr/>
          <p:nvPr/>
        </p:nvSpPr>
        <p:spPr>
          <a:xfrm>
            <a:off x="10424160" y="180136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FFFFFF"/>
                </a:solidFill>
              </a:rPr>
              <a:t>AI</a:t>
            </a:r>
            <a:endParaRPr lang="zh-TW" altLang="en-US" sz="1150" dirty="0"/>
          </a:p>
        </p:txBody>
      </p:sp>
      <p:sp>
        <p:nvSpPr>
          <p:cNvPr id="17" name="文字 17"/>
          <p:cNvSpPr txBox="1"/>
          <p:nvPr/>
        </p:nvSpPr>
        <p:spPr>
          <a:xfrm>
            <a:off x="6560820" y="220370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「書況判定可導入 AI」</a:t>
            </a:r>
            <a:endParaRPr lang="zh-TW" altLang="en-US" sz="1500" dirty="0"/>
          </a:p>
        </p:txBody>
      </p:sp>
      <p:sp>
        <p:nvSpPr>
          <p:cNvPr id="18" name="文字 18"/>
          <p:cNvSpPr txBox="1"/>
          <p:nvPr/>
        </p:nvSpPr>
        <p:spPr>
          <a:xfrm>
            <a:off x="6560820" y="260604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AI 依照片判斷書況</a:t>
            </a:r>
            <a:endParaRPr lang="zh-TW" altLang="en-US" sz="2500" dirty="0"/>
          </a:p>
        </p:txBody>
      </p:sp>
      <p:sp>
        <p:nvSpPr>
          <p:cNvPr id="19" name="文字 19"/>
          <p:cNvSpPr txBox="1"/>
          <p:nvPr/>
        </p:nvSpPr>
        <p:spPr>
          <a:xfrm>
            <a:off x="9692640" y="32735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P.13</a:t>
            </a:r>
            <a:endParaRPr lang="zh-TW" altLang="en-US" sz="1250" dirty="0"/>
          </a:p>
        </p:txBody>
      </p:sp>
      <p:sp>
        <p:nvSpPr>
          <p:cNvPr id="20" name="!!卡片3"/>
          <p:cNvSpPr/>
          <p:nvPr/>
        </p:nvSpPr>
        <p:spPr>
          <a:xfrm>
            <a:off x="758952" y="393192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1" name="!!評審建議3"/>
          <p:cNvSpPr txBox="1"/>
          <p:nvPr/>
        </p:nvSpPr>
        <p:spPr>
          <a:xfrm>
            <a:off x="1655064" y="41696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22" name="文字 22"/>
          <p:cNvSpPr txBox="1"/>
          <p:nvPr/>
        </p:nvSpPr>
        <p:spPr>
          <a:xfrm>
            <a:off x="1088136" y="41148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800" dirty="0"/>
          </a:p>
        </p:txBody>
      </p:sp>
      <p:sp>
        <p:nvSpPr>
          <p:cNvPr id="23" name="標籤 23"/>
          <p:cNvSpPr/>
          <p:nvPr/>
        </p:nvSpPr>
        <p:spPr>
          <a:xfrm>
            <a:off x="4951476" y="41330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FFFFFF"/>
                </a:solidFill>
              </a:rPr>
              <a:t>AI</a:t>
            </a:r>
            <a:endParaRPr lang="zh-TW" altLang="en-US" sz="1150" dirty="0"/>
          </a:p>
        </p:txBody>
      </p:sp>
      <p:sp>
        <p:nvSpPr>
          <p:cNvPr id="24" name="文字 24"/>
          <p:cNvSpPr txBox="1"/>
          <p:nvPr/>
        </p:nvSpPr>
        <p:spPr>
          <a:xfrm>
            <a:off x="1088136" y="453542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「補充書籍資訊與合理定價」</a:t>
            </a:r>
            <a:endParaRPr lang="zh-TW" altLang="en-US" sz="1500" dirty="0"/>
          </a:p>
        </p:txBody>
      </p:sp>
      <p:sp>
        <p:nvSpPr>
          <p:cNvPr id="25" name="文字 25"/>
          <p:cNvSpPr txBox="1"/>
          <p:nvPr/>
        </p:nvSpPr>
        <p:spPr>
          <a:xfrm>
            <a:off x="1088136" y="493776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ISBN 帶入＋建議售價</a:t>
            </a:r>
            <a:endParaRPr lang="zh-TW" altLang="en-US" sz="2500" dirty="0"/>
          </a:p>
        </p:txBody>
      </p:sp>
      <p:sp>
        <p:nvSpPr>
          <p:cNvPr id="26" name="文字 26"/>
          <p:cNvSpPr txBox="1"/>
          <p:nvPr/>
        </p:nvSpPr>
        <p:spPr>
          <a:xfrm>
            <a:off x="4219956" y="5605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P.12</a:t>
            </a:r>
            <a:endParaRPr lang="zh-TW" altLang="en-US" sz="1250" dirty="0"/>
          </a:p>
        </p:txBody>
      </p:sp>
      <p:sp>
        <p:nvSpPr>
          <p:cNvPr id="27" name="!!卡片4"/>
          <p:cNvSpPr/>
          <p:nvPr/>
        </p:nvSpPr>
        <p:spPr>
          <a:xfrm>
            <a:off x="6231636" y="393192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8" name="!!評審建議4"/>
          <p:cNvSpPr txBox="1"/>
          <p:nvPr/>
        </p:nvSpPr>
        <p:spPr>
          <a:xfrm>
            <a:off x="7127748" y="41696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29" name="文字 29"/>
          <p:cNvSpPr txBox="1"/>
          <p:nvPr/>
        </p:nvSpPr>
        <p:spPr>
          <a:xfrm>
            <a:off x="6560820" y="41148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800" dirty="0"/>
          </a:p>
        </p:txBody>
      </p:sp>
      <p:sp>
        <p:nvSpPr>
          <p:cNvPr id="30" name="標籤 30"/>
          <p:cNvSpPr/>
          <p:nvPr/>
        </p:nvSpPr>
        <p:spPr>
          <a:xfrm>
            <a:off x="10424160" y="41330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FFFFFF"/>
                </a:solidFill>
              </a:rPr>
              <a:t>AI</a:t>
            </a:r>
            <a:endParaRPr lang="zh-TW" altLang="en-US" sz="1150" dirty="0"/>
          </a:p>
        </p:txBody>
      </p:sp>
      <p:sp>
        <p:nvSpPr>
          <p:cNvPr id="31" name="文字 31"/>
          <p:cNvSpPr txBox="1"/>
          <p:nvPr/>
        </p:nvSpPr>
        <p:spPr>
          <a:xfrm>
            <a:off x="6560820" y="453542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「如何防止上架非書籍或不當物品」</a:t>
            </a:r>
            <a:endParaRPr lang="zh-TW" altLang="en-US" sz="1500" dirty="0"/>
          </a:p>
        </p:txBody>
      </p:sp>
      <p:sp>
        <p:nvSpPr>
          <p:cNvPr id="32" name="文字 32"/>
          <p:cNvSpPr txBox="1"/>
          <p:nvPr/>
        </p:nvSpPr>
        <p:spPr>
          <a:xfrm>
            <a:off x="6560820" y="493776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規則＋AI 審核</a:t>
            </a:r>
            <a:endParaRPr lang="zh-TW" altLang="en-US" sz="2500" dirty="0"/>
          </a:p>
        </p:txBody>
      </p:sp>
      <p:sp>
        <p:nvSpPr>
          <p:cNvPr id="33" name="文字 33"/>
          <p:cNvSpPr txBox="1"/>
          <p:nvPr/>
        </p:nvSpPr>
        <p:spPr>
          <a:xfrm>
            <a:off x="9692640" y="5605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P.14</a:t>
            </a:r>
            <a:endParaRPr lang="zh-TW" alt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629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629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629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629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629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初評改善：交易與營運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初評改善：交易與營運</a:t>
            </a:r>
            <a:endParaRPr lang="zh-TW" altLang="en-US" sz="3600" dirty="0"/>
          </a:p>
        </p:txBody>
      </p:sp>
      <p:sp>
        <p:nvSpPr>
          <p:cNvPr id="3" name="!!英文標籤｜REVIEW RESPONSE · TRADE &amp; OPERATIONS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REVIEW RESPONSE · TRADE &amp; OPERATIONS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5</a:t>
            </a:fld>
            <a:endParaRPr lang="zh-TW" altLang="en-US" sz="1400" spc="200" dirty="0"/>
          </a:p>
        </p:txBody>
      </p:sp>
      <p:sp>
        <p:nvSpPr>
          <p:cNvPr id="6" name="!!卡片1"/>
          <p:cNvSpPr/>
          <p:nvPr/>
        </p:nvSpPr>
        <p:spPr>
          <a:xfrm>
            <a:off x="758952" y="160020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7" name="!!評審建議1"/>
          <p:cNvSpPr txBox="1"/>
          <p:nvPr/>
        </p:nvSpPr>
        <p:spPr>
          <a:xfrm>
            <a:off x="1655064" y="18379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8" name="文字 8"/>
          <p:cNvSpPr txBox="1"/>
          <p:nvPr/>
        </p:nvSpPr>
        <p:spPr>
          <a:xfrm>
            <a:off x="1088136" y="1783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05</a:t>
            </a:r>
            <a:endParaRPr lang="zh-TW" altLang="en-US" sz="1800" dirty="0"/>
          </a:p>
        </p:txBody>
      </p:sp>
      <p:sp>
        <p:nvSpPr>
          <p:cNvPr id="9" name="標籤 9"/>
          <p:cNvSpPr/>
          <p:nvPr/>
        </p:nvSpPr>
        <p:spPr>
          <a:xfrm>
            <a:off x="4951476" y="180136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46555C"/>
                </a:solidFill>
              </a:rPr>
              <a:t>App</a:t>
            </a:r>
            <a:endParaRPr lang="zh-TW" altLang="en-US" sz="1150" dirty="0"/>
          </a:p>
        </p:txBody>
      </p:sp>
      <p:sp>
        <p:nvSpPr>
          <p:cNvPr id="10" name="文字 10"/>
          <p:cNvSpPr txBox="1"/>
          <p:nvPr/>
        </p:nvSpPr>
        <p:spPr>
          <a:xfrm>
            <a:off x="1088136" y="220370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「付款與交易糾紛如何處理」</a:t>
            </a:r>
            <a:endParaRPr lang="zh-TW" altLang="en-US" sz="1500" dirty="0"/>
          </a:p>
        </p:txBody>
      </p:sp>
      <p:sp>
        <p:nvSpPr>
          <p:cNvPr id="11" name="文字 11"/>
          <p:cNvSpPr txBox="1"/>
          <p:nvPr/>
        </p:nvSpPr>
        <p:spPr>
          <a:xfrm>
            <a:off x="1088136" y="260604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平台暫管、驗收後撥款</a:t>
            </a:r>
            <a:endParaRPr lang="zh-TW" altLang="en-US" sz="2500" dirty="0"/>
          </a:p>
        </p:txBody>
      </p:sp>
      <p:sp>
        <p:nvSpPr>
          <p:cNvPr id="12" name="文字 12"/>
          <p:cNvSpPr txBox="1"/>
          <p:nvPr/>
        </p:nvSpPr>
        <p:spPr>
          <a:xfrm>
            <a:off x="4219956" y="32735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P.28</a:t>
            </a:r>
            <a:endParaRPr lang="zh-TW" altLang="en-US" sz="1250" dirty="0"/>
          </a:p>
        </p:txBody>
      </p:sp>
      <p:sp>
        <p:nvSpPr>
          <p:cNvPr id="13" name="!!卡片2"/>
          <p:cNvSpPr/>
          <p:nvPr/>
        </p:nvSpPr>
        <p:spPr>
          <a:xfrm>
            <a:off x="6231636" y="160020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4" name="!!評審建議2"/>
          <p:cNvSpPr txBox="1"/>
          <p:nvPr/>
        </p:nvSpPr>
        <p:spPr>
          <a:xfrm>
            <a:off x="7127748" y="18379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15" name="文字 15"/>
          <p:cNvSpPr txBox="1"/>
          <p:nvPr/>
        </p:nvSpPr>
        <p:spPr>
          <a:xfrm>
            <a:off x="6560820" y="1783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06</a:t>
            </a:r>
            <a:endParaRPr lang="zh-TW" altLang="en-US" sz="1800" dirty="0"/>
          </a:p>
        </p:txBody>
      </p:sp>
      <p:sp>
        <p:nvSpPr>
          <p:cNvPr id="16" name="標籤 16"/>
          <p:cNvSpPr/>
          <p:nvPr/>
        </p:nvSpPr>
        <p:spPr>
          <a:xfrm>
            <a:off x="10424160" y="180136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7E8A90"/>
                </a:solidFill>
              </a:rPr>
              <a:t>文件</a:t>
            </a:r>
            <a:endParaRPr lang="zh-TW" altLang="en-US" sz="1150" dirty="0"/>
          </a:p>
        </p:txBody>
      </p:sp>
      <p:sp>
        <p:nvSpPr>
          <p:cNvPr id="17" name="文字 17"/>
          <p:cNvSpPr txBox="1"/>
          <p:nvPr/>
        </p:nvSpPr>
        <p:spPr>
          <a:xfrm>
            <a:off x="6560820" y="220370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「與既有平台（讀冊寄賣）差異」</a:t>
            </a:r>
            <a:endParaRPr lang="zh-TW" altLang="en-US" sz="1500" dirty="0"/>
          </a:p>
        </p:txBody>
      </p:sp>
      <p:sp>
        <p:nvSpPr>
          <p:cNvPr id="18" name="文字 18"/>
          <p:cNvSpPr txBox="1"/>
          <p:nvPr/>
        </p:nvSpPr>
        <p:spPr>
          <a:xfrm>
            <a:off x="6560820" y="260604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免寄送、就近存取</a:t>
            </a:r>
            <a:endParaRPr lang="zh-TW" altLang="en-US" sz="2500" dirty="0"/>
          </a:p>
        </p:txBody>
      </p:sp>
      <p:sp>
        <p:nvSpPr>
          <p:cNvPr id="19" name="文字 19"/>
          <p:cNvSpPr txBox="1"/>
          <p:nvPr/>
        </p:nvSpPr>
        <p:spPr>
          <a:xfrm>
            <a:off x="9692640" y="32735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P.26</a:t>
            </a:r>
            <a:endParaRPr lang="zh-TW" altLang="en-US" sz="1250" dirty="0"/>
          </a:p>
        </p:txBody>
      </p:sp>
      <p:sp>
        <p:nvSpPr>
          <p:cNvPr id="20" name="!!卡片3"/>
          <p:cNvSpPr/>
          <p:nvPr/>
        </p:nvSpPr>
        <p:spPr>
          <a:xfrm>
            <a:off x="758952" y="393192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1" name="!!評審建議3"/>
          <p:cNvSpPr txBox="1"/>
          <p:nvPr/>
        </p:nvSpPr>
        <p:spPr>
          <a:xfrm>
            <a:off x="1655064" y="41696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22" name="文字 22"/>
          <p:cNvSpPr txBox="1"/>
          <p:nvPr/>
        </p:nvSpPr>
        <p:spPr>
          <a:xfrm>
            <a:off x="1088136" y="41148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07</a:t>
            </a:r>
            <a:endParaRPr lang="zh-TW" altLang="en-US" sz="1800" dirty="0"/>
          </a:p>
        </p:txBody>
      </p:sp>
      <p:sp>
        <p:nvSpPr>
          <p:cNvPr id="23" name="標籤 23"/>
          <p:cNvSpPr/>
          <p:nvPr/>
        </p:nvSpPr>
        <p:spPr>
          <a:xfrm>
            <a:off x="4951476" y="41330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7E8A90"/>
                </a:solidFill>
              </a:rPr>
              <a:t>文件</a:t>
            </a:r>
            <a:endParaRPr lang="zh-TW" altLang="en-US" sz="1150" dirty="0"/>
          </a:p>
        </p:txBody>
      </p:sp>
      <p:sp>
        <p:nvSpPr>
          <p:cNvPr id="24" name="文字 24"/>
          <p:cNvSpPr txBox="1"/>
          <p:nvPr/>
        </p:nvSpPr>
        <p:spPr>
          <a:xfrm>
            <a:off x="1088136" y="453542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「逾期未取回的法律與存放問題」</a:t>
            </a:r>
            <a:endParaRPr lang="zh-TW" altLang="en-US" sz="1500" dirty="0"/>
          </a:p>
        </p:txBody>
      </p:sp>
      <p:sp>
        <p:nvSpPr>
          <p:cNvPr id="25" name="文字 25"/>
          <p:cNvSpPr txBox="1"/>
          <p:nvPr/>
        </p:nvSpPr>
        <p:spPr>
          <a:xfrm>
            <a:off x="1088136" y="493776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寄託關係</a:t>
            </a:r>
            <a:br>
              <a:rPr lang="zh-TW" altLang="en-US" sz="2500" dirty="0"/>
            </a:br>
            <a:r>
              <a:rPr lang="zh-TW" altLang="en-US" sz="2500" b="1" dirty="0">
                <a:solidFill>
                  <a:srgbClr val="1F2A30"/>
                </a:solidFill>
              </a:rPr>
              <a:t>平台保管 30 天</a:t>
            </a:r>
            <a:endParaRPr lang="zh-TW" altLang="en-US" sz="2500" dirty="0"/>
          </a:p>
        </p:txBody>
      </p:sp>
      <p:sp>
        <p:nvSpPr>
          <p:cNvPr id="26" name="文字 26"/>
          <p:cNvSpPr txBox="1"/>
          <p:nvPr/>
        </p:nvSpPr>
        <p:spPr>
          <a:xfrm>
            <a:off x="4219956" y="5605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P.29</a:t>
            </a:r>
            <a:endParaRPr lang="zh-TW" altLang="en-US" sz="1250" dirty="0"/>
          </a:p>
        </p:txBody>
      </p:sp>
      <p:sp>
        <p:nvSpPr>
          <p:cNvPr id="27" name="!!卡片4"/>
          <p:cNvSpPr/>
          <p:nvPr/>
        </p:nvSpPr>
        <p:spPr>
          <a:xfrm>
            <a:off x="6231636" y="393192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8" name="!!評審建議4"/>
          <p:cNvSpPr txBox="1"/>
          <p:nvPr/>
        </p:nvSpPr>
        <p:spPr>
          <a:xfrm>
            <a:off x="7127748" y="41696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29" name="文字 29"/>
          <p:cNvSpPr txBox="1"/>
          <p:nvPr/>
        </p:nvSpPr>
        <p:spPr>
          <a:xfrm>
            <a:off x="6560820" y="41148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08</a:t>
            </a:r>
            <a:endParaRPr lang="zh-TW" altLang="en-US" sz="1800" dirty="0"/>
          </a:p>
        </p:txBody>
      </p:sp>
      <p:sp>
        <p:nvSpPr>
          <p:cNvPr id="30" name="標籤 30"/>
          <p:cNvSpPr/>
          <p:nvPr/>
        </p:nvSpPr>
        <p:spPr>
          <a:xfrm>
            <a:off x="10424160" y="41330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7E8A90"/>
                </a:solidFill>
              </a:rPr>
              <a:t>文件</a:t>
            </a:r>
            <a:endParaRPr lang="zh-TW" altLang="en-US" sz="1150" dirty="0"/>
          </a:p>
        </p:txBody>
      </p:sp>
      <p:sp>
        <p:nvSpPr>
          <p:cNvPr id="31" name="文字 31"/>
          <p:cNvSpPr txBox="1"/>
          <p:nvPr/>
        </p:nvSpPr>
        <p:spPr>
          <a:xfrm>
            <a:off x="6560820" y="453542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「設置地點與維護分工」</a:t>
            </a:r>
            <a:endParaRPr lang="zh-TW" altLang="en-US" sz="1500" dirty="0"/>
          </a:p>
        </p:txBody>
      </p:sp>
      <p:sp>
        <p:nvSpPr>
          <p:cNvPr id="32" name="文字 32"/>
          <p:cNvSpPr txBox="1"/>
          <p:nvPr/>
        </p:nvSpPr>
        <p:spPr>
          <a:xfrm>
            <a:off x="6560820" y="493776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校園室內場域</a:t>
            </a:r>
            <a:br>
              <a:rPr lang="zh-TW" altLang="en-US" sz="2500" dirty="0"/>
            </a:br>
            <a:r>
              <a:rPr lang="zh-TW" altLang="en-US" sz="2500" b="1" dirty="0">
                <a:solidFill>
                  <a:srgbClr val="1F2A30"/>
                </a:solidFill>
              </a:rPr>
              <a:t>後台遠端管理</a:t>
            </a:r>
            <a:endParaRPr lang="zh-TW" altLang="en-US" sz="2500" dirty="0"/>
          </a:p>
        </p:txBody>
      </p:sp>
      <p:sp>
        <p:nvSpPr>
          <p:cNvPr id="33" name="文字 33"/>
          <p:cNvSpPr txBox="1"/>
          <p:nvPr/>
        </p:nvSpPr>
        <p:spPr>
          <a:xfrm>
            <a:off x="9692640" y="5605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P.29</a:t>
            </a:r>
            <a:endParaRPr lang="zh-TW" alt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初評改善：智慧書櫃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初評改善：智慧書櫃</a:t>
            </a:r>
            <a:endParaRPr lang="zh-TW" altLang="en-US" sz="3600" dirty="0"/>
          </a:p>
        </p:txBody>
      </p:sp>
      <p:sp>
        <p:nvSpPr>
          <p:cNvPr id="3" name="!!英文標籤｜REVIEW RESPONSE · SMART CABINET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REVIEW RESPONSE · SMART CABINET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6</a:t>
            </a:fld>
            <a:endParaRPr lang="zh-TW" altLang="en-US" sz="1400" spc="200" dirty="0"/>
          </a:p>
        </p:txBody>
      </p:sp>
      <p:sp>
        <p:nvSpPr>
          <p:cNvPr id="6" name="!!卡片1"/>
          <p:cNvSpPr/>
          <p:nvPr/>
        </p:nvSpPr>
        <p:spPr>
          <a:xfrm>
            <a:off x="758952" y="160020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7" name="!!評審建議1"/>
          <p:cNvSpPr txBox="1"/>
          <p:nvPr/>
        </p:nvSpPr>
        <p:spPr>
          <a:xfrm>
            <a:off x="1655064" y="18379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8" name="文字 8"/>
          <p:cNvSpPr txBox="1"/>
          <p:nvPr/>
        </p:nvSpPr>
        <p:spPr>
          <a:xfrm>
            <a:off x="1088136" y="1783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09</a:t>
            </a:r>
            <a:endParaRPr lang="zh-TW" altLang="en-US" sz="1800" dirty="0"/>
          </a:p>
        </p:txBody>
      </p:sp>
      <p:sp>
        <p:nvSpPr>
          <p:cNvPr id="9" name="標籤 9"/>
          <p:cNvSpPr/>
          <p:nvPr/>
        </p:nvSpPr>
        <p:spPr>
          <a:xfrm>
            <a:off x="4951476" y="180136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3ECE1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8A6A38"/>
                </a:solidFill>
              </a:rPr>
              <a:t>書櫃</a:t>
            </a:r>
            <a:endParaRPr lang="zh-TW" altLang="en-US" sz="1150" dirty="0"/>
          </a:p>
        </p:txBody>
      </p:sp>
      <p:sp>
        <p:nvSpPr>
          <p:cNvPr id="10" name="文字 10"/>
          <p:cNvSpPr txBox="1"/>
          <p:nvPr/>
        </p:nvSpPr>
        <p:spPr>
          <a:xfrm>
            <a:off x="1088136" y="220370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「手機登記與實際放書須同步」</a:t>
            </a:r>
            <a:endParaRPr lang="zh-TW" altLang="en-US" sz="1500" dirty="0"/>
          </a:p>
        </p:txBody>
      </p:sp>
      <p:sp>
        <p:nvSpPr>
          <p:cNvPr id="11" name="文字 11"/>
          <p:cNvSpPr txBox="1"/>
          <p:nvPr/>
        </p:nvSpPr>
        <p:spPr>
          <a:xfrm>
            <a:off x="1088136" y="260604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掃碼開門、關門才登記</a:t>
            </a:r>
            <a:endParaRPr lang="zh-TW" altLang="en-US" sz="2500" dirty="0"/>
          </a:p>
        </p:txBody>
      </p:sp>
      <p:sp>
        <p:nvSpPr>
          <p:cNvPr id="12" name="文字 12"/>
          <p:cNvSpPr txBox="1"/>
          <p:nvPr/>
        </p:nvSpPr>
        <p:spPr>
          <a:xfrm>
            <a:off x="4219956" y="32735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P.25</a:t>
            </a:r>
            <a:endParaRPr lang="zh-TW" altLang="en-US" sz="1250" dirty="0"/>
          </a:p>
        </p:txBody>
      </p:sp>
      <p:sp>
        <p:nvSpPr>
          <p:cNvPr id="13" name="!!卡片2"/>
          <p:cNvSpPr/>
          <p:nvPr/>
        </p:nvSpPr>
        <p:spPr>
          <a:xfrm>
            <a:off x="6231636" y="160020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4" name="!!評審建議2"/>
          <p:cNvSpPr txBox="1"/>
          <p:nvPr/>
        </p:nvSpPr>
        <p:spPr>
          <a:xfrm>
            <a:off x="7127748" y="18379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15" name="文字 15"/>
          <p:cNvSpPr txBox="1"/>
          <p:nvPr/>
        </p:nvSpPr>
        <p:spPr>
          <a:xfrm>
            <a:off x="6560820" y="1783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10</a:t>
            </a:r>
            <a:endParaRPr lang="zh-TW" altLang="en-US" sz="1800" dirty="0"/>
          </a:p>
        </p:txBody>
      </p:sp>
      <p:sp>
        <p:nvSpPr>
          <p:cNvPr id="16" name="標籤 16"/>
          <p:cNvSpPr/>
          <p:nvPr/>
        </p:nvSpPr>
        <p:spPr>
          <a:xfrm>
            <a:off x="10424160" y="180136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3ECE1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8A6A38"/>
                </a:solidFill>
              </a:rPr>
              <a:t>書櫃</a:t>
            </a:r>
            <a:endParaRPr lang="zh-TW" altLang="en-US" sz="1150" dirty="0"/>
          </a:p>
        </p:txBody>
      </p:sp>
      <p:sp>
        <p:nvSpPr>
          <p:cNvPr id="17" name="文字 17"/>
          <p:cNvSpPr txBox="1"/>
          <p:nvPr/>
        </p:nvSpPr>
        <p:spPr>
          <a:xfrm>
            <a:off x="6560820" y="220370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「3D 列印不利量產與耐用」</a:t>
            </a:r>
            <a:endParaRPr lang="zh-TW" altLang="en-US" sz="1500" dirty="0"/>
          </a:p>
        </p:txBody>
      </p:sp>
      <p:sp>
        <p:nvSpPr>
          <p:cNvPr id="18" name="文字 18"/>
          <p:cNvSpPr txBox="1"/>
          <p:nvPr/>
        </p:nvSpPr>
        <p:spPr>
          <a:xfrm>
            <a:off x="6560820" y="260604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合板＋壓克力</a:t>
            </a:r>
            <a:endParaRPr lang="zh-TW" altLang="en-US" sz="2500" dirty="0"/>
          </a:p>
        </p:txBody>
      </p:sp>
      <p:sp>
        <p:nvSpPr>
          <p:cNvPr id="19" name="文字 19"/>
          <p:cNvSpPr txBox="1"/>
          <p:nvPr/>
        </p:nvSpPr>
        <p:spPr>
          <a:xfrm>
            <a:off x="9692640" y="32735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P.21</a:t>
            </a:r>
            <a:endParaRPr lang="zh-TW" altLang="en-US" sz="1250" dirty="0"/>
          </a:p>
        </p:txBody>
      </p:sp>
      <p:sp>
        <p:nvSpPr>
          <p:cNvPr id="20" name="!!卡片3"/>
          <p:cNvSpPr/>
          <p:nvPr/>
        </p:nvSpPr>
        <p:spPr>
          <a:xfrm>
            <a:off x="758952" y="393192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1" name="!!評審建議3"/>
          <p:cNvSpPr txBox="1"/>
          <p:nvPr/>
        </p:nvSpPr>
        <p:spPr>
          <a:xfrm>
            <a:off x="1655064" y="41696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22" name="文字 22"/>
          <p:cNvSpPr txBox="1"/>
          <p:nvPr/>
        </p:nvSpPr>
        <p:spPr>
          <a:xfrm>
            <a:off x="1088136" y="41148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11</a:t>
            </a:r>
            <a:endParaRPr lang="zh-TW" altLang="en-US" sz="1800" dirty="0"/>
          </a:p>
        </p:txBody>
      </p:sp>
      <p:sp>
        <p:nvSpPr>
          <p:cNvPr id="23" name="標籤 23"/>
          <p:cNvSpPr/>
          <p:nvPr/>
        </p:nvSpPr>
        <p:spPr>
          <a:xfrm>
            <a:off x="4951476" y="41330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3ECE1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8A6A38"/>
                </a:solidFill>
              </a:rPr>
              <a:t>書櫃</a:t>
            </a:r>
            <a:endParaRPr lang="zh-TW" altLang="en-US" sz="1150" dirty="0"/>
          </a:p>
        </p:txBody>
      </p:sp>
      <p:sp>
        <p:nvSpPr>
          <p:cNvPr id="24" name="文字 24"/>
          <p:cNvSpPr txBox="1"/>
          <p:nvPr/>
        </p:nvSpPr>
        <p:spPr>
          <a:xfrm>
            <a:off x="1088136" y="453542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「每格都需要裝置？成本如何降低」</a:t>
            </a:r>
            <a:endParaRPr lang="zh-TW" altLang="en-US" sz="1500" dirty="0"/>
          </a:p>
        </p:txBody>
      </p:sp>
      <p:sp>
        <p:nvSpPr>
          <p:cNvPr id="25" name="文字 25"/>
          <p:cNvSpPr txBox="1"/>
          <p:nvPr/>
        </p:nvSpPr>
        <p:spPr>
          <a:xfrm>
            <a:off x="1088136" y="493776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一片 ESP32-S3</a:t>
            </a:r>
            <a:br>
              <a:rPr lang="zh-TW" altLang="en-US" sz="2500" dirty="0"/>
            </a:br>
            <a:r>
              <a:rPr lang="zh-TW" altLang="en-US" sz="2500" b="1" dirty="0">
                <a:solidFill>
                  <a:srgbClr val="1F2A30"/>
                </a:solidFill>
              </a:rPr>
              <a:t>控制四門＋自製主控板</a:t>
            </a:r>
            <a:endParaRPr lang="zh-TW" altLang="en-US" sz="2500" dirty="0"/>
          </a:p>
        </p:txBody>
      </p:sp>
      <p:sp>
        <p:nvSpPr>
          <p:cNvPr id="26" name="文字 26"/>
          <p:cNvSpPr txBox="1"/>
          <p:nvPr/>
        </p:nvSpPr>
        <p:spPr>
          <a:xfrm>
            <a:off x="4219956" y="5605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P.23</a:t>
            </a:r>
            <a:endParaRPr lang="zh-TW" altLang="en-US" sz="1250" dirty="0"/>
          </a:p>
        </p:txBody>
      </p:sp>
      <p:sp>
        <p:nvSpPr>
          <p:cNvPr id="27" name="!!卡片4"/>
          <p:cNvSpPr/>
          <p:nvPr/>
        </p:nvSpPr>
        <p:spPr>
          <a:xfrm>
            <a:off x="6231636" y="3931920"/>
            <a:ext cx="5198364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8" name="!!評審建議4"/>
          <p:cNvSpPr txBox="1"/>
          <p:nvPr/>
        </p:nvSpPr>
        <p:spPr>
          <a:xfrm>
            <a:off x="7127748" y="41696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1" spc="100" dirty="0">
                <a:solidFill>
                  <a:srgbClr val="7E8A90"/>
                </a:solidFill>
              </a:rPr>
              <a:t>評審建議</a:t>
            </a:r>
            <a:endParaRPr lang="zh-TW" altLang="en-US" sz="1150" dirty="0"/>
          </a:p>
        </p:txBody>
      </p:sp>
      <p:sp>
        <p:nvSpPr>
          <p:cNvPr id="29" name="文字 29"/>
          <p:cNvSpPr txBox="1"/>
          <p:nvPr/>
        </p:nvSpPr>
        <p:spPr>
          <a:xfrm>
            <a:off x="6560820" y="41148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12</a:t>
            </a:r>
            <a:endParaRPr lang="zh-TW" altLang="en-US" sz="1800" dirty="0"/>
          </a:p>
        </p:txBody>
      </p:sp>
      <p:sp>
        <p:nvSpPr>
          <p:cNvPr id="30" name="標籤 30"/>
          <p:cNvSpPr/>
          <p:nvPr/>
        </p:nvSpPr>
        <p:spPr>
          <a:xfrm>
            <a:off x="10424160" y="41330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3ECE1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150" b="1" dirty="0">
                <a:solidFill>
                  <a:srgbClr val="8A6A38"/>
                </a:solidFill>
              </a:rPr>
              <a:t>書櫃</a:t>
            </a:r>
            <a:endParaRPr lang="zh-TW" altLang="en-US" sz="1150" dirty="0"/>
          </a:p>
        </p:txBody>
      </p:sp>
      <p:sp>
        <p:nvSpPr>
          <p:cNvPr id="31" name="文字 31"/>
          <p:cNvSpPr txBox="1"/>
          <p:nvPr/>
        </p:nvSpPr>
        <p:spPr>
          <a:xfrm>
            <a:off x="6560820" y="4535424"/>
            <a:ext cx="45948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「無人員收件，安全性如何兼顧」</a:t>
            </a:r>
            <a:endParaRPr lang="zh-TW" altLang="en-US" sz="1500" dirty="0"/>
          </a:p>
        </p:txBody>
      </p:sp>
      <p:sp>
        <p:nvSpPr>
          <p:cNvPr id="32" name="文字 32"/>
          <p:cNvSpPr txBox="1"/>
          <p:nvPr/>
        </p:nvSpPr>
        <p:spPr>
          <a:xfrm>
            <a:off x="6560820" y="4937760"/>
            <a:ext cx="32232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2500" b="1" dirty="0">
                <a:solidFill>
                  <a:srgbClr val="1F2A30"/>
                </a:solidFill>
              </a:rPr>
              <a:t>四道驗證</a:t>
            </a:r>
            <a:endParaRPr lang="zh-TW" altLang="en-US" sz="2500" dirty="0"/>
          </a:p>
        </p:txBody>
      </p:sp>
      <p:sp>
        <p:nvSpPr>
          <p:cNvPr id="33" name="文字 33"/>
          <p:cNvSpPr txBox="1"/>
          <p:nvPr/>
        </p:nvSpPr>
        <p:spPr>
          <a:xfrm>
            <a:off x="9692640" y="5605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250" b="1" dirty="0">
                <a:solidFill>
                  <a:srgbClr val="607D8B"/>
                </a:solidFill>
              </a:rPr>
              <a:t>詳見 P.24</a:t>
            </a:r>
            <a:endParaRPr lang="zh-TW" alt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43455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02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系統核心與架構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背景與核心需求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背景與核心需求</a:t>
            </a:r>
            <a:endParaRPr lang="zh-TW" altLang="en-US" sz="3600" dirty="0"/>
          </a:p>
        </p:txBody>
      </p:sp>
      <p:sp>
        <p:nvSpPr>
          <p:cNvPr id="3" name="!!英文標籤｜BACKGROUND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BACKGROUND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8</a:t>
            </a:fld>
            <a:endParaRPr lang="zh-TW" altLang="en-US" sz="1400" spc="200" dirty="0"/>
          </a:p>
        </p:txBody>
      </p:sp>
      <p:sp>
        <p:nvSpPr>
          <p:cNvPr id="6" name="卡片 6"/>
          <p:cNvSpPr/>
          <p:nvPr/>
        </p:nvSpPr>
        <p:spPr>
          <a:xfrm>
            <a:off x="758952" y="1691640"/>
            <a:ext cx="3374136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7" name="文字 7"/>
          <p:cNvSpPr txBox="1"/>
          <p:nvPr/>
        </p:nvSpPr>
        <p:spPr>
          <a:xfrm>
            <a:off x="758952" y="1874520"/>
            <a:ext cx="33741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35%</a:t>
            </a:r>
            <a:endParaRPr lang="zh-TW" altLang="en-US" sz="5400" dirty="0"/>
          </a:p>
        </p:txBody>
      </p:sp>
      <p:sp>
        <p:nvSpPr>
          <p:cNvPr id="8" name="文字 8"/>
          <p:cNvSpPr txBox="1"/>
          <p:nvPr/>
        </p:nvSpPr>
        <p:spPr>
          <a:xfrm>
            <a:off x="758952" y="2852928"/>
            <a:ext cx="33741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zh-TW" altLang="en-US" sz="1700" b="0" dirty="0">
                <a:solidFill>
                  <a:srgbClr val="1F2A30"/>
                </a:solidFill>
              </a:rPr>
              <a:t>有閒置書想清空，</a:t>
            </a:r>
            <a:endParaRPr lang="zh-TW" altLang="en-US" sz="1700" dirty="0"/>
          </a:p>
          <a:p>
            <a:pPr algn="ctr">
              <a:lnSpc>
                <a:spcPct val="114999"/>
              </a:lnSpc>
              <a:buNone/>
            </a:pPr>
            <a:r>
              <a:rPr lang="zh-TW" altLang="en-US" sz="1700" b="0" dirty="0">
                <a:solidFill>
                  <a:srgbClr val="1F2A30"/>
                </a:solidFill>
              </a:rPr>
              <a:t>卻懶得處理</a:t>
            </a:r>
            <a:endParaRPr lang="zh-TW" altLang="en-US" sz="1700" dirty="0"/>
          </a:p>
        </p:txBody>
      </p:sp>
      <p:cxnSp>
        <p:nvCxnSpPr>
          <p:cNvPr id="9" name="線條 9"/>
          <p:cNvCxnSpPr/>
          <p:nvPr/>
        </p:nvCxnSpPr>
        <p:spPr>
          <a:xfrm>
            <a:off x="2446020" y="4133088"/>
            <a:ext cx="0" cy="365760"/>
          </a:xfrm>
          <a:prstGeom prst="line">
            <a:avLst/>
          </a:prstGeom>
          <a:ln w="19050">
            <a:solidFill>
              <a:srgbClr val="8AA1AC"/>
            </a:solidFill>
            <a:tailEnd type="triangle" w="med" len="med"/>
          </a:ln>
        </p:spPr>
      </p:cxnSp>
      <p:sp>
        <p:nvSpPr>
          <p:cNvPr id="10" name="對應 10"/>
          <p:cNvSpPr/>
          <p:nvPr/>
        </p:nvSpPr>
        <p:spPr>
          <a:xfrm>
            <a:off x="758952" y="4590288"/>
            <a:ext cx="3374136" cy="603504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  <a:effectLst>
            <a:outerShdw blurRad="228600" dist="76200" dir="5400000" sx="90000" sy="90000" algn="t" rotWithShape="0">
              <a:srgbClr val="607D8B">
                <a:alpha val="22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11" name="圖示 11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727448"/>
            <a:ext cx="329184" cy="329184"/>
          </a:xfrm>
          <a:prstGeom prst="rect">
            <a:avLst/>
          </a:prstGeom>
        </p:spPr>
      </p:pic>
      <p:sp>
        <p:nvSpPr>
          <p:cNvPr id="12" name="文字 12"/>
          <p:cNvSpPr txBox="1"/>
          <p:nvPr/>
        </p:nvSpPr>
        <p:spPr>
          <a:xfrm>
            <a:off x="1472184" y="4590288"/>
            <a:ext cx="250545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FFFFFF"/>
                </a:solidFill>
              </a:rPr>
              <a:t>AI 降低上架負擔</a:t>
            </a:r>
            <a:endParaRPr lang="zh-TW" altLang="en-US" sz="1700" dirty="0"/>
          </a:p>
        </p:txBody>
      </p:sp>
      <p:sp>
        <p:nvSpPr>
          <p:cNvPr id="13" name="卡片 13"/>
          <p:cNvSpPr/>
          <p:nvPr/>
        </p:nvSpPr>
        <p:spPr>
          <a:xfrm>
            <a:off x="4407408" y="1691640"/>
            <a:ext cx="3374136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4" name="文字 14"/>
          <p:cNvSpPr txBox="1"/>
          <p:nvPr/>
        </p:nvSpPr>
        <p:spPr>
          <a:xfrm>
            <a:off x="4407408" y="1874520"/>
            <a:ext cx="33741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57.9%</a:t>
            </a:r>
            <a:endParaRPr lang="zh-TW" altLang="en-US" sz="5400" dirty="0"/>
          </a:p>
        </p:txBody>
      </p:sp>
      <p:sp>
        <p:nvSpPr>
          <p:cNvPr id="15" name="文字 15"/>
          <p:cNvSpPr txBox="1"/>
          <p:nvPr/>
        </p:nvSpPr>
        <p:spPr>
          <a:xfrm>
            <a:off x="4407408" y="2852928"/>
            <a:ext cx="33741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zh-TW" altLang="en-US" sz="1700" b="0" dirty="0">
                <a:solidFill>
                  <a:srgbClr val="1F2A30"/>
                </a:solidFill>
              </a:rPr>
              <a:t>寄送不便在於</a:t>
            </a:r>
            <a:endParaRPr lang="zh-TW" altLang="en-US" sz="1700" dirty="0"/>
          </a:p>
          <a:p>
            <a:pPr algn="ctr">
              <a:lnSpc>
                <a:spcPct val="114999"/>
              </a:lnSpc>
              <a:buNone/>
            </a:pPr>
            <a:r>
              <a:rPr lang="zh-TW" altLang="en-US" sz="1700" b="0" dirty="0">
                <a:solidFill>
                  <a:srgbClr val="1F2A30"/>
                </a:solidFill>
              </a:rPr>
              <a:t>包裝與跑超商</a:t>
            </a:r>
            <a:endParaRPr lang="zh-TW" altLang="en-US" sz="1700" dirty="0"/>
          </a:p>
        </p:txBody>
      </p:sp>
      <p:cxnSp>
        <p:nvCxnSpPr>
          <p:cNvPr id="16" name="線條 16"/>
          <p:cNvCxnSpPr/>
          <p:nvPr/>
        </p:nvCxnSpPr>
        <p:spPr>
          <a:xfrm>
            <a:off x="6094476" y="4133088"/>
            <a:ext cx="0" cy="365760"/>
          </a:xfrm>
          <a:prstGeom prst="line">
            <a:avLst/>
          </a:prstGeom>
          <a:ln w="19050">
            <a:solidFill>
              <a:srgbClr val="8AA1AC"/>
            </a:solidFill>
            <a:tailEnd type="triangle" w="med" len="med"/>
          </a:ln>
        </p:spPr>
      </p:cxnSp>
      <p:sp>
        <p:nvSpPr>
          <p:cNvPr id="17" name="對應 17"/>
          <p:cNvSpPr/>
          <p:nvPr/>
        </p:nvSpPr>
        <p:spPr>
          <a:xfrm>
            <a:off x="4407408" y="4590288"/>
            <a:ext cx="3374136" cy="603504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  <a:effectLst>
            <a:outerShdw blurRad="228600" dist="76200" dir="5400000" sx="90000" sy="90000" algn="t" rotWithShape="0">
              <a:srgbClr val="607D8B">
                <a:alpha val="22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18" name="圖示 18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727448"/>
            <a:ext cx="329184" cy="329184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5120640" y="4590288"/>
            <a:ext cx="250545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FFFFFF"/>
                </a:solidFill>
              </a:rPr>
              <a:t>智慧書櫃免寄送</a:t>
            </a:r>
            <a:endParaRPr lang="zh-TW" altLang="en-US" sz="1700" dirty="0"/>
          </a:p>
        </p:txBody>
      </p:sp>
      <p:sp>
        <p:nvSpPr>
          <p:cNvPr id="20" name="卡片 20"/>
          <p:cNvSpPr/>
          <p:nvPr/>
        </p:nvSpPr>
        <p:spPr>
          <a:xfrm>
            <a:off x="8055864" y="1691640"/>
            <a:ext cx="3374136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1" name="文字 21"/>
          <p:cNvSpPr txBox="1"/>
          <p:nvPr/>
        </p:nvSpPr>
        <p:spPr>
          <a:xfrm>
            <a:off x="8055864" y="1874520"/>
            <a:ext cx="33741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51.4%</a:t>
            </a:r>
            <a:endParaRPr lang="zh-TW" altLang="en-US" sz="5400" dirty="0"/>
          </a:p>
        </p:txBody>
      </p:sp>
      <p:sp>
        <p:nvSpPr>
          <p:cNvPr id="22" name="文字 22"/>
          <p:cNvSpPr txBox="1"/>
          <p:nvPr/>
        </p:nvSpPr>
        <p:spPr>
          <a:xfrm>
            <a:off x="8055864" y="2852928"/>
            <a:ext cx="33741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zh-TW" altLang="en-US" sz="1700" b="0" dirty="0">
                <a:solidFill>
                  <a:srgbClr val="1F2A30"/>
                </a:solidFill>
              </a:rPr>
              <a:t>偏好以實體儲物櫃</a:t>
            </a:r>
            <a:endParaRPr lang="zh-TW" altLang="en-US" sz="1700" dirty="0"/>
          </a:p>
          <a:p>
            <a:pPr algn="ctr">
              <a:lnSpc>
                <a:spcPct val="114999"/>
              </a:lnSpc>
              <a:buNone/>
            </a:pPr>
            <a:r>
              <a:rPr lang="zh-TW" altLang="en-US" sz="1700" b="0" dirty="0">
                <a:solidFill>
                  <a:srgbClr val="1F2A30"/>
                </a:solidFill>
              </a:rPr>
              <a:t>改善寄送</a:t>
            </a:r>
            <a:endParaRPr lang="zh-TW" altLang="en-US" sz="1700" dirty="0"/>
          </a:p>
        </p:txBody>
      </p:sp>
      <p:cxnSp>
        <p:nvCxnSpPr>
          <p:cNvPr id="23" name="線條 23"/>
          <p:cNvCxnSpPr/>
          <p:nvPr/>
        </p:nvCxnSpPr>
        <p:spPr>
          <a:xfrm>
            <a:off x="9742932" y="4133088"/>
            <a:ext cx="0" cy="365760"/>
          </a:xfrm>
          <a:prstGeom prst="line">
            <a:avLst/>
          </a:prstGeom>
          <a:ln w="19050">
            <a:solidFill>
              <a:srgbClr val="8AA1AC"/>
            </a:solidFill>
            <a:tailEnd type="triangle" w="med" len="med"/>
          </a:ln>
        </p:spPr>
      </p:cxnSp>
      <p:sp>
        <p:nvSpPr>
          <p:cNvPr id="24" name="對應 24"/>
          <p:cNvSpPr/>
          <p:nvPr/>
        </p:nvSpPr>
        <p:spPr>
          <a:xfrm>
            <a:off x="8055864" y="4590288"/>
            <a:ext cx="3374136" cy="603504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  <a:effectLst>
            <a:outerShdw blurRad="228600" dist="76200" dir="5400000" sx="90000" sy="90000" algn="t" rotWithShape="0">
              <a:srgbClr val="607D8B">
                <a:alpha val="22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25" name="圖示 25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4727448"/>
            <a:ext cx="329184" cy="329184"/>
          </a:xfrm>
          <a:prstGeom prst="rect">
            <a:avLst/>
          </a:prstGeom>
        </p:spPr>
      </p:pic>
      <p:sp>
        <p:nvSpPr>
          <p:cNvPr id="26" name="文字 26"/>
          <p:cNvSpPr txBox="1"/>
          <p:nvPr/>
        </p:nvSpPr>
        <p:spPr>
          <a:xfrm>
            <a:off x="8769096" y="4590288"/>
            <a:ext cx="2505456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FFFFFF"/>
                </a:solidFill>
              </a:rPr>
              <a:t>App 串接非同步交付</a:t>
            </a:r>
            <a:endParaRPr lang="zh-TW" altLang="en-US" sz="1700" dirty="0"/>
          </a:p>
        </p:txBody>
      </p:sp>
      <p:sp>
        <p:nvSpPr>
          <p:cNvPr id="27" name="文字 27"/>
          <p:cNvSpPr txBox="1"/>
          <p:nvPr/>
        </p:nvSpPr>
        <p:spPr>
          <a:xfrm>
            <a:off x="758952" y="5532120"/>
            <a:ext cx="106710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200" b="0" dirty="0">
                <a:solidFill>
                  <a:srgbClr val="7E8A90"/>
                </a:solidFill>
              </a:rPr>
              <a:t>資料來源：初評問卷，有效問卷 498 份；各比例來自不同題項。</a:t>
            </a:r>
            <a:endParaRPr lang="zh-TW" alt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系統架構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系統架構</a:t>
            </a:r>
            <a:endParaRPr lang="zh-TW" altLang="en-US" sz="3600" dirty="0"/>
          </a:p>
        </p:txBody>
      </p:sp>
      <p:sp>
        <p:nvSpPr>
          <p:cNvPr id="3" name="!!英文標籤｜SYSTEM ARCHITECTURE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SYSTEM ARCHITECTURE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9</a:t>
            </a:fld>
            <a:endParaRPr lang="zh-TW" altLang="en-US" sz="1400" spc="200" dirty="0"/>
          </a:p>
        </p:txBody>
      </p:sp>
      <p:sp>
        <p:nvSpPr>
          <p:cNvPr id="6" name="卡片 6"/>
          <p:cNvSpPr/>
          <p:nvPr/>
        </p:nvSpPr>
        <p:spPr>
          <a:xfrm>
            <a:off x="845820" y="1572768"/>
            <a:ext cx="2542032" cy="60350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7" name="圖示 7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709928"/>
            <a:ext cx="329184" cy="329184"/>
          </a:xfrm>
          <a:prstGeom prst="rect">
            <a:avLst/>
          </a:prstGeom>
        </p:spPr>
      </p:pic>
      <p:sp>
        <p:nvSpPr>
          <p:cNvPr id="8" name="文字 8"/>
          <p:cNvSpPr txBox="1"/>
          <p:nvPr/>
        </p:nvSpPr>
        <p:spPr>
          <a:xfrm>
            <a:off x="1394460" y="1609344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300" b="1" dirty="0">
                <a:solidFill>
                  <a:srgbClr val="1F2A30"/>
                </a:solidFill>
              </a:rPr>
              <a:t>AI 服務</a:t>
            </a:r>
            <a:endParaRPr lang="zh-TW" altLang="en-US" sz="1300" dirty="0"/>
          </a:p>
        </p:txBody>
      </p:sp>
      <p:sp>
        <p:nvSpPr>
          <p:cNvPr id="9" name="文字 9"/>
          <p:cNvSpPr txBox="1"/>
          <p:nvPr/>
        </p:nvSpPr>
        <p:spPr>
          <a:xfrm>
            <a:off x="1394460" y="185623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050" b="0" dirty="0">
                <a:solidFill>
                  <a:srgbClr val="7E8A90"/>
                </a:solidFill>
              </a:rPr>
              <a:t>OpenAI</a:t>
            </a:r>
            <a:endParaRPr lang="zh-TW" altLang="en-US" sz="1050" dirty="0"/>
          </a:p>
        </p:txBody>
      </p:sp>
      <p:cxnSp>
        <p:nvCxnSpPr>
          <p:cNvPr id="10" name="線條 10"/>
          <p:cNvCxnSpPr/>
          <p:nvPr/>
        </p:nvCxnSpPr>
        <p:spPr>
          <a:xfrm>
            <a:off x="2116836" y="2176272"/>
            <a:ext cx="0" cy="201168"/>
          </a:xfrm>
          <a:prstGeom prst="line">
            <a:avLst/>
          </a:prstGeom>
          <a:ln w="12700">
            <a:solidFill>
              <a:srgbClr val="8AA1AC"/>
            </a:solidFill>
          </a:ln>
        </p:spPr>
      </p:cxnSp>
      <p:sp>
        <p:nvSpPr>
          <p:cNvPr id="11" name="卡片 11"/>
          <p:cNvSpPr/>
          <p:nvPr/>
        </p:nvSpPr>
        <p:spPr>
          <a:xfrm>
            <a:off x="3497580" y="1572768"/>
            <a:ext cx="2542032" cy="60350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12" name="圖示 12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596" y="1709928"/>
            <a:ext cx="329184" cy="329184"/>
          </a:xfrm>
          <a:prstGeom prst="rect">
            <a:avLst/>
          </a:prstGeom>
        </p:spPr>
      </p:pic>
      <p:sp>
        <p:nvSpPr>
          <p:cNvPr id="13" name="文字 13"/>
          <p:cNvSpPr txBox="1"/>
          <p:nvPr/>
        </p:nvSpPr>
        <p:spPr>
          <a:xfrm>
            <a:off x="4046220" y="1609344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300" b="1" dirty="0">
                <a:solidFill>
                  <a:srgbClr val="1F2A30"/>
                </a:solidFill>
              </a:rPr>
              <a:t>書目來源</a:t>
            </a:r>
            <a:endParaRPr lang="zh-TW" altLang="en-US" sz="1300" dirty="0"/>
          </a:p>
        </p:txBody>
      </p:sp>
      <p:sp>
        <p:nvSpPr>
          <p:cNvPr id="14" name="文字 14"/>
          <p:cNvSpPr txBox="1"/>
          <p:nvPr/>
        </p:nvSpPr>
        <p:spPr>
          <a:xfrm>
            <a:off x="4046220" y="185623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050" b="0" dirty="0">
                <a:solidFill>
                  <a:srgbClr val="7E8A90"/>
                </a:solidFill>
              </a:rPr>
              <a:t>Google Books・Open Library</a:t>
            </a:r>
            <a:endParaRPr lang="zh-TW" altLang="en-US" sz="1050" dirty="0"/>
          </a:p>
        </p:txBody>
      </p:sp>
      <p:cxnSp>
        <p:nvCxnSpPr>
          <p:cNvPr id="15" name="線條 15"/>
          <p:cNvCxnSpPr/>
          <p:nvPr/>
        </p:nvCxnSpPr>
        <p:spPr>
          <a:xfrm>
            <a:off x="4768596" y="2176272"/>
            <a:ext cx="0" cy="201168"/>
          </a:xfrm>
          <a:prstGeom prst="line">
            <a:avLst/>
          </a:prstGeom>
          <a:ln w="12700">
            <a:solidFill>
              <a:srgbClr val="8AA1AC"/>
            </a:solidFill>
          </a:ln>
        </p:spPr>
      </p:cxnSp>
      <p:sp>
        <p:nvSpPr>
          <p:cNvPr id="16" name="卡片 16"/>
          <p:cNvSpPr/>
          <p:nvPr/>
        </p:nvSpPr>
        <p:spPr>
          <a:xfrm>
            <a:off x="6149340" y="1572768"/>
            <a:ext cx="2542032" cy="60350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17" name="圖示 17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356" y="1709928"/>
            <a:ext cx="329184" cy="329184"/>
          </a:xfrm>
          <a:prstGeom prst="rect">
            <a:avLst/>
          </a:prstGeom>
        </p:spPr>
      </p:pic>
      <p:sp>
        <p:nvSpPr>
          <p:cNvPr id="18" name="文字 18"/>
          <p:cNvSpPr txBox="1"/>
          <p:nvPr/>
        </p:nvSpPr>
        <p:spPr>
          <a:xfrm>
            <a:off x="6697980" y="1609344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300" b="1" dirty="0">
                <a:solidFill>
                  <a:srgbClr val="1F2A30"/>
                </a:solidFill>
              </a:rPr>
              <a:t>交通開放資料</a:t>
            </a:r>
            <a:endParaRPr lang="zh-TW" altLang="en-US" sz="1300" dirty="0"/>
          </a:p>
        </p:txBody>
      </p:sp>
      <p:sp>
        <p:nvSpPr>
          <p:cNvPr id="19" name="文字 19"/>
          <p:cNvSpPr txBox="1"/>
          <p:nvPr/>
        </p:nvSpPr>
        <p:spPr>
          <a:xfrm>
            <a:off x="6697980" y="185623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050" b="0" dirty="0">
                <a:solidFill>
                  <a:srgbClr val="7E8A90"/>
                </a:solidFill>
              </a:rPr>
              <a:t>data.taipei</a:t>
            </a:r>
            <a:endParaRPr lang="zh-TW" altLang="en-US" sz="1050" dirty="0"/>
          </a:p>
        </p:txBody>
      </p:sp>
      <p:cxnSp>
        <p:nvCxnSpPr>
          <p:cNvPr id="20" name="線條 20"/>
          <p:cNvCxnSpPr/>
          <p:nvPr/>
        </p:nvCxnSpPr>
        <p:spPr>
          <a:xfrm>
            <a:off x="7420356" y="2176272"/>
            <a:ext cx="0" cy="201168"/>
          </a:xfrm>
          <a:prstGeom prst="line">
            <a:avLst/>
          </a:prstGeom>
          <a:ln w="12700">
            <a:solidFill>
              <a:srgbClr val="8AA1AC"/>
            </a:solidFill>
          </a:ln>
        </p:spPr>
      </p:cxnSp>
      <p:sp>
        <p:nvSpPr>
          <p:cNvPr id="21" name="卡片 21"/>
          <p:cNvSpPr/>
          <p:nvPr/>
        </p:nvSpPr>
        <p:spPr>
          <a:xfrm>
            <a:off x="8801100" y="1572768"/>
            <a:ext cx="2542032" cy="603504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22" name="圖示 22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116" y="1709928"/>
            <a:ext cx="329184" cy="329184"/>
          </a:xfrm>
          <a:prstGeom prst="rect">
            <a:avLst/>
          </a:prstGeom>
        </p:spPr>
      </p:pic>
      <p:sp>
        <p:nvSpPr>
          <p:cNvPr id="23" name="文字 23"/>
          <p:cNvSpPr txBox="1"/>
          <p:nvPr/>
        </p:nvSpPr>
        <p:spPr>
          <a:xfrm>
            <a:off x="9349740" y="1609344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300" b="1" dirty="0">
                <a:solidFill>
                  <a:srgbClr val="1F2A30"/>
                </a:solidFill>
              </a:rPr>
              <a:t>推播通知</a:t>
            </a:r>
            <a:endParaRPr lang="zh-TW" altLang="en-US" sz="1300" dirty="0"/>
          </a:p>
        </p:txBody>
      </p:sp>
      <p:sp>
        <p:nvSpPr>
          <p:cNvPr id="24" name="文字 24"/>
          <p:cNvSpPr txBox="1"/>
          <p:nvPr/>
        </p:nvSpPr>
        <p:spPr>
          <a:xfrm>
            <a:off x="9349740" y="185623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050" b="0" dirty="0">
                <a:solidFill>
                  <a:srgbClr val="7E8A90"/>
                </a:solidFill>
              </a:rPr>
              <a:t>Firebase・APNs</a:t>
            </a:r>
            <a:endParaRPr lang="zh-TW" altLang="en-US" sz="1050" dirty="0"/>
          </a:p>
        </p:txBody>
      </p:sp>
      <p:cxnSp>
        <p:nvCxnSpPr>
          <p:cNvPr id="25" name="線條 25"/>
          <p:cNvCxnSpPr/>
          <p:nvPr/>
        </p:nvCxnSpPr>
        <p:spPr>
          <a:xfrm>
            <a:off x="10072116" y="2176272"/>
            <a:ext cx="0" cy="201168"/>
          </a:xfrm>
          <a:prstGeom prst="line">
            <a:avLst/>
          </a:prstGeom>
          <a:ln w="12700">
            <a:solidFill>
              <a:srgbClr val="8AA1AC"/>
            </a:solidFill>
          </a:ln>
        </p:spPr>
      </p:cxnSp>
      <p:cxnSp>
        <p:nvCxnSpPr>
          <p:cNvPr id="26" name="線條 26"/>
          <p:cNvCxnSpPr/>
          <p:nvPr/>
        </p:nvCxnSpPr>
        <p:spPr>
          <a:xfrm>
            <a:off x="2116836" y="2377440"/>
            <a:ext cx="7955280" cy="0"/>
          </a:xfrm>
          <a:prstGeom prst="line">
            <a:avLst/>
          </a:prstGeom>
          <a:ln w="12700">
            <a:solidFill>
              <a:srgbClr val="8AA1AC"/>
            </a:solidFill>
          </a:ln>
        </p:spPr>
      </p:cxnSp>
      <p:cxnSp>
        <p:nvCxnSpPr>
          <p:cNvPr id="27" name="線條 27"/>
          <p:cNvCxnSpPr/>
          <p:nvPr/>
        </p:nvCxnSpPr>
        <p:spPr>
          <a:xfrm>
            <a:off x="6094476" y="2377440"/>
            <a:ext cx="0" cy="320040"/>
          </a:xfrm>
          <a:prstGeom prst="line">
            <a:avLst/>
          </a:prstGeom>
          <a:ln w="12700">
            <a:solidFill>
              <a:srgbClr val="8AA1AC"/>
            </a:solidFill>
            <a:tailEnd type="triangle" w="med" len="med"/>
          </a:ln>
        </p:spPr>
      </p:cxnSp>
      <p:sp>
        <p:nvSpPr>
          <p:cNvPr id="28" name="後端區 28"/>
          <p:cNvSpPr/>
          <p:nvPr/>
        </p:nvSpPr>
        <p:spPr>
          <a:xfrm>
            <a:off x="4297680" y="2697480"/>
            <a:ext cx="3611880" cy="3200400"/>
          </a:xfrm>
          <a:prstGeom prst="roundRect">
            <a:avLst>
              <a:gd name="adj" fmla="val 5142"/>
            </a:avLst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9" name="文字 29"/>
          <p:cNvSpPr txBox="1"/>
          <p:nvPr/>
        </p:nvSpPr>
        <p:spPr>
          <a:xfrm>
            <a:off x="4297680" y="277063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200" b="1" spc="100" dirty="0">
                <a:solidFill>
                  <a:srgbClr val="7E8A90"/>
                </a:solidFill>
              </a:rPr>
              <a:t>後端服務</a:t>
            </a:r>
            <a:endParaRPr lang="zh-TW" altLang="en-US" sz="1200" dirty="0"/>
          </a:p>
        </p:txBody>
      </p:sp>
      <p:sp>
        <p:nvSpPr>
          <p:cNvPr id="30" name="卡片 30"/>
          <p:cNvSpPr/>
          <p:nvPr/>
        </p:nvSpPr>
        <p:spPr>
          <a:xfrm>
            <a:off x="4526280" y="3090672"/>
            <a:ext cx="3154680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31" name="圖示底 31"/>
          <p:cNvSpPr/>
          <p:nvPr/>
        </p:nvSpPr>
        <p:spPr>
          <a:xfrm>
            <a:off x="4681728" y="3246120"/>
            <a:ext cx="512064" cy="51206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2" name="圖示 32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382" y="3358774"/>
            <a:ext cx="286756" cy="286756"/>
          </a:xfrm>
          <a:prstGeom prst="rect">
            <a:avLst/>
          </a:prstGeom>
        </p:spPr>
      </p:pic>
      <p:sp>
        <p:nvSpPr>
          <p:cNvPr id="33" name="文字 33"/>
          <p:cNvSpPr txBox="1"/>
          <p:nvPr/>
        </p:nvSpPr>
        <p:spPr>
          <a:xfrm>
            <a:off x="5303520" y="318211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Express API</a:t>
            </a:r>
            <a:endParaRPr lang="zh-TW" altLang="en-US" sz="1800" dirty="0"/>
          </a:p>
        </p:txBody>
      </p:sp>
      <p:sp>
        <p:nvSpPr>
          <p:cNvPr id="34" name="文字 34"/>
          <p:cNvSpPr txBox="1"/>
          <p:nvPr/>
        </p:nvSpPr>
        <p:spPr>
          <a:xfrm>
            <a:off x="5303520" y="3529584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250" b="0" dirty="0">
                <a:solidFill>
                  <a:srgbClr val="55636A"/>
                </a:solidFill>
              </a:rPr>
              <a:t>Node.js・301 個 API 端點</a:t>
            </a:r>
            <a:endParaRPr lang="zh-TW" altLang="en-US" sz="1250" dirty="0"/>
          </a:p>
          <a:p>
            <a:pPr algn="l">
              <a:buNone/>
            </a:pPr>
            <a:r>
              <a:rPr lang="zh-TW" altLang="en-US" sz="1250" b="0" dirty="0">
                <a:solidFill>
                  <a:srgbClr val="55636A"/>
                </a:solidFill>
              </a:rPr>
              <a:t>Socket.IO 即時訊息</a:t>
            </a:r>
            <a:endParaRPr lang="zh-TW" altLang="en-US" sz="1250" dirty="0"/>
          </a:p>
        </p:txBody>
      </p:sp>
      <p:cxnSp>
        <p:nvCxnSpPr>
          <p:cNvPr id="35" name="線條 35"/>
          <p:cNvCxnSpPr/>
          <p:nvPr/>
        </p:nvCxnSpPr>
        <p:spPr>
          <a:xfrm>
            <a:off x="6103620" y="4389120"/>
            <a:ext cx="0" cy="292608"/>
          </a:xfrm>
          <a:prstGeom prst="line">
            <a:avLst/>
          </a:prstGeom>
          <a:ln w="15875">
            <a:solidFill>
              <a:srgbClr val="8AA1AC"/>
            </a:solidFill>
            <a:headEnd type="triangle" w="med" len="med"/>
            <a:tailEnd type="triangle" w="med" len="med"/>
          </a:ln>
        </p:spPr>
      </p:cxnSp>
      <p:sp>
        <p:nvSpPr>
          <p:cNvPr id="36" name="卡片 36"/>
          <p:cNvSpPr/>
          <p:nvPr/>
        </p:nvSpPr>
        <p:spPr>
          <a:xfrm>
            <a:off x="4526280" y="4681728"/>
            <a:ext cx="315468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37" name="圖示底 37"/>
          <p:cNvSpPr/>
          <p:nvPr/>
        </p:nvSpPr>
        <p:spPr>
          <a:xfrm>
            <a:off x="4681728" y="4901184"/>
            <a:ext cx="512064" cy="512064"/>
          </a:xfrm>
          <a:prstGeom prst="ellipse">
            <a:avLst/>
          </a:prstGeom>
          <a:solidFill>
            <a:srgbClr val="8AA1AC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8" name="圖示 38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4382" y="5013838"/>
            <a:ext cx="286756" cy="286756"/>
          </a:xfrm>
          <a:prstGeom prst="rect">
            <a:avLst/>
          </a:prstGeom>
        </p:spPr>
      </p:pic>
      <p:sp>
        <p:nvSpPr>
          <p:cNvPr id="39" name="文字 39"/>
          <p:cNvSpPr txBox="1"/>
          <p:nvPr/>
        </p:nvSpPr>
        <p:spPr>
          <a:xfrm>
            <a:off x="5303520" y="47548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MariaDB</a:t>
            </a:r>
            <a:endParaRPr lang="zh-TW" altLang="en-US" sz="1800" dirty="0"/>
          </a:p>
        </p:txBody>
      </p:sp>
      <p:sp>
        <p:nvSpPr>
          <p:cNvPr id="40" name="文字 40"/>
          <p:cNvSpPr txBox="1"/>
          <p:nvPr/>
        </p:nvSpPr>
        <p:spPr>
          <a:xfrm>
            <a:off x="5303520" y="510235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250" b="0" dirty="0">
                <a:solidFill>
                  <a:srgbClr val="55636A"/>
                </a:solidFill>
              </a:rPr>
              <a:t>Prisma ORM 資料存取</a:t>
            </a:r>
            <a:endParaRPr lang="zh-TW" altLang="en-US" sz="1250" dirty="0"/>
          </a:p>
        </p:txBody>
      </p:sp>
      <p:sp>
        <p:nvSpPr>
          <p:cNvPr id="41" name="卡片 41"/>
          <p:cNvSpPr/>
          <p:nvPr/>
        </p:nvSpPr>
        <p:spPr>
          <a:xfrm>
            <a:off x="758952" y="3090672"/>
            <a:ext cx="2697480" cy="2578608"/>
          </a:xfrm>
          <a:prstGeom prst="roundRect">
            <a:avLst>
              <a:gd name="adj" fmla="val 4964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42" name="圖示底 42"/>
          <p:cNvSpPr/>
          <p:nvPr/>
        </p:nvSpPr>
        <p:spPr>
          <a:xfrm>
            <a:off x="987552" y="3291840"/>
            <a:ext cx="566928" cy="56692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43" name="圖示 43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276" y="3416564"/>
            <a:ext cx="317480" cy="317480"/>
          </a:xfrm>
          <a:prstGeom prst="rect">
            <a:avLst/>
          </a:prstGeom>
        </p:spPr>
      </p:pic>
      <p:sp>
        <p:nvSpPr>
          <p:cNvPr id="44" name="文字 44"/>
          <p:cNvSpPr txBox="1"/>
          <p:nvPr/>
        </p:nvSpPr>
        <p:spPr>
          <a:xfrm>
            <a:off x="987552" y="395020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Flutter App</a:t>
            </a:r>
            <a:endParaRPr lang="zh-TW" altLang="en-US" sz="1800" dirty="0"/>
          </a:p>
        </p:txBody>
      </p:sp>
      <p:sp>
        <p:nvSpPr>
          <p:cNvPr id="45" name="文字 45"/>
          <p:cNvSpPr txBox="1"/>
          <p:nvPr/>
        </p:nvSpPr>
        <p:spPr>
          <a:xfrm>
            <a:off x="987552" y="4297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250" b="0" dirty="0">
                <a:solidFill>
                  <a:srgbClr val="7E8A90"/>
                </a:solidFill>
              </a:rPr>
              <a:t>iPhone・iPad・Android</a:t>
            </a:r>
            <a:endParaRPr lang="zh-TW" altLang="en-US" sz="1250" dirty="0"/>
          </a:p>
        </p:txBody>
      </p:sp>
      <p:sp>
        <p:nvSpPr>
          <p:cNvPr id="46" name="文字 46"/>
          <p:cNvSpPr txBox="1"/>
          <p:nvPr/>
        </p:nvSpPr>
        <p:spPr>
          <a:xfrm>
            <a:off x="987552" y="4645152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156845" indent="-156845">
              <a:lnSpc>
                <a:spcPct val="12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300" b="0" dirty="0">
                <a:solidFill>
                  <a:srgbClr val="55636A"/>
                </a:solidFill>
              </a:rPr>
              <a:t>買家與賣家</a:t>
            </a:r>
            <a:endParaRPr lang="zh-TW" altLang="en-US" sz="1300" dirty="0"/>
          </a:p>
          <a:p>
            <a:pPr algn="l" marL="156845" indent="-156845">
              <a:lnSpc>
                <a:spcPct val="12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300" b="0" dirty="0">
                <a:solidFill>
                  <a:srgbClr val="55636A"/>
                </a:solidFill>
              </a:rPr>
              <a:t>管理後台</a:t>
            </a:r>
            <a:endParaRPr lang="zh-TW" altLang="en-US" sz="1300" dirty="0"/>
          </a:p>
          <a:p>
            <a:pPr algn="l" marL="156845" indent="-156845">
              <a:lnSpc>
                <a:spcPct val="12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300" b="0" dirty="0">
                <a:solidFill>
                  <a:srgbClr val="55636A"/>
                </a:solidFill>
              </a:rPr>
              <a:t>AI 功能入口</a:t>
            </a:r>
            <a:endParaRPr lang="zh-TW" altLang="en-US" sz="1300" dirty="0"/>
          </a:p>
        </p:txBody>
      </p:sp>
      <p:sp>
        <p:nvSpPr>
          <p:cNvPr id="47" name="卡片 47"/>
          <p:cNvSpPr/>
          <p:nvPr/>
        </p:nvSpPr>
        <p:spPr>
          <a:xfrm>
            <a:off x="8732520" y="3090672"/>
            <a:ext cx="2697480" cy="2578608"/>
          </a:xfrm>
          <a:prstGeom prst="roundRect">
            <a:avLst>
              <a:gd name="adj" fmla="val 4964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48" name="圖示底 48"/>
          <p:cNvSpPr/>
          <p:nvPr/>
        </p:nvSpPr>
        <p:spPr>
          <a:xfrm>
            <a:off x="8961120" y="3291840"/>
            <a:ext cx="566928" cy="56692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49" name="圖示 49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5844" y="3416564"/>
            <a:ext cx="317480" cy="317480"/>
          </a:xfrm>
          <a:prstGeom prst="rect">
            <a:avLst/>
          </a:prstGeom>
        </p:spPr>
      </p:pic>
      <p:sp>
        <p:nvSpPr>
          <p:cNvPr id="50" name="文字 50"/>
          <p:cNvSpPr txBox="1"/>
          <p:nvPr/>
        </p:nvSpPr>
        <p:spPr>
          <a:xfrm>
            <a:off x="8961120" y="395020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ESP32-S3 書櫃</a:t>
            </a:r>
            <a:endParaRPr lang="zh-TW" altLang="en-US" sz="1800" dirty="0"/>
          </a:p>
        </p:txBody>
      </p:sp>
      <p:sp>
        <p:nvSpPr>
          <p:cNvPr id="51" name="文字 51"/>
          <p:cNvSpPr txBox="1"/>
          <p:nvPr/>
        </p:nvSpPr>
        <p:spPr>
          <a:xfrm>
            <a:off x="8961120" y="4297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250" b="0" dirty="0">
                <a:solidFill>
                  <a:srgbClr val="7E8A90"/>
                </a:solidFill>
              </a:rPr>
              <a:t>ESP-IDF 韌體</a:t>
            </a:r>
            <a:endParaRPr lang="zh-TW" altLang="en-US" sz="1250" dirty="0"/>
          </a:p>
        </p:txBody>
      </p:sp>
      <p:sp>
        <p:nvSpPr>
          <p:cNvPr id="52" name="文字 52"/>
          <p:cNvSpPr txBox="1"/>
          <p:nvPr/>
        </p:nvSpPr>
        <p:spPr>
          <a:xfrm>
            <a:off x="8961120" y="4645152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156845" indent="-156845">
              <a:lnSpc>
                <a:spcPct val="12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300" b="0" dirty="0">
                <a:solidFill>
                  <a:srgbClr val="55636A"/>
                </a:solidFill>
              </a:rPr>
              <a:t>動態 QR 與比對碼</a:t>
            </a:r>
            <a:endParaRPr lang="zh-TW" altLang="en-US" sz="1300" dirty="0"/>
          </a:p>
          <a:p>
            <a:pPr algn="l" marL="156845" indent="-156845">
              <a:lnSpc>
                <a:spcPct val="12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300" b="0" dirty="0">
                <a:solidFill>
                  <a:srgbClr val="55636A"/>
                </a:solidFill>
              </a:rPr>
              <a:t>四扇櫃門電磁鎖</a:t>
            </a:r>
            <a:endParaRPr lang="zh-TW" altLang="en-US" sz="1300" dirty="0"/>
          </a:p>
          <a:p>
            <a:pPr algn="l" marL="156845" indent="-156845">
              <a:lnSpc>
                <a:spcPct val="12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300" b="0" dirty="0">
                <a:solidFill>
                  <a:srgbClr val="55636A"/>
                </a:solidFill>
              </a:rPr>
              <a:t>門磁回報開關門</a:t>
            </a:r>
            <a:endParaRPr lang="zh-TW" altLang="en-US" sz="1300" dirty="0"/>
          </a:p>
        </p:txBody>
      </p:sp>
      <p:cxnSp>
        <p:nvCxnSpPr>
          <p:cNvPr id="53" name="線條 53"/>
          <p:cNvCxnSpPr/>
          <p:nvPr/>
        </p:nvCxnSpPr>
        <p:spPr>
          <a:xfrm>
            <a:off x="3511296" y="3739896"/>
            <a:ext cx="731520" cy="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  <a:tailEnd type="triangle" w="med" len="med"/>
          </a:ln>
        </p:spPr>
      </p:cxnSp>
      <p:sp>
        <p:nvSpPr>
          <p:cNvPr id="54" name="文字 54"/>
          <p:cNvSpPr txBox="1"/>
          <p:nvPr/>
        </p:nvSpPr>
        <p:spPr>
          <a:xfrm>
            <a:off x="3273552" y="3813048"/>
            <a:ext cx="12070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100" b="1" dirty="0">
                <a:solidFill>
                  <a:srgbClr val="46555C"/>
                </a:solidFill>
              </a:rPr>
              <a:t>HTTPS</a:t>
            </a:r>
            <a:endParaRPr lang="zh-TW" altLang="en-US" sz="1100" dirty="0"/>
          </a:p>
          <a:p>
            <a:pPr algn="ctr">
              <a:buNone/>
            </a:pPr>
            <a:r>
              <a:rPr lang="zh-TW" altLang="en-US" sz="1100" b="1" dirty="0">
                <a:solidFill>
                  <a:srgbClr val="46555C"/>
                </a:solidFill>
              </a:rPr>
              <a:t>REST API</a:t>
            </a:r>
            <a:endParaRPr lang="zh-TW" altLang="en-US" sz="1100" dirty="0"/>
          </a:p>
        </p:txBody>
      </p:sp>
      <p:cxnSp>
        <p:nvCxnSpPr>
          <p:cNvPr id="55" name="線條 55"/>
          <p:cNvCxnSpPr/>
          <p:nvPr/>
        </p:nvCxnSpPr>
        <p:spPr>
          <a:xfrm>
            <a:off x="7964424" y="3739896"/>
            <a:ext cx="713232" cy="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  <a:tailEnd type="triangle" w="med" len="med"/>
          </a:ln>
        </p:spPr>
      </p:cxnSp>
      <p:sp>
        <p:nvSpPr>
          <p:cNvPr id="56" name="文字 56"/>
          <p:cNvSpPr txBox="1"/>
          <p:nvPr/>
        </p:nvSpPr>
        <p:spPr>
          <a:xfrm>
            <a:off x="7726680" y="381304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100" b="1" dirty="0">
                <a:solidFill>
                  <a:srgbClr val="46555C"/>
                </a:solidFill>
              </a:rPr>
              <a:t>HTTPS 輪詢</a:t>
            </a:r>
            <a:endParaRPr lang="zh-TW" altLang="en-US" sz="1100" dirty="0"/>
          </a:p>
          <a:p>
            <a:pPr algn="ctr">
              <a:buNone/>
            </a:pPr>
            <a:r>
              <a:rPr lang="zh-TW" altLang="en-US" sz="1100" b="1" dirty="0">
                <a:solidFill>
                  <a:srgbClr val="46555C"/>
                </a:solidFill>
              </a:rPr>
              <a:t>裝置憑證</a:t>
            </a:r>
            <a:endParaRPr lang="zh-TW" alt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4" grpId="0" animBg="1"/>
      <p:bldP spid="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43455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03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AI 智慧服務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七項 AI 智慧服務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七項 AI 智慧服務</a:t>
            </a:r>
            <a:endParaRPr lang="zh-TW" altLang="en-US" sz="3600" dirty="0"/>
          </a:p>
        </p:txBody>
      </p:sp>
      <p:sp>
        <p:nvSpPr>
          <p:cNvPr id="3" name="!!英文標籤｜AI SERVICES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AI SERVICES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11</a:t>
            </a:fld>
            <a:endParaRPr lang="zh-TW" altLang="en-US" sz="1400" spc="200" dirty="0"/>
          </a:p>
        </p:txBody>
      </p:sp>
      <p:sp>
        <p:nvSpPr>
          <p:cNvPr id="6" name="編號 6"/>
          <p:cNvSpPr/>
          <p:nvPr/>
        </p:nvSpPr>
        <p:spPr>
          <a:xfrm>
            <a:off x="758952" y="1591056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300" dirty="0"/>
          </a:p>
        </p:txBody>
      </p:sp>
      <p:sp>
        <p:nvSpPr>
          <p:cNvPr id="7" name="文字 7"/>
          <p:cNvSpPr txBox="1"/>
          <p:nvPr/>
        </p:nvSpPr>
        <p:spPr>
          <a:xfrm>
            <a:off x="1289304" y="155448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2000" b="1" dirty="0">
                <a:solidFill>
                  <a:srgbClr val="1F2A30"/>
                </a:solidFill>
              </a:rPr>
              <a:t>上架</a:t>
            </a:r>
            <a:r>
              <a:rPr lang="zh-TW" altLang="en-US" sz="1100" b="0" spc="150" dirty="0">
                <a:solidFill>
                  <a:srgbClr val="7E8A90"/>
                </a:solidFill>
              </a:rPr>
              <a:t>  LISTING</a:t>
            </a:r>
            <a:endParaRPr lang="zh-TW" altLang="en-US" sz="1600" dirty="0"/>
          </a:p>
        </p:txBody>
      </p:sp>
      <p:sp>
        <p:nvSpPr>
          <p:cNvPr id="8" name="卡片 8"/>
          <p:cNvSpPr/>
          <p:nvPr/>
        </p:nvSpPr>
        <p:spPr>
          <a:xfrm>
            <a:off x="758952" y="2212848"/>
            <a:ext cx="3136392" cy="3584448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9" name="畫面底 9"/>
          <p:cNvSpPr/>
          <p:nvPr/>
        </p:nvSpPr>
        <p:spPr>
          <a:xfrm>
            <a:off x="886968" y="2340864"/>
            <a:ext cx="2880360" cy="1956816"/>
          </a:xfrm>
          <a:prstGeom prst="roundRect">
            <a:avLst>
              <a:gd name="adj" fmla="val 4672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0" name="!!手機" descr="上架階段的 App 畫面"/>
          <p:cNvPicPr>
            <a:picLocks noChangeAspect="1"/>
          </p:cNvPicPr>
          <p:nvPr/>
        </p:nvPicPr>
        <p:blipFill>
          <a:blip r:embed="rId3"/>
          <a:srcRect l="0" t="0" r="0" b="52000"/>
          <a:stretch>
            <a:fillRect/>
          </a:stretch>
        </p:blipFill>
        <p:spPr>
          <a:xfrm>
            <a:off x="1415542" y="2523744"/>
            <a:ext cx="1823212" cy="1773936"/>
          </a:xfrm>
          <a:prstGeom prst="rect">
            <a:avLst/>
          </a:prstGeom>
        </p:spPr>
      </p:pic>
      <p:cxnSp>
        <p:nvCxnSpPr>
          <p:cNvPr id="11" name="流程線 11"/>
          <p:cNvCxnSpPr/>
          <p:nvPr/>
        </p:nvCxnSpPr>
        <p:spPr>
          <a:xfrm>
            <a:off x="2953512" y="1792224"/>
            <a:ext cx="1463040" cy="0"/>
          </a:xfrm>
          <a:prstGeom prst="line">
            <a:avLst/>
          </a:prstGeom>
          <a:ln w="22225">
            <a:solidFill>
              <a:srgbClr val="8AA1AC"/>
            </a:solidFill>
            <a:tailEnd type="triangle" w="med" len="med"/>
          </a:ln>
        </p:spPr>
      </p:cxnSp>
      <p:sp>
        <p:nvSpPr>
          <p:cNvPr id="12" name="膠囊 12"/>
          <p:cNvSpPr/>
          <p:nvPr/>
        </p:nvSpPr>
        <p:spPr>
          <a:xfrm>
            <a:off x="886968" y="4398264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1F4F6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3" name="圖示底 13"/>
          <p:cNvSpPr/>
          <p:nvPr/>
        </p:nvSpPr>
        <p:spPr>
          <a:xfrm>
            <a:off x="960120" y="4453128"/>
            <a:ext cx="274320" cy="2743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4" name="圖示 14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07992"/>
            <a:ext cx="164592" cy="164592"/>
          </a:xfrm>
          <a:prstGeom prst="rect">
            <a:avLst/>
          </a:prstGeom>
        </p:spPr>
      </p:pic>
      <p:sp>
        <p:nvSpPr>
          <p:cNvPr id="15" name="文字 15"/>
          <p:cNvSpPr txBox="1"/>
          <p:nvPr/>
        </p:nvSpPr>
        <p:spPr>
          <a:xfrm>
            <a:off x="1344168" y="4398264"/>
            <a:ext cx="23134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上架輔助</a:t>
            </a:r>
            <a:endParaRPr lang="zh-TW" altLang="en-US" sz="1500" dirty="0"/>
          </a:p>
        </p:txBody>
      </p:sp>
      <p:sp>
        <p:nvSpPr>
          <p:cNvPr id="16" name="膠囊 16"/>
          <p:cNvSpPr/>
          <p:nvPr/>
        </p:nvSpPr>
        <p:spPr>
          <a:xfrm>
            <a:off x="886968" y="4855464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1F4F6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7" name="圖示底 17"/>
          <p:cNvSpPr/>
          <p:nvPr/>
        </p:nvSpPr>
        <p:spPr>
          <a:xfrm>
            <a:off x="960120" y="4910328"/>
            <a:ext cx="274320" cy="2743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8" name="圖示 18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965192"/>
            <a:ext cx="164592" cy="164592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1344168" y="4855464"/>
            <a:ext cx="23134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資料補齊</a:t>
            </a:r>
            <a:endParaRPr lang="zh-TW" altLang="en-US" sz="1500" dirty="0"/>
          </a:p>
        </p:txBody>
      </p:sp>
      <p:sp>
        <p:nvSpPr>
          <p:cNvPr id="20" name="膠囊 20"/>
          <p:cNvSpPr/>
          <p:nvPr/>
        </p:nvSpPr>
        <p:spPr>
          <a:xfrm>
            <a:off x="886968" y="5312664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1F4F6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1" name="圖示底 21"/>
          <p:cNvSpPr/>
          <p:nvPr/>
        </p:nvSpPr>
        <p:spPr>
          <a:xfrm>
            <a:off x="960120" y="5367528"/>
            <a:ext cx="274320" cy="2743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2" name="圖示 22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5422392"/>
            <a:ext cx="164592" cy="164592"/>
          </a:xfrm>
          <a:prstGeom prst="rect">
            <a:avLst/>
          </a:prstGeom>
        </p:spPr>
      </p:pic>
      <p:sp>
        <p:nvSpPr>
          <p:cNvPr id="23" name="文字 23"/>
          <p:cNvSpPr txBox="1"/>
          <p:nvPr/>
        </p:nvSpPr>
        <p:spPr>
          <a:xfrm>
            <a:off x="1344168" y="5312664"/>
            <a:ext cx="23134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上架審核</a:t>
            </a:r>
            <a:endParaRPr lang="zh-TW" altLang="en-US" sz="1500" dirty="0"/>
          </a:p>
        </p:txBody>
      </p:sp>
      <p:sp>
        <p:nvSpPr>
          <p:cNvPr id="24" name="編號 24"/>
          <p:cNvSpPr/>
          <p:nvPr/>
        </p:nvSpPr>
        <p:spPr>
          <a:xfrm>
            <a:off x="4526280" y="1591056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300" dirty="0"/>
          </a:p>
        </p:txBody>
      </p:sp>
      <p:sp>
        <p:nvSpPr>
          <p:cNvPr id="25" name="文字 25"/>
          <p:cNvSpPr txBox="1"/>
          <p:nvPr/>
        </p:nvSpPr>
        <p:spPr>
          <a:xfrm>
            <a:off x="5056632" y="155448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2000" b="1" dirty="0">
                <a:solidFill>
                  <a:srgbClr val="1F2A30"/>
                </a:solidFill>
              </a:rPr>
              <a:t>選書</a:t>
            </a:r>
            <a:r>
              <a:rPr lang="zh-TW" altLang="en-US" sz="1100" b="0" spc="150" dirty="0">
                <a:solidFill>
                  <a:srgbClr val="7E8A90"/>
                </a:solidFill>
              </a:rPr>
              <a:t>  DISCOVERY</a:t>
            </a:r>
            <a:endParaRPr lang="zh-TW" altLang="en-US" sz="1600" dirty="0"/>
          </a:p>
        </p:txBody>
      </p:sp>
      <p:sp>
        <p:nvSpPr>
          <p:cNvPr id="26" name="卡片 26"/>
          <p:cNvSpPr/>
          <p:nvPr/>
        </p:nvSpPr>
        <p:spPr>
          <a:xfrm>
            <a:off x="4526280" y="2212848"/>
            <a:ext cx="3136392" cy="3584448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7" name="畫面底 27"/>
          <p:cNvSpPr/>
          <p:nvPr/>
        </p:nvSpPr>
        <p:spPr>
          <a:xfrm>
            <a:off x="4654296" y="2340864"/>
            <a:ext cx="2880360" cy="1956816"/>
          </a:xfrm>
          <a:prstGeom prst="roundRect">
            <a:avLst>
              <a:gd name="adj" fmla="val 4672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8" name="階段畫面 28" descr="選書階段的 App 畫面"/>
          <p:cNvPicPr>
            <a:picLocks noChangeAspect="1"/>
          </p:cNvPicPr>
          <p:nvPr/>
        </p:nvPicPr>
        <p:blipFill>
          <a:blip r:embed="rId7"/>
          <a:srcRect l="0" t="0" r="0" b="52000"/>
          <a:stretch>
            <a:fillRect/>
          </a:stretch>
        </p:blipFill>
        <p:spPr>
          <a:xfrm>
            <a:off x="5182870" y="2523744"/>
            <a:ext cx="1823212" cy="1773936"/>
          </a:xfrm>
          <a:prstGeom prst="rect">
            <a:avLst/>
          </a:prstGeom>
        </p:spPr>
      </p:pic>
      <p:cxnSp>
        <p:nvCxnSpPr>
          <p:cNvPr id="29" name="流程線 29"/>
          <p:cNvCxnSpPr/>
          <p:nvPr/>
        </p:nvCxnSpPr>
        <p:spPr>
          <a:xfrm>
            <a:off x="6720840" y="1792224"/>
            <a:ext cx="1463040" cy="0"/>
          </a:xfrm>
          <a:prstGeom prst="line">
            <a:avLst/>
          </a:prstGeom>
          <a:ln w="22225">
            <a:solidFill>
              <a:srgbClr val="8AA1AC"/>
            </a:solidFill>
            <a:tailEnd type="triangle" w="med" len="med"/>
          </a:ln>
        </p:spPr>
      </p:cxnSp>
      <p:sp>
        <p:nvSpPr>
          <p:cNvPr id="30" name="膠囊 30"/>
          <p:cNvSpPr/>
          <p:nvPr/>
        </p:nvSpPr>
        <p:spPr>
          <a:xfrm>
            <a:off x="4654296" y="4626864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1F4F6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1" name="圖示底 31"/>
          <p:cNvSpPr/>
          <p:nvPr/>
        </p:nvSpPr>
        <p:spPr>
          <a:xfrm>
            <a:off x="4727448" y="4681728"/>
            <a:ext cx="274320" cy="2743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2" name="圖示 32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312" y="4736592"/>
            <a:ext cx="164592" cy="164592"/>
          </a:xfrm>
          <a:prstGeom prst="rect">
            <a:avLst/>
          </a:prstGeom>
        </p:spPr>
      </p:pic>
      <p:sp>
        <p:nvSpPr>
          <p:cNvPr id="33" name="文字 33"/>
          <p:cNvSpPr txBox="1"/>
          <p:nvPr/>
        </p:nvSpPr>
        <p:spPr>
          <a:xfrm>
            <a:off x="5111496" y="4626864"/>
            <a:ext cx="23134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個人化推薦</a:t>
            </a:r>
            <a:endParaRPr lang="zh-TW" altLang="en-US" sz="1500" dirty="0"/>
          </a:p>
        </p:txBody>
      </p:sp>
      <p:sp>
        <p:nvSpPr>
          <p:cNvPr id="34" name="膠囊 34"/>
          <p:cNvSpPr/>
          <p:nvPr/>
        </p:nvSpPr>
        <p:spPr>
          <a:xfrm>
            <a:off x="4654296" y="5084064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1F4F6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5" name="圖示底 35"/>
          <p:cNvSpPr/>
          <p:nvPr/>
        </p:nvSpPr>
        <p:spPr>
          <a:xfrm>
            <a:off x="4727448" y="5138928"/>
            <a:ext cx="274320" cy="2743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6" name="圖示 36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2312" y="5193792"/>
            <a:ext cx="164592" cy="164592"/>
          </a:xfrm>
          <a:prstGeom prst="rect">
            <a:avLst/>
          </a:prstGeom>
        </p:spPr>
      </p:pic>
      <p:sp>
        <p:nvSpPr>
          <p:cNvPr id="37" name="文字 37"/>
          <p:cNvSpPr txBox="1"/>
          <p:nvPr/>
        </p:nvSpPr>
        <p:spPr>
          <a:xfrm>
            <a:off x="5111496" y="5084064"/>
            <a:ext cx="23134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AI 書籍顧問</a:t>
            </a:r>
            <a:endParaRPr lang="zh-TW" altLang="en-US" sz="1500" dirty="0"/>
          </a:p>
        </p:txBody>
      </p:sp>
      <p:sp>
        <p:nvSpPr>
          <p:cNvPr id="38" name="編號 38"/>
          <p:cNvSpPr/>
          <p:nvPr/>
        </p:nvSpPr>
        <p:spPr>
          <a:xfrm>
            <a:off x="8293608" y="1591056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300" dirty="0"/>
          </a:p>
        </p:txBody>
      </p:sp>
      <p:sp>
        <p:nvSpPr>
          <p:cNvPr id="39" name="文字 39"/>
          <p:cNvSpPr txBox="1"/>
          <p:nvPr/>
        </p:nvSpPr>
        <p:spPr>
          <a:xfrm>
            <a:off x="8823960" y="155448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2000" b="1" dirty="0">
                <a:solidFill>
                  <a:srgbClr val="1F2A30"/>
                </a:solidFill>
              </a:rPr>
              <a:t>售後</a:t>
            </a:r>
            <a:r>
              <a:rPr lang="zh-TW" altLang="en-US" sz="1100" b="0" spc="150" dirty="0">
                <a:solidFill>
                  <a:srgbClr val="7E8A90"/>
                </a:solidFill>
              </a:rPr>
              <a:t>  AFTER-SALES</a:t>
            </a:r>
            <a:endParaRPr lang="zh-TW" altLang="en-US" sz="1600" dirty="0"/>
          </a:p>
        </p:txBody>
      </p:sp>
      <p:sp>
        <p:nvSpPr>
          <p:cNvPr id="40" name="卡片 40"/>
          <p:cNvSpPr/>
          <p:nvPr/>
        </p:nvSpPr>
        <p:spPr>
          <a:xfrm>
            <a:off x="8293608" y="2212848"/>
            <a:ext cx="3136392" cy="3584448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41" name="畫面底 41"/>
          <p:cNvSpPr/>
          <p:nvPr/>
        </p:nvSpPr>
        <p:spPr>
          <a:xfrm>
            <a:off x="8421624" y="2340864"/>
            <a:ext cx="2880360" cy="1956816"/>
          </a:xfrm>
          <a:prstGeom prst="roundRect">
            <a:avLst>
              <a:gd name="adj" fmla="val 4672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42" name="階段畫面 42" descr="售後階段的 App 畫面"/>
          <p:cNvPicPr>
            <a:picLocks noChangeAspect="1"/>
          </p:cNvPicPr>
          <p:nvPr/>
        </p:nvPicPr>
        <p:blipFill>
          <a:blip r:embed="rId10"/>
          <a:srcRect l="0" t="0" r="0" b="52000"/>
          <a:stretch>
            <a:fillRect/>
          </a:stretch>
        </p:blipFill>
        <p:spPr>
          <a:xfrm>
            <a:off x="8950198" y="2523744"/>
            <a:ext cx="1823212" cy="1773936"/>
          </a:xfrm>
          <a:prstGeom prst="rect">
            <a:avLst/>
          </a:prstGeom>
        </p:spPr>
      </p:pic>
      <p:sp>
        <p:nvSpPr>
          <p:cNvPr id="43" name="膠囊 43"/>
          <p:cNvSpPr/>
          <p:nvPr/>
        </p:nvSpPr>
        <p:spPr>
          <a:xfrm>
            <a:off x="8421624" y="4626864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1F4F6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44" name="圖示底 44"/>
          <p:cNvSpPr/>
          <p:nvPr/>
        </p:nvSpPr>
        <p:spPr>
          <a:xfrm>
            <a:off x="8494776" y="4681728"/>
            <a:ext cx="274320" cy="2743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45" name="圖示 45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9640" y="4736592"/>
            <a:ext cx="164592" cy="164592"/>
          </a:xfrm>
          <a:prstGeom prst="rect">
            <a:avLst/>
          </a:prstGeom>
        </p:spPr>
      </p:pic>
      <p:sp>
        <p:nvSpPr>
          <p:cNvPr id="46" name="文字 46"/>
          <p:cNvSpPr txBox="1"/>
          <p:nvPr/>
        </p:nvSpPr>
        <p:spPr>
          <a:xfrm>
            <a:off x="8878824" y="4626864"/>
            <a:ext cx="23134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AI 客服</a:t>
            </a:r>
            <a:endParaRPr lang="zh-TW" altLang="en-US" sz="1500" dirty="0"/>
          </a:p>
        </p:txBody>
      </p:sp>
      <p:sp>
        <p:nvSpPr>
          <p:cNvPr id="47" name="膠囊 47"/>
          <p:cNvSpPr/>
          <p:nvPr/>
        </p:nvSpPr>
        <p:spPr>
          <a:xfrm>
            <a:off x="8421624" y="5084064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1F4F6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48" name="圖示底 48"/>
          <p:cNvSpPr/>
          <p:nvPr/>
        </p:nvSpPr>
        <p:spPr>
          <a:xfrm>
            <a:off x="8494776" y="5138928"/>
            <a:ext cx="274320" cy="2743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49" name="圖示 49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9640" y="5193792"/>
            <a:ext cx="164592" cy="164592"/>
          </a:xfrm>
          <a:prstGeom prst="rect">
            <a:avLst/>
          </a:prstGeom>
        </p:spPr>
      </p:pic>
      <p:sp>
        <p:nvSpPr>
          <p:cNvPr id="50" name="文字 50"/>
          <p:cNvSpPr txBox="1"/>
          <p:nvPr/>
        </p:nvSpPr>
        <p:spPr>
          <a:xfrm>
            <a:off x="8878824" y="5084064"/>
            <a:ext cx="231343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爭議分析</a:t>
            </a:r>
            <a:endParaRPr lang="zh-TW" altLang="en-US" sz="1500" dirty="0"/>
          </a:p>
        </p:txBody>
      </p:sp>
      <p:sp>
        <p:nvSpPr>
          <p:cNvPr id="51" name="提示 51"/>
          <p:cNvSpPr/>
          <p:nvPr/>
        </p:nvSpPr>
        <p:spPr>
          <a:xfrm>
            <a:off x="3899916" y="5998464"/>
            <a:ext cx="4389120" cy="420624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52" name="圖示 52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09644" y="6071616"/>
            <a:ext cx="274320" cy="274320"/>
          </a:xfrm>
          <a:prstGeom prst="rect">
            <a:avLst/>
          </a:prstGeom>
        </p:spPr>
      </p:pic>
      <p:sp>
        <p:nvSpPr>
          <p:cNvPr id="53" name="文字 53"/>
          <p:cNvSpPr txBox="1"/>
          <p:nvPr/>
        </p:nvSpPr>
        <p:spPr>
          <a:xfrm>
            <a:off x="4375404" y="5998464"/>
            <a:ext cx="380390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0" dirty="0">
                <a:solidFill>
                  <a:srgbClr val="46555C"/>
                </a:solidFill>
              </a:rPr>
              <a:t>AI 只提供建議，最終由使用者或管理員確認</a:t>
            </a:r>
            <a:endParaRPr lang="zh-TW" alt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4" grpId="0" animBg="1"/>
      <p:bldP spid="25" grpId="0" animBg="1"/>
      <p:bldP spid="26" grpId="0" animBg="1"/>
      <p:bldP spid="27" grpId="0" animBg="1"/>
      <p:bldP spid="38" grpId="0" animBg="1"/>
      <p:bldP spid="39" grpId="0" animBg="1"/>
      <p:bldP spid="40" grpId="0" animBg="1"/>
      <p:bldP spid="4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7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3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AI 上架輔助：書目帶入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AI 上架輔助：書目帶入</a:t>
            </a:r>
            <a:endParaRPr lang="zh-TW" altLang="en-US" sz="3600" dirty="0"/>
          </a:p>
        </p:txBody>
      </p:sp>
      <p:sp>
        <p:nvSpPr>
          <p:cNvPr id="3" name="!!英文標籤｜AI LISTING · CATALOG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AI LISTING · CATALOG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12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輸入 ISBN，書目自動帶入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範例：雪喵上架《HTML &amp; CSS：網站設計建置優化之道》</a:t>
            </a:r>
            <a:endParaRPr lang="zh-TW" altLang="en-US" sz="1400" dirty="0"/>
          </a:p>
        </p:txBody>
      </p:sp>
      <p:sp>
        <p:nvSpPr>
          <p:cNvPr id="8" name="步驟編號底 8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9" name="文字 9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輸入 ISBN</a:t>
            </a:r>
            <a:endParaRPr lang="zh-TW" altLang="en-US" sz="1800" dirty="0"/>
          </a:p>
        </p:txBody>
      </p:sp>
      <p:sp>
        <p:nvSpPr>
          <p:cNvPr id="10" name="文字 10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手動輸入或掃描條碼後，按下「AI 帶入」</a:t>
            </a:r>
            <a:endParaRPr lang="zh-TW" altLang="en-US" sz="1400" dirty="0"/>
          </a:p>
        </p:txBody>
      </p:sp>
      <p:sp>
        <p:nvSpPr>
          <p:cNvPr id="11" name="步驟亮起底 11"/>
          <p:cNvSpPr/>
          <p:nvPr/>
        </p:nvSpPr>
        <p:spPr>
          <a:xfrm>
            <a:off x="758952" y="2615184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3" name="文字 13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輸入 ISBN</a:t>
            </a:r>
            <a:endParaRPr lang="zh-TW" altLang="en-US" sz="1800" dirty="0"/>
          </a:p>
        </p:txBody>
      </p:sp>
      <p:sp>
        <p:nvSpPr>
          <p:cNvPr id="14" name="文字 14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手動輸入或掃描條碼後，按下「AI 帶入」</a:t>
            </a:r>
            <a:endParaRPr lang="zh-TW" altLang="en-US" sz="1400" dirty="0"/>
          </a:p>
        </p:txBody>
      </p:sp>
      <p:sp>
        <p:nvSpPr>
          <p:cNvPr id="15" name="步驟編號底 15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6" name="文字 16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查詢書目來源</a:t>
            </a:r>
            <a:endParaRPr lang="zh-TW" altLang="en-US" sz="1800" dirty="0"/>
          </a:p>
        </p:txBody>
      </p:sp>
      <p:sp>
        <p:nvSpPr>
          <p:cNvPr id="17" name="文字 17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Google Books、Open Library 與網路搜尋</a:t>
            </a:r>
            <a:endParaRPr lang="zh-TW" altLang="en-US" sz="1400" dirty="0"/>
          </a:p>
        </p:txBody>
      </p:sp>
      <p:sp>
        <p:nvSpPr>
          <p:cNvPr id="18" name="步驟亮起底 18"/>
          <p:cNvSpPr/>
          <p:nvPr/>
        </p:nvSpPr>
        <p:spPr>
          <a:xfrm>
            <a:off x="758952" y="3410712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步驟編號 19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20" name="文字 20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查詢書目來源</a:t>
            </a:r>
            <a:endParaRPr lang="zh-TW" altLang="en-US" sz="1800" dirty="0"/>
          </a:p>
        </p:txBody>
      </p:sp>
      <p:sp>
        <p:nvSpPr>
          <p:cNvPr id="21" name="文字 21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Google Books、Open Library 與網路搜尋</a:t>
            </a:r>
            <a:endParaRPr lang="zh-TW" altLang="en-US" sz="1400" dirty="0"/>
          </a:p>
        </p:txBody>
      </p:sp>
      <p:sp>
        <p:nvSpPr>
          <p:cNvPr id="22" name="步驟編號底 22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文字 23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逐項勾選 AI 建議</a:t>
            </a:r>
            <a:endParaRPr lang="zh-TW" altLang="en-US" sz="1800" dirty="0"/>
          </a:p>
        </p:txBody>
      </p:sp>
      <p:sp>
        <p:nvSpPr>
          <p:cNvPr id="24" name="文字 24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書名、作者、出版資訊、簡介與分類，並附上來源</a:t>
            </a:r>
            <a:endParaRPr lang="zh-TW" altLang="en-US" sz="1400" dirty="0"/>
          </a:p>
        </p:txBody>
      </p:sp>
      <p:sp>
        <p:nvSpPr>
          <p:cNvPr id="25" name="步驟亮起底 25"/>
          <p:cNvSpPr/>
          <p:nvPr/>
        </p:nvSpPr>
        <p:spPr>
          <a:xfrm>
            <a:off x="758952" y="4206240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步驟編號 2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7" name="文字 27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逐項勾選 AI 建議</a:t>
            </a:r>
            <a:endParaRPr lang="zh-TW" altLang="en-US" sz="1800" dirty="0"/>
          </a:p>
        </p:txBody>
      </p:sp>
      <p:sp>
        <p:nvSpPr>
          <p:cNvPr id="28" name="文字 28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書名、作者、出版資訊、簡介與分類，並附上來源</a:t>
            </a:r>
            <a:endParaRPr lang="zh-TW" altLang="en-US" sz="1400" dirty="0"/>
          </a:p>
        </p:txBody>
      </p:sp>
      <p:sp>
        <p:nvSpPr>
          <p:cNvPr id="29" name="步驟編號底 29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0" name="文字 30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套用至上架表單</a:t>
            </a:r>
            <a:endParaRPr lang="zh-TW" altLang="en-US" sz="1800" dirty="0"/>
          </a:p>
        </p:txBody>
      </p:sp>
      <p:sp>
        <p:nvSpPr>
          <p:cNvPr id="31" name="文字 31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只套用勾選的欄位，仍可自行修改</a:t>
            </a:r>
            <a:endParaRPr lang="zh-TW" altLang="en-US" sz="1400" dirty="0"/>
          </a:p>
        </p:txBody>
      </p:sp>
      <p:sp>
        <p:nvSpPr>
          <p:cNvPr id="32" name="步驟亮起底 32"/>
          <p:cNvSpPr/>
          <p:nvPr/>
        </p:nvSpPr>
        <p:spPr>
          <a:xfrm>
            <a:off x="758952" y="5001768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3" name="步驟編號 33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4" name="文字 34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套用至上架表單</a:t>
            </a:r>
            <a:endParaRPr lang="zh-TW" altLang="en-US" sz="1800" dirty="0"/>
          </a:p>
        </p:txBody>
      </p:sp>
      <p:sp>
        <p:nvSpPr>
          <p:cNvPr id="35" name="文字 35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只套用勾選的欄位，仍可自行修改</a:t>
            </a:r>
            <a:endParaRPr lang="zh-TW" altLang="en-US" sz="1400" dirty="0"/>
          </a:p>
        </p:txBody>
      </p:sp>
      <p:sp>
        <p:nvSpPr>
          <p:cNvPr id="36" name="提示 36"/>
          <p:cNvSpPr/>
          <p:nvPr/>
        </p:nvSpPr>
        <p:spPr>
          <a:xfrm>
            <a:off x="758952" y="594360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7" name="圖示 37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035040"/>
            <a:ext cx="274320" cy="274320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1234440" y="5943600"/>
            <a:ext cx="6364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查無來源時維持空白，不讓 AI 自行撰寫；空白欄位上架後依來源補齊</a:t>
            </a:r>
            <a:endParaRPr lang="zh-TW" altLang="en-US" sz="1350" dirty="0"/>
          </a:p>
        </p:txBody>
      </p:sp>
      <p:pic>
        <p:nvPicPr>
          <p:cNvPr id="39" name="!!手機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58200" y="1463040"/>
            <a:ext cx="2481072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2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2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2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2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5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5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5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1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1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1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1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17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4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17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4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17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4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17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4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44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44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44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44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73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9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73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9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73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9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73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9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957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23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957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23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957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23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957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23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2344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26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234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26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2344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26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2344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26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2612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90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2612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90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2612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90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2612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90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904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312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904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312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904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312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904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312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3129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35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3129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35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3129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35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3129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35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351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378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3516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378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3516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378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3516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378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3784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40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3784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40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3784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40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3784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40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4076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430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4076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430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4076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430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4076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430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4301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6" nodeType="withEffect">
                                  <p:stCondLst>
                                    <p:cond delay="4301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4301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grpId="6" nodeType="withEffect">
                                  <p:stCondLst>
                                    <p:cond delay="4301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4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464" repeatCount="indefinite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11" grpId="2" animBg="1"/>
      <p:bldP spid="11" grpId="3" animBg="1"/>
      <p:bldP spid="12" grpId="2" animBg="1"/>
      <p:bldP spid="12" grpId="3" animBg="1"/>
      <p:bldP spid="13" grpId="2" animBg="1"/>
      <p:bldP spid="13" grpId="3" animBg="1"/>
      <p:bldP spid="14" grpId="2" animBg="1"/>
      <p:bldP spid="14" grpId="3" animBg="1"/>
      <p:bldP spid="18" grpId="2" animBg="1"/>
      <p:bldP spid="18" grpId="3" animBg="1"/>
      <p:bldP spid="19" grpId="2" animBg="1"/>
      <p:bldP spid="19" grpId="3" animBg="1"/>
      <p:bldP spid="20" grpId="2" animBg="1"/>
      <p:bldP spid="20" grpId="3" animBg="1"/>
      <p:bldP spid="21" grpId="2" animBg="1"/>
      <p:bldP spid="21" grpId="3" animBg="1"/>
      <p:bldP spid="25" grpId="2" animBg="1"/>
      <p:bldP spid="25" grpId="3" animBg="1"/>
      <p:bldP spid="26" grpId="2" animBg="1"/>
      <p:bldP spid="26" grpId="3" animBg="1"/>
      <p:bldP spid="27" grpId="2" animBg="1"/>
      <p:bldP spid="27" grpId="3" animBg="1"/>
      <p:bldP spid="28" grpId="2" animBg="1"/>
      <p:bldP spid="28" grpId="3" animBg="1"/>
      <p:bldP spid="32" grpId="2" animBg="1"/>
      <p:bldP spid="32" grpId="3" animBg="1"/>
      <p:bldP spid="33" grpId="2" animBg="1"/>
      <p:bldP spid="33" grpId="3" animBg="1"/>
      <p:bldP spid="34" grpId="2" animBg="1"/>
      <p:bldP spid="34" grpId="3" animBg="1"/>
      <p:bldP spid="35" grpId="2" animBg="1"/>
      <p:bldP spid="35" grpId="3" animBg="1"/>
      <p:bldP spid="11" grpId="4" animBg="1"/>
      <p:bldP spid="11" grpId="5" animBg="1"/>
      <p:bldP spid="12" grpId="4" animBg="1"/>
      <p:bldP spid="12" grpId="5" animBg="1"/>
      <p:bldP spid="13" grpId="4" animBg="1"/>
      <p:bldP spid="13" grpId="5" animBg="1"/>
      <p:bldP spid="14" grpId="4" animBg="1"/>
      <p:bldP spid="14" grpId="5" animBg="1"/>
      <p:bldP spid="18" grpId="4" animBg="1"/>
      <p:bldP spid="18" grpId="5" animBg="1"/>
      <p:bldP spid="19" grpId="4" animBg="1"/>
      <p:bldP spid="19" grpId="5" animBg="1"/>
      <p:bldP spid="20" grpId="4" animBg="1"/>
      <p:bldP spid="20" grpId="5" animBg="1"/>
      <p:bldP spid="21" grpId="4" animBg="1"/>
      <p:bldP spid="21" grpId="5" animBg="1"/>
      <p:bldP spid="25" grpId="4" animBg="1"/>
      <p:bldP spid="25" grpId="5" animBg="1"/>
      <p:bldP spid="26" grpId="4" animBg="1"/>
      <p:bldP spid="26" grpId="5" animBg="1"/>
      <p:bldP spid="27" grpId="4" animBg="1"/>
      <p:bldP spid="27" grpId="5" animBg="1"/>
      <p:bldP spid="28" grpId="4" animBg="1"/>
      <p:bldP spid="28" grpId="5" animBg="1"/>
      <p:bldP spid="32" grpId="4" animBg="1"/>
      <p:bldP spid="32" grpId="5" animBg="1"/>
      <p:bldP spid="33" grpId="4" animBg="1"/>
      <p:bldP spid="33" grpId="5" animBg="1"/>
      <p:bldP spid="34" grpId="4" animBg="1"/>
      <p:bldP spid="34" grpId="5" animBg="1"/>
      <p:bldP spid="35" grpId="4" animBg="1"/>
      <p:bldP spid="35" grpId="5" animBg="1"/>
      <p:bldP spid="11" grpId="6" animBg="1"/>
      <p:bldP spid="11" grpId="7" animBg="1"/>
      <p:bldP spid="12" grpId="6" animBg="1"/>
      <p:bldP spid="12" grpId="7" animBg="1"/>
      <p:bldP spid="13" grpId="6" animBg="1"/>
      <p:bldP spid="13" grpId="7" animBg="1"/>
      <p:bldP spid="14" grpId="6" animBg="1"/>
      <p:bldP spid="14" grpId="7" animBg="1"/>
      <p:bldP spid="18" grpId="6" animBg="1"/>
      <p:bldP spid="18" grpId="7" animBg="1"/>
      <p:bldP spid="19" grpId="6" animBg="1"/>
      <p:bldP spid="19" grpId="7" animBg="1"/>
      <p:bldP spid="20" grpId="6" animBg="1"/>
      <p:bldP spid="20" grpId="7" animBg="1"/>
      <p:bldP spid="21" grpId="6" animBg="1"/>
      <p:bldP spid="21" grpId="7" animBg="1"/>
      <p:bldP spid="25" grpId="6" animBg="1"/>
      <p:bldP spid="25" grpId="7" animBg="1"/>
      <p:bldP spid="26" grpId="6" animBg="1"/>
      <p:bldP spid="26" grpId="7" animBg="1"/>
      <p:bldP spid="27" grpId="6" animBg="1"/>
      <p:bldP spid="27" grpId="7" animBg="1"/>
      <p:bldP spid="28" grpId="6" animBg="1"/>
      <p:bldP spid="28" grpId="7" animBg="1"/>
      <p:bldP spid="32" grpId="6" animBg="1"/>
      <p:bldP spid="33" grpId="6" animBg="1"/>
      <p:bldP spid="34" grpId="6" animBg="1"/>
      <p:bldP spid="35" grpId="6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6" grpId="0" animBg="1"/>
      <p:bldP spid="3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AI 上架輔助：書況與售價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AI 上架輔助：書況與售價</a:t>
            </a:r>
            <a:endParaRPr lang="zh-TW" altLang="en-US" sz="3600" dirty="0"/>
          </a:p>
        </p:txBody>
      </p:sp>
      <p:sp>
        <p:nvSpPr>
          <p:cNvPr id="3" name="!!英文標籤｜AI LISTING · CONDITION &amp; PRICE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AI LISTING · CONDITION &amp; PRICE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13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依實拍照片判斷書況，建議合理售價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本例：定價 $580，判斷為近全新</a:t>
            </a:r>
            <a:endParaRPr lang="zh-TW" altLang="en-US" sz="1400" dirty="0"/>
          </a:p>
        </p:txBody>
      </p:sp>
      <p:sp>
        <p:nvSpPr>
          <p:cNvPr id="8" name="步驟編號底 8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9" name="文字 9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上傳實拍照片</a:t>
            </a:r>
            <a:endParaRPr lang="zh-TW" altLang="en-US" sz="1800" dirty="0"/>
          </a:p>
        </p:txBody>
      </p:sp>
      <p:sp>
        <p:nvSpPr>
          <p:cNvPr id="10" name="文字 10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封面、封底與條碼頁，按下「AI 帶入」</a:t>
            </a:r>
            <a:endParaRPr lang="zh-TW" altLang="en-US" sz="1400" dirty="0"/>
          </a:p>
        </p:txBody>
      </p:sp>
      <p:sp>
        <p:nvSpPr>
          <p:cNvPr id="11" name="步驟亮起底 11"/>
          <p:cNvSpPr/>
          <p:nvPr/>
        </p:nvSpPr>
        <p:spPr>
          <a:xfrm>
            <a:off x="758952" y="2615184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3" name="文字 13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上傳實拍照片</a:t>
            </a:r>
            <a:endParaRPr lang="zh-TW" altLang="en-US" sz="1800" dirty="0"/>
          </a:p>
        </p:txBody>
      </p:sp>
      <p:sp>
        <p:nvSpPr>
          <p:cNvPr id="14" name="文字 14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封面、封底與條碼頁，按下「AI 帶入」</a:t>
            </a:r>
            <a:endParaRPr lang="zh-TW" altLang="en-US" sz="1400" dirty="0"/>
          </a:p>
        </p:txBody>
      </p:sp>
      <p:sp>
        <p:nvSpPr>
          <p:cNvPr id="15" name="步驟編號底 15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6" name="文字 16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AI 分析照片與定價</a:t>
            </a:r>
            <a:endParaRPr lang="zh-TW" altLang="en-US" sz="1800" dirty="0"/>
          </a:p>
        </p:txBody>
      </p:sp>
      <p:sp>
        <p:nvSpPr>
          <p:cNvPr id="17" name="文字 17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查詢定價、分析照片，判斷書況與售價</a:t>
            </a:r>
            <a:endParaRPr lang="zh-TW" altLang="en-US" sz="1400" dirty="0"/>
          </a:p>
        </p:txBody>
      </p:sp>
      <p:sp>
        <p:nvSpPr>
          <p:cNvPr id="18" name="步驟亮起底 18"/>
          <p:cNvSpPr/>
          <p:nvPr/>
        </p:nvSpPr>
        <p:spPr>
          <a:xfrm>
            <a:off x="758952" y="3410712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步驟編號 19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20" name="文字 20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AI 分析照片與定價</a:t>
            </a:r>
            <a:endParaRPr lang="zh-TW" altLang="en-US" sz="1800" dirty="0"/>
          </a:p>
        </p:txBody>
      </p:sp>
      <p:sp>
        <p:nvSpPr>
          <p:cNvPr id="21" name="文字 21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查詢定價、分析照片，判斷書況與售價</a:t>
            </a:r>
            <a:endParaRPr lang="zh-TW" altLang="en-US" sz="1400" dirty="0"/>
          </a:p>
        </p:txBody>
      </p:sp>
      <p:sp>
        <p:nvSpPr>
          <p:cNvPr id="22" name="步驟編號底 22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文字 23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書況與建議售價</a:t>
            </a:r>
            <a:endParaRPr lang="zh-TW" altLang="en-US" sz="1800" dirty="0"/>
          </a:p>
        </p:txBody>
      </p:sp>
      <p:sp>
        <p:nvSpPr>
          <p:cNvPr id="24" name="文字 24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近全新並列出依據；建議 $250（$200–$300）</a:t>
            </a:r>
            <a:endParaRPr lang="zh-TW" altLang="en-US" sz="1400" dirty="0"/>
          </a:p>
        </p:txBody>
      </p:sp>
      <p:sp>
        <p:nvSpPr>
          <p:cNvPr id="25" name="步驟亮起底 25"/>
          <p:cNvSpPr/>
          <p:nvPr/>
        </p:nvSpPr>
        <p:spPr>
          <a:xfrm>
            <a:off x="758952" y="4206240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步驟編號 2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7" name="文字 27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書況與建議售價</a:t>
            </a:r>
            <a:endParaRPr lang="zh-TW" altLang="en-US" sz="1800" dirty="0"/>
          </a:p>
        </p:txBody>
      </p:sp>
      <p:sp>
        <p:nvSpPr>
          <p:cNvPr id="28" name="文字 28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近全新並列出依據；建議 $250（$200–$300）</a:t>
            </a:r>
            <a:endParaRPr lang="zh-TW" altLang="en-US" sz="1400" dirty="0"/>
          </a:p>
        </p:txBody>
      </p:sp>
      <p:sp>
        <p:nvSpPr>
          <p:cNvPr id="29" name="步驟編號底 29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0" name="文字 30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套用並確認上架</a:t>
            </a:r>
            <a:endParaRPr lang="zh-TW" altLang="en-US" sz="1800" dirty="0"/>
          </a:p>
        </p:txBody>
      </p:sp>
      <p:sp>
        <p:nvSpPr>
          <p:cNvPr id="31" name="文字 31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調整書況時，建議售價依新書況重新計算</a:t>
            </a:r>
            <a:endParaRPr lang="zh-TW" altLang="en-US" sz="1400" dirty="0"/>
          </a:p>
        </p:txBody>
      </p:sp>
      <p:sp>
        <p:nvSpPr>
          <p:cNvPr id="32" name="步驟亮起底 32"/>
          <p:cNvSpPr/>
          <p:nvPr/>
        </p:nvSpPr>
        <p:spPr>
          <a:xfrm>
            <a:off x="758952" y="5001768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3" name="步驟編號 33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4" name="文字 34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套用並確認上架</a:t>
            </a:r>
            <a:endParaRPr lang="zh-TW" altLang="en-US" sz="1800" dirty="0"/>
          </a:p>
        </p:txBody>
      </p:sp>
      <p:sp>
        <p:nvSpPr>
          <p:cNvPr id="35" name="文字 35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調整書況時，建議售價依新書況重新計算</a:t>
            </a:r>
            <a:endParaRPr lang="zh-TW" altLang="en-US" sz="1400" dirty="0"/>
          </a:p>
        </p:txBody>
      </p:sp>
      <p:sp>
        <p:nvSpPr>
          <p:cNvPr id="36" name="提示 36"/>
          <p:cNvSpPr/>
          <p:nvPr/>
        </p:nvSpPr>
        <p:spPr>
          <a:xfrm>
            <a:off x="758952" y="594360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7" name="圖示 37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035040"/>
            <a:ext cx="274320" cy="274320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1234440" y="5943600"/>
            <a:ext cx="6364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回應初評建議：書況判定導入 AI，並提供合理售價</a:t>
            </a:r>
            <a:endParaRPr lang="zh-TW" altLang="en-US" sz="1350" dirty="0"/>
          </a:p>
        </p:txBody>
      </p:sp>
      <p:pic>
        <p:nvPicPr>
          <p:cNvPr id="39" name="!!手機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58200" y="1463040"/>
            <a:ext cx="2481072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0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5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5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5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5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1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1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1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1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19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19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19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19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47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6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47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6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47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6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47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6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65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2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65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2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65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2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65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2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226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2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226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2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226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2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226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2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232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232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232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232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60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2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60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2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600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2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60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2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2785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33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2785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33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2785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33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2785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33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3390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3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3390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3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339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3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339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3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345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3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345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3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3450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3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345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3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3730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39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3730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39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3730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39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3730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39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3915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6" nodeType="withEffect">
                                  <p:stCondLst>
                                    <p:cond delay="3915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3915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grpId="6" nodeType="withEffect">
                                  <p:stCondLst>
                                    <p:cond delay="3915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4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464" repeatCount="indefinite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11" grpId="2" animBg="1"/>
      <p:bldP spid="11" grpId="3" animBg="1"/>
      <p:bldP spid="12" grpId="2" animBg="1"/>
      <p:bldP spid="12" grpId="3" animBg="1"/>
      <p:bldP spid="13" grpId="2" animBg="1"/>
      <p:bldP spid="13" grpId="3" animBg="1"/>
      <p:bldP spid="14" grpId="2" animBg="1"/>
      <p:bldP spid="14" grpId="3" animBg="1"/>
      <p:bldP spid="18" grpId="2" animBg="1"/>
      <p:bldP spid="18" grpId="3" animBg="1"/>
      <p:bldP spid="19" grpId="2" animBg="1"/>
      <p:bldP spid="19" grpId="3" animBg="1"/>
      <p:bldP spid="20" grpId="2" animBg="1"/>
      <p:bldP spid="20" grpId="3" animBg="1"/>
      <p:bldP spid="21" grpId="2" animBg="1"/>
      <p:bldP spid="21" grpId="3" animBg="1"/>
      <p:bldP spid="25" grpId="2" animBg="1"/>
      <p:bldP spid="25" grpId="3" animBg="1"/>
      <p:bldP spid="26" grpId="2" animBg="1"/>
      <p:bldP spid="26" grpId="3" animBg="1"/>
      <p:bldP spid="27" grpId="2" animBg="1"/>
      <p:bldP spid="27" grpId="3" animBg="1"/>
      <p:bldP spid="28" grpId="2" animBg="1"/>
      <p:bldP spid="28" grpId="3" animBg="1"/>
      <p:bldP spid="32" grpId="2" animBg="1"/>
      <p:bldP spid="32" grpId="3" animBg="1"/>
      <p:bldP spid="33" grpId="2" animBg="1"/>
      <p:bldP spid="33" grpId="3" animBg="1"/>
      <p:bldP spid="34" grpId="2" animBg="1"/>
      <p:bldP spid="34" grpId="3" animBg="1"/>
      <p:bldP spid="35" grpId="2" animBg="1"/>
      <p:bldP spid="35" grpId="3" animBg="1"/>
      <p:bldP spid="11" grpId="4" animBg="1"/>
      <p:bldP spid="11" grpId="5" animBg="1"/>
      <p:bldP spid="12" grpId="4" animBg="1"/>
      <p:bldP spid="12" grpId="5" animBg="1"/>
      <p:bldP spid="13" grpId="4" animBg="1"/>
      <p:bldP spid="13" grpId="5" animBg="1"/>
      <p:bldP spid="14" grpId="4" animBg="1"/>
      <p:bldP spid="14" grpId="5" animBg="1"/>
      <p:bldP spid="18" grpId="4" animBg="1"/>
      <p:bldP spid="18" grpId="5" animBg="1"/>
      <p:bldP spid="19" grpId="4" animBg="1"/>
      <p:bldP spid="19" grpId="5" animBg="1"/>
      <p:bldP spid="20" grpId="4" animBg="1"/>
      <p:bldP spid="20" grpId="5" animBg="1"/>
      <p:bldP spid="21" grpId="4" animBg="1"/>
      <p:bldP spid="21" grpId="5" animBg="1"/>
      <p:bldP spid="25" grpId="4" animBg="1"/>
      <p:bldP spid="25" grpId="5" animBg="1"/>
      <p:bldP spid="26" grpId="4" animBg="1"/>
      <p:bldP spid="26" grpId="5" animBg="1"/>
      <p:bldP spid="27" grpId="4" animBg="1"/>
      <p:bldP spid="27" grpId="5" animBg="1"/>
      <p:bldP spid="28" grpId="4" animBg="1"/>
      <p:bldP spid="28" grpId="5" animBg="1"/>
      <p:bldP spid="32" grpId="4" animBg="1"/>
      <p:bldP spid="32" grpId="5" animBg="1"/>
      <p:bldP spid="33" grpId="4" animBg="1"/>
      <p:bldP spid="33" grpId="5" animBg="1"/>
      <p:bldP spid="34" grpId="4" animBg="1"/>
      <p:bldP spid="34" grpId="5" animBg="1"/>
      <p:bldP spid="35" grpId="4" animBg="1"/>
      <p:bldP spid="35" grpId="5" animBg="1"/>
      <p:bldP spid="11" grpId="6" animBg="1"/>
      <p:bldP spid="11" grpId="7" animBg="1"/>
      <p:bldP spid="12" grpId="6" animBg="1"/>
      <p:bldP spid="12" grpId="7" animBg="1"/>
      <p:bldP spid="13" grpId="6" animBg="1"/>
      <p:bldP spid="13" grpId="7" animBg="1"/>
      <p:bldP spid="14" grpId="6" animBg="1"/>
      <p:bldP spid="14" grpId="7" animBg="1"/>
      <p:bldP spid="18" grpId="6" animBg="1"/>
      <p:bldP spid="18" grpId="7" animBg="1"/>
      <p:bldP spid="19" grpId="6" animBg="1"/>
      <p:bldP spid="19" grpId="7" animBg="1"/>
      <p:bldP spid="20" grpId="6" animBg="1"/>
      <p:bldP spid="20" grpId="7" animBg="1"/>
      <p:bldP spid="21" grpId="6" animBg="1"/>
      <p:bldP spid="21" grpId="7" animBg="1"/>
      <p:bldP spid="25" grpId="6" animBg="1"/>
      <p:bldP spid="25" grpId="7" animBg="1"/>
      <p:bldP spid="26" grpId="6" animBg="1"/>
      <p:bldP spid="26" grpId="7" animBg="1"/>
      <p:bldP spid="27" grpId="6" animBg="1"/>
      <p:bldP spid="27" grpId="7" animBg="1"/>
      <p:bldP spid="28" grpId="6" animBg="1"/>
      <p:bldP spid="28" grpId="7" animBg="1"/>
      <p:bldP spid="32" grpId="6" animBg="1"/>
      <p:bldP spid="33" grpId="6" animBg="1"/>
      <p:bldP spid="34" grpId="6" animBg="1"/>
      <p:bldP spid="35" grpId="6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6" grpId="0" animBg="1"/>
      <p:bldP spid="38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上架審核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上架審核</a:t>
            </a:r>
            <a:endParaRPr lang="zh-TW" altLang="en-US" sz="3600" dirty="0"/>
          </a:p>
        </p:txBody>
      </p:sp>
      <p:sp>
        <p:nvSpPr>
          <p:cNvPr id="3" name="!!英文標籤｜LISTING SCREENING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LISTING SCREENING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14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規則與 AI 先篩，有疑慮交由管理員確認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範例：照片中出現圖書館分類號標籤的書籍</a:t>
            </a:r>
            <a:endParaRPr lang="zh-TW" altLang="en-US" sz="1400" dirty="0"/>
          </a:p>
        </p:txBody>
      </p:sp>
      <p:sp>
        <p:nvSpPr>
          <p:cNvPr id="8" name="步驟編號底 8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9" name="文字 9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AI 標記疑慮</a:t>
            </a:r>
            <a:endParaRPr lang="zh-TW" altLang="en-US" sz="1800" dirty="0"/>
          </a:p>
        </p:txBody>
      </p:sp>
      <p:sp>
        <p:nvSpPr>
          <p:cNvPr id="10" name="文字 10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「館藏或非正規來源」，送交人工確認</a:t>
            </a:r>
            <a:endParaRPr lang="zh-TW" altLang="en-US" sz="1400" dirty="0"/>
          </a:p>
        </p:txBody>
      </p:sp>
      <p:sp>
        <p:nvSpPr>
          <p:cNvPr id="11" name="步驟亮起底 11"/>
          <p:cNvSpPr/>
          <p:nvPr/>
        </p:nvSpPr>
        <p:spPr>
          <a:xfrm>
            <a:off x="758952" y="2615184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3" name="文字 13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AI 標記疑慮</a:t>
            </a:r>
            <a:endParaRPr lang="zh-TW" altLang="en-US" sz="1800" dirty="0"/>
          </a:p>
        </p:txBody>
      </p:sp>
      <p:sp>
        <p:nvSpPr>
          <p:cNvPr id="14" name="文字 14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「館藏或非正規來源」，送交人工確認</a:t>
            </a:r>
            <a:endParaRPr lang="zh-TW" altLang="en-US" sz="1400" dirty="0"/>
          </a:p>
        </p:txBody>
      </p:sp>
      <p:sp>
        <p:nvSpPr>
          <p:cNvPr id="15" name="步驟編號底 15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6" name="文字 16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檢視照片與判定理由</a:t>
            </a:r>
            <a:endParaRPr lang="zh-TW" altLang="en-US" sz="1800" dirty="0"/>
          </a:p>
        </p:txBody>
      </p:sp>
      <p:sp>
        <p:nvSpPr>
          <p:cNvPr id="17" name="文字 17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展開照片與完整內容，AI 判定可信度 78%</a:t>
            </a:r>
            <a:endParaRPr lang="zh-TW" altLang="en-US" sz="1400" dirty="0"/>
          </a:p>
        </p:txBody>
      </p:sp>
      <p:sp>
        <p:nvSpPr>
          <p:cNvPr id="18" name="步驟亮起底 18"/>
          <p:cNvSpPr/>
          <p:nvPr/>
        </p:nvSpPr>
        <p:spPr>
          <a:xfrm>
            <a:off x="758952" y="3410712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步驟編號 19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20" name="文字 20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檢視照片與判定理由</a:t>
            </a:r>
            <a:endParaRPr lang="zh-TW" altLang="en-US" sz="1800" dirty="0"/>
          </a:p>
        </p:txBody>
      </p:sp>
      <p:sp>
        <p:nvSpPr>
          <p:cNvPr id="21" name="文字 21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展開照片與完整內容，AI 判定可信度 78%</a:t>
            </a:r>
            <a:endParaRPr lang="zh-TW" altLang="en-US" sz="1400" dirty="0"/>
          </a:p>
        </p:txBody>
      </p:sp>
      <p:sp>
        <p:nvSpPr>
          <p:cNvPr id="22" name="步驟編號底 22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文字 23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放大確認照片</a:t>
            </a:r>
            <a:endParaRPr lang="zh-TW" altLang="en-US" sz="1800" dirty="0"/>
          </a:p>
        </p:txBody>
      </p:sp>
      <p:sp>
        <p:nvSpPr>
          <p:cNvPr id="24" name="文字 24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書背分類號標籤 525.68 8025，疑似館藏書</a:t>
            </a:r>
            <a:endParaRPr lang="zh-TW" altLang="en-US" sz="1400" dirty="0"/>
          </a:p>
        </p:txBody>
      </p:sp>
      <p:sp>
        <p:nvSpPr>
          <p:cNvPr id="25" name="步驟亮起底 25"/>
          <p:cNvSpPr/>
          <p:nvPr/>
        </p:nvSpPr>
        <p:spPr>
          <a:xfrm>
            <a:off x="758952" y="4206240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步驟編號 2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7" name="文字 27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放大確認照片</a:t>
            </a:r>
            <a:endParaRPr lang="zh-TW" altLang="en-US" sz="1800" dirty="0"/>
          </a:p>
        </p:txBody>
      </p:sp>
      <p:sp>
        <p:nvSpPr>
          <p:cNvPr id="28" name="文字 28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書背分類號標籤 525.68 8025，疑似館藏書</a:t>
            </a:r>
            <a:endParaRPr lang="zh-TW" altLang="en-US" sz="1400" dirty="0"/>
          </a:p>
        </p:txBody>
      </p:sp>
      <p:sp>
        <p:nvSpPr>
          <p:cNvPr id="29" name="步驟編號底 29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0" name="文字 30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選擇原因並拒絕上架</a:t>
            </a:r>
            <a:endParaRPr lang="zh-TW" altLang="en-US" sz="1800" dirty="0"/>
          </a:p>
        </p:txBody>
      </p:sp>
      <p:sp>
        <p:nvSpPr>
          <p:cNvPr id="31" name="文字 31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結果與理由通知賣家</a:t>
            </a:r>
            <a:endParaRPr lang="zh-TW" altLang="en-US" sz="1400" dirty="0"/>
          </a:p>
        </p:txBody>
      </p:sp>
      <p:sp>
        <p:nvSpPr>
          <p:cNvPr id="32" name="步驟亮起底 32"/>
          <p:cNvSpPr/>
          <p:nvPr/>
        </p:nvSpPr>
        <p:spPr>
          <a:xfrm>
            <a:off x="758952" y="5001768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3" name="步驟編號 33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4" name="文字 34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選擇原因並拒絕上架</a:t>
            </a:r>
            <a:endParaRPr lang="zh-TW" altLang="en-US" sz="1800" dirty="0"/>
          </a:p>
        </p:txBody>
      </p:sp>
      <p:sp>
        <p:nvSpPr>
          <p:cNvPr id="35" name="文字 35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結果與理由通知賣家</a:t>
            </a:r>
            <a:endParaRPr lang="zh-TW" altLang="en-US" sz="1400" dirty="0"/>
          </a:p>
        </p:txBody>
      </p:sp>
      <p:sp>
        <p:nvSpPr>
          <p:cNvPr id="36" name="提示 36"/>
          <p:cNvSpPr/>
          <p:nvPr/>
        </p:nvSpPr>
        <p:spPr>
          <a:xfrm>
            <a:off x="758952" y="594360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7" name="圖示 37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035040"/>
            <a:ext cx="274320" cy="274320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1234440" y="5943600"/>
            <a:ext cx="6364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先以規則比對館藏章、聯絡方式與站外交易字詞，再由 AI 檢查文字與照片</a:t>
            </a:r>
            <a:endParaRPr lang="zh-TW" altLang="en-US" sz="1350" dirty="0"/>
          </a:p>
        </p:txBody>
      </p:sp>
      <p:pic>
        <p:nvPicPr>
          <p:cNvPr id="39" name="!!手機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58200" y="1463040"/>
            <a:ext cx="2481072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7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2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2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2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2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4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4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4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4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9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9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9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9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977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97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977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977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067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22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067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22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06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22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06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22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22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4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229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4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229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4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229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4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4739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19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4739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19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4739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19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4739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19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1954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204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195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204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1954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204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1954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204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20439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20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20439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20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20439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20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20439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20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206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2450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206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2450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206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2450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20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2450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24509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4" nodeType="withEffect">
                                  <p:stCondLst>
                                    <p:cond delay="24509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24509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4" nodeType="withEffect">
                                  <p:stCondLst>
                                    <p:cond delay="24509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8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68" repeatCount="indefinite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11" grpId="2" animBg="1"/>
      <p:bldP spid="11" grpId="3" animBg="1"/>
      <p:bldP spid="12" grpId="2" animBg="1"/>
      <p:bldP spid="12" grpId="3" animBg="1"/>
      <p:bldP spid="13" grpId="2" animBg="1"/>
      <p:bldP spid="13" grpId="3" animBg="1"/>
      <p:bldP spid="14" grpId="2" animBg="1"/>
      <p:bldP spid="14" grpId="3" animBg="1"/>
      <p:bldP spid="18" grpId="2" animBg="1"/>
      <p:bldP spid="18" grpId="3" animBg="1"/>
      <p:bldP spid="19" grpId="2" animBg="1"/>
      <p:bldP spid="19" grpId="3" animBg="1"/>
      <p:bldP spid="20" grpId="2" animBg="1"/>
      <p:bldP spid="20" grpId="3" animBg="1"/>
      <p:bldP spid="21" grpId="2" animBg="1"/>
      <p:bldP spid="21" grpId="3" animBg="1"/>
      <p:bldP spid="25" grpId="2" animBg="1"/>
      <p:bldP spid="25" grpId="3" animBg="1"/>
      <p:bldP spid="26" grpId="2" animBg="1"/>
      <p:bldP spid="26" grpId="3" animBg="1"/>
      <p:bldP spid="27" grpId="2" animBg="1"/>
      <p:bldP spid="27" grpId="3" animBg="1"/>
      <p:bldP spid="28" grpId="2" animBg="1"/>
      <p:bldP spid="28" grpId="3" animBg="1"/>
      <p:bldP spid="32" grpId="2" animBg="1"/>
      <p:bldP spid="32" grpId="3" animBg="1"/>
      <p:bldP spid="33" grpId="2" animBg="1"/>
      <p:bldP spid="33" grpId="3" animBg="1"/>
      <p:bldP spid="34" grpId="2" animBg="1"/>
      <p:bldP spid="34" grpId="3" animBg="1"/>
      <p:bldP spid="35" grpId="2" animBg="1"/>
      <p:bldP spid="35" grpId="3" animBg="1"/>
      <p:bldP spid="11" grpId="4" animBg="1"/>
      <p:bldP spid="11" grpId="5" animBg="1"/>
      <p:bldP spid="12" grpId="4" animBg="1"/>
      <p:bldP spid="12" grpId="5" animBg="1"/>
      <p:bldP spid="13" grpId="4" animBg="1"/>
      <p:bldP spid="13" grpId="5" animBg="1"/>
      <p:bldP spid="14" grpId="4" animBg="1"/>
      <p:bldP spid="14" grpId="5" animBg="1"/>
      <p:bldP spid="18" grpId="4" animBg="1"/>
      <p:bldP spid="18" grpId="5" animBg="1"/>
      <p:bldP spid="19" grpId="4" animBg="1"/>
      <p:bldP spid="19" grpId="5" animBg="1"/>
      <p:bldP spid="20" grpId="4" animBg="1"/>
      <p:bldP spid="20" grpId="5" animBg="1"/>
      <p:bldP spid="21" grpId="4" animBg="1"/>
      <p:bldP spid="21" grpId="5" animBg="1"/>
      <p:bldP spid="25" grpId="4" animBg="1"/>
      <p:bldP spid="25" grpId="5" animBg="1"/>
      <p:bldP spid="26" grpId="4" animBg="1"/>
      <p:bldP spid="26" grpId="5" animBg="1"/>
      <p:bldP spid="27" grpId="4" animBg="1"/>
      <p:bldP spid="27" grpId="5" animBg="1"/>
      <p:bldP spid="28" grpId="4" animBg="1"/>
      <p:bldP spid="28" grpId="5" animBg="1"/>
      <p:bldP spid="32" grpId="4" animBg="1"/>
      <p:bldP spid="33" grpId="4" animBg="1"/>
      <p:bldP spid="34" grpId="4" animBg="1"/>
      <p:bldP spid="35" grpId="4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6" grpId="0" animBg="1"/>
      <p:bldP spid="3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聊天防詐提醒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聊天防詐提醒</a:t>
            </a:r>
            <a:endParaRPr lang="zh-TW" altLang="en-US" sz="3600" dirty="0"/>
          </a:p>
        </p:txBody>
      </p:sp>
      <p:sp>
        <p:nvSpPr>
          <p:cNvPr id="3" name="!!英文標籤｜CHAT ANTI-FRAUD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CHAT ANTI-FRAUD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15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偵測站外聯絡與付款，即時提醒雙方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範例：賣家 Gary 傳送 LINE 帳號，要求直接轉帳</a:t>
            </a:r>
            <a:endParaRPr lang="zh-TW" altLang="en-US" sz="1400" dirty="0"/>
          </a:p>
        </p:txBody>
      </p:sp>
      <p:sp>
        <p:nvSpPr>
          <p:cNvPr id="8" name="步驟編號底 8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9" name="文字 9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買家詢問交易方式</a:t>
            </a:r>
            <a:endParaRPr lang="zh-TW" altLang="en-US" sz="1800" dirty="0"/>
          </a:p>
        </p:txBody>
      </p:sp>
      <p:sp>
        <p:nvSpPr>
          <p:cNvPr id="10" name="文字 10"/>
          <p:cNvSpPr txBox="1"/>
          <p:nvPr/>
        </p:nvSpPr>
        <p:spPr>
          <a:xfrm>
            <a:off x="1472184" y="30358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「可以用書櫃交易嗎？」</a:t>
            </a:r>
            <a:endParaRPr lang="zh-TW" altLang="en-US" sz="1400" dirty="0"/>
          </a:p>
        </p:txBody>
      </p:sp>
      <p:sp>
        <p:nvSpPr>
          <p:cNvPr id="11" name="步驟亮起底 11"/>
          <p:cNvSpPr/>
          <p:nvPr/>
        </p:nvSpPr>
        <p:spPr>
          <a:xfrm>
            <a:off x="758952" y="2615184"/>
            <a:ext cx="694944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3" name="文字 13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買家詢問交易方式</a:t>
            </a:r>
            <a:endParaRPr lang="zh-TW" altLang="en-US" sz="1800" dirty="0"/>
          </a:p>
        </p:txBody>
      </p:sp>
      <p:sp>
        <p:nvSpPr>
          <p:cNvPr id="14" name="文字 14"/>
          <p:cNvSpPr txBox="1"/>
          <p:nvPr/>
        </p:nvSpPr>
        <p:spPr>
          <a:xfrm>
            <a:off x="1472184" y="30358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「可以用書櫃交易嗎？」</a:t>
            </a:r>
            <a:endParaRPr lang="zh-TW" altLang="en-US" sz="1400" dirty="0"/>
          </a:p>
        </p:txBody>
      </p:sp>
      <p:sp>
        <p:nvSpPr>
          <p:cNvPr id="15" name="步驟編號底 15"/>
          <p:cNvSpPr/>
          <p:nvPr/>
        </p:nvSpPr>
        <p:spPr>
          <a:xfrm>
            <a:off x="886968" y="36576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6" name="文字 16"/>
          <p:cNvSpPr txBox="1"/>
          <p:nvPr/>
        </p:nvSpPr>
        <p:spPr>
          <a:xfrm>
            <a:off x="1472184" y="36210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即時標示高風險訊息</a:t>
            </a:r>
            <a:endParaRPr lang="zh-TW" altLang="en-US" sz="1800" dirty="0"/>
          </a:p>
        </p:txBody>
      </p:sp>
      <p:sp>
        <p:nvSpPr>
          <p:cNvPr id="17" name="文字 17"/>
          <p:cNvSpPr txBox="1"/>
          <p:nvPr/>
        </p:nvSpPr>
        <p:spPr>
          <a:xfrm>
            <a:off x="1472184" y="39502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訊息下方與聊天室頂端同時提醒</a:t>
            </a:r>
            <a:endParaRPr lang="zh-TW" altLang="en-US" sz="1400" dirty="0"/>
          </a:p>
        </p:txBody>
      </p:sp>
      <p:sp>
        <p:nvSpPr>
          <p:cNvPr id="18" name="步驟亮起底 18"/>
          <p:cNvSpPr/>
          <p:nvPr/>
        </p:nvSpPr>
        <p:spPr>
          <a:xfrm>
            <a:off x="758952" y="3529584"/>
            <a:ext cx="694944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步驟編號 19"/>
          <p:cNvSpPr/>
          <p:nvPr/>
        </p:nvSpPr>
        <p:spPr>
          <a:xfrm>
            <a:off x="886968" y="36576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20" name="文字 20"/>
          <p:cNvSpPr txBox="1"/>
          <p:nvPr/>
        </p:nvSpPr>
        <p:spPr>
          <a:xfrm>
            <a:off x="1472184" y="36210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即時標示高風險訊息</a:t>
            </a:r>
            <a:endParaRPr lang="zh-TW" altLang="en-US" sz="1800" dirty="0"/>
          </a:p>
        </p:txBody>
      </p:sp>
      <p:sp>
        <p:nvSpPr>
          <p:cNvPr id="21" name="文字 21"/>
          <p:cNvSpPr txBox="1"/>
          <p:nvPr/>
        </p:nvSpPr>
        <p:spPr>
          <a:xfrm>
            <a:off x="1472184" y="39502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訊息下方與聊天室頂端同時提醒</a:t>
            </a:r>
            <a:endParaRPr lang="zh-TW" altLang="en-US" sz="1400" dirty="0"/>
          </a:p>
        </p:txBody>
      </p:sp>
      <p:sp>
        <p:nvSpPr>
          <p:cNvPr id="22" name="步驟編號底 22"/>
          <p:cNvSpPr/>
          <p:nvPr/>
        </p:nvSpPr>
        <p:spPr>
          <a:xfrm>
            <a:off x="886968" y="45720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文字 23"/>
          <p:cNvSpPr txBox="1"/>
          <p:nvPr/>
        </p:nvSpPr>
        <p:spPr>
          <a:xfrm>
            <a:off x="1472184" y="45354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防詐須知與檢舉</a:t>
            </a:r>
            <a:endParaRPr lang="zh-TW" altLang="en-US" sz="1800" dirty="0"/>
          </a:p>
        </p:txBody>
      </p:sp>
      <p:sp>
        <p:nvSpPr>
          <p:cNvPr id="24" name="文字 24"/>
          <p:cNvSpPr txBox="1"/>
          <p:nvPr/>
        </p:nvSpPr>
        <p:spPr>
          <a:xfrm>
            <a:off x="1472184" y="48646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平台內付款，不索取驗證碼；可疑訊息可檢舉</a:t>
            </a:r>
            <a:endParaRPr lang="zh-TW" altLang="en-US" sz="1400" dirty="0"/>
          </a:p>
        </p:txBody>
      </p:sp>
      <p:sp>
        <p:nvSpPr>
          <p:cNvPr id="25" name="步驟亮起底 25"/>
          <p:cNvSpPr/>
          <p:nvPr/>
        </p:nvSpPr>
        <p:spPr>
          <a:xfrm>
            <a:off x="758952" y="4443984"/>
            <a:ext cx="694944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步驟編號 26"/>
          <p:cNvSpPr/>
          <p:nvPr/>
        </p:nvSpPr>
        <p:spPr>
          <a:xfrm>
            <a:off x="886968" y="45720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7" name="文字 27"/>
          <p:cNvSpPr txBox="1"/>
          <p:nvPr/>
        </p:nvSpPr>
        <p:spPr>
          <a:xfrm>
            <a:off x="1472184" y="45354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防詐須知與檢舉</a:t>
            </a:r>
            <a:endParaRPr lang="zh-TW" altLang="en-US" sz="1800" dirty="0"/>
          </a:p>
        </p:txBody>
      </p:sp>
      <p:sp>
        <p:nvSpPr>
          <p:cNvPr id="28" name="文字 28"/>
          <p:cNvSpPr txBox="1"/>
          <p:nvPr/>
        </p:nvSpPr>
        <p:spPr>
          <a:xfrm>
            <a:off x="1472184" y="48646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平台內付款，不索取驗證碼；可疑訊息可檢舉</a:t>
            </a:r>
            <a:endParaRPr lang="zh-TW" altLang="en-US" sz="1400" dirty="0"/>
          </a:p>
        </p:txBody>
      </p:sp>
      <p:sp>
        <p:nvSpPr>
          <p:cNvPr id="29" name="提示 29"/>
          <p:cNvSpPr/>
          <p:nvPr/>
        </p:nvSpPr>
        <p:spPr>
          <a:xfrm>
            <a:off x="758952" y="594360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0" name="圖示 30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035040"/>
            <a:ext cx="274320" cy="274320"/>
          </a:xfrm>
          <a:prstGeom prst="rect">
            <a:avLst/>
          </a:prstGeom>
        </p:spPr>
      </p:pic>
      <p:sp>
        <p:nvSpPr>
          <p:cNvPr id="31" name="文字 31"/>
          <p:cNvSpPr txBox="1"/>
          <p:nvPr/>
        </p:nvSpPr>
        <p:spPr>
          <a:xfrm>
            <a:off x="1234440" y="5943600"/>
            <a:ext cx="6364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依規則即時比對；24 小時內多次高風險訊息會通知管理員</a:t>
            </a:r>
            <a:endParaRPr lang="zh-TW" altLang="en-US" sz="1350" dirty="0"/>
          </a:p>
        </p:txBody>
      </p:sp>
      <p:pic>
        <p:nvPicPr>
          <p:cNvPr id="32" name="!!手機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58200" y="1463040"/>
            <a:ext cx="2481072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80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4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4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4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4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61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61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61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61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1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92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92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61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92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19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92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2" nodeType="withEffect">
                                  <p:stCondLst>
                                    <p:cond delay="92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3" nodeType="withEffect">
                                  <p:stCondLst>
                                    <p:cond delay="13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2" nodeType="withEffect">
                                  <p:stCondLst>
                                    <p:cond delay="92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3" nodeType="withEffect">
                                  <p:stCondLst>
                                    <p:cond delay="13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2" nodeType="withEffect">
                                  <p:stCondLst>
                                    <p:cond delay="9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3" nodeType="withEffect">
                                  <p:stCondLst>
                                    <p:cond delay="13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2" nodeType="withEffect">
                                  <p:stCondLst>
                                    <p:cond delay="92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3" nodeType="withEffect">
                                  <p:stCondLst>
                                    <p:cond delay="13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36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5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36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5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36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5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36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5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5469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85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5469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85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5469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85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5469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85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4" nodeType="withEffect">
                                  <p:stCondLst>
                                    <p:cond delay="185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5" nodeType="withEffect">
                                  <p:stCondLst>
                                    <p:cond delay="229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4" nodeType="withEffect">
                                  <p:stCondLst>
                                    <p:cond delay="185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5" nodeType="withEffect">
                                  <p:stCondLst>
                                    <p:cond delay="229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4" nodeType="withEffect">
                                  <p:stCondLst>
                                    <p:cond delay="185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5" nodeType="withEffect">
                                  <p:stCondLst>
                                    <p:cond delay="229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4" nodeType="withEffect">
                                  <p:stCondLst>
                                    <p:cond delay="185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5" nodeType="withEffect">
                                  <p:stCondLst>
                                    <p:cond delay="229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4" nodeType="withEffect">
                                  <p:stCondLst>
                                    <p:cond delay="229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5" nodeType="withEffect">
                                  <p:stCondLst>
                                    <p:cond delay="24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4" nodeType="withEffect">
                                  <p:stCondLst>
                                    <p:cond delay="229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5" nodeType="withEffect">
                                  <p:stCondLst>
                                    <p:cond delay="24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4" nodeType="withEffect">
                                  <p:stCondLst>
                                    <p:cond delay="2296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5" nodeType="withEffect">
                                  <p:stCondLst>
                                    <p:cond delay="24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4" nodeType="withEffect">
                                  <p:stCondLst>
                                    <p:cond delay="229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5" nodeType="withEffect">
                                  <p:stCondLst>
                                    <p:cond delay="24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247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4" nodeType="withEffect">
                                  <p:stCondLst>
                                    <p:cond delay="247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2475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4" nodeType="withEffect">
                                  <p:stCondLst>
                                    <p:cond delay="2475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81" repeatCount="indefinite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11" grpId="2" animBg="1"/>
      <p:bldP spid="11" grpId="3" animBg="1"/>
      <p:bldP spid="12" grpId="2" animBg="1"/>
      <p:bldP spid="12" grpId="3" animBg="1"/>
      <p:bldP spid="13" grpId="2" animBg="1"/>
      <p:bldP spid="13" grpId="3" animBg="1"/>
      <p:bldP spid="14" grpId="2" animBg="1"/>
      <p:bldP spid="14" grpId="3" animBg="1"/>
      <p:bldP spid="18" grpId="2" animBg="1"/>
      <p:bldP spid="18" grpId="3" animBg="1"/>
      <p:bldP spid="19" grpId="2" animBg="1"/>
      <p:bldP spid="19" grpId="3" animBg="1"/>
      <p:bldP spid="20" grpId="2" animBg="1"/>
      <p:bldP spid="20" grpId="3" animBg="1"/>
      <p:bldP spid="21" grpId="2" animBg="1"/>
      <p:bldP spid="21" grpId="3" animBg="1"/>
      <p:bldP spid="25" grpId="2" animBg="1"/>
      <p:bldP spid="25" grpId="3" animBg="1"/>
      <p:bldP spid="26" grpId="2" animBg="1"/>
      <p:bldP spid="26" grpId="3" animBg="1"/>
      <p:bldP spid="27" grpId="2" animBg="1"/>
      <p:bldP spid="27" grpId="3" animBg="1"/>
      <p:bldP spid="28" grpId="2" animBg="1"/>
      <p:bldP spid="28" grpId="3" animBg="1"/>
      <p:bldP spid="11" grpId="4" animBg="1"/>
      <p:bldP spid="11" grpId="5" animBg="1"/>
      <p:bldP spid="12" grpId="4" animBg="1"/>
      <p:bldP spid="12" grpId="5" animBg="1"/>
      <p:bldP spid="13" grpId="4" animBg="1"/>
      <p:bldP spid="13" grpId="5" animBg="1"/>
      <p:bldP spid="14" grpId="4" animBg="1"/>
      <p:bldP spid="14" grpId="5" animBg="1"/>
      <p:bldP spid="18" grpId="4" animBg="1"/>
      <p:bldP spid="18" grpId="5" animBg="1"/>
      <p:bldP spid="19" grpId="4" animBg="1"/>
      <p:bldP spid="19" grpId="5" animBg="1"/>
      <p:bldP spid="20" grpId="4" animBg="1"/>
      <p:bldP spid="20" grpId="5" animBg="1"/>
      <p:bldP spid="21" grpId="4" animBg="1"/>
      <p:bldP spid="21" grpId="5" animBg="1"/>
      <p:bldP spid="25" grpId="4" animBg="1"/>
      <p:bldP spid="26" grpId="4" animBg="1"/>
      <p:bldP spid="27" grpId="4" animBg="1"/>
      <p:bldP spid="28" grpId="4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9" grpId="0" animBg="1"/>
      <p:bldP spid="31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個人化推薦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個人化推薦</a:t>
            </a:r>
            <a:endParaRPr lang="zh-TW" altLang="en-US" sz="3600" dirty="0"/>
          </a:p>
        </p:txBody>
      </p:sp>
      <p:sp>
        <p:nvSpPr>
          <p:cNvPr id="3" name="!!英文標籤｜PERSONALIZED RECOMMENDATION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PERSONALIZED RECOMMENDATION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16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依閱讀紀錄推薦，並說明推薦理由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範例：買家 es 收藏過《AI for UX》</a:t>
            </a:r>
            <a:endParaRPr lang="zh-TW" altLang="en-US" sz="1400" dirty="0"/>
          </a:p>
        </p:txBody>
      </p:sp>
      <p:sp>
        <p:nvSpPr>
          <p:cNvPr id="8" name="步驟編號底 8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9" name="文字 9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依收藏與瀏覽紀錄找書</a:t>
            </a:r>
            <a:endParaRPr lang="zh-TW" altLang="en-US" sz="1800" dirty="0"/>
          </a:p>
        </p:txBody>
      </p:sp>
      <p:sp>
        <p:nvSpPr>
          <p:cNvPr id="10" name="文字 10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以語意向量找出內容相近的書籍</a:t>
            </a:r>
            <a:endParaRPr lang="zh-TW" altLang="en-US" sz="1400" dirty="0"/>
          </a:p>
        </p:txBody>
      </p:sp>
      <p:sp>
        <p:nvSpPr>
          <p:cNvPr id="11" name="步驟亮起底 11"/>
          <p:cNvSpPr/>
          <p:nvPr/>
        </p:nvSpPr>
        <p:spPr>
          <a:xfrm>
            <a:off x="758952" y="2615184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3" name="文字 13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依收藏與瀏覽紀錄找書</a:t>
            </a:r>
            <a:endParaRPr lang="zh-TW" altLang="en-US" sz="1800" dirty="0"/>
          </a:p>
        </p:txBody>
      </p:sp>
      <p:sp>
        <p:nvSpPr>
          <p:cNvPr id="14" name="文字 14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以語意向量找出內容相近的書籍</a:t>
            </a:r>
            <a:endParaRPr lang="zh-TW" altLang="en-US" sz="1400" dirty="0"/>
          </a:p>
        </p:txBody>
      </p:sp>
      <p:sp>
        <p:nvSpPr>
          <p:cNvPr id="15" name="步驟編號底 15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6" name="文字 16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附上推薦理由</a:t>
            </a:r>
            <a:endParaRPr lang="zh-TW" altLang="en-US" sz="1800" dirty="0"/>
          </a:p>
        </p:txBody>
      </p:sp>
      <p:sp>
        <p:nvSpPr>
          <p:cNvPr id="17" name="文字 17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例如「從 UX 設計延伸到網頁版面與樣式實作」</a:t>
            </a:r>
            <a:endParaRPr lang="zh-TW" altLang="en-US" sz="1400" dirty="0"/>
          </a:p>
        </p:txBody>
      </p:sp>
      <p:sp>
        <p:nvSpPr>
          <p:cNvPr id="18" name="步驟亮起底 18"/>
          <p:cNvSpPr/>
          <p:nvPr/>
        </p:nvSpPr>
        <p:spPr>
          <a:xfrm>
            <a:off x="758952" y="3410712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步驟編號 19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20" name="文字 20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附上推薦理由</a:t>
            </a:r>
            <a:endParaRPr lang="zh-TW" altLang="en-US" sz="1800" dirty="0"/>
          </a:p>
        </p:txBody>
      </p:sp>
      <p:sp>
        <p:nvSpPr>
          <p:cNvPr id="21" name="文字 21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例如「從 UX 設計延伸到網頁版面與樣式實作」</a:t>
            </a:r>
            <a:endParaRPr lang="zh-TW" altLang="en-US" sz="1400" dirty="0"/>
          </a:p>
        </p:txBody>
      </p:sp>
      <p:sp>
        <p:nvSpPr>
          <p:cNvPr id="22" name="步驟編號底 22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文字 23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點選查看商品</a:t>
            </a:r>
            <a:endParaRPr lang="zh-TW" altLang="en-US" sz="1800" dirty="0"/>
          </a:p>
        </p:txBody>
      </p:sp>
      <p:sp>
        <p:nvSpPr>
          <p:cNvPr id="24" name="文字 24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售價、書況與存放書櫃一目了然</a:t>
            </a:r>
            <a:endParaRPr lang="zh-TW" altLang="en-US" sz="1400" dirty="0"/>
          </a:p>
        </p:txBody>
      </p:sp>
      <p:sp>
        <p:nvSpPr>
          <p:cNvPr id="25" name="步驟亮起底 25"/>
          <p:cNvSpPr/>
          <p:nvPr/>
        </p:nvSpPr>
        <p:spPr>
          <a:xfrm>
            <a:off x="758952" y="4206240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步驟編號 2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7" name="文字 27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點選查看商品</a:t>
            </a:r>
            <a:endParaRPr lang="zh-TW" altLang="en-US" sz="1800" dirty="0"/>
          </a:p>
        </p:txBody>
      </p:sp>
      <p:sp>
        <p:nvSpPr>
          <p:cNvPr id="28" name="文字 28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售價、書況與存放書櫃一目了然</a:t>
            </a:r>
            <a:endParaRPr lang="zh-TW" altLang="en-US" sz="1400" dirty="0"/>
          </a:p>
        </p:txBody>
      </p:sp>
      <p:sp>
        <p:nvSpPr>
          <p:cNvPr id="29" name="步驟編號底 29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0" name="文字 30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相似書籍</a:t>
            </a:r>
            <a:endParaRPr lang="zh-TW" altLang="en-US" sz="1800" dirty="0"/>
          </a:p>
        </p:txBody>
      </p:sp>
      <p:sp>
        <p:nvSpPr>
          <p:cNvPr id="31" name="文字 31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商品頁依書目與語意向量列出相似書籍</a:t>
            </a:r>
            <a:endParaRPr lang="zh-TW" altLang="en-US" sz="1400" dirty="0"/>
          </a:p>
        </p:txBody>
      </p:sp>
      <p:sp>
        <p:nvSpPr>
          <p:cNvPr id="32" name="步驟亮起底 32"/>
          <p:cNvSpPr/>
          <p:nvPr/>
        </p:nvSpPr>
        <p:spPr>
          <a:xfrm>
            <a:off x="758952" y="5001768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3" name="步驟編號 33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4" name="文字 34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相似書籍</a:t>
            </a:r>
            <a:endParaRPr lang="zh-TW" altLang="en-US" sz="1800" dirty="0"/>
          </a:p>
        </p:txBody>
      </p:sp>
      <p:sp>
        <p:nvSpPr>
          <p:cNvPr id="35" name="文字 35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商品頁依書目與語意向量列出相似書籍</a:t>
            </a:r>
            <a:endParaRPr lang="zh-TW" altLang="en-US" sz="1400" dirty="0"/>
          </a:p>
        </p:txBody>
      </p:sp>
      <p:sp>
        <p:nvSpPr>
          <p:cNvPr id="36" name="提示 36"/>
          <p:cNvSpPr/>
          <p:nvPr/>
        </p:nvSpPr>
        <p:spPr>
          <a:xfrm>
            <a:off x="758952" y="594360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7" name="圖示 37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035040"/>
            <a:ext cx="274320" cy="274320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1234440" y="5943600"/>
            <a:ext cx="6364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推薦理由只依本人紀錄產生，不提及其他使用者或個人資料</a:t>
            </a:r>
            <a:endParaRPr lang="zh-TW" altLang="en-US" sz="1350" dirty="0"/>
          </a:p>
        </p:txBody>
      </p:sp>
      <p:pic>
        <p:nvPicPr>
          <p:cNvPr id="39" name="!!手機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58200" y="1463040"/>
            <a:ext cx="2481072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3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5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5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5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5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58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8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8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8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58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8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8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8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893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0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89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0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89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0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89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0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03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1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033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1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03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1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03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1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16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4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16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4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16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4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16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4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47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17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47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17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476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17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47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17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1786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192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178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192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1786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192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1786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192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19259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05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19259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05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19259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05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19259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05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058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236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058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236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058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236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058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236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23689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267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23689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267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23689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267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23689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267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2679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28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2679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28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2679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28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2679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28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28189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2950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28189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2950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28189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2950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28189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2950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29509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326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29509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326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29509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326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29509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326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32619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6" nodeType="withEffect">
                                  <p:stCondLst>
                                    <p:cond delay="32619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32619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grpId="6" nodeType="withEffect">
                                  <p:stCondLst>
                                    <p:cond delay="32619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4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464" repeatCount="indefinite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11" grpId="2" animBg="1"/>
      <p:bldP spid="11" grpId="3" animBg="1"/>
      <p:bldP spid="12" grpId="2" animBg="1"/>
      <p:bldP spid="12" grpId="3" animBg="1"/>
      <p:bldP spid="13" grpId="2" animBg="1"/>
      <p:bldP spid="13" grpId="3" animBg="1"/>
      <p:bldP spid="14" grpId="2" animBg="1"/>
      <p:bldP spid="14" grpId="3" animBg="1"/>
      <p:bldP spid="18" grpId="2" animBg="1"/>
      <p:bldP spid="18" grpId="3" animBg="1"/>
      <p:bldP spid="19" grpId="2" animBg="1"/>
      <p:bldP spid="19" grpId="3" animBg="1"/>
      <p:bldP spid="20" grpId="2" animBg="1"/>
      <p:bldP spid="20" grpId="3" animBg="1"/>
      <p:bldP spid="21" grpId="2" animBg="1"/>
      <p:bldP spid="21" grpId="3" animBg="1"/>
      <p:bldP spid="25" grpId="2" animBg="1"/>
      <p:bldP spid="25" grpId="3" animBg="1"/>
      <p:bldP spid="26" grpId="2" animBg="1"/>
      <p:bldP spid="26" grpId="3" animBg="1"/>
      <p:bldP spid="27" grpId="2" animBg="1"/>
      <p:bldP spid="27" grpId="3" animBg="1"/>
      <p:bldP spid="28" grpId="2" animBg="1"/>
      <p:bldP spid="28" grpId="3" animBg="1"/>
      <p:bldP spid="32" grpId="2" animBg="1"/>
      <p:bldP spid="32" grpId="3" animBg="1"/>
      <p:bldP spid="33" grpId="2" animBg="1"/>
      <p:bldP spid="33" grpId="3" animBg="1"/>
      <p:bldP spid="34" grpId="2" animBg="1"/>
      <p:bldP spid="34" grpId="3" animBg="1"/>
      <p:bldP spid="35" grpId="2" animBg="1"/>
      <p:bldP spid="35" grpId="3" animBg="1"/>
      <p:bldP spid="11" grpId="4" animBg="1"/>
      <p:bldP spid="11" grpId="5" animBg="1"/>
      <p:bldP spid="12" grpId="4" animBg="1"/>
      <p:bldP spid="12" grpId="5" animBg="1"/>
      <p:bldP spid="13" grpId="4" animBg="1"/>
      <p:bldP spid="13" grpId="5" animBg="1"/>
      <p:bldP spid="14" grpId="4" animBg="1"/>
      <p:bldP spid="14" grpId="5" animBg="1"/>
      <p:bldP spid="18" grpId="4" animBg="1"/>
      <p:bldP spid="18" grpId="5" animBg="1"/>
      <p:bldP spid="19" grpId="4" animBg="1"/>
      <p:bldP spid="19" grpId="5" animBg="1"/>
      <p:bldP spid="20" grpId="4" animBg="1"/>
      <p:bldP spid="20" grpId="5" animBg="1"/>
      <p:bldP spid="21" grpId="4" animBg="1"/>
      <p:bldP spid="21" grpId="5" animBg="1"/>
      <p:bldP spid="25" grpId="4" animBg="1"/>
      <p:bldP spid="25" grpId="5" animBg="1"/>
      <p:bldP spid="26" grpId="4" animBg="1"/>
      <p:bldP spid="26" grpId="5" animBg="1"/>
      <p:bldP spid="27" grpId="4" animBg="1"/>
      <p:bldP spid="27" grpId="5" animBg="1"/>
      <p:bldP spid="28" grpId="4" animBg="1"/>
      <p:bldP spid="28" grpId="5" animBg="1"/>
      <p:bldP spid="32" grpId="4" animBg="1"/>
      <p:bldP spid="32" grpId="5" animBg="1"/>
      <p:bldP spid="33" grpId="4" animBg="1"/>
      <p:bldP spid="33" grpId="5" animBg="1"/>
      <p:bldP spid="34" grpId="4" animBg="1"/>
      <p:bldP spid="34" grpId="5" animBg="1"/>
      <p:bldP spid="35" grpId="4" animBg="1"/>
      <p:bldP spid="35" grpId="5" animBg="1"/>
      <p:bldP spid="11" grpId="6" animBg="1"/>
      <p:bldP spid="11" grpId="7" animBg="1"/>
      <p:bldP spid="12" grpId="6" animBg="1"/>
      <p:bldP spid="12" grpId="7" animBg="1"/>
      <p:bldP spid="13" grpId="6" animBg="1"/>
      <p:bldP spid="13" grpId="7" animBg="1"/>
      <p:bldP spid="14" grpId="6" animBg="1"/>
      <p:bldP spid="14" grpId="7" animBg="1"/>
      <p:bldP spid="18" grpId="6" animBg="1"/>
      <p:bldP spid="18" grpId="7" animBg="1"/>
      <p:bldP spid="19" grpId="6" animBg="1"/>
      <p:bldP spid="19" grpId="7" animBg="1"/>
      <p:bldP spid="20" grpId="6" animBg="1"/>
      <p:bldP spid="20" grpId="7" animBg="1"/>
      <p:bldP spid="21" grpId="6" animBg="1"/>
      <p:bldP spid="21" grpId="7" animBg="1"/>
      <p:bldP spid="25" grpId="6" animBg="1"/>
      <p:bldP spid="25" grpId="7" animBg="1"/>
      <p:bldP spid="26" grpId="6" animBg="1"/>
      <p:bldP spid="26" grpId="7" animBg="1"/>
      <p:bldP spid="27" grpId="6" animBg="1"/>
      <p:bldP spid="27" grpId="7" animBg="1"/>
      <p:bldP spid="28" grpId="6" animBg="1"/>
      <p:bldP spid="28" grpId="7" animBg="1"/>
      <p:bldP spid="32" grpId="6" animBg="1"/>
      <p:bldP spid="33" grpId="6" animBg="1"/>
      <p:bldP spid="34" grpId="6" animBg="1"/>
      <p:bldP spid="35" grpId="6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6" grpId="0" animBg="1"/>
      <p:bldP spid="3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AI 書籍顧問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AI 書籍顧問</a:t>
            </a:r>
            <a:endParaRPr lang="zh-TW" altLang="en-US" sz="3600" dirty="0"/>
          </a:p>
        </p:txBody>
      </p:sp>
      <p:sp>
        <p:nvSpPr>
          <p:cNvPr id="3" name="!!英文標籤｜AI BOOK ADVISOR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AI BOOK ADVISOR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17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描述用途與預算，推薦站內可購買的書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範例：「想學網頁設計，預算 300 以內」</a:t>
            </a:r>
            <a:endParaRPr lang="zh-TW" altLang="en-US" sz="1400" dirty="0"/>
          </a:p>
        </p:txBody>
      </p:sp>
      <p:sp>
        <p:nvSpPr>
          <p:cNvPr id="8" name="步驟編號底 8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9" name="文字 9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開啟 AI 書籍顧問</a:t>
            </a:r>
            <a:endParaRPr lang="zh-TW" altLang="en-US" sz="1800" dirty="0"/>
          </a:p>
        </p:txBody>
      </p:sp>
      <p:sp>
        <p:nvSpPr>
          <p:cNvPr id="10" name="文字 10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位於聊天室列表最上方</a:t>
            </a:r>
            <a:endParaRPr lang="zh-TW" altLang="en-US" sz="1400" dirty="0"/>
          </a:p>
        </p:txBody>
      </p:sp>
      <p:sp>
        <p:nvSpPr>
          <p:cNvPr id="11" name="步驟亮起底 11"/>
          <p:cNvSpPr/>
          <p:nvPr/>
        </p:nvSpPr>
        <p:spPr>
          <a:xfrm>
            <a:off x="758952" y="2615184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3" name="文字 13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開啟 AI 書籍顧問</a:t>
            </a:r>
            <a:endParaRPr lang="zh-TW" altLang="en-US" sz="1800" dirty="0"/>
          </a:p>
        </p:txBody>
      </p:sp>
      <p:sp>
        <p:nvSpPr>
          <p:cNvPr id="14" name="文字 14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位於聊天室列表最上方</a:t>
            </a:r>
            <a:endParaRPr lang="zh-TW" altLang="en-US" sz="1400" dirty="0"/>
          </a:p>
        </p:txBody>
      </p:sp>
      <p:sp>
        <p:nvSpPr>
          <p:cNvPr id="15" name="步驟編號底 15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6" name="文字 16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輸入用途與預算</a:t>
            </a:r>
            <a:endParaRPr lang="zh-TW" altLang="en-US" sz="1800" dirty="0"/>
          </a:p>
        </p:txBody>
      </p:sp>
      <p:sp>
        <p:nvSpPr>
          <p:cNvPr id="17" name="文字 17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「想學網頁設計，預算 300 以內」</a:t>
            </a:r>
            <a:endParaRPr lang="zh-TW" altLang="en-US" sz="1400" dirty="0"/>
          </a:p>
        </p:txBody>
      </p:sp>
      <p:sp>
        <p:nvSpPr>
          <p:cNvPr id="18" name="步驟亮起底 18"/>
          <p:cNvSpPr/>
          <p:nvPr/>
        </p:nvSpPr>
        <p:spPr>
          <a:xfrm>
            <a:off x="758952" y="3410712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步驟編號 19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20" name="文字 20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輸入用途與預算</a:t>
            </a:r>
            <a:endParaRPr lang="zh-TW" altLang="en-US" sz="1800" dirty="0"/>
          </a:p>
        </p:txBody>
      </p:sp>
      <p:sp>
        <p:nvSpPr>
          <p:cNvPr id="21" name="文字 21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「想學網頁設計，預算 300 以內」</a:t>
            </a:r>
            <a:endParaRPr lang="zh-TW" altLang="en-US" sz="1400" dirty="0"/>
          </a:p>
        </p:txBody>
      </p:sp>
      <p:sp>
        <p:nvSpPr>
          <p:cNvPr id="22" name="步驟編號底 22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文字 23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AI 拆解需求後推薦</a:t>
            </a:r>
            <a:endParaRPr lang="zh-TW" altLang="en-US" sz="1800" dirty="0"/>
          </a:p>
        </p:txBody>
      </p:sp>
      <p:sp>
        <p:nvSpPr>
          <p:cNvPr id="24" name="文字 24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先讀 HTML &amp; CSS，再搭配 Vue.js，皆在預算內</a:t>
            </a:r>
            <a:endParaRPr lang="zh-TW" altLang="en-US" sz="1400" dirty="0"/>
          </a:p>
        </p:txBody>
      </p:sp>
      <p:sp>
        <p:nvSpPr>
          <p:cNvPr id="25" name="步驟亮起底 25"/>
          <p:cNvSpPr/>
          <p:nvPr/>
        </p:nvSpPr>
        <p:spPr>
          <a:xfrm>
            <a:off x="758952" y="4206240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步驟編號 2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7" name="文字 27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AI 拆解需求後推薦</a:t>
            </a:r>
            <a:endParaRPr lang="zh-TW" altLang="en-US" sz="1800" dirty="0"/>
          </a:p>
        </p:txBody>
      </p:sp>
      <p:sp>
        <p:nvSpPr>
          <p:cNvPr id="28" name="文字 28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先讀 HTML &amp; CSS，再搭配 Vue.js，皆在預算內</a:t>
            </a:r>
            <a:endParaRPr lang="zh-TW" altLang="en-US" sz="1400" dirty="0"/>
          </a:p>
        </p:txBody>
      </p:sp>
      <p:sp>
        <p:nvSpPr>
          <p:cNvPr id="29" name="步驟編號底 29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0" name="文字 30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點選書卡查看商品</a:t>
            </a:r>
            <a:endParaRPr lang="zh-TW" altLang="en-US" sz="1800" dirty="0"/>
          </a:p>
        </p:txBody>
      </p:sp>
      <p:sp>
        <p:nvSpPr>
          <p:cNvPr id="31" name="文字 31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可直接加入購物車或購買</a:t>
            </a:r>
            <a:endParaRPr lang="zh-TW" altLang="en-US" sz="1400" dirty="0"/>
          </a:p>
        </p:txBody>
      </p:sp>
      <p:sp>
        <p:nvSpPr>
          <p:cNvPr id="32" name="步驟亮起底 32"/>
          <p:cNvSpPr/>
          <p:nvPr/>
        </p:nvSpPr>
        <p:spPr>
          <a:xfrm>
            <a:off x="758952" y="5001768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3" name="步驟編號 33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4" name="文字 34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點選書卡查看商品</a:t>
            </a:r>
            <a:endParaRPr lang="zh-TW" altLang="en-US" sz="1800" dirty="0"/>
          </a:p>
        </p:txBody>
      </p:sp>
      <p:sp>
        <p:nvSpPr>
          <p:cNvPr id="35" name="文字 35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可直接加入購物車或購買</a:t>
            </a:r>
            <a:endParaRPr lang="zh-TW" altLang="en-US" sz="1400" dirty="0"/>
          </a:p>
        </p:txBody>
      </p:sp>
      <p:sp>
        <p:nvSpPr>
          <p:cNvPr id="36" name="提示 36"/>
          <p:cNvSpPr/>
          <p:nvPr/>
        </p:nvSpPr>
        <p:spPr>
          <a:xfrm>
            <a:off x="758952" y="594360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7" name="圖示 37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035040"/>
            <a:ext cx="274320" cy="274320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1234440" y="5943600"/>
            <a:ext cx="6364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只推薦站內可購買的書，並排除他人預約中的書籍</a:t>
            </a:r>
            <a:endParaRPr lang="zh-TW" altLang="en-US" sz="1350" dirty="0"/>
          </a:p>
        </p:txBody>
      </p:sp>
      <p:pic>
        <p:nvPicPr>
          <p:cNvPr id="39" name="!!手機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58200" y="1463040"/>
            <a:ext cx="2481072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2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2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2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2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48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48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48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48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1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1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1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1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1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3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12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3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12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3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1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3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34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6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34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6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344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6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3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6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61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9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61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9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61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9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61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9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972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22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97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22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972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22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972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22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2244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246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224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246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2244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246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2244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246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2466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2466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246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2466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732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309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732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309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732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309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732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309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3094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4" nodeType="withEffect">
                                  <p:stCondLst>
                                    <p:cond delay="3094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3094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4" nodeType="withEffect">
                                  <p:stCondLst>
                                    <p:cond delay="3094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8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68" repeatCount="indefinite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11" grpId="2" animBg="1"/>
      <p:bldP spid="11" grpId="3" animBg="1"/>
      <p:bldP spid="12" grpId="2" animBg="1"/>
      <p:bldP spid="12" grpId="3" animBg="1"/>
      <p:bldP spid="13" grpId="2" animBg="1"/>
      <p:bldP spid="13" grpId="3" animBg="1"/>
      <p:bldP spid="14" grpId="2" animBg="1"/>
      <p:bldP spid="14" grpId="3" animBg="1"/>
      <p:bldP spid="18" grpId="2" animBg="1"/>
      <p:bldP spid="18" grpId="3" animBg="1"/>
      <p:bldP spid="19" grpId="2" animBg="1"/>
      <p:bldP spid="19" grpId="3" animBg="1"/>
      <p:bldP spid="20" grpId="2" animBg="1"/>
      <p:bldP spid="20" grpId="3" animBg="1"/>
      <p:bldP spid="21" grpId="2" animBg="1"/>
      <p:bldP spid="21" grpId="3" animBg="1"/>
      <p:bldP spid="25" grpId="2" animBg="1"/>
      <p:bldP spid="25" grpId="3" animBg="1"/>
      <p:bldP spid="26" grpId="2" animBg="1"/>
      <p:bldP spid="26" grpId="3" animBg="1"/>
      <p:bldP spid="27" grpId="2" animBg="1"/>
      <p:bldP spid="27" grpId="3" animBg="1"/>
      <p:bldP spid="28" grpId="2" animBg="1"/>
      <p:bldP spid="28" grpId="3" animBg="1"/>
      <p:bldP spid="32" grpId="2" animBg="1"/>
      <p:bldP spid="32" grpId="3" animBg="1"/>
      <p:bldP spid="33" grpId="2" animBg="1"/>
      <p:bldP spid="33" grpId="3" animBg="1"/>
      <p:bldP spid="34" grpId="2" animBg="1"/>
      <p:bldP spid="34" grpId="3" animBg="1"/>
      <p:bldP spid="35" grpId="2" animBg="1"/>
      <p:bldP spid="35" grpId="3" animBg="1"/>
      <p:bldP spid="11" grpId="4" animBg="1"/>
      <p:bldP spid="11" grpId="5" animBg="1"/>
      <p:bldP spid="12" grpId="4" animBg="1"/>
      <p:bldP spid="12" grpId="5" animBg="1"/>
      <p:bldP spid="13" grpId="4" animBg="1"/>
      <p:bldP spid="13" grpId="5" animBg="1"/>
      <p:bldP spid="14" grpId="4" animBg="1"/>
      <p:bldP spid="14" grpId="5" animBg="1"/>
      <p:bldP spid="18" grpId="4" animBg="1"/>
      <p:bldP spid="18" grpId="5" animBg="1"/>
      <p:bldP spid="19" grpId="4" animBg="1"/>
      <p:bldP spid="19" grpId="5" animBg="1"/>
      <p:bldP spid="20" grpId="4" animBg="1"/>
      <p:bldP spid="20" grpId="5" animBg="1"/>
      <p:bldP spid="21" grpId="4" animBg="1"/>
      <p:bldP spid="21" grpId="5" animBg="1"/>
      <p:bldP spid="25" grpId="4" animBg="1"/>
      <p:bldP spid="25" grpId="5" animBg="1"/>
      <p:bldP spid="26" grpId="4" animBg="1"/>
      <p:bldP spid="26" grpId="5" animBg="1"/>
      <p:bldP spid="27" grpId="4" animBg="1"/>
      <p:bldP spid="27" grpId="5" animBg="1"/>
      <p:bldP spid="28" grpId="4" animBg="1"/>
      <p:bldP spid="28" grpId="5" animBg="1"/>
      <p:bldP spid="32" grpId="4" animBg="1"/>
      <p:bldP spid="33" grpId="4" animBg="1"/>
      <p:bldP spid="34" grpId="4" animBg="1"/>
      <p:bldP spid="35" grpId="4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6" grpId="0" animBg="1"/>
      <p:bldP spid="38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AI 客服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AI 客服</a:t>
            </a:r>
            <a:endParaRPr lang="zh-TW" altLang="en-US" sz="3600" dirty="0"/>
          </a:p>
        </p:txBody>
      </p:sp>
      <p:sp>
        <p:nvSpPr>
          <p:cNvPr id="3" name="!!英文標籤｜AI SUPPORT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AI SUPPORT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18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依平台規則與本人訂單回答問題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範例：「取書後發現有缺頁可以退款嗎？」</a:t>
            </a:r>
            <a:endParaRPr lang="zh-TW" altLang="en-US" sz="1400" dirty="0"/>
          </a:p>
        </p:txBody>
      </p:sp>
      <p:sp>
        <p:nvSpPr>
          <p:cNvPr id="8" name="步驟編號底 8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9" name="文字 9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提出問題</a:t>
            </a:r>
            <a:endParaRPr lang="zh-TW" altLang="en-US" sz="1800" dirty="0"/>
          </a:p>
        </p:txBody>
      </p:sp>
      <p:sp>
        <p:nvSpPr>
          <p:cNvPr id="10" name="文字 10"/>
          <p:cNvSpPr txBox="1"/>
          <p:nvPr/>
        </p:nvSpPr>
        <p:spPr>
          <a:xfrm>
            <a:off x="1472184" y="30358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直接輸入，或點選常見問題</a:t>
            </a:r>
            <a:endParaRPr lang="zh-TW" altLang="en-US" sz="1400" dirty="0"/>
          </a:p>
        </p:txBody>
      </p:sp>
      <p:sp>
        <p:nvSpPr>
          <p:cNvPr id="11" name="步驟亮起底 11"/>
          <p:cNvSpPr/>
          <p:nvPr/>
        </p:nvSpPr>
        <p:spPr>
          <a:xfrm>
            <a:off x="758952" y="2615184"/>
            <a:ext cx="694944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3" name="文字 13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提出問題</a:t>
            </a:r>
            <a:endParaRPr lang="zh-TW" altLang="en-US" sz="1800" dirty="0"/>
          </a:p>
        </p:txBody>
      </p:sp>
      <p:sp>
        <p:nvSpPr>
          <p:cNvPr id="14" name="文字 14"/>
          <p:cNvSpPr txBox="1"/>
          <p:nvPr/>
        </p:nvSpPr>
        <p:spPr>
          <a:xfrm>
            <a:off x="1472184" y="30358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直接輸入，或點選常見問題</a:t>
            </a:r>
            <a:endParaRPr lang="zh-TW" altLang="en-US" sz="1400" dirty="0"/>
          </a:p>
        </p:txBody>
      </p:sp>
      <p:sp>
        <p:nvSpPr>
          <p:cNvPr id="15" name="步驟編號底 15"/>
          <p:cNvSpPr/>
          <p:nvPr/>
        </p:nvSpPr>
        <p:spPr>
          <a:xfrm>
            <a:off x="886968" y="36576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6" name="文字 16"/>
          <p:cNvSpPr txBox="1"/>
          <p:nvPr/>
        </p:nvSpPr>
        <p:spPr>
          <a:xfrm>
            <a:off x="1472184" y="36210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依規則與本人訂單回答</a:t>
            </a:r>
            <a:endParaRPr lang="zh-TW" altLang="en-US" sz="1800" dirty="0"/>
          </a:p>
        </p:txBody>
      </p:sp>
      <p:sp>
        <p:nvSpPr>
          <p:cNvPr id="17" name="文字 17"/>
          <p:cNvSpPr txBox="1"/>
          <p:nvPr/>
        </p:nvSpPr>
        <p:spPr>
          <a:xfrm>
            <a:off x="1472184" y="39502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帶出訂單、申請期限與爭議流程，並附訂單連結</a:t>
            </a:r>
            <a:endParaRPr lang="zh-TW" altLang="en-US" sz="1400" dirty="0"/>
          </a:p>
        </p:txBody>
      </p:sp>
      <p:sp>
        <p:nvSpPr>
          <p:cNvPr id="18" name="步驟亮起底 18"/>
          <p:cNvSpPr/>
          <p:nvPr/>
        </p:nvSpPr>
        <p:spPr>
          <a:xfrm>
            <a:off x="758952" y="3529584"/>
            <a:ext cx="694944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步驟編號 19"/>
          <p:cNvSpPr/>
          <p:nvPr/>
        </p:nvSpPr>
        <p:spPr>
          <a:xfrm>
            <a:off x="886968" y="36576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20" name="文字 20"/>
          <p:cNvSpPr txBox="1"/>
          <p:nvPr/>
        </p:nvSpPr>
        <p:spPr>
          <a:xfrm>
            <a:off x="1472184" y="36210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依規則與本人訂單回答</a:t>
            </a:r>
            <a:endParaRPr lang="zh-TW" altLang="en-US" sz="1800" dirty="0"/>
          </a:p>
        </p:txBody>
      </p:sp>
      <p:sp>
        <p:nvSpPr>
          <p:cNvPr id="21" name="文字 21"/>
          <p:cNvSpPr txBox="1"/>
          <p:nvPr/>
        </p:nvSpPr>
        <p:spPr>
          <a:xfrm>
            <a:off x="1472184" y="39502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帶出訂單、申請期限與爭議流程，並附訂單連結</a:t>
            </a:r>
            <a:endParaRPr lang="zh-TW" altLang="en-US" sz="1400" dirty="0"/>
          </a:p>
        </p:txBody>
      </p:sp>
      <p:sp>
        <p:nvSpPr>
          <p:cNvPr id="22" name="步驟編號底 22"/>
          <p:cNvSpPr/>
          <p:nvPr/>
        </p:nvSpPr>
        <p:spPr>
          <a:xfrm>
            <a:off x="886968" y="45720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文字 23"/>
          <p:cNvSpPr txBox="1"/>
          <p:nvPr/>
        </p:nvSpPr>
        <p:spPr>
          <a:xfrm>
            <a:off x="1472184" y="45354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轉接客服人員</a:t>
            </a:r>
            <a:endParaRPr lang="zh-TW" altLang="en-US" sz="1800" dirty="0"/>
          </a:p>
        </p:txBody>
      </p:sp>
      <p:sp>
        <p:nvSpPr>
          <p:cNvPr id="24" name="文字 24"/>
          <p:cNvSpPr txBox="1"/>
          <p:nvPr/>
        </p:nvSpPr>
        <p:spPr>
          <a:xfrm>
            <a:off x="1472184" y="48646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提供目前的對話內容，由客服人員接手</a:t>
            </a:r>
            <a:endParaRPr lang="zh-TW" altLang="en-US" sz="1400" dirty="0"/>
          </a:p>
        </p:txBody>
      </p:sp>
      <p:sp>
        <p:nvSpPr>
          <p:cNvPr id="25" name="步驟亮起底 25"/>
          <p:cNvSpPr/>
          <p:nvPr/>
        </p:nvSpPr>
        <p:spPr>
          <a:xfrm>
            <a:off x="758952" y="4443984"/>
            <a:ext cx="694944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步驟編號 26"/>
          <p:cNvSpPr/>
          <p:nvPr/>
        </p:nvSpPr>
        <p:spPr>
          <a:xfrm>
            <a:off x="886968" y="45720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7" name="文字 27"/>
          <p:cNvSpPr txBox="1"/>
          <p:nvPr/>
        </p:nvSpPr>
        <p:spPr>
          <a:xfrm>
            <a:off x="1472184" y="45354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轉接客服人員</a:t>
            </a:r>
            <a:endParaRPr lang="zh-TW" altLang="en-US" sz="1800" dirty="0"/>
          </a:p>
        </p:txBody>
      </p:sp>
      <p:sp>
        <p:nvSpPr>
          <p:cNvPr id="28" name="文字 28"/>
          <p:cNvSpPr txBox="1"/>
          <p:nvPr/>
        </p:nvSpPr>
        <p:spPr>
          <a:xfrm>
            <a:off x="1472184" y="486460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提供目前的對話內容，由客服人員接手</a:t>
            </a:r>
            <a:endParaRPr lang="zh-TW" altLang="en-US" sz="1400" dirty="0"/>
          </a:p>
        </p:txBody>
      </p:sp>
      <p:sp>
        <p:nvSpPr>
          <p:cNvPr id="29" name="提示 29"/>
          <p:cNvSpPr/>
          <p:nvPr/>
        </p:nvSpPr>
        <p:spPr>
          <a:xfrm>
            <a:off x="758952" y="594360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0" name="圖示 30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035040"/>
            <a:ext cx="274320" cy="274320"/>
          </a:xfrm>
          <a:prstGeom prst="rect">
            <a:avLst/>
          </a:prstGeom>
        </p:spPr>
      </p:pic>
      <p:sp>
        <p:nvSpPr>
          <p:cNvPr id="31" name="文字 31"/>
          <p:cNvSpPr txBox="1"/>
          <p:nvPr/>
        </p:nvSpPr>
        <p:spPr>
          <a:xfrm>
            <a:off x="1234440" y="5943600"/>
            <a:ext cx="6364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回覆可評分；對話保存 90 天，已於隱私權政策揭露</a:t>
            </a:r>
            <a:endParaRPr lang="zh-TW" altLang="en-US" sz="1350" dirty="0"/>
          </a:p>
        </p:txBody>
      </p:sp>
      <p:pic>
        <p:nvPicPr>
          <p:cNvPr id="32" name="!!手機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58200" y="1463040"/>
            <a:ext cx="2481072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70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3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3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8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8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8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8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0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0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0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1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0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2" nodeType="withEffect">
                                  <p:stCondLst>
                                    <p:cond delay="102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3" nodeType="withEffect">
                                  <p:stCondLst>
                                    <p:cond delay="13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2" nodeType="withEffect">
                                  <p:stCondLst>
                                    <p:cond delay="102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3" nodeType="withEffect">
                                  <p:stCondLst>
                                    <p:cond delay="13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2" nodeType="withEffect">
                                  <p:stCondLst>
                                    <p:cond delay="102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3" nodeType="withEffect">
                                  <p:stCondLst>
                                    <p:cond delay="13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2" nodeType="withEffect">
                                  <p:stCondLst>
                                    <p:cond delay="102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3" nodeType="withEffect">
                                  <p:stCondLst>
                                    <p:cond delay="13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3899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8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3899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8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3899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8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3899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8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84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20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84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20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84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20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84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20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4" nodeType="withEffect">
                                  <p:stCondLst>
                                    <p:cond delay="205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5" nodeType="withEffect">
                                  <p:stCondLst>
                                    <p:cond delay="241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4" nodeType="withEffect">
                                  <p:stCondLst>
                                    <p:cond delay="205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5" nodeType="withEffect">
                                  <p:stCondLst>
                                    <p:cond delay="241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4" nodeType="withEffect">
                                  <p:stCondLst>
                                    <p:cond delay="205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5" nodeType="withEffect">
                                  <p:stCondLst>
                                    <p:cond delay="241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4" nodeType="withEffect">
                                  <p:stCondLst>
                                    <p:cond delay="205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5" nodeType="withEffect">
                                  <p:stCondLst>
                                    <p:cond delay="241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4" nodeType="withEffect">
                                  <p:stCondLst>
                                    <p:cond delay="24169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5" nodeType="withEffect">
                                  <p:stCondLst>
                                    <p:cond delay="286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4" nodeType="withEffect">
                                  <p:stCondLst>
                                    <p:cond delay="24169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5" nodeType="withEffect">
                                  <p:stCondLst>
                                    <p:cond delay="286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4" nodeType="withEffect">
                                  <p:stCondLst>
                                    <p:cond delay="24169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5" nodeType="withEffect">
                                  <p:stCondLst>
                                    <p:cond delay="286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4" nodeType="withEffect">
                                  <p:stCondLst>
                                    <p:cond delay="24169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5" nodeType="withEffect">
                                  <p:stCondLst>
                                    <p:cond delay="286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28689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30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28689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30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28689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30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28689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30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6" nodeType="withEffect">
                                  <p:stCondLst>
                                    <p:cond delay="3081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7" nodeType="withEffect">
                                  <p:stCondLst>
                                    <p:cond delay="34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6" nodeType="withEffect">
                                  <p:stCondLst>
                                    <p:cond delay="3081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7" nodeType="withEffect">
                                  <p:stCondLst>
                                    <p:cond delay="34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6" nodeType="withEffect">
                                  <p:stCondLst>
                                    <p:cond delay="3081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7" nodeType="withEffect">
                                  <p:stCondLst>
                                    <p:cond delay="34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6" nodeType="withEffect">
                                  <p:stCondLst>
                                    <p:cond delay="3081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7" nodeType="withEffect">
                                  <p:stCondLst>
                                    <p:cond delay="34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6" nodeType="withEffect">
                                  <p:stCondLst>
                                    <p:cond delay="3444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7" nodeType="withEffect">
                                  <p:stCondLst>
                                    <p:cond delay="389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6" nodeType="withEffect">
                                  <p:stCondLst>
                                    <p:cond delay="3444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7" nodeType="withEffect">
                                  <p:stCondLst>
                                    <p:cond delay="389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6" nodeType="withEffect">
                                  <p:stCondLst>
                                    <p:cond delay="3444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7" nodeType="withEffect">
                                  <p:stCondLst>
                                    <p:cond delay="389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6" nodeType="withEffect">
                                  <p:stCondLst>
                                    <p:cond delay="3444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7" nodeType="withEffect">
                                  <p:stCondLst>
                                    <p:cond delay="389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6" nodeType="withEffect">
                                  <p:stCondLst>
                                    <p:cond delay="3896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6" nodeType="withEffect">
                                  <p:stCondLst>
                                    <p:cond delay="3896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6" nodeType="withEffect">
                                  <p:stCondLst>
                                    <p:cond delay="3896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6" nodeType="withEffect">
                                  <p:stCondLst>
                                    <p:cond delay="389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8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3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53" repeatCount="indefinite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11" grpId="2" animBg="1"/>
      <p:bldP spid="11" grpId="3" animBg="1"/>
      <p:bldP spid="12" grpId="2" animBg="1"/>
      <p:bldP spid="12" grpId="3" animBg="1"/>
      <p:bldP spid="13" grpId="2" animBg="1"/>
      <p:bldP spid="13" grpId="3" animBg="1"/>
      <p:bldP spid="14" grpId="2" animBg="1"/>
      <p:bldP spid="14" grpId="3" animBg="1"/>
      <p:bldP spid="18" grpId="2" animBg="1"/>
      <p:bldP spid="18" grpId="3" animBg="1"/>
      <p:bldP spid="19" grpId="2" animBg="1"/>
      <p:bldP spid="19" grpId="3" animBg="1"/>
      <p:bldP spid="20" grpId="2" animBg="1"/>
      <p:bldP spid="20" grpId="3" animBg="1"/>
      <p:bldP spid="21" grpId="2" animBg="1"/>
      <p:bldP spid="21" grpId="3" animBg="1"/>
      <p:bldP spid="25" grpId="2" animBg="1"/>
      <p:bldP spid="25" grpId="3" animBg="1"/>
      <p:bldP spid="26" grpId="2" animBg="1"/>
      <p:bldP spid="26" grpId="3" animBg="1"/>
      <p:bldP spid="27" grpId="2" animBg="1"/>
      <p:bldP spid="27" grpId="3" animBg="1"/>
      <p:bldP spid="28" grpId="2" animBg="1"/>
      <p:bldP spid="28" grpId="3" animBg="1"/>
      <p:bldP spid="11" grpId="4" animBg="1"/>
      <p:bldP spid="11" grpId="5" animBg="1"/>
      <p:bldP spid="12" grpId="4" animBg="1"/>
      <p:bldP spid="12" grpId="5" animBg="1"/>
      <p:bldP spid="13" grpId="4" animBg="1"/>
      <p:bldP spid="13" grpId="5" animBg="1"/>
      <p:bldP spid="14" grpId="4" animBg="1"/>
      <p:bldP spid="14" grpId="5" animBg="1"/>
      <p:bldP spid="18" grpId="4" animBg="1"/>
      <p:bldP spid="18" grpId="5" animBg="1"/>
      <p:bldP spid="19" grpId="4" animBg="1"/>
      <p:bldP spid="19" grpId="5" animBg="1"/>
      <p:bldP spid="20" grpId="4" animBg="1"/>
      <p:bldP spid="20" grpId="5" animBg="1"/>
      <p:bldP spid="21" grpId="4" animBg="1"/>
      <p:bldP spid="21" grpId="5" animBg="1"/>
      <p:bldP spid="25" grpId="4" animBg="1"/>
      <p:bldP spid="25" grpId="5" animBg="1"/>
      <p:bldP spid="26" grpId="4" animBg="1"/>
      <p:bldP spid="26" grpId="5" animBg="1"/>
      <p:bldP spid="27" grpId="4" animBg="1"/>
      <p:bldP spid="27" grpId="5" animBg="1"/>
      <p:bldP spid="28" grpId="4" animBg="1"/>
      <p:bldP spid="28" grpId="5" animBg="1"/>
      <p:bldP spid="11" grpId="6" animBg="1"/>
      <p:bldP spid="11" grpId="7" animBg="1"/>
      <p:bldP spid="12" grpId="6" animBg="1"/>
      <p:bldP spid="12" grpId="7" animBg="1"/>
      <p:bldP spid="13" grpId="6" animBg="1"/>
      <p:bldP spid="13" grpId="7" animBg="1"/>
      <p:bldP spid="14" grpId="6" animBg="1"/>
      <p:bldP spid="14" grpId="7" animBg="1"/>
      <p:bldP spid="18" grpId="6" animBg="1"/>
      <p:bldP spid="18" grpId="7" animBg="1"/>
      <p:bldP spid="19" grpId="6" animBg="1"/>
      <p:bldP spid="19" grpId="7" animBg="1"/>
      <p:bldP spid="20" grpId="6" animBg="1"/>
      <p:bldP spid="20" grpId="7" animBg="1"/>
      <p:bldP spid="21" grpId="6" animBg="1"/>
      <p:bldP spid="21" grpId="7" animBg="1"/>
      <p:bldP spid="25" grpId="6" animBg="1"/>
      <p:bldP spid="26" grpId="6" animBg="1"/>
      <p:bldP spid="27" grpId="6" animBg="1"/>
      <p:bldP spid="28" grpId="6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9" grpId="0" animBg="1"/>
      <p:bldP spid="31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AI 爭議分析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AI 爭議分析</a:t>
            </a:r>
            <a:endParaRPr lang="zh-TW" altLang="en-US" sz="3600" dirty="0"/>
          </a:p>
        </p:txBody>
      </p:sp>
      <p:sp>
        <p:nvSpPr>
          <p:cNvPr id="3" name="!!英文標籤｜AI DISPUTE ANALYSIS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AI DISPUTE ANALYSIS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19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比對照片整理爭點，協助管理員裁決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範例：買家 es 反映封面右上角刮痕</a:t>
            </a:r>
            <a:endParaRPr lang="zh-TW" altLang="en-US" sz="1400" dirty="0"/>
          </a:p>
        </p:txBody>
      </p:sp>
      <p:sp>
        <p:nvSpPr>
          <p:cNvPr id="8" name="步驟編號底 8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9" name="文字 9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買家申請爭議</a:t>
            </a:r>
            <a:endParaRPr lang="zh-TW" altLang="en-US" sz="1800" dirty="0"/>
          </a:p>
        </p:txBody>
      </p:sp>
      <p:sp>
        <p:nvSpPr>
          <p:cNvPr id="10" name="文字 10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取書後 24 小時內提出並附照片，暫停撥款</a:t>
            </a:r>
            <a:endParaRPr lang="zh-TW" altLang="en-US" sz="1400" dirty="0"/>
          </a:p>
        </p:txBody>
      </p:sp>
      <p:sp>
        <p:nvSpPr>
          <p:cNvPr id="11" name="步驟亮起底 11"/>
          <p:cNvSpPr/>
          <p:nvPr/>
        </p:nvSpPr>
        <p:spPr>
          <a:xfrm>
            <a:off x="758952" y="2615184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/>
          <p:cNvSpPr/>
          <p:nvPr/>
        </p:nvSpPr>
        <p:spPr>
          <a:xfrm>
            <a:off x="886968" y="274320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3" name="文字 13"/>
          <p:cNvSpPr txBox="1"/>
          <p:nvPr/>
        </p:nvSpPr>
        <p:spPr>
          <a:xfrm>
            <a:off x="1472184" y="270662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買家申請爭議</a:t>
            </a:r>
            <a:endParaRPr lang="zh-TW" altLang="en-US" sz="1800" dirty="0"/>
          </a:p>
        </p:txBody>
      </p:sp>
      <p:sp>
        <p:nvSpPr>
          <p:cNvPr id="14" name="文字 14"/>
          <p:cNvSpPr txBox="1"/>
          <p:nvPr/>
        </p:nvSpPr>
        <p:spPr>
          <a:xfrm>
            <a:off x="1472184" y="303580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取書後 24 小時內提出並附照片，暫停撥款</a:t>
            </a:r>
            <a:endParaRPr lang="zh-TW" altLang="en-US" sz="1400" dirty="0"/>
          </a:p>
        </p:txBody>
      </p:sp>
      <p:sp>
        <p:nvSpPr>
          <p:cNvPr id="15" name="步驟編號底 15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6" name="文字 16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AI 比對照片與說明</a:t>
            </a:r>
            <a:endParaRPr lang="zh-TW" altLang="en-US" sz="1800" dirty="0"/>
          </a:p>
        </p:txBody>
      </p:sp>
      <p:sp>
        <p:nvSpPr>
          <p:cNvPr id="17" name="文字 17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上架照片、書況標示與佐證照片</a:t>
            </a:r>
            <a:endParaRPr lang="zh-TW" altLang="en-US" sz="1400" dirty="0"/>
          </a:p>
        </p:txBody>
      </p:sp>
      <p:sp>
        <p:nvSpPr>
          <p:cNvPr id="18" name="步驟亮起底 18"/>
          <p:cNvSpPr/>
          <p:nvPr/>
        </p:nvSpPr>
        <p:spPr>
          <a:xfrm>
            <a:off x="758952" y="3410712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步驟編號 19"/>
          <p:cNvSpPr/>
          <p:nvPr/>
        </p:nvSpPr>
        <p:spPr>
          <a:xfrm>
            <a:off x="886968" y="3538728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20" name="文字 20"/>
          <p:cNvSpPr txBox="1"/>
          <p:nvPr/>
        </p:nvSpPr>
        <p:spPr>
          <a:xfrm>
            <a:off x="1472184" y="3502152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AI 比對照片與說明</a:t>
            </a:r>
            <a:endParaRPr lang="zh-TW" altLang="en-US" sz="1800" dirty="0"/>
          </a:p>
        </p:txBody>
      </p:sp>
      <p:sp>
        <p:nvSpPr>
          <p:cNvPr id="21" name="文字 21"/>
          <p:cNvSpPr txBox="1"/>
          <p:nvPr/>
        </p:nvSpPr>
        <p:spPr>
          <a:xfrm>
            <a:off x="1472184" y="3831336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上架照片、書況標示與佐證照片</a:t>
            </a:r>
            <a:endParaRPr lang="zh-TW" altLang="en-US" sz="1400" dirty="0"/>
          </a:p>
        </p:txBody>
      </p:sp>
      <p:sp>
        <p:nvSpPr>
          <p:cNvPr id="22" name="步驟編號底 22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文字 23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整理爭點與建議</a:t>
            </a:r>
            <a:endParaRPr lang="zh-TW" altLang="en-US" sz="1800" dirty="0"/>
          </a:p>
        </p:txBody>
      </p:sp>
      <p:sp>
        <p:nvSpPr>
          <p:cNvPr id="24" name="文字 24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逐點標示有利買家或賣家；本例建議協調處理</a:t>
            </a:r>
            <a:endParaRPr lang="zh-TW" altLang="en-US" sz="1400" dirty="0"/>
          </a:p>
        </p:txBody>
      </p:sp>
      <p:sp>
        <p:nvSpPr>
          <p:cNvPr id="25" name="步驟亮起底 25"/>
          <p:cNvSpPr/>
          <p:nvPr/>
        </p:nvSpPr>
        <p:spPr>
          <a:xfrm>
            <a:off x="758952" y="4206240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步驟編號 2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7" name="文字 27"/>
          <p:cNvSpPr txBox="1"/>
          <p:nvPr/>
        </p:nvSpPr>
        <p:spPr>
          <a:xfrm>
            <a:off x="1472184" y="429768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整理爭點與建議</a:t>
            </a:r>
            <a:endParaRPr lang="zh-TW" altLang="en-US" sz="1800" dirty="0"/>
          </a:p>
        </p:txBody>
      </p:sp>
      <p:sp>
        <p:nvSpPr>
          <p:cNvPr id="28" name="文字 28"/>
          <p:cNvSpPr txBox="1"/>
          <p:nvPr/>
        </p:nvSpPr>
        <p:spPr>
          <a:xfrm>
            <a:off x="1472184" y="462686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逐點標示有利買家或賣家；本例建議協調處理</a:t>
            </a:r>
            <a:endParaRPr lang="zh-TW" altLang="en-US" sz="1400" dirty="0"/>
          </a:p>
        </p:txBody>
      </p:sp>
      <p:sp>
        <p:nvSpPr>
          <p:cNvPr id="29" name="步驟編號底 29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0" name="文字 30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9AA6AC"/>
                </a:solidFill>
              </a:rPr>
              <a:t>管理員裁決</a:t>
            </a:r>
            <a:endParaRPr lang="zh-TW" altLang="en-US" sz="1800" dirty="0"/>
          </a:p>
        </p:txBody>
      </p:sp>
      <p:sp>
        <p:nvSpPr>
          <p:cNvPr id="31" name="文字 31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A9B3B8"/>
                </a:solidFill>
              </a:rPr>
              <a:t>本例選擇協調結案，AI 不直接判決</a:t>
            </a:r>
            <a:endParaRPr lang="zh-TW" altLang="en-US" sz="1400" dirty="0"/>
          </a:p>
        </p:txBody>
      </p:sp>
      <p:sp>
        <p:nvSpPr>
          <p:cNvPr id="32" name="步驟亮起底 32"/>
          <p:cNvSpPr/>
          <p:nvPr/>
        </p:nvSpPr>
        <p:spPr>
          <a:xfrm>
            <a:off x="758952" y="5001768"/>
            <a:ext cx="694944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3" name="步驟編號 33"/>
          <p:cNvSpPr/>
          <p:nvPr/>
        </p:nvSpPr>
        <p:spPr>
          <a:xfrm>
            <a:off x="886968" y="512978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4" name="文字 34"/>
          <p:cNvSpPr txBox="1"/>
          <p:nvPr/>
        </p:nvSpPr>
        <p:spPr>
          <a:xfrm>
            <a:off x="147218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管理員裁決</a:t>
            </a:r>
            <a:endParaRPr lang="zh-TW" altLang="en-US" sz="1800" dirty="0"/>
          </a:p>
        </p:txBody>
      </p:sp>
      <p:sp>
        <p:nvSpPr>
          <p:cNvPr id="35" name="文字 35"/>
          <p:cNvSpPr txBox="1"/>
          <p:nvPr/>
        </p:nvSpPr>
        <p:spPr>
          <a:xfrm>
            <a:off x="147218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本例選擇協調結案，AI 不直接判決</a:t>
            </a:r>
            <a:endParaRPr lang="zh-TW" altLang="en-US" sz="1400" dirty="0"/>
          </a:p>
        </p:txBody>
      </p:sp>
      <p:sp>
        <p:nvSpPr>
          <p:cNvPr id="36" name="提示 36"/>
          <p:cNvSpPr/>
          <p:nvPr/>
        </p:nvSpPr>
        <p:spPr>
          <a:xfrm>
            <a:off x="758952" y="594360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7" name="圖示 37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035040"/>
            <a:ext cx="274320" cy="274320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1234440" y="5943600"/>
            <a:ext cx="6364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AI 分析僅供參考，由管理員依實際證據裁決</a:t>
            </a:r>
            <a:endParaRPr lang="zh-TW" altLang="en-US" sz="1350" dirty="0"/>
          </a:p>
        </p:txBody>
      </p:sp>
      <p:pic>
        <p:nvPicPr>
          <p:cNvPr id="39" name="!!手機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58200" y="1463040"/>
            <a:ext cx="2481072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0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0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0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0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007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27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00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27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007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27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007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27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27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27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27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279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467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80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467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80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467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80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467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80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802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201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80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201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802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201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802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201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2014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22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201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22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2014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22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2014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22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2286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47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2286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47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228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47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2286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47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474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280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474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280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474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280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474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280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2809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302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2809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302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2809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302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2809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302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3021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32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3021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32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3021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32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3021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32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3293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34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3293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34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3293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34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3293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34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3481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38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3481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38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3481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38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3481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38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3816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6" nodeType="withEffect">
                                  <p:stCondLst>
                                    <p:cond delay="3816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3816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grpId="6" nodeType="withEffect">
                                  <p:stCondLst>
                                    <p:cond delay="3816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4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464" repeatCount="indefinite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11" grpId="2" animBg="1"/>
      <p:bldP spid="11" grpId="3" animBg="1"/>
      <p:bldP spid="12" grpId="2" animBg="1"/>
      <p:bldP spid="12" grpId="3" animBg="1"/>
      <p:bldP spid="13" grpId="2" animBg="1"/>
      <p:bldP spid="13" grpId="3" animBg="1"/>
      <p:bldP spid="14" grpId="2" animBg="1"/>
      <p:bldP spid="14" grpId="3" animBg="1"/>
      <p:bldP spid="18" grpId="2" animBg="1"/>
      <p:bldP spid="18" grpId="3" animBg="1"/>
      <p:bldP spid="19" grpId="2" animBg="1"/>
      <p:bldP spid="19" grpId="3" animBg="1"/>
      <p:bldP spid="20" grpId="2" animBg="1"/>
      <p:bldP spid="20" grpId="3" animBg="1"/>
      <p:bldP spid="21" grpId="2" animBg="1"/>
      <p:bldP spid="21" grpId="3" animBg="1"/>
      <p:bldP spid="25" grpId="2" animBg="1"/>
      <p:bldP spid="25" grpId="3" animBg="1"/>
      <p:bldP spid="26" grpId="2" animBg="1"/>
      <p:bldP spid="26" grpId="3" animBg="1"/>
      <p:bldP spid="27" grpId="2" animBg="1"/>
      <p:bldP spid="27" grpId="3" animBg="1"/>
      <p:bldP spid="28" grpId="2" animBg="1"/>
      <p:bldP spid="28" grpId="3" animBg="1"/>
      <p:bldP spid="32" grpId="2" animBg="1"/>
      <p:bldP spid="32" grpId="3" animBg="1"/>
      <p:bldP spid="33" grpId="2" animBg="1"/>
      <p:bldP spid="33" grpId="3" animBg="1"/>
      <p:bldP spid="34" grpId="2" animBg="1"/>
      <p:bldP spid="34" grpId="3" animBg="1"/>
      <p:bldP spid="35" grpId="2" animBg="1"/>
      <p:bldP spid="35" grpId="3" animBg="1"/>
      <p:bldP spid="11" grpId="4" animBg="1"/>
      <p:bldP spid="11" grpId="5" animBg="1"/>
      <p:bldP spid="12" grpId="4" animBg="1"/>
      <p:bldP spid="12" grpId="5" animBg="1"/>
      <p:bldP spid="13" grpId="4" animBg="1"/>
      <p:bldP spid="13" grpId="5" animBg="1"/>
      <p:bldP spid="14" grpId="4" animBg="1"/>
      <p:bldP spid="14" grpId="5" animBg="1"/>
      <p:bldP spid="18" grpId="4" animBg="1"/>
      <p:bldP spid="18" grpId="5" animBg="1"/>
      <p:bldP spid="19" grpId="4" animBg="1"/>
      <p:bldP spid="19" grpId="5" animBg="1"/>
      <p:bldP spid="20" grpId="4" animBg="1"/>
      <p:bldP spid="20" grpId="5" animBg="1"/>
      <p:bldP spid="21" grpId="4" animBg="1"/>
      <p:bldP spid="21" grpId="5" animBg="1"/>
      <p:bldP spid="25" grpId="4" animBg="1"/>
      <p:bldP spid="25" grpId="5" animBg="1"/>
      <p:bldP spid="26" grpId="4" animBg="1"/>
      <p:bldP spid="26" grpId="5" animBg="1"/>
      <p:bldP spid="27" grpId="4" animBg="1"/>
      <p:bldP spid="27" grpId="5" animBg="1"/>
      <p:bldP spid="28" grpId="4" animBg="1"/>
      <p:bldP spid="28" grpId="5" animBg="1"/>
      <p:bldP spid="32" grpId="4" animBg="1"/>
      <p:bldP spid="32" grpId="5" animBg="1"/>
      <p:bldP spid="33" grpId="4" animBg="1"/>
      <p:bldP spid="33" grpId="5" animBg="1"/>
      <p:bldP spid="34" grpId="4" animBg="1"/>
      <p:bldP spid="34" grpId="5" animBg="1"/>
      <p:bldP spid="35" grpId="4" animBg="1"/>
      <p:bldP spid="35" grpId="5" animBg="1"/>
      <p:bldP spid="11" grpId="6" animBg="1"/>
      <p:bldP spid="11" grpId="7" animBg="1"/>
      <p:bldP spid="12" grpId="6" animBg="1"/>
      <p:bldP spid="12" grpId="7" animBg="1"/>
      <p:bldP spid="13" grpId="6" animBg="1"/>
      <p:bldP spid="13" grpId="7" animBg="1"/>
      <p:bldP spid="14" grpId="6" animBg="1"/>
      <p:bldP spid="14" grpId="7" animBg="1"/>
      <p:bldP spid="18" grpId="6" animBg="1"/>
      <p:bldP spid="18" grpId="7" animBg="1"/>
      <p:bldP spid="19" grpId="6" animBg="1"/>
      <p:bldP spid="19" grpId="7" animBg="1"/>
      <p:bldP spid="20" grpId="6" animBg="1"/>
      <p:bldP spid="20" grpId="7" animBg="1"/>
      <p:bldP spid="21" grpId="6" animBg="1"/>
      <p:bldP spid="21" grpId="7" animBg="1"/>
      <p:bldP spid="25" grpId="6" animBg="1"/>
      <p:bldP spid="25" grpId="7" animBg="1"/>
      <p:bldP spid="26" grpId="6" animBg="1"/>
      <p:bldP spid="26" grpId="7" animBg="1"/>
      <p:bldP spid="27" grpId="6" animBg="1"/>
      <p:bldP spid="27" grpId="7" animBg="1"/>
      <p:bldP spid="28" grpId="6" animBg="1"/>
      <p:bldP spid="28" grpId="7" animBg="1"/>
      <p:bldP spid="32" grpId="6" animBg="1"/>
      <p:bldP spid="33" grpId="6" animBg="1"/>
      <p:bldP spid="34" grpId="6" animBg="1"/>
      <p:bldP spid="35" grpId="6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6" grpId="0" animBg="1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43455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04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IoT 智慧書櫃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書櫃改版：初評 → 複評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書櫃改版：初評 → 複評</a:t>
            </a:r>
            <a:endParaRPr lang="zh-TW" altLang="en-US" sz="3600" dirty="0"/>
          </a:p>
        </p:txBody>
      </p:sp>
      <p:sp>
        <p:nvSpPr>
          <p:cNvPr id="3" name="!!英文標籤｜BEFORE &amp; AFTER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BEFORE &amp; AFTER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21</a:t>
            </a:fld>
            <a:endParaRPr lang="zh-TW" altLang="en-US" sz="1400" spc="200" dirty="0"/>
          </a:p>
        </p:txBody>
      </p:sp>
      <p:sp>
        <p:nvSpPr>
          <p:cNvPr id="6" name="卡片 6"/>
          <p:cNvSpPr/>
          <p:nvPr/>
        </p:nvSpPr>
        <p:spPr>
          <a:xfrm>
            <a:off x="758952" y="1572768"/>
            <a:ext cx="4983480" cy="4315968"/>
          </a:xfrm>
          <a:prstGeom prst="roundRect">
            <a:avLst>
              <a:gd name="adj" fmla="val 2966"/>
            </a:avLst>
          </a:prstGeom>
          <a:solidFill>
            <a:srgbClr val="F1F4F5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7" name="卡片 7"/>
          <p:cNvSpPr/>
          <p:nvPr/>
        </p:nvSpPr>
        <p:spPr>
          <a:xfrm>
            <a:off x="6446520" y="1572768"/>
            <a:ext cx="4983480" cy="4315968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8" name="標籤 8"/>
          <p:cNvSpPr/>
          <p:nvPr/>
        </p:nvSpPr>
        <p:spPr>
          <a:xfrm>
            <a:off x="1033272" y="1783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7E8A90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</a:rPr>
              <a:t>初評</a:t>
            </a:r>
            <a:endParaRPr lang="zh-TW" altLang="en-US" sz="1200" dirty="0"/>
          </a:p>
        </p:txBody>
      </p:sp>
      <p:sp>
        <p:nvSpPr>
          <p:cNvPr id="9" name="標籤 9"/>
          <p:cNvSpPr/>
          <p:nvPr/>
        </p:nvSpPr>
        <p:spPr>
          <a:xfrm>
            <a:off x="6720840" y="1783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607D8B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</a:rPr>
              <a:t>複評</a:t>
            </a:r>
            <a:endParaRPr lang="zh-TW" altLang="en-US" sz="1200" dirty="0"/>
          </a:p>
        </p:txBody>
      </p:sp>
      <p:sp>
        <p:nvSpPr>
          <p:cNvPr id="10" name="文字 10"/>
          <p:cNvSpPr txBox="1"/>
          <p:nvPr/>
        </p:nvSpPr>
        <p:spPr>
          <a:xfrm>
            <a:off x="2176272" y="176479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600" b="1" dirty="0">
                <a:solidFill>
                  <a:srgbClr val="55636A"/>
                </a:solidFill>
              </a:rPr>
              <a:t>3D 列印＋步進馬達</a:t>
            </a:r>
            <a:endParaRPr lang="zh-TW" altLang="en-US" sz="1600" dirty="0"/>
          </a:p>
        </p:txBody>
      </p:sp>
      <p:sp>
        <p:nvSpPr>
          <p:cNvPr id="11" name="文字 11"/>
          <p:cNvSpPr txBox="1"/>
          <p:nvPr/>
        </p:nvSpPr>
        <p:spPr>
          <a:xfrm>
            <a:off x="7863840" y="176479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合板壓克力＋電磁鎖</a:t>
            </a:r>
            <a:endParaRPr lang="zh-TW" altLang="en-US" sz="1600" dirty="0"/>
          </a:p>
        </p:txBody>
      </p:sp>
      <p:pic>
        <p:nvPicPr>
          <p:cNvPr id="12" name="馬達 1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3429000"/>
            <a:ext cx="1143000" cy="11430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模型 1">
                <a:extLst>
                  <a:ext uri="{FF2B5EF4-FFF2-40B4-BE49-F238E27FC236}">
                    <a16:creationId xmlns:a16="http://schemas.microsoft.com/office/drawing/2014/main" id="{989FE4AF-3F27-CF96-6D5C-369662E910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0472155"/>
                  </p:ext>
                </p:extLst>
              </p:nvPr>
            </p:nvGraphicFramePr>
            <p:xfrm>
              <a:off x="1033271" y="2249680"/>
              <a:ext cx="1737360" cy="2358639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737360" cy="235863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am3d:spPr>
                  <am3d:camera>
                    <am3d:pos x="0" y="0" z="609335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" d="1000000"/>
                    <am3d:preTrans dx="-13295198" dy="-6708949" dz="18063641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94754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模型 1">
                <a:extLst>
                  <a:ext uri="{FF2B5EF4-FFF2-40B4-BE49-F238E27FC236}">
                    <a16:creationId xmlns:a16="http://schemas.microsoft.com/office/drawing/2014/main" id="{989FE4AF-3F27-CF96-6D5C-369662E910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3271" y="2249680"/>
                <a:ext cx="1737360" cy="2358639"/>
              </a:xfrm>
              <a:prstGeom prst="rect">
                <a:avLst/>
              </a:prstGeom>
              <a:solidFill>
                <a:schemeClr val="bg1"/>
              </a:solidFill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模型 43">
                <a:extLst>
                  <a:ext uri="{FF2B5EF4-FFF2-40B4-BE49-F238E27FC236}">
                    <a16:creationId xmlns:a16="http://schemas.microsoft.com/office/drawing/2014/main" id="{8780621F-3CCE-28CF-7DCB-E0315EBB09F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25471" y="2240280"/>
              <a:ext cx="1107642" cy="1097280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107642" cy="1097280"/>
                    </a:xfrm>
                    <a:prstGeom prst="rect">
                      <a:avLst/>
                    </a:prstGeom>
                  </am3d:spPr>
                  <am3d:camera>
                    <am3d:pos x="0" y="0" z="681786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767" d="1000000"/>
                    <am3d:preTrans dx="-5877241" dy="-18000000" dz="17954723"/>
                    <am3d:scale>
                      <am3d:sx n="1000000" d="1000000"/>
                      <am3d:sy n="1000000" d="1000000"/>
                      <am3d:sz n="1000000" d="1000000"/>
                    </am3d:scale>
                    <am3d:rot ax="8461874" ay="2749814" az="8951855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147685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模型 43">
                <a:extLst>
                  <a:ext uri="{FF2B5EF4-FFF2-40B4-BE49-F238E27FC236}">
                    <a16:creationId xmlns:a16="http://schemas.microsoft.com/office/drawing/2014/main" id="{8780621F-3CCE-28CF-7DCB-E0315EBB09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25471" y="2240280"/>
                <a:ext cx="1107642" cy="10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3D 模型 42">
                <a:extLst>
                  <a:ext uri="{FF2B5EF4-FFF2-40B4-BE49-F238E27FC236}">
                    <a16:creationId xmlns:a16="http://schemas.microsoft.com/office/drawing/2014/main" id="{641D8DCA-131C-5F55-B3C5-B7349CF437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42232" y="2676763"/>
              <a:ext cx="1417320" cy="224313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1417320" cy="224313"/>
                    </a:xfrm>
                    <a:prstGeom prst="rect">
                      <a:avLst/>
                    </a:prstGeom>
                  </am3d:spPr>
                  <am3d:camera>
                    <am3d:pos x="0" y="0" z="477188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333" d="1000000"/>
                    <am3d:preTrans dx="-18000000" dy="-2250000" dz="21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7435268" ay="1" az="-10799997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45724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3D 模型 42">
                <a:extLst>
                  <a:ext uri="{FF2B5EF4-FFF2-40B4-BE49-F238E27FC236}">
                    <a16:creationId xmlns:a16="http://schemas.microsoft.com/office/drawing/2014/main" id="{641D8DCA-131C-5F55-B3C5-B7349CF437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42232" y="2676763"/>
                <a:ext cx="1417320" cy="224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3D 模型 41">
                <a:extLst>
                  <a:ext uri="{FF2B5EF4-FFF2-40B4-BE49-F238E27FC236}">
                    <a16:creationId xmlns:a16="http://schemas.microsoft.com/office/drawing/2014/main" id="{3FFC56EC-AAFB-F7F5-3DC3-934BDB5DFD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79392" y="3555015"/>
              <a:ext cx="1188720" cy="890970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1188720" cy="890970"/>
                    </a:xfrm>
                    <a:prstGeom prst="rect">
                      <a:avLst/>
                    </a:prstGeom>
                  </am3d:spPr>
                  <am3d:camera>
                    <am3d:pos x="0" y="0" z="625415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361" d="1000000"/>
                    <am3d:preTrans dx="-69462299" dy="-170355480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5936628" ay="2686084" az="6155804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13507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3D 模型 41">
                <a:extLst>
                  <a:ext uri="{FF2B5EF4-FFF2-40B4-BE49-F238E27FC236}">
                    <a16:creationId xmlns:a16="http://schemas.microsoft.com/office/drawing/2014/main" id="{3FFC56EC-AAFB-F7F5-3DC3-934BDB5DFD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79392" y="3555015"/>
                <a:ext cx="1188720" cy="890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書櫃"/>
              <p:cNvGraphicFramePr>
                <a:graphicFrameLocks noChangeAspect="1"/>
              </p:cNvGraphicFramePr>
              <p:nvPr/>
            </p:nvGraphicFramePr>
            <p:xfrm>
              <a:off x="7705108" y="1979112"/>
              <a:ext cx="2756096" cy="2665476"/>
            </p:xfrm>
            <a:graphic>
              <a:graphicData uri="http://schemas.microsoft.com/office/drawing/2017/model3d">
                <am3d:model3d r:embed="rId12">
                  <am3d:spPr>
                    <a:xfrm>
                      <a:off x="0" y="0"/>
                      <a:ext cx="2756096" cy="2665476"/>
                    </a:xfrm>
                    <a:prstGeom prst="rect">
                      <a:avLst/>
                    </a:prstGeom>
                  </am3d:spPr>
                  <am3d:camera>
                    <am3d:pos x="0" y="10067235" z="71632099"/>
                    <am3d:up dx="0" dy="35649650" dz="-5010231"/>
                    <am3d:lookAt x="0" y="0" z="0"/>
                    <am3d:perspective fov="2700000"/>
                  </am3d:camera>
                  <am3d:trans>
                    <am3d:meterPerModelUnit n="2631579" d="1000000"/>
                    <am3d:preTrans dx="0" dy="-18000000" dz="-369473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20700000" az="0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30829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書櫃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05108" y="1979112"/>
                <a:ext cx="2756096" cy="2665476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文字 18"/>
          <p:cNvSpPr txBox="1"/>
          <p:nvPr/>
        </p:nvSpPr>
        <p:spPr>
          <a:xfrm>
            <a:off x="1078992" y="4736592"/>
            <a:ext cx="4434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180975" indent="-180975">
              <a:lnSpc>
                <a:spcPct val="125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500" b="0" dirty="0">
                <a:solidFill>
                  <a:srgbClr val="55636A"/>
                </a:solidFill>
              </a:rPr>
              <a:t>3D 列印蜂巢面板與機構件</a:t>
            </a:r>
            <a:endParaRPr lang="zh-TW" altLang="en-US" sz="1500" dirty="0"/>
          </a:p>
          <a:p>
            <a:pPr algn="l" marL="180975" indent="-180975">
              <a:lnSpc>
                <a:spcPct val="125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500" b="0" dirty="0">
                <a:solidFill>
                  <a:srgbClr val="55636A"/>
                </a:solidFill>
              </a:rPr>
              <a:t>Nema 17 步進馬達＋齒條帶動</a:t>
            </a:r>
            <a:endParaRPr lang="zh-TW" altLang="en-US" sz="1500" dirty="0"/>
          </a:p>
          <a:p>
            <a:pPr algn="l" marL="180975" indent="-180975">
              <a:lnSpc>
                <a:spcPct val="125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500" b="0" dirty="0">
                <a:solidFill>
                  <a:srgbClr val="55636A"/>
                </a:solidFill>
              </a:rPr>
              <a:t>列印耗時、強度有限，不利量產</a:t>
            </a:r>
            <a:endParaRPr lang="zh-TW" altLang="en-US" sz="1500" dirty="0"/>
          </a:p>
        </p:txBody>
      </p:sp>
      <p:sp>
        <p:nvSpPr>
          <p:cNvPr id="19" name="文字 19"/>
          <p:cNvSpPr txBox="1"/>
          <p:nvPr/>
        </p:nvSpPr>
        <p:spPr>
          <a:xfrm>
            <a:off x="6766560" y="4736592"/>
            <a:ext cx="4434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180975" indent="-180975">
              <a:lnSpc>
                <a:spcPct val="125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500" b="0" dirty="0">
                <a:solidFill>
                  <a:srgbClr val="1F2A30"/>
                </a:solidFill>
              </a:rPr>
              <a:t>9mm 合板＋5mm 壓克力雷射切割</a:t>
            </a:r>
            <a:endParaRPr lang="zh-TW" altLang="en-US" sz="1500" dirty="0"/>
          </a:p>
          <a:p>
            <a:pPr algn="l" marL="180975" indent="-180975">
              <a:lnSpc>
                <a:spcPct val="125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500" b="0" dirty="0">
                <a:solidFill>
                  <a:srgbClr val="1F2A30"/>
                </a:solidFill>
              </a:rPr>
              <a:t>四扇櫃門，各由 12V 電磁鎖控制</a:t>
            </a:r>
            <a:endParaRPr lang="zh-TW" altLang="en-US" sz="1500" dirty="0"/>
          </a:p>
          <a:p>
            <a:pPr algn="l" marL="180975" indent="-180975">
              <a:lnSpc>
                <a:spcPct val="125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500" b="0" dirty="0">
                <a:solidFill>
                  <a:srgbClr val="1F2A30"/>
                </a:solidFill>
              </a:rPr>
              <a:t>2.8 吋橫向螢幕・31 × 31 × 38 cm</a:t>
            </a:r>
            <a:endParaRPr lang="zh-TW" altLang="en-US" sz="1500" dirty="0"/>
          </a:p>
        </p:txBody>
      </p:sp>
      <p:sp>
        <p:nvSpPr>
          <p:cNvPr id="20" name="箭頭底 20"/>
          <p:cNvSpPr/>
          <p:nvPr/>
        </p:nvSpPr>
        <p:spPr>
          <a:xfrm>
            <a:off x="5788152" y="3520440"/>
            <a:ext cx="475488" cy="475488"/>
          </a:xfrm>
          <a:prstGeom prst="ellipse">
            <a:avLst/>
          </a:prstGeom>
          <a:solidFill>
            <a:srgbClr val="607D8B"/>
          </a:solidFill>
          <a:ln>
            <a:noFill/>
          </a:ln>
          <a:effectLst>
            <a:outerShdw blurRad="228600" dist="76200" dir="5400000" sx="90000" sy="90000" algn="t" rotWithShape="0">
              <a:srgbClr val="607D8B">
                <a:alpha val="22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1" name="文字 21"/>
          <p:cNvSpPr txBox="1"/>
          <p:nvPr/>
        </p:nvSpPr>
        <p:spPr>
          <a:xfrm>
            <a:off x="5788152" y="35204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2000" b="1" dirty="0">
                <a:solidFill>
                  <a:srgbClr val="FFFFFF"/>
                </a:solidFill>
              </a:rPr>
              <a:t>→</a:t>
            </a:r>
            <a:endParaRPr lang="zh-TW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 xmlns:p="http://schemas.openxmlformats.org/presentationml/2006/main" xmlns:a="http://schemas.openxmlformats.org/drawingml/2006/main" xmlns:r="http://schemas.openxmlformats.org/officeDocument/2006/relationships">
                                <p:cTn id="5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 xmlns:p="http://schemas.openxmlformats.org/presentationml/2006/main" xmlns:a="http://schemas.openxmlformats.org/drawingml/2006/main" xmlns:r="http://schemas.openxmlformats.org/officeDocument/2006/relationships">
                                <p:cTn id="12" presetID="37" presetClass="emph" presetSubtype="256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13" dur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 xmlns:p="http://schemas.openxmlformats.org/presentationml/2006/main" xmlns:a="http://schemas.openxmlformats.org/drawingml/2006/main" xmlns:r="http://schemas.openxmlformats.org/officeDocument/2006/relationships">
                                <p:cTn id="14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7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8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9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 xmlns:p="http://schemas.openxmlformats.org/presentationml/2006/main" xmlns:a="http://schemas.openxmlformats.org/drawingml/2006/main" xmlns:r="http://schemas.openxmlformats.org/officeDocument/2006/relationships">
                                <p:cTn id="21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22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 xmlns:p="http://schemas.openxmlformats.org/presentationml/2006/main" xmlns:a="http://schemas.openxmlformats.org/drawingml/2006/main" xmlns:r="http://schemas.openxmlformats.org/officeDocument/2006/relationships">
                                <p:cTn id="23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9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 xmlns:p="http://schemas.openxmlformats.org/presentationml/2006/main" xmlns:a="http://schemas.openxmlformats.org/drawingml/2006/main" xmlns:r="http://schemas.openxmlformats.org/officeDocument/2006/relationships">
                                <p:cTn id="30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31" dur="1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 xmlns:p="http://schemas.openxmlformats.org/presentationml/2006/main" xmlns:a="http://schemas.openxmlformats.org/drawingml/2006/main" xmlns:r="http://schemas.openxmlformats.org/officeDocument/2006/relationships">
                                <p:cTn id="32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35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6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7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8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 xmlns:p="http://schemas.openxmlformats.org/presentationml/2006/main" xmlns:a="http://schemas.openxmlformats.org/drawingml/2006/main" xmlns:r="http://schemas.openxmlformats.org/officeDocument/2006/relationships">
                                <p:cTn id="39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40" dur="1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 xmlns:p="http://schemas.openxmlformats.org/presentationml/2006/main" xmlns:a="http://schemas.openxmlformats.org/drawingml/2006/main" xmlns:r="http://schemas.openxmlformats.org/officeDocument/2006/relationships">
                                <p:cTn id="41" presetID="60" presetClass="entr" presetSubtype="1024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44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5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6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7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7" presetClass="emph" presetSubtype="1024" repeatCount="indefinite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9" dur="8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2500">
                                          <p:val>
                                            <p:fltVal val="4.693"/>
                                          </p:val>
                                        </p:tav>
                                        <p:tav tm="5000">
                                          <p:val>
                                            <p:fltVal val="9.2705"/>
                                          </p:val>
                                        </p:tav>
                                        <p:tav tm="7500">
                                          <p:val>
                                            <p:fltVal val="13.6197"/>
                                          </p:val>
                                        </p:tav>
                                        <p:tav tm="10000">
                                          <p:val>
                                            <p:fltVal val="17.6336"/>
                                          </p:val>
                                        </p:tav>
                                        <p:tav tm="12500">
                                          <p:val>
                                            <p:fltVal val="21.2132"/>
                                          </p:val>
                                        </p:tav>
                                        <p:tav tm="15000">
                                          <p:val>
                                            <p:fltVal val="24.2705"/>
                                          </p:val>
                                        </p:tav>
                                        <p:tav tm="17500">
                                          <p:val>
                                            <p:fltVal val="26.7302"/>
                                          </p:val>
                                        </p:tav>
                                        <p:tav tm="20000">
                                          <p:val>
                                            <p:fltVal val="28.5317"/>
                                          </p:val>
                                        </p:tav>
                                        <p:tav tm="22500">
                                          <p:val>
                                            <p:fltVal val="29.6307"/>
                                          </p:val>
                                        </p:tav>
                                        <p:tav tm="25000">
                                          <p:val>
                                            <p:fltVal val="30.0"/>
                                          </p:val>
                                        </p:tav>
                                        <p:tav tm="27500">
                                          <p:val>
                                            <p:fltVal val="29.6307"/>
                                          </p:val>
                                        </p:tav>
                                        <p:tav tm="30000">
                                          <p:val>
                                            <p:fltVal val="28.5317"/>
                                          </p:val>
                                        </p:tav>
                                        <p:tav tm="32500">
                                          <p:val>
                                            <p:fltVal val="26.7302"/>
                                          </p:val>
                                        </p:tav>
                                        <p:tav tm="35000">
                                          <p:val>
                                            <p:fltVal val="24.2705"/>
                                          </p:val>
                                        </p:tav>
                                        <p:tav tm="37500">
                                          <p:val>
                                            <p:fltVal val="21.2132"/>
                                          </p:val>
                                        </p:tav>
                                        <p:tav tm="40000">
                                          <p:val>
                                            <p:fltVal val="17.6336"/>
                                          </p:val>
                                        </p:tav>
                                        <p:tav tm="42500">
                                          <p:val>
                                            <p:fltVal val="13.6197"/>
                                          </p:val>
                                        </p:tav>
                                        <p:tav tm="45000">
                                          <p:val>
                                            <p:fltVal val="9.2705"/>
                                          </p:val>
                                        </p:tav>
                                        <p:tav tm="47500">
                                          <p:val>
                                            <p:fltVal val="4.693"/>
                                          </p:val>
                                        </p:tav>
                                        <p:tav tm="50000">
                                          <p:val>
                                            <p:fltVal val="0.0"/>
                                          </p:val>
                                        </p:tav>
                                        <p:tav tm="52500">
                                          <p:val>
                                            <p:fltVal val="-4.693"/>
                                          </p:val>
                                        </p:tav>
                                        <p:tav tm="55000">
                                          <p:val>
                                            <p:fltVal val="-9.2705"/>
                                          </p:val>
                                        </p:tav>
                                        <p:tav tm="57500">
                                          <p:val>
                                            <p:fltVal val="-13.6197"/>
                                          </p:val>
                                        </p:tav>
                                        <p:tav tm="60000">
                                          <p:val>
                                            <p:fltVal val="-17.6336"/>
                                          </p:val>
                                        </p:tav>
                                        <p:tav tm="62500">
                                          <p:val>
                                            <p:fltVal val="-21.2132"/>
                                          </p:val>
                                        </p:tav>
                                        <p:tav tm="65000">
                                          <p:val>
                                            <p:fltVal val="-24.2705"/>
                                          </p:val>
                                        </p:tav>
                                        <p:tav tm="67500">
                                          <p:val>
                                            <p:fltVal val="-26.7302"/>
                                          </p:val>
                                        </p:tav>
                                        <p:tav tm="70000">
                                          <p:val>
                                            <p:fltVal val="-28.5317"/>
                                          </p:val>
                                        </p:tav>
                                        <p:tav tm="72500">
                                          <p:val>
                                            <p:fltVal val="-29.6307"/>
                                          </p:val>
                                        </p:tav>
                                        <p:tav tm="75000">
                                          <p:val>
                                            <p:fltVal val="-30.0"/>
                                          </p:val>
                                        </p:tav>
                                        <p:tav tm="77500">
                                          <p:val>
                                            <p:fltVal val="-29.6307"/>
                                          </p:val>
                                        </p:tav>
                                        <p:tav tm="80000">
                                          <p:val>
                                            <p:fltVal val="-28.5317"/>
                                          </p:val>
                                        </p:tav>
                                        <p:tav tm="82500">
                                          <p:val>
                                            <p:fltVal val="-26.7302"/>
                                          </p:val>
                                        </p:tav>
                                        <p:tav tm="85000">
                                          <p:val>
                                            <p:fltVal val="-24.2705"/>
                                          </p:val>
                                        </p:tav>
                                        <p:tav tm="87500">
                                          <p:val>
                                            <p:fltVal val="-21.2132"/>
                                          </p:val>
                                        </p:tav>
                                        <p:tav tm="90000">
                                          <p:val>
                                            <p:fltVal val="-17.6336"/>
                                          </p:val>
                                        </p:tav>
                                        <p:tav tm="92500">
                                          <p:val>
                                            <p:fltVal val="-13.6197"/>
                                          </p:val>
                                        </p:tav>
                                        <p:tav tm="95000">
                                          <p:val>
                                            <p:fltVal val="-9.2705"/>
                                          </p:val>
                                        </p:tav>
                                        <p:tav tm="97500">
                                          <p:val>
                                            <p:fltVal val="-4.693"/>
                                          </p:val>
                                        </p:tav>
                                        <p:tav tm="100000">
                                          <p:val>
                                            <p:fltVal val="-0.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8" grpId="0" animBg="1"/>
      <p:bldP spid="20" grpId="0" animBg="1"/>
      <p:bldP spid="21" grpId="0" animBg="1"/>
      <p:bldP spid="7" grpId="0" animBg="1"/>
      <p:bldP spid="9" grpId="0" animBg="1"/>
      <p:bldP spid="11" grpId="0" animBg="1"/>
      <p:bldP spid="19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硬體組成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硬體組成</a:t>
            </a:r>
            <a:endParaRPr lang="zh-TW" altLang="en-US" sz="3600" dirty="0"/>
          </a:p>
        </p:txBody>
      </p:sp>
      <p:sp>
        <p:nvSpPr>
          <p:cNvPr id="3" name="!!英文標籤｜HARDWARE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HARDWARE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22</a:t>
            </a:fld>
            <a:endParaRPr lang="zh-TW" altLang="en-US" sz="1400" spc="200" dirty="0"/>
          </a:p>
        </p:txBody>
      </p:sp>
      <p:pic>
        <p:nvPicPr>
          <p:cNvPr id="6" name="!!透視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578" y="1481328"/>
            <a:ext cx="4156364" cy="4572000"/>
          </a:xfrm>
          <a:prstGeom prst="rect">
            <a:avLst/>
          </a:prstGeom>
        </p:spPr>
      </p:pic>
      <p:pic>
        <p:nvPicPr>
          <p:cNvPr id="7" name="!!主控板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524" y="2287663"/>
            <a:ext cx="1251065" cy="419793"/>
          </a:xfrm>
          <a:prstGeom prst="rect">
            <a:avLst/>
          </a:prstGeom>
        </p:spPr>
      </p:pic>
      <p:pic>
        <p:nvPicPr>
          <p:cNvPr id="8" name="主控板前景 8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524" y="2287663"/>
            <a:ext cx="1251065" cy="419793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758952" y="16276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12V 電源輸入</a:t>
            </a:r>
            <a:endParaRPr lang="zh-TW" altLang="en-US" sz="1700" dirty="0"/>
          </a:p>
        </p:txBody>
      </p:sp>
      <p:sp>
        <p:nvSpPr>
          <p:cNvPr id="10" name="文字 10"/>
          <p:cNvSpPr txBox="1"/>
          <p:nvPr/>
        </p:nvSpPr>
        <p:spPr>
          <a:xfrm>
            <a:off x="758952" y="197510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300" b="0" dirty="0">
                <a:solidFill>
                  <a:srgbClr val="7E8A90"/>
                </a:solidFill>
              </a:rPr>
              <a:t>頂板開孔接入 DC 插座</a:t>
            </a:r>
            <a:endParaRPr lang="zh-TW" altLang="en-US" sz="1300" dirty="0"/>
          </a:p>
        </p:txBody>
      </p:sp>
      <p:cxnSp>
        <p:nvCxnSpPr>
          <p:cNvPr id="11" name="線條 11"/>
          <p:cNvCxnSpPr/>
          <p:nvPr/>
        </p:nvCxnSpPr>
        <p:spPr>
          <a:xfrm>
            <a:off x="3337560" y="1810512"/>
            <a:ext cx="2271453" cy="574825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12" name="標記點 12"/>
          <p:cNvSpPr/>
          <p:nvPr/>
        </p:nvSpPr>
        <p:spPr>
          <a:xfrm>
            <a:off x="5558721" y="2335045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3" name="文字 13"/>
          <p:cNvSpPr txBox="1"/>
          <p:nvPr/>
        </p:nvSpPr>
        <p:spPr>
          <a:xfrm>
            <a:off x="758952" y="25420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自製主控板 Rev A</a:t>
            </a:r>
            <a:endParaRPr lang="zh-TW" altLang="en-US" sz="1700" dirty="0"/>
          </a:p>
        </p:txBody>
      </p:sp>
      <p:sp>
        <p:nvSpPr>
          <p:cNvPr id="14" name="文字 14"/>
          <p:cNvSpPr txBox="1"/>
          <p:nvPr/>
        </p:nvSpPr>
        <p:spPr>
          <a:xfrm>
            <a:off x="758952" y="288950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300" b="0" dirty="0">
                <a:solidFill>
                  <a:srgbClr val="7E8A90"/>
                </a:solidFill>
              </a:rPr>
              <a:t>平放於頂層，ESP32-S3 主控</a:t>
            </a:r>
            <a:endParaRPr lang="zh-TW" altLang="en-US" sz="1300" dirty="0"/>
          </a:p>
        </p:txBody>
      </p:sp>
      <p:cxnSp>
        <p:nvCxnSpPr>
          <p:cNvPr id="15" name="線條 15"/>
          <p:cNvCxnSpPr/>
          <p:nvPr/>
        </p:nvCxnSpPr>
        <p:spPr>
          <a:xfrm flipV="1">
            <a:off x="3337560" y="2555748"/>
            <a:ext cx="2730731" cy="169164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16" name="標記點 16"/>
          <p:cNvSpPr/>
          <p:nvPr/>
        </p:nvSpPr>
        <p:spPr>
          <a:xfrm>
            <a:off x="6017999" y="2505456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7" name="文字 17"/>
          <p:cNvSpPr txBox="1"/>
          <p:nvPr/>
        </p:nvSpPr>
        <p:spPr>
          <a:xfrm>
            <a:off x="758952" y="363931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12V 電磁鎖 ×4</a:t>
            </a:r>
            <a:endParaRPr lang="zh-TW" altLang="en-US" sz="1700" dirty="0"/>
          </a:p>
        </p:txBody>
      </p:sp>
      <p:sp>
        <p:nvSpPr>
          <p:cNvPr id="18" name="文字 18"/>
          <p:cNvSpPr txBox="1"/>
          <p:nvPr/>
        </p:nvSpPr>
        <p:spPr>
          <a:xfrm>
            <a:off x="758952" y="398678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300" b="0" dirty="0">
                <a:solidFill>
                  <a:srgbClr val="7E8A90"/>
                </a:solidFill>
              </a:rPr>
              <a:t>裝於櫃門左側，斷電上鎖</a:t>
            </a:r>
            <a:endParaRPr lang="zh-TW" altLang="en-US" sz="1300" dirty="0"/>
          </a:p>
        </p:txBody>
      </p:sp>
      <p:cxnSp>
        <p:nvCxnSpPr>
          <p:cNvPr id="19" name="線條 19"/>
          <p:cNvCxnSpPr/>
          <p:nvPr/>
        </p:nvCxnSpPr>
        <p:spPr>
          <a:xfrm>
            <a:off x="3337560" y="3822192"/>
            <a:ext cx="2034540" cy="423118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20" name="標記點 20"/>
          <p:cNvSpPr/>
          <p:nvPr/>
        </p:nvSpPr>
        <p:spPr>
          <a:xfrm>
            <a:off x="5321808" y="4195018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1" name="文字 21"/>
          <p:cNvSpPr txBox="1"/>
          <p:nvPr/>
        </p:nvSpPr>
        <p:spPr>
          <a:xfrm>
            <a:off x="758952" y="455371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門磁開關 ×4</a:t>
            </a:r>
            <a:endParaRPr lang="zh-TW" altLang="en-US" sz="1700" dirty="0"/>
          </a:p>
        </p:txBody>
      </p:sp>
      <p:sp>
        <p:nvSpPr>
          <p:cNvPr id="22" name="文字 22"/>
          <p:cNvSpPr txBox="1"/>
          <p:nvPr/>
        </p:nvSpPr>
        <p:spPr>
          <a:xfrm>
            <a:off x="758952" y="490118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300" b="0" dirty="0">
                <a:solidFill>
                  <a:srgbClr val="7E8A90"/>
                </a:solidFill>
              </a:rPr>
              <a:t>偵測櫃門是否關閉</a:t>
            </a:r>
            <a:endParaRPr lang="zh-TW" altLang="en-US" sz="1300" dirty="0"/>
          </a:p>
        </p:txBody>
      </p:sp>
      <p:cxnSp>
        <p:nvCxnSpPr>
          <p:cNvPr id="23" name="線條 23"/>
          <p:cNvCxnSpPr/>
          <p:nvPr/>
        </p:nvCxnSpPr>
        <p:spPr>
          <a:xfrm flipV="1">
            <a:off x="3337560" y="4642243"/>
            <a:ext cx="2531225" cy="94349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24" name="標記點 24"/>
          <p:cNvSpPr/>
          <p:nvPr/>
        </p:nvSpPr>
        <p:spPr>
          <a:xfrm>
            <a:off x="5818493" y="4591951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文字 25"/>
          <p:cNvSpPr txBox="1"/>
          <p:nvPr/>
        </p:nvSpPr>
        <p:spPr>
          <a:xfrm>
            <a:off x="8887968" y="201168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2.8 吋 TFT 螢幕</a:t>
            </a:r>
            <a:endParaRPr lang="zh-TW" altLang="en-US" sz="1700" dirty="0"/>
          </a:p>
        </p:txBody>
      </p:sp>
      <p:sp>
        <p:nvSpPr>
          <p:cNvPr id="26" name="文字 26"/>
          <p:cNvSpPr txBox="1"/>
          <p:nvPr/>
        </p:nvSpPr>
        <p:spPr>
          <a:xfrm>
            <a:off x="8887968" y="2359152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300" b="0" dirty="0">
                <a:solidFill>
                  <a:srgbClr val="7E8A90"/>
                </a:solidFill>
              </a:rPr>
              <a:t>橫向 320×240，純顯示</a:t>
            </a:r>
            <a:endParaRPr lang="zh-TW" altLang="en-US" sz="1300" dirty="0"/>
          </a:p>
        </p:txBody>
      </p:sp>
      <p:cxnSp>
        <p:nvCxnSpPr>
          <p:cNvPr id="27" name="線條 27"/>
          <p:cNvCxnSpPr/>
          <p:nvPr/>
        </p:nvCxnSpPr>
        <p:spPr>
          <a:xfrm flipH="1">
            <a:off x="7292340" y="2194560"/>
            <a:ext cx="1531620" cy="832935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28" name="標記點 28"/>
          <p:cNvSpPr/>
          <p:nvPr/>
        </p:nvSpPr>
        <p:spPr>
          <a:xfrm>
            <a:off x="7242048" y="2977203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9" name="文字 29"/>
          <p:cNvSpPr txBox="1"/>
          <p:nvPr/>
        </p:nvSpPr>
        <p:spPr>
          <a:xfrm>
            <a:off x="8887968" y="309067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壓克力櫃門 A01–A04</a:t>
            </a:r>
            <a:endParaRPr lang="zh-TW" altLang="en-US" sz="1700" dirty="0"/>
          </a:p>
        </p:txBody>
      </p:sp>
      <p:sp>
        <p:nvSpPr>
          <p:cNvPr id="30" name="文字 30"/>
          <p:cNvSpPr txBox="1"/>
          <p:nvPr/>
        </p:nvSpPr>
        <p:spPr>
          <a:xfrm>
            <a:off x="8887968" y="343814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300" b="0" dirty="0">
                <a:solidFill>
                  <a:srgbClr val="7E8A90"/>
                </a:solidFill>
              </a:rPr>
              <a:t>由上而下，每格一本書</a:t>
            </a:r>
            <a:endParaRPr lang="zh-TW" altLang="en-US" sz="1300" dirty="0"/>
          </a:p>
        </p:txBody>
      </p:sp>
      <p:cxnSp>
        <p:nvCxnSpPr>
          <p:cNvPr id="31" name="線條 31"/>
          <p:cNvCxnSpPr/>
          <p:nvPr/>
        </p:nvCxnSpPr>
        <p:spPr>
          <a:xfrm flipH="1">
            <a:off x="7125566" y="3273552"/>
            <a:ext cx="1698394" cy="443796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32" name="標記點 32"/>
          <p:cNvSpPr/>
          <p:nvPr/>
        </p:nvSpPr>
        <p:spPr>
          <a:xfrm>
            <a:off x="7075274" y="3667056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3" name="標籤 33"/>
          <p:cNvSpPr/>
          <p:nvPr/>
        </p:nvSpPr>
        <p:spPr>
          <a:xfrm>
            <a:off x="8887968" y="45262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250" b="1" dirty="0">
                <a:solidFill>
                  <a:srgbClr val="46555C"/>
                </a:solidFill>
              </a:rPr>
              <a:t>9mm 合板＋5mm 壓克力</a:t>
            </a:r>
            <a:endParaRPr lang="zh-TW" altLang="en-US" sz="1250" dirty="0"/>
          </a:p>
        </p:txBody>
      </p:sp>
      <p:sp>
        <p:nvSpPr>
          <p:cNvPr id="34" name="標籤 34"/>
          <p:cNvSpPr/>
          <p:nvPr/>
        </p:nvSpPr>
        <p:spPr>
          <a:xfrm>
            <a:off x="8887968" y="4983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wrap="square" lIns="36576" tIns="0" rIns="36576" bIns="0" anchor="ctr" rtlCol="0">
            <a:noAutofit/>
          </a:bodyPr>
          <a:lstStyle/>
          <a:p>
            <a:pPr algn="ctr">
              <a:buNone/>
            </a:pPr>
            <a:r>
              <a:rPr lang="zh-TW" altLang="en-US" sz="1250" b="1" dirty="0">
                <a:solidFill>
                  <a:srgbClr val="46555C"/>
                </a:solidFill>
              </a:rPr>
              <a:t>31 × 31 × 38 cm</a:t>
            </a:r>
            <a:endParaRPr lang="zh-TW" alt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自製主控板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自製主控板</a:t>
            </a:r>
            <a:endParaRPr lang="zh-TW" altLang="en-US" sz="3600" dirty="0"/>
          </a:p>
        </p:txBody>
      </p:sp>
      <p:sp>
        <p:nvSpPr>
          <p:cNvPr id="3" name="!!英文標籤｜CUSTOM PCB · REV A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CUSTOM PCB · REV A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23</a:t>
            </a:fld>
            <a:endParaRPr lang="zh-TW" altLang="en-US" sz="1400" spc="200" dirty="0"/>
          </a:p>
        </p:txBody>
      </p:sp>
      <p:pic>
        <p:nvPicPr>
          <p:cNvPr id="6" name="!!透視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83096" y="123167"/>
            <a:ext cx="16138704" cy="17752575"/>
          </a:xfrm>
          <a:prstGeom prst="rect">
            <a:avLst/>
          </a:prstGeom>
        </p:spPr>
      </p:pic>
      <p:pic>
        <p:nvPicPr>
          <p:cNvPr id="7" name="主控板旋轉 7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58952" y="2103120"/>
            <a:ext cx="6309360" cy="3931920"/>
          </a:xfrm>
          <a:prstGeom prst="rect">
            <a:avLst/>
          </a:prstGeom>
        </p:spPr>
      </p:pic>
      <p:pic>
        <p:nvPicPr>
          <p:cNvPr id="8" name="!!主控板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757" y="3254075"/>
            <a:ext cx="4857750" cy="1630009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758952" y="1572768"/>
            <a:ext cx="63093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2000" b="1" dirty="0">
                <a:solidFill>
                  <a:srgbClr val="1F2A30"/>
                </a:solidFill>
              </a:rPr>
              <a:t>書櫃正式主控板</a:t>
            </a:r>
            <a:r>
              <a:rPr lang="zh-TW" altLang="en-US" sz="1500" b="0" dirty="0">
                <a:solidFill>
                  <a:srgbClr val="55636A"/>
                </a:solidFill>
              </a:rPr>
              <a:t>　Rev A 已送打樣，回廠後裝入書櫃</a:t>
            </a:r>
            <a:endParaRPr lang="zh-TW" altLang="en-US" sz="1600" dirty="0"/>
          </a:p>
        </p:txBody>
      </p:sp>
      <p:sp>
        <p:nvSpPr>
          <p:cNvPr id="10" name="卡片 10"/>
          <p:cNvSpPr/>
          <p:nvPr/>
        </p:nvSpPr>
        <p:spPr>
          <a:xfrm>
            <a:off x="7315200" y="1627632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圖示底 11"/>
          <p:cNvSpPr/>
          <p:nvPr/>
        </p:nvSpPr>
        <p:spPr>
          <a:xfrm>
            <a:off x="7461504" y="1755648"/>
            <a:ext cx="475488" cy="47548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2" name="圖示 12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6111" y="1860255"/>
            <a:ext cx="266273" cy="266273"/>
          </a:xfrm>
          <a:prstGeom prst="rect">
            <a:avLst/>
          </a:prstGeom>
        </p:spPr>
      </p:pic>
      <p:sp>
        <p:nvSpPr>
          <p:cNvPr id="13" name="文字 13"/>
          <p:cNvSpPr txBox="1"/>
          <p:nvPr/>
        </p:nvSpPr>
        <p:spPr>
          <a:xfrm>
            <a:off x="8065008" y="1700784"/>
            <a:ext cx="6400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46555C"/>
                </a:solidFill>
              </a:rPr>
              <a:t>電源</a:t>
            </a:r>
            <a:endParaRPr lang="zh-TW" altLang="en-US" sz="1500" dirty="0"/>
          </a:p>
        </p:txBody>
      </p:sp>
      <p:sp>
        <p:nvSpPr>
          <p:cNvPr id="14" name="文字 14"/>
          <p:cNvSpPr txBox="1"/>
          <p:nvPr/>
        </p:nvSpPr>
        <p:spPr>
          <a:xfrm>
            <a:off x="8686800" y="1682496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1350" b="0" dirty="0">
                <a:solidFill>
                  <a:srgbClr val="1F2A30"/>
                </a:solidFill>
              </a:rPr>
              <a:t>12V DC 輸入，L7805 穩壓 5V</a:t>
            </a:r>
            <a:endParaRPr lang="zh-TW" altLang="en-US" sz="1350" dirty="0"/>
          </a:p>
        </p:txBody>
      </p:sp>
      <p:sp>
        <p:nvSpPr>
          <p:cNvPr id="15" name="卡片 15"/>
          <p:cNvSpPr/>
          <p:nvPr/>
        </p:nvSpPr>
        <p:spPr>
          <a:xfrm>
            <a:off x="7315200" y="246888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6" name="圖示底 16"/>
          <p:cNvSpPr/>
          <p:nvPr/>
        </p:nvSpPr>
        <p:spPr>
          <a:xfrm>
            <a:off x="7461504" y="2596896"/>
            <a:ext cx="475488" cy="47548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7" name="圖示 17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6111" y="2701503"/>
            <a:ext cx="266273" cy="266273"/>
          </a:xfrm>
          <a:prstGeom prst="rect">
            <a:avLst/>
          </a:prstGeom>
        </p:spPr>
      </p:pic>
      <p:sp>
        <p:nvSpPr>
          <p:cNvPr id="18" name="文字 18"/>
          <p:cNvSpPr txBox="1"/>
          <p:nvPr/>
        </p:nvSpPr>
        <p:spPr>
          <a:xfrm>
            <a:off x="8065008" y="2542032"/>
            <a:ext cx="6400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46555C"/>
                </a:solidFill>
              </a:rPr>
              <a:t>主控</a:t>
            </a:r>
            <a:endParaRPr lang="zh-TW" altLang="en-US" sz="1500" dirty="0"/>
          </a:p>
        </p:txBody>
      </p:sp>
      <p:sp>
        <p:nvSpPr>
          <p:cNvPr id="19" name="文字 19"/>
          <p:cNvSpPr txBox="1"/>
          <p:nvPr/>
        </p:nvSpPr>
        <p:spPr>
          <a:xfrm>
            <a:off x="8686800" y="2523744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1350" b="0" dirty="0">
                <a:solidFill>
                  <a:srgbClr val="1F2A30"/>
                </a:solidFill>
              </a:rPr>
              <a:t>ESP32-S3-DevKitC-1（N16R8）</a:t>
            </a:r>
            <a:br>
              <a:rPr lang="zh-TW" altLang="en-US" sz="1350" dirty="0"/>
            </a:br>
            <a:r>
              <a:rPr lang="zh-TW" altLang="en-US" sz="1350" b="0" dirty="0">
                <a:solidFill>
                  <a:srgbClr val="1F2A30"/>
                </a:solidFill>
              </a:rPr>
              <a:t>以排母插接</a:t>
            </a:r>
            <a:endParaRPr lang="zh-TW" altLang="en-US" sz="1350" dirty="0"/>
          </a:p>
        </p:txBody>
      </p:sp>
      <p:sp>
        <p:nvSpPr>
          <p:cNvPr id="20" name="卡片 20"/>
          <p:cNvSpPr/>
          <p:nvPr/>
        </p:nvSpPr>
        <p:spPr>
          <a:xfrm>
            <a:off x="7315200" y="3310128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1" name="圖示底 21"/>
          <p:cNvSpPr/>
          <p:nvPr/>
        </p:nvSpPr>
        <p:spPr>
          <a:xfrm>
            <a:off x="7461504" y="3438144"/>
            <a:ext cx="475488" cy="47548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2" name="圖示 22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6111" y="3542751"/>
            <a:ext cx="266273" cy="266273"/>
          </a:xfrm>
          <a:prstGeom prst="rect">
            <a:avLst/>
          </a:prstGeom>
        </p:spPr>
      </p:pic>
      <p:sp>
        <p:nvSpPr>
          <p:cNvPr id="23" name="文字 23"/>
          <p:cNvSpPr txBox="1"/>
          <p:nvPr/>
        </p:nvSpPr>
        <p:spPr>
          <a:xfrm>
            <a:off x="8065008" y="3383280"/>
            <a:ext cx="6400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46555C"/>
                </a:solidFill>
              </a:rPr>
              <a:t>驅動</a:t>
            </a:r>
            <a:endParaRPr lang="zh-TW" altLang="en-US" sz="1500" dirty="0"/>
          </a:p>
        </p:txBody>
      </p:sp>
      <p:sp>
        <p:nvSpPr>
          <p:cNvPr id="24" name="文字 24"/>
          <p:cNvSpPr txBox="1"/>
          <p:nvPr/>
        </p:nvSpPr>
        <p:spPr>
          <a:xfrm>
            <a:off x="8686800" y="3364992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1350" b="0" dirty="0">
                <a:solidFill>
                  <a:srgbClr val="1F2A30"/>
                </a:solidFill>
              </a:rPr>
              <a:t>PC815 光耦＋S8050，繼電器 ×4</a:t>
            </a:r>
            <a:endParaRPr lang="zh-TW" altLang="en-US" sz="1350" dirty="0"/>
          </a:p>
        </p:txBody>
      </p:sp>
      <p:sp>
        <p:nvSpPr>
          <p:cNvPr id="25" name="卡片 25"/>
          <p:cNvSpPr/>
          <p:nvPr/>
        </p:nvSpPr>
        <p:spPr>
          <a:xfrm>
            <a:off x="7315200" y="4151376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圖示底 26"/>
          <p:cNvSpPr/>
          <p:nvPr/>
        </p:nvSpPr>
        <p:spPr>
          <a:xfrm>
            <a:off x="7461504" y="4279392"/>
            <a:ext cx="475488" cy="47548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7" name="圖示 27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6111" y="4383999"/>
            <a:ext cx="266273" cy="266273"/>
          </a:xfrm>
          <a:prstGeom prst="rect">
            <a:avLst/>
          </a:prstGeom>
        </p:spPr>
      </p:pic>
      <p:sp>
        <p:nvSpPr>
          <p:cNvPr id="28" name="文字 28"/>
          <p:cNvSpPr txBox="1"/>
          <p:nvPr/>
        </p:nvSpPr>
        <p:spPr>
          <a:xfrm>
            <a:off x="8065008" y="4224528"/>
            <a:ext cx="6400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46555C"/>
                </a:solidFill>
              </a:rPr>
              <a:t>保護</a:t>
            </a:r>
            <a:endParaRPr lang="zh-TW" altLang="en-US" sz="1500" dirty="0"/>
          </a:p>
        </p:txBody>
      </p:sp>
      <p:sp>
        <p:nvSpPr>
          <p:cNvPr id="29" name="文字 29"/>
          <p:cNvSpPr txBox="1"/>
          <p:nvPr/>
        </p:nvSpPr>
        <p:spPr>
          <a:xfrm>
            <a:off x="8686800" y="420624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1350" b="0" dirty="0">
                <a:solidFill>
                  <a:srgbClr val="1F2A30"/>
                </a:solidFill>
              </a:rPr>
              <a:t>續流二極體、5.08mm 端子台</a:t>
            </a:r>
            <a:br>
              <a:rPr lang="zh-TW" altLang="en-US" sz="1350" dirty="0"/>
            </a:br>
            <a:r>
              <a:rPr lang="zh-TW" altLang="en-US" sz="1350" b="0" dirty="0">
                <a:solidFill>
                  <a:srgbClr val="1F2A30"/>
                </a:solidFill>
              </a:rPr>
              <a:t>LED 狀態指示</a:t>
            </a:r>
            <a:endParaRPr lang="zh-TW" altLang="en-US" sz="1350" dirty="0"/>
          </a:p>
        </p:txBody>
      </p:sp>
      <p:sp>
        <p:nvSpPr>
          <p:cNvPr id="30" name="卡片 30"/>
          <p:cNvSpPr/>
          <p:nvPr/>
        </p:nvSpPr>
        <p:spPr>
          <a:xfrm>
            <a:off x="7315200" y="4992624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31" name="圖示底 31"/>
          <p:cNvSpPr/>
          <p:nvPr/>
        </p:nvSpPr>
        <p:spPr>
          <a:xfrm>
            <a:off x="7461504" y="5120640"/>
            <a:ext cx="475488" cy="47548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2" name="圖示 32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66111" y="5225247"/>
            <a:ext cx="266273" cy="266273"/>
          </a:xfrm>
          <a:prstGeom prst="rect">
            <a:avLst/>
          </a:prstGeom>
        </p:spPr>
      </p:pic>
      <p:sp>
        <p:nvSpPr>
          <p:cNvPr id="33" name="文字 33"/>
          <p:cNvSpPr txBox="1"/>
          <p:nvPr/>
        </p:nvSpPr>
        <p:spPr>
          <a:xfrm>
            <a:off x="8065008" y="5065776"/>
            <a:ext cx="6400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46555C"/>
                </a:solidFill>
              </a:rPr>
              <a:t>接頭</a:t>
            </a:r>
            <a:endParaRPr lang="zh-TW" altLang="en-US" sz="1500" dirty="0"/>
          </a:p>
        </p:txBody>
      </p:sp>
      <p:sp>
        <p:nvSpPr>
          <p:cNvPr id="34" name="文字 34"/>
          <p:cNvSpPr txBox="1"/>
          <p:nvPr/>
        </p:nvSpPr>
        <p:spPr>
          <a:xfrm>
            <a:off x="8686800" y="5047488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TW" altLang="en-US" sz="1350" b="0" dirty="0">
                <a:solidFill>
                  <a:srgbClr val="1F2A30"/>
                </a:solidFill>
              </a:rPr>
              <a:t>門磁 J7–J10（3V3）、螢幕 J6</a:t>
            </a:r>
            <a:endParaRPr lang="zh-TW" alt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2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40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存取安全：四道驗證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存取安全：四道驗證</a:t>
            </a:r>
            <a:endParaRPr lang="zh-TW" altLang="en-US" sz="3600" dirty="0"/>
          </a:p>
        </p:txBody>
      </p:sp>
      <p:sp>
        <p:nvSpPr>
          <p:cNvPr id="3" name="!!英文標籤｜ACCESS SECURITY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ACCESS SECURITY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24</a:t>
            </a:fld>
            <a:endParaRPr lang="zh-TW" altLang="en-US" sz="1400" spc="200" dirty="0"/>
          </a:p>
        </p:txBody>
      </p:sp>
      <p:sp>
        <p:nvSpPr>
          <p:cNvPr id="6" name="卡片 6"/>
          <p:cNvSpPr/>
          <p:nvPr/>
        </p:nvSpPr>
        <p:spPr>
          <a:xfrm>
            <a:off x="758952" y="1691640"/>
            <a:ext cx="2468880" cy="30632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7" name="文字 7"/>
          <p:cNvSpPr txBox="1"/>
          <p:nvPr/>
        </p:nvSpPr>
        <p:spPr>
          <a:xfrm>
            <a:off x="987552" y="1828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600" b="1" dirty="0">
                <a:solidFill>
                  <a:srgbClr val="CFD9DD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2600" dirty="0"/>
          </a:p>
        </p:txBody>
      </p:sp>
      <p:sp>
        <p:nvSpPr>
          <p:cNvPr id="8" name="圖示底 8"/>
          <p:cNvSpPr/>
          <p:nvPr/>
        </p:nvSpPr>
        <p:spPr>
          <a:xfrm>
            <a:off x="2267712" y="1874520"/>
            <a:ext cx="731520" cy="7315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9" name="圖示 9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646" y="2035454"/>
            <a:ext cx="409651" cy="409651"/>
          </a:xfrm>
          <a:prstGeom prst="rect">
            <a:avLst/>
          </a:prstGeom>
        </p:spPr>
      </p:pic>
      <p:sp>
        <p:nvSpPr>
          <p:cNvPr id="10" name="文字 10"/>
          <p:cNvSpPr txBox="1"/>
          <p:nvPr/>
        </p:nvSpPr>
        <p:spPr>
          <a:xfrm>
            <a:off x="987552" y="27889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動態 QR Code</a:t>
            </a:r>
            <a:endParaRPr lang="zh-TW" altLang="en-US" sz="1800" dirty="0"/>
          </a:p>
        </p:txBody>
      </p:sp>
      <p:sp>
        <p:nvSpPr>
          <p:cNvPr id="11" name="文字 11"/>
          <p:cNvSpPr txBox="1"/>
          <p:nvPr/>
        </p:nvSpPr>
        <p:spPr>
          <a:xfrm>
            <a:off x="987552" y="3273552"/>
            <a:ext cx="214884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螢幕 QR 每 30 秒更新</a:t>
            </a:r>
            <a:br>
              <a:rPr lang="zh-TW" altLang="en-US" sz="1500" dirty="0"/>
            </a:br>
            <a:r>
              <a:rPr lang="zh-TW" altLang="en-US" sz="1500" b="0" dirty="0">
                <a:solidFill>
                  <a:srgbClr val="55636A"/>
                </a:solidFill>
              </a:rPr>
              <a:t>45 秒後失效</a:t>
            </a:r>
            <a:br>
              <a:rPr lang="zh-TW" altLang="en-US" sz="1500" dirty="0"/>
            </a:br>
            <a:r>
              <a:rPr lang="zh-TW" altLang="en-US" sz="1500" b="0" dirty="0">
                <a:solidFill>
                  <a:srgbClr val="55636A"/>
                </a:solidFill>
              </a:rPr>
              <a:t>截圖轉傳無效</a:t>
            </a:r>
            <a:endParaRPr lang="zh-TW" altLang="en-US" sz="1500" dirty="0"/>
          </a:p>
        </p:txBody>
      </p:sp>
      <p:sp>
        <p:nvSpPr>
          <p:cNvPr id="12" name="文字 12"/>
          <p:cNvSpPr txBox="1"/>
          <p:nvPr/>
        </p:nvSpPr>
        <p:spPr>
          <a:xfrm>
            <a:off x="3227832" y="3063240"/>
            <a:ext cx="2651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2400" b="1" dirty="0">
                <a:solidFill>
                  <a:srgbClr val="8AA1AC"/>
                </a:solidFill>
              </a:rPr>
              <a:t>›</a:t>
            </a:r>
            <a:endParaRPr lang="zh-TW" altLang="en-US" sz="2400" dirty="0"/>
          </a:p>
        </p:txBody>
      </p:sp>
      <p:sp>
        <p:nvSpPr>
          <p:cNvPr id="13" name="卡片 13"/>
          <p:cNvSpPr/>
          <p:nvPr/>
        </p:nvSpPr>
        <p:spPr>
          <a:xfrm>
            <a:off x="3493008" y="1691640"/>
            <a:ext cx="2468880" cy="30632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4" name="文字 14"/>
          <p:cNvSpPr txBox="1"/>
          <p:nvPr/>
        </p:nvSpPr>
        <p:spPr>
          <a:xfrm>
            <a:off x="3721608" y="1828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600" b="1" dirty="0">
                <a:solidFill>
                  <a:srgbClr val="CFD9DD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2600" dirty="0"/>
          </a:p>
        </p:txBody>
      </p:sp>
      <p:sp>
        <p:nvSpPr>
          <p:cNvPr id="15" name="圖示底 15"/>
          <p:cNvSpPr/>
          <p:nvPr/>
        </p:nvSpPr>
        <p:spPr>
          <a:xfrm>
            <a:off x="5001768" y="1874520"/>
            <a:ext cx="731520" cy="7315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6" name="圖示 16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702" y="2035454"/>
            <a:ext cx="409651" cy="409651"/>
          </a:xfrm>
          <a:prstGeom prst="rect">
            <a:avLst/>
          </a:prstGeom>
        </p:spPr>
      </p:pic>
      <p:sp>
        <p:nvSpPr>
          <p:cNvPr id="17" name="文字 17"/>
          <p:cNvSpPr txBox="1"/>
          <p:nvPr/>
        </p:nvSpPr>
        <p:spPr>
          <a:xfrm>
            <a:off x="3721608" y="27889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定位必要</a:t>
            </a:r>
            <a:endParaRPr lang="zh-TW" altLang="en-US" sz="1800" dirty="0"/>
          </a:p>
        </p:txBody>
      </p:sp>
      <p:sp>
        <p:nvSpPr>
          <p:cNvPr id="18" name="文字 18"/>
          <p:cNvSpPr txBox="1"/>
          <p:nvPr/>
        </p:nvSpPr>
        <p:spPr>
          <a:xfrm>
            <a:off x="3721608" y="3273552"/>
            <a:ext cx="214884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須在書櫃 200 公尺內</a:t>
            </a:r>
            <a:br>
              <a:rPr lang="zh-TW" altLang="en-US" sz="1500" dirty="0"/>
            </a:br>
            <a:r>
              <a:rPr lang="zh-TW" altLang="en-US" sz="1500" b="0" dirty="0">
                <a:solidFill>
                  <a:srgbClr val="55636A"/>
                </a:solidFill>
              </a:rPr>
              <a:t>拒絕定位、精度不足</a:t>
            </a:r>
            <a:br>
              <a:rPr lang="zh-TW" altLang="en-US" sz="1500" dirty="0"/>
            </a:br>
            <a:r>
              <a:rPr lang="zh-TW" altLang="en-US" sz="1500" b="0" dirty="0">
                <a:solidFill>
                  <a:srgbClr val="55636A"/>
                </a:solidFill>
              </a:rPr>
              <a:t>或過舊皆不開櫃</a:t>
            </a:r>
            <a:endParaRPr lang="zh-TW" altLang="en-US" sz="1500" dirty="0"/>
          </a:p>
        </p:txBody>
      </p:sp>
      <p:sp>
        <p:nvSpPr>
          <p:cNvPr id="19" name="文字 19"/>
          <p:cNvSpPr txBox="1"/>
          <p:nvPr/>
        </p:nvSpPr>
        <p:spPr>
          <a:xfrm>
            <a:off x="5961888" y="3063240"/>
            <a:ext cx="2651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2400" b="1" dirty="0">
                <a:solidFill>
                  <a:srgbClr val="8AA1AC"/>
                </a:solidFill>
              </a:rPr>
              <a:t>›</a:t>
            </a:r>
            <a:endParaRPr lang="zh-TW" altLang="en-US" sz="2400" dirty="0"/>
          </a:p>
        </p:txBody>
      </p:sp>
      <p:sp>
        <p:nvSpPr>
          <p:cNvPr id="20" name="卡片 20"/>
          <p:cNvSpPr/>
          <p:nvPr/>
        </p:nvSpPr>
        <p:spPr>
          <a:xfrm>
            <a:off x="6227064" y="1691640"/>
            <a:ext cx="2468880" cy="30632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1" name="文字 21"/>
          <p:cNvSpPr txBox="1"/>
          <p:nvPr/>
        </p:nvSpPr>
        <p:spPr>
          <a:xfrm>
            <a:off x="6455664" y="1828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600" b="1" dirty="0">
                <a:solidFill>
                  <a:srgbClr val="CFD9DD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2600" dirty="0"/>
          </a:p>
        </p:txBody>
      </p:sp>
      <p:sp>
        <p:nvSpPr>
          <p:cNvPr id="22" name="圖示底 22"/>
          <p:cNvSpPr/>
          <p:nvPr/>
        </p:nvSpPr>
        <p:spPr>
          <a:xfrm>
            <a:off x="7735824" y="1874520"/>
            <a:ext cx="731520" cy="7315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3" name="圖示 23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758" y="2035454"/>
            <a:ext cx="409651" cy="409651"/>
          </a:xfrm>
          <a:prstGeom prst="rect">
            <a:avLst/>
          </a:prstGeom>
        </p:spPr>
      </p:pic>
      <p:sp>
        <p:nvSpPr>
          <p:cNvPr id="24" name="文字 24"/>
          <p:cNvSpPr txBox="1"/>
          <p:nvPr/>
        </p:nvSpPr>
        <p:spPr>
          <a:xfrm>
            <a:off x="6455664" y="27889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兩位數比對</a:t>
            </a:r>
            <a:endParaRPr lang="zh-TW" altLang="en-US" sz="1800" dirty="0"/>
          </a:p>
        </p:txBody>
      </p:sp>
      <p:sp>
        <p:nvSpPr>
          <p:cNvPr id="25" name="文字 25"/>
          <p:cNvSpPr txBox="1"/>
          <p:nvPr/>
        </p:nvSpPr>
        <p:spPr>
          <a:xfrm>
            <a:off x="6455664" y="3273552"/>
            <a:ext cx="214884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手機輸入螢幕上的</a:t>
            </a:r>
            <a:br>
              <a:rPr lang="zh-TW" altLang="en-US" sz="1500" dirty="0"/>
            </a:br>
            <a:r>
              <a:rPr lang="zh-TW" altLang="en-US" sz="1500" b="0" dirty="0">
                <a:solidFill>
                  <a:srgbClr val="55636A"/>
                </a:solidFill>
              </a:rPr>
              <a:t>兩位數字</a:t>
            </a:r>
            <a:br>
              <a:rPr lang="zh-TW" altLang="en-US" sz="1500" dirty="0"/>
            </a:br>
            <a:r>
              <a:rPr lang="zh-TW" altLang="en-US" sz="1500" b="0" dirty="0">
                <a:solidFill>
                  <a:srgbClr val="55636A"/>
                </a:solidFill>
              </a:rPr>
              <a:t>60 秒內、一次機會</a:t>
            </a:r>
            <a:endParaRPr lang="zh-TW" altLang="en-US" sz="1500" dirty="0"/>
          </a:p>
        </p:txBody>
      </p:sp>
      <p:sp>
        <p:nvSpPr>
          <p:cNvPr id="26" name="文字 26"/>
          <p:cNvSpPr txBox="1"/>
          <p:nvPr/>
        </p:nvSpPr>
        <p:spPr>
          <a:xfrm>
            <a:off x="8695944" y="3063240"/>
            <a:ext cx="2651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2400" b="1" dirty="0">
                <a:solidFill>
                  <a:srgbClr val="8AA1AC"/>
                </a:solidFill>
              </a:rPr>
              <a:t>›</a:t>
            </a:r>
            <a:endParaRPr lang="zh-TW" altLang="en-US" sz="2400" dirty="0"/>
          </a:p>
        </p:txBody>
      </p:sp>
      <p:sp>
        <p:nvSpPr>
          <p:cNvPr id="27" name="卡片 27"/>
          <p:cNvSpPr/>
          <p:nvPr/>
        </p:nvSpPr>
        <p:spPr>
          <a:xfrm>
            <a:off x="8961120" y="1691640"/>
            <a:ext cx="2468880" cy="30632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8" name="文字 28"/>
          <p:cNvSpPr txBox="1"/>
          <p:nvPr/>
        </p:nvSpPr>
        <p:spPr>
          <a:xfrm>
            <a:off x="9189720" y="1828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600" b="1" dirty="0">
                <a:solidFill>
                  <a:srgbClr val="CFD9DD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2600" dirty="0"/>
          </a:p>
        </p:txBody>
      </p:sp>
      <p:sp>
        <p:nvSpPr>
          <p:cNvPr id="29" name="圖示底 29"/>
          <p:cNvSpPr/>
          <p:nvPr/>
        </p:nvSpPr>
        <p:spPr>
          <a:xfrm>
            <a:off x="10469880" y="1874520"/>
            <a:ext cx="731520" cy="73152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0" name="圖示 30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0814" y="2035454"/>
            <a:ext cx="409651" cy="409651"/>
          </a:xfrm>
          <a:prstGeom prst="rect">
            <a:avLst/>
          </a:prstGeom>
        </p:spPr>
      </p:pic>
      <p:sp>
        <p:nvSpPr>
          <p:cNvPr id="31" name="文字 31"/>
          <p:cNvSpPr txBox="1"/>
          <p:nvPr/>
        </p:nvSpPr>
        <p:spPr>
          <a:xfrm>
            <a:off x="9189720" y="27889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裝置憑證・關門回報</a:t>
            </a:r>
            <a:endParaRPr lang="zh-TW" altLang="en-US" sz="1800" dirty="0"/>
          </a:p>
        </p:txBody>
      </p:sp>
      <p:sp>
        <p:nvSpPr>
          <p:cNvPr id="32" name="文字 32"/>
          <p:cNvSpPr txBox="1"/>
          <p:nvPr/>
        </p:nvSpPr>
        <p:spPr>
          <a:xfrm>
            <a:off x="9189720" y="3273552"/>
            <a:ext cx="214884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TW" altLang="en-US" sz="1500" b="0" dirty="0">
                <a:solidFill>
                  <a:srgbClr val="55636A"/>
                </a:solidFill>
              </a:rPr>
              <a:t>書櫃以裝置憑證連線</a:t>
            </a:r>
            <a:br>
              <a:rPr lang="zh-TW" altLang="en-US" sz="1500" dirty="0"/>
            </a:br>
            <a:r>
              <a:rPr lang="zh-TW" altLang="en-US" sz="1500" b="0" dirty="0">
                <a:solidFill>
                  <a:srgbClr val="55636A"/>
                </a:solidFill>
              </a:rPr>
              <a:t>回報開門與關門後</a:t>
            </a:r>
            <a:br>
              <a:rPr lang="zh-TW" altLang="en-US" sz="1500" dirty="0"/>
            </a:br>
            <a:r>
              <a:rPr lang="zh-TW" altLang="en-US" sz="1500" b="0" dirty="0">
                <a:solidFill>
                  <a:srgbClr val="55636A"/>
                </a:solidFill>
              </a:rPr>
              <a:t>才登記存書或取書</a:t>
            </a:r>
            <a:endParaRPr lang="zh-TW" altLang="en-US" sz="1500" dirty="0"/>
          </a:p>
        </p:txBody>
      </p:sp>
      <p:sp>
        <p:nvSpPr>
          <p:cNvPr id="33" name="提示 33"/>
          <p:cNvSpPr/>
          <p:nvPr/>
        </p:nvSpPr>
        <p:spPr>
          <a:xfrm>
            <a:off x="758952" y="5074920"/>
            <a:ext cx="10671048" cy="566928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4" name="圖示 34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5212080"/>
            <a:ext cx="292608" cy="292608"/>
          </a:xfrm>
          <a:prstGeom prst="rect">
            <a:avLst/>
          </a:prstGeom>
        </p:spPr>
      </p:pic>
      <p:sp>
        <p:nvSpPr>
          <p:cNvPr id="35" name="文字 35"/>
          <p:cNvSpPr txBox="1"/>
          <p:nvPr/>
        </p:nvSpPr>
        <p:spPr>
          <a:xfrm>
            <a:off x="1216152" y="5074920"/>
            <a:ext cx="1012240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可防範遠端開櫃、截圖轉傳 QR Code 與誤開他人櫃門；比對錯誤兩次，暫停開櫃 10 分鐘。</a:t>
            </a:r>
            <a:endParaRPr lang="zh-TW" alt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賣家存書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賣家存書</a:t>
            </a:r>
            <a:endParaRPr lang="zh-TW" altLang="en-US" sz="3600" dirty="0"/>
          </a:p>
        </p:txBody>
      </p:sp>
      <p:sp>
        <p:nvSpPr>
          <p:cNvPr id="3" name="!!英文標籤｜DEPOSIT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DEPOSIT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25</a:t>
            </a:fld>
            <a:endParaRPr lang="zh-TW" altLang="en-US" sz="1400" spc="200" dirty="0"/>
          </a:p>
        </p:txBody>
      </p:sp>
      <p:pic>
        <p:nvPicPr>
          <p:cNvPr id="6" name="!!書櫃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76982" y="1417320"/>
            <a:ext cx="4775200" cy="4297680"/>
          </a:xfrm>
          <a:prstGeom prst="rect">
            <a:avLst/>
          </a:prstGeom>
        </p:spPr>
      </p:pic>
      <p:pic>
        <p:nvPicPr>
          <p:cNvPr id="7" name="!!手機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672222" y="1600200"/>
            <a:ext cx="1939747" cy="3931920"/>
          </a:xfrm>
          <a:prstGeom prst="rect">
            <a:avLst/>
          </a:prstGeom>
        </p:spPr>
      </p:pic>
      <p:sp>
        <p:nvSpPr>
          <p:cNvPr id="8" name="字幕 8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1  </a:t>
            </a:r>
            <a:r>
              <a:rPr lang="zh-TW" altLang="en-US" sz="1700" b="1" dirty="0">
                <a:solidFill>
                  <a:srgbClr val="1F2A30"/>
                </a:solidFill>
              </a:rPr>
              <a:t>掃描書櫃 QR Code</a:t>
            </a:r>
            <a:endParaRPr lang="zh-TW" altLang="en-US" sz="1700" dirty="0"/>
          </a:p>
        </p:txBody>
      </p:sp>
      <p:sp>
        <p:nvSpPr>
          <p:cNvPr id="9" name="字幕 9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2  </a:t>
            </a:r>
            <a:r>
              <a:rPr lang="zh-TW" altLang="en-US" sz="1700" b="1" dirty="0">
                <a:solidFill>
                  <a:srgbClr val="1F2A30"/>
                </a:solidFill>
              </a:rPr>
              <a:t>確認存書項目</a:t>
            </a:r>
            <a:endParaRPr lang="zh-TW" altLang="en-US" sz="1700" dirty="0"/>
          </a:p>
        </p:txBody>
      </p:sp>
      <p:sp>
        <p:nvSpPr>
          <p:cNvPr id="10" name="字幕 10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3  </a:t>
            </a:r>
            <a:r>
              <a:rPr lang="zh-TW" altLang="en-US" sz="1700" b="1" dirty="0">
                <a:solidFill>
                  <a:srgbClr val="1F2A30"/>
                </a:solidFill>
              </a:rPr>
              <a:t>輸入螢幕比對碼 25</a:t>
            </a:r>
            <a:endParaRPr lang="zh-TW" altLang="en-US" sz="1700" dirty="0"/>
          </a:p>
        </p:txBody>
      </p:sp>
      <p:sp>
        <p:nvSpPr>
          <p:cNvPr id="11" name="字幕 11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4  </a:t>
            </a:r>
            <a:r>
              <a:rPr lang="zh-TW" altLang="en-US" sz="1700" b="1" dirty="0">
                <a:solidFill>
                  <a:srgbClr val="1F2A30"/>
                </a:solidFill>
              </a:rPr>
              <a:t>比對成功，A01 開鎖</a:t>
            </a:r>
            <a:endParaRPr lang="zh-TW" altLang="en-US" sz="1700" dirty="0"/>
          </a:p>
        </p:txBody>
      </p:sp>
      <p:sp>
        <p:nvSpPr>
          <p:cNvPr id="12" name="字幕 12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5  </a:t>
            </a:r>
            <a:r>
              <a:rPr lang="zh-TW" altLang="en-US" sz="1700" b="1" dirty="0">
                <a:solidFill>
                  <a:srgbClr val="1F2A30"/>
                </a:solidFill>
              </a:rPr>
              <a:t>放入書籍並關門</a:t>
            </a:r>
            <a:endParaRPr lang="zh-TW" altLang="en-US" sz="1700" dirty="0"/>
          </a:p>
        </p:txBody>
      </p:sp>
      <p:sp>
        <p:nvSpPr>
          <p:cNvPr id="13" name="字幕 13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6  </a:t>
            </a:r>
            <a:r>
              <a:rPr lang="zh-TW" altLang="en-US" sz="1700" b="1" dirty="0">
                <a:solidFill>
                  <a:srgbClr val="1F2A30"/>
                </a:solidFill>
              </a:rPr>
              <a:t>存書完成，通知買家取書</a:t>
            </a:r>
            <a:endParaRPr lang="zh-TW" alt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192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7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9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4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 mute="1">
                <p:cTn id="43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前往書櫃：交通資訊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前往書櫃：交通資訊</a:t>
            </a:r>
            <a:endParaRPr lang="zh-TW" altLang="en-US" sz="3600" dirty="0"/>
          </a:p>
        </p:txBody>
      </p:sp>
      <p:sp>
        <p:nvSpPr>
          <p:cNvPr id="3" name="!!英文標籤｜GETTING THERE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GETTING THERE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26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開放資料整合，直接規劃前往方式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資料來源：臺北市資料大平臺（政府資料開放授權條款）</a:t>
            </a:r>
            <a:endParaRPr lang="zh-TW" altLang="en-US" sz="1400" dirty="0"/>
          </a:p>
        </p:txBody>
      </p:sp>
      <p:sp>
        <p:nvSpPr>
          <p:cNvPr id="8" name="圖示底 8"/>
          <p:cNvSpPr/>
          <p:nvPr/>
        </p:nvSpPr>
        <p:spPr>
          <a:xfrm>
            <a:off x="758952" y="2542032"/>
            <a:ext cx="438912" cy="438912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9" name="圖示 9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2638593"/>
            <a:ext cx="245791" cy="245791"/>
          </a:xfrm>
          <a:prstGeom prst="rect">
            <a:avLst/>
          </a:prstGeom>
        </p:spPr>
      </p:pic>
      <p:sp>
        <p:nvSpPr>
          <p:cNvPr id="10" name="文字 10"/>
          <p:cNvSpPr txBox="1"/>
          <p:nvPr/>
        </p:nvSpPr>
        <p:spPr>
          <a:xfrm>
            <a:off x="1353312" y="2514600"/>
            <a:ext cx="11887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捷運</a:t>
            </a:r>
            <a:endParaRPr lang="zh-TW" altLang="en-US" sz="1600" dirty="0"/>
          </a:p>
        </p:txBody>
      </p:sp>
      <p:sp>
        <p:nvSpPr>
          <p:cNvPr id="11" name="文字 11"/>
          <p:cNvSpPr txBox="1"/>
          <p:nvPr/>
        </p:nvSpPr>
        <p:spPr>
          <a:xfrm>
            <a:off x="2542032" y="2514600"/>
            <a:ext cx="4846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最近車站與出口、無障礙電梯、票價</a:t>
            </a:r>
            <a:endParaRPr lang="zh-TW" altLang="en-US" sz="1400" dirty="0"/>
          </a:p>
        </p:txBody>
      </p:sp>
      <p:sp>
        <p:nvSpPr>
          <p:cNvPr id="12" name="圖示底 12"/>
          <p:cNvSpPr/>
          <p:nvPr/>
        </p:nvSpPr>
        <p:spPr>
          <a:xfrm>
            <a:off x="758952" y="3145536"/>
            <a:ext cx="438912" cy="438912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3" name="圖示 1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3" y="3242097"/>
            <a:ext cx="245791" cy="245791"/>
          </a:xfrm>
          <a:prstGeom prst="rect">
            <a:avLst/>
          </a:prstGeom>
        </p:spPr>
      </p:pic>
      <p:sp>
        <p:nvSpPr>
          <p:cNvPr id="14" name="文字 14"/>
          <p:cNvSpPr txBox="1"/>
          <p:nvPr/>
        </p:nvSpPr>
        <p:spPr>
          <a:xfrm>
            <a:off x="1353312" y="3118104"/>
            <a:ext cx="11887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公車</a:t>
            </a:r>
            <a:endParaRPr lang="zh-TW" altLang="en-US" sz="1600" dirty="0"/>
          </a:p>
        </p:txBody>
      </p:sp>
      <p:sp>
        <p:nvSpPr>
          <p:cNvPr id="15" name="文字 15"/>
          <p:cNvSpPr txBox="1"/>
          <p:nvPr/>
        </p:nvSpPr>
        <p:spPr>
          <a:xfrm>
            <a:off x="2542032" y="3118104"/>
            <a:ext cx="4846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300 公尺內站牌與即時預估到站</a:t>
            </a:r>
            <a:endParaRPr lang="zh-TW" altLang="en-US" sz="1400" dirty="0"/>
          </a:p>
        </p:txBody>
      </p:sp>
      <p:sp>
        <p:nvSpPr>
          <p:cNvPr id="16" name="圖示底 16"/>
          <p:cNvSpPr/>
          <p:nvPr/>
        </p:nvSpPr>
        <p:spPr>
          <a:xfrm>
            <a:off x="758952" y="3749040"/>
            <a:ext cx="438912" cy="438912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7" name="圖示 17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3" y="3845601"/>
            <a:ext cx="245791" cy="245791"/>
          </a:xfrm>
          <a:prstGeom prst="rect">
            <a:avLst/>
          </a:prstGeom>
        </p:spPr>
      </p:pic>
      <p:sp>
        <p:nvSpPr>
          <p:cNvPr id="18" name="文字 18"/>
          <p:cNvSpPr txBox="1"/>
          <p:nvPr/>
        </p:nvSpPr>
        <p:spPr>
          <a:xfrm>
            <a:off x="1353312" y="3721608"/>
            <a:ext cx="11887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YouBike</a:t>
            </a:r>
            <a:endParaRPr lang="zh-TW" altLang="en-US" sz="1600" dirty="0"/>
          </a:p>
        </p:txBody>
      </p:sp>
      <p:sp>
        <p:nvSpPr>
          <p:cNvPr id="19" name="文字 19"/>
          <p:cNvSpPr txBox="1"/>
          <p:nvPr/>
        </p:nvSpPr>
        <p:spPr>
          <a:xfrm>
            <a:off x="2542032" y="3721608"/>
            <a:ext cx="4846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500 公尺內站點可借與可還數量</a:t>
            </a:r>
            <a:endParaRPr lang="zh-TW" altLang="en-US" sz="1400" dirty="0"/>
          </a:p>
        </p:txBody>
      </p:sp>
      <p:sp>
        <p:nvSpPr>
          <p:cNvPr id="20" name="圖示底 20"/>
          <p:cNvSpPr/>
          <p:nvPr/>
        </p:nvSpPr>
        <p:spPr>
          <a:xfrm>
            <a:off x="758952" y="4352544"/>
            <a:ext cx="438912" cy="438912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1" name="圖示 21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13" y="4449105"/>
            <a:ext cx="245791" cy="245791"/>
          </a:xfrm>
          <a:prstGeom prst="rect">
            <a:avLst/>
          </a:prstGeom>
        </p:spPr>
      </p:pic>
      <p:sp>
        <p:nvSpPr>
          <p:cNvPr id="22" name="文字 22"/>
          <p:cNvSpPr txBox="1"/>
          <p:nvPr/>
        </p:nvSpPr>
        <p:spPr>
          <a:xfrm>
            <a:off x="1353312" y="4325112"/>
            <a:ext cx="11887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停車</a:t>
            </a:r>
            <a:endParaRPr lang="zh-TW" altLang="en-US" sz="1600" dirty="0"/>
          </a:p>
        </p:txBody>
      </p:sp>
      <p:sp>
        <p:nvSpPr>
          <p:cNvPr id="23" name="文字 23"/>
          <p:cNvSpPr txBox="1"/>
          <p:nvPr/>
        </p:nvSpPr>
        <p:spPr>
          <a:xfrm>
            <a:off x="2542032" y="4325112"/>
            <a:ext cx="4846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停車場剩餘車位、路邊停車格位</a:t>
            </a:r>
            <a:endParaRPr lang="zh-TW" altLang="en-US" sz="1400" dirty="0"/>
          </a:p>
        </p:txBody>
      </p:sp>
      <p:sp>
        <p:nvSpPr>
          <p:cNvPr id="24" name="圖示底 24"/>
          <p:cNvSpPr/>
          <p:nvPr/>
        </p:nvSpPr>
        <p:spPr>
          <a:xfrm>
            <a:off x="758952" y="4956048"/>
            <a:ext cx="438912" cy="438912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5" name="圖示 25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513" y="5052609"/>
            <a:ext cx="245791" cy="245791"/>
          </a:xfrm>
          <a:prstGeom prst="rect">
            <a:avLst/>
          </a:prstGeom>
        </p:spPr>
      </p:pic>
      <p:sp>
        <p:nvSpPr>
          <p:cNvPr id="26" name="文字 26"/>
          <p:cNvSpPr txBox="1"/>
          <p:nvPr/>
        </p:nvSpPr>
        <p:spPr>
          <a:xfrm>
            <a:off x="1353312" y="4928616"/>
            <a:ext cx="11887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計程車</a:t>
            </a:r>
            <a:endParaRPr lang="zh-TW" altLang="en-US" sz="1600" dirty="0"/>
          </a:p>
        </p:txBody>
      </p:sp>
      <p:sp>
        <p:nvSpPr>
          <p:cNvPr id="27" name="文字 27"/>
          <p:cNvSpPr txBox="1"/>
          <p:nvPr/>
        </p:nvSpPr>
        <p:spPr>
          <a:xfrm>
            <a:off x="2542032" y="4928616"/>
            <a:ext cx="4846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55636A"/>
                </a:solidFill>
              </a:rPr>
              <a:t>800 公尺內計程車招呼站</a:t>
            </a:r>
            <a:endParaRPr lang="zh-TW" altLang="en-US" sz="1400" dirty="0"/>
          </a:p>
        </p:txBody>
      </p:sp>
      <p:sp>
        <p:nvSpPr>
          <p:cNvPr id="28" name="提示 28"/>
          <p:cNvSpPr/>
          <p:nvPr/>
        </p:nvSpPr>
        <p:spPr>
          <a:xfrm>
            <a:off x="758952" y="5596128"/>
            <a:ext cx="6583680" cy="475488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9" name="圖示 29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5687568"/>
            <a:ext cx="292608" cy="292608"/>
          </a:xfrm>
          <a:prstGeom prst="rect">
            <a:avLst/>
          </a:prstGeom>
        </p:spPr>
      </p:pic>
      <p:sp>
        <p:nvSpPr>
          <p:cNvPr id="30" name="文字 30"/>
          <p:cNvSpPr txBox="1"/>
          <p:nvPr/>
        </p:nvSpPr>
        <p:spPr>
          <a:xfrm>
            <a:off x="1216152" y="5596128"/>
            <a:ext cx="60350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50" b="0" dirty="0">
                <a:solidFill>
                  <a:srgbClr val="46555C"/>
                </a:solidFill>
              </a:rPr>
              <a:t>最近車站在手機端計算，使用者位置不傳送至伺服器</a:t>
            </a:r>
            <a:endParaRPr lang="zh-TW" altLang="en-US" sz="1350" dirty="0"/>
          </a:p>
        </p:txBody>
      </p:sp>
      <p:pic>
        <p:nvPicPr>
          <p:cNvPr id="31" name="!!手機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549640" y="1481328"/>
            <a:ext cx="2255520" cy="457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30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32" repeatCount="indefinite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買家取書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買家取書</a:t>
            </a:r>
            <a:endParaRPr lang="zh-TW" altLang="en-US" sz="3600" dirty="0"/>
          </a:p>
        </p:txBody>
      </p:sp>
      <p:sp>
        <p:nvSpPr>
          <p:cNvPr id="3" name="!!英文標籤｜PICK-UP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PICK-UP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27</a:t>
            </a:fld>
            <a:endParaRPr lang="zh-TW" altLang="en-US" sz="1400" spc="200" dirty="0"/>
          </a:p>
        </p:txBody>
      </p:sp>
      <p:pic>
        <p:nvPicPr>
          <p:cNvPr id="6" name="!!書櫃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76982" y="1417320"/>
            <a:ext cx="4775200" cy="4297680"/>
          </a:xfrm>
          <a:prstGeom prst="rect">
            <a:avLst/>
          </a:prstGeom>
        </p:spPr>
      </p:pic>
      <p:pic>
        <p:nvPicPr>
          <p:cNvPr id="7" name="!!手機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672222" y="1600200"/>
            <a:ext cx="1939747" cy="3931920"/>
          </a:xfrm>
          <a:prstGeom prst="rect">
            <a:avLst/>
          </a:prstGeom>
        </p:spPr>
      </p:pic>
      <p:sp>
        <p:nvSpPr>
          <p:cNvPr id="8" name="字幕 8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1  </a:t>
            </a:r>
            <a:r>
              <a:rPr lang="zh-TW" altLang="en-US" sz="1700" b="1" dirty="0">
                <a:solidFill>
                  <a:srgbClr val="1F2A30"/>
                </a:solidFill>
              </a:rPr>
              <a:t>掃描書櫃 QR Code</a:t>
            </a:r>
            <a:endParaRPr lang="zh-TW" altLang="en-US" sz="1700" dirty="0"/>
          </a:p>
        </p:txBody>
      </p:sp>
      <p:sp>
        <p:nvSpPr>
          <p:cNvPr id="9" name="字幕 9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2  </a:t>
            </a:r>
            <a:r>
              <a:rPr lang="zh-TW" altLang="en-US" sz="1700" b="1" dirty="0">
                <a:solidFill>
                  <a:srgbClr val="1F2A30"/>
                </a:solidFill>
              </a:rPr>
              <a:t>確認取書項目</a:t>
            </a:r>
            <a:endParaRPr lang="zh-TW" altLang="en-US" sz="1700" dirty="0"/>
          </a:p>
        </p:txBody>
      </p:sp>
      <p:sp>
        <p:nvSpPr>
          <p:cNvPr id="10" name="字幕 10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3  </a:t>
            </a:r>
            <a:r>
              <a:rPr lang="zh-TW" altLang="en-US" sz="1700" b="1" dirty="0">
                <a:solidFill>
                  <a:srgbClr val="1F2A30"/>
                </a:solidFill>
              </a:rPr>
              <a:t>輸入螢幕比對碼 25</a:t>
            </a:r>
            <a:endParaRPr lang="zh-TW" altLang="en-US" sz="1700" dirty="0"/>
          </a:p>
        </p:txBody>
      </p:sp>
      <p:sp>
        <p:nvSpPr>
          <p:cNvPr id="11" name="字幕 11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4  </a:t>
            </a:r>
            <a:r>
              <a:rPr lang="zh-TW" altLang="en-US" sz="1700" b="1" dirty="0">
                <a:solidFill>
                  <a:srgbClr val="1F2A30"/>
                </a:solidFill>
              </a:rPr>
              <a:t>比對成功，A01 開鎖</a:t>
            </a:r>
            <a:endParaRPr lang="zh-TW" altLang="en-US" sz="1700" dirty="0"/>
          </a:p>
        </p:txBody>
      </p:sp>
      <p:sp>
        <p:nvSpPr>
          <p:cNvPr id="12" name="字幕 12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5  </a:t>
            </a:r>
            <a:r>
              <a:rPr lang="zh-TW" altLang="en-US" sz="1700" b="1" dirty="0">
                <a:solidFill>
                  <a:srgbClr val="1F2A30"/>
                </a:solidFill>
              </a:rPr>
              <a:t>取出書籍並關門</a:t>
            </a:r>
            <a:endParaRPr lang="zh-TW" altLang="en-US" sz="1700" dirty="0"/>
          </a:p>
        </p:txBody>
      </p:sp>
      <p:sp>
        <p:nvSpPr>
          <p:cNvPr id="13" name="字幕 13"/>
          <p:cNvSpPr/>
          <p:nvPr/>
        </p:nvSpPr>
        <p:spPr>
          <a:xfrm>
            <a:off x="3625596" y="5605272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1F2A30">
                <a:alpha val="7000"/>
              </a:srgbClr>
            </a:outerShdw>
          </a:effectLst>
        </p:spPr>
        <p:txBody>
          <a:bodyPr wrap="square" lIns="91440" tIns="0" rIns="91440" bIns="0" anchor="ctr" rtlCol="0">
            <a:noAutofit/>
          </a:bodyPr>
          <a:lstStyle/>
          <a:p>
            <a:pPr algn="ctr">
              <a:buNone/>
            </a:pPr>
            <a:r>
              <a:rPr lang="zh-TW" altLang="en-US" sz="1700" b="1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6  </a:t>
            </a:r>
            <a:r>
              <a:rPr lang="zh-TW" altLang="en-US" sz="1700" b="1" dirty="0">
                <a:solidFill>
                  <a:srgbClr val="1F2A30"/>
                </a:solidFill>
              </a:rPr>
              <a:t>取書完成，進入驗收</a:t>
            </a:r>
            <a:endParaRPr lang="zh-TW" alt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197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7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9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9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4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 mute="1">
                <p:cTn id="43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驗收與撥款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驗收與撥款</a:t>
            </a:r>
            <a:endParaRPr lang="zh-TW" altLang="en-US" sz="3600" dirty="0"/>
          </a:p>
        </p:txBody>
      </p:sp>
      <p:sp>
        <p:nvSpPr>
          <p:cNvPr id="3" name="!!英文標籤｜PAYOUT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PAYOUT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28</a:t>
            </a:fld>
            <a:endParaRPr lang="zh-TW" altLang="en-US" sz="1400" spc="200" dirty="0"/>
          </a:p>
        </p:txBody>
      </p:sp>
      <p:sp>
        <p:nvSpPr>
          <p:cNvPr id="6" name="文字 6"/>
          <p:cNvSpPr txBox="1"/>
          <p:nvPr/>
        </p:nvSpPr>
        <p:spPr>
          <a:xfrm>
            <a:off x="758952" y="157276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2A30"/>
                </a:solidFill>
              </a:rPr>
              <a:t>款項由平台暫管，驗收後撥款</a:t>
            </a:r>
            <a:endParaRPr lang="zh-TW" altLang="en-US" sz="2200" dirty="0"/>
          </a:p>
        </p:txBody>
      </p:sp>
      <p:sp>
        <p:nvSpPr>
          <p:cNvPr id="7" name="文字 7"/>
          <p:cNvSpPr txBox="1"/>
          <p:nvPr/>
        </p:nvSpPr>
        <p:spPr>
          <a:xfrm>
            <a:off x="758952" y="2048256"/>
            <a:ext cx="6035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E8A90"/>
                </a:solidFill>
              </a:rPr>
              <a:t>買家完成訂單，或取書滿 24 小時未申請爭議即自動完成</a:t>
            </a:r>
            <a:endParaRPr lang="zh-TW" altLang="en-US" sz="1400" dirty="0"/>
          </a:p>
        </p:txBody>
      </p:sp>
      <p:sp>
        <p:nvSpPr>
          <p:cNvPr id="8" name="步驟編號底 8"/>
          <p:cNvSpPr/>
          <p:nvPr/>
        </p:nvSpPr>
        <p:spPr>
          <a:xfrm>
            <a:off x="886968" y="2743200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9" name="文字 9"/>
          <p:cNvSpPr txBox="1"/>
          <p:nvPr/>
        </p:nvSpPr>
        <p:spPr>
          <a:xfrm>
            <a:off x="1453896" y="2706624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9AA6AC"/>
                </a:solidFill>
              </a:rPr>
              <a:t>付款暫管</a:t>
            </a:r>
            <a:endParaRPr lang="zh-TW" altLang="en-US" sz="1700" dirty="0"/>
          </a:p>
        </p:txBody>
      </p:sp>
      <p:sp>
        <p:nvSpPr>
          <p:cNvPr id="10" name="文字 10"/>
          <p:cNvSpPr txBox="1"/>
          <p:nvPr/>
        </p:nvSpPr>
        <p:spPr>
          <a:xfrm>
            <a:off x="1453896" y="3035808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350" b="0" dirty="0">
                <a:solidFill>
                  <a:srgbClr val="A9B3B8"/>
                </a:solidFill>
              </a:rPr>
              <a:t>買家付款後，款項由平台暫管</a:t>
            </a:r>
            <a:endParaRPr lang="zh-TW" altLang="en-US" sz="1350" dirty="0"/>
          </a:p>
        </p:txBody>
      </p:sp>
      <p:sp>
        <p:nvSpPr>
          <p:cNvPr id="11" name="步驟亮起底 11"/>
          <p:cNvSpPr/>
          <p:nvPr/>
        </p:nvSpPr>
        <p:spPr>
          <a:xfrm>
            <a:off x="758952" y="2615184"/>
            <a:ext cx="59436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/>
          <p:cNvSpPr/>
          <p:nvPr/>
        </p:nvSpPr>
        <p:spPr>
          <a:xfrm>
            <a:off x="886968" y="2743200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3" name="文字 13"/>
          <p:cNvSpPr txBox="1"/>
          <p:nvPr/>
        </p:nvSpPr>
        <p:spPr>
          <a:xfrm>
            <a:off x="1453896" y="2706624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付款暫管</a:t>
            </a:r>
            <a:endParaRPr lang="zh-TW" altLang="en-US" sz="1700" dirty="0"/>
          </a:p>
        </p:txBody>
      </p:sp>
      <p:sp>
        <p:nvSpPr>
          <p:cNvPr id="14" name="文字 14"/>
          <p:cNvSpPr txBox="1"/>
          <p:nvPr/>
        </p:nvSpPr>
        <p:spPr>
          <a:xfrm>
            <a:off x="1453896" y="3035808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350" b="0" dirty="0">
                <a:solidFill>
                  <a:srgbClr val="55636A"/>
                </a:solidFill>
              </a:rPr>
              <a:t>買家付款後，款項由平台暫管</a:t>
            </a:r>
            <a:endParaRPr lang="zh-TW" altLang="en-US" sz="1350" dirty="0"/>
          </a:p>
        </p:txBody>
      </p:sp>
      <p:sp>
        <p:nvSpPr>
          <p:cNvPr id="15" name="步驟編號底 15"/>
          <p:cNvSpPr/>
          <p:nvPr/>
        </p:nvSpPr>
        <p:spPr>
          <a:xfrm>
            <a:off x="886968" y="3511296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6" name="文字 16"/>
          <p:cNvSpPr txBox="1"/>
          <p:nvPr/>
        </p:nvSpPr>
        <p:spPr>
          <a:xfrm>
            <a:off x="1453896" y="3474720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9AA6AC"/>
                </a:solidFill>
              </a:rPr>
              <a:t>取書關門</a:t>
            </a:r>
            <a:endParaRPr lang="zh-TW" altLang="en-US" sz="1700" dirty="0"/>
          </a:p>
        </p:txBody>
      </p:sp>
      <p:sp>
        <p:nvSpPr>
          <p:cNvPr id="17" name="文字 17"/>
          <p:cNvSpPr txBox="1"/>
          <p:nvPr/>
        </p:nvSpPr>
        <p:spPr>
          <a:xfrm>
            <a:off x="1453896" y="3803904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350" b="0" dirty="0">
                <a:solidFill>
                  <a:srgbClr val="A9B3B8"/>
                </a:solidFill>
              </a:rPr>
              <a:t>書櫃回報關門，訂單進入驗收</a:t>
            </a:r>
            <a:endParaRPr lang="zh-TW" altLang="en-US" sz="1350" dirty="0"/>
          </a:p>
        </p:txBody>
      </p:sp>
      <p:sp>
        <p:nvSpPr>
          <p:cNvPr id="18" name="步驟亮起底 18"/>
          <p:cNvSpPr/>
          <p:nvPr/>
        </p:nvSpPr>
        <p:spPr>
          <a:xfrm>
            <a:off x="758952" y="3383280"/>
            <a:ext cx="59436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步驟編號 19"/>
          <p:cNvSpPr/>
          <p:nvPr/>
        </p:nvSpPr>
        <p:spPr>
          <a:xfrm>
            <a:off x="886968" y="3511296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20" name="文字 20"/>
          <p:cNvSpPr txBox="1"/>
          <p:nvPr/>
        </p:nvSpPr>
        <p:spPr>
          <a:xfrm>
            <a:off x="1453896" y="3474720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取書關門</a:t>
            </a:r>
            <a:endParaRPr lang="zh-TW" altLang="en-US" sz="1700" dirty="0"/>
          </a:p>
        </p:txBody>
      </p:sp>
      <p:sp>
        <p:nvSpPr>
          <p:cNvPr id="21" name="文字 21"/>
          <p:cNvSpPr txBox="1"/>
          <p:nvPr/>
        </p:nvSpPr>
        <p:spPr>
          <a:xfrm>
            <a:off x="1453896" y="3803904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350" b="0" dirty="0">
                <a:solidFill>
                  <a:srgbClr val="55636A"/>
                </a:solidFill>
              </a:rPr>
              <a:t>書櫃回報關門，訂單進入驗收</a:t>
            </a:r>
            <a:endParaRPr lang="zh-TW" altLang="en-US" sz="1350" dirty="0"/>
          </a:p>
        </p:txBody>
      </p:sp>
      <p:sp>
        <p:nvSpPr>
          <p:cNvPr id="22" name="步驟編號底 22"/>
          <p:cNvSpPr/>
          <p:nvPr/>
        </p:nvSpPr>
        <p:spPr>
          <a:xfrm>
            <a:off x="886968" y="4279392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文字 23"/>
          <p:cNvSpPr txBox="1"/>
          <p:nvPr/>
        </p:nvSpPr>
        <p:spPr>
          <a:xfrm>
            <a:off x="1453896" y="4242816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9AA6AC"/>
                </a:solidFill>
              </a:rPr>
              <a:t>24 小時驗收</a:t>
            </a:r>
            <a:endParaRPr lang="zh-TW" altLang="en-US" sz="1700" dirty="0"/>
          </a:p>
        </p:txBody>
      </p:sp>
      <p:sp>
        <p:nvSpPr>
          <p:cNvPr id="24" name="文字 24"/>
          <p:cNvSpPr txBox="1"/>
          <p:nvPr/>
        </p:nvSpPr>
        <p:spPr>
          <a:xfrm>
            <a:off x="1453896" y="4572000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350" b="0" dirty="0">
                <a:solidFill>
                  <a:srgbClr val="A9B3B8"/>
                </a:solidFill>
              </a:rPr>
              <a:t>買家確認書況後按「完成訂單」</a:t>
            </a:r>
            <a:endParaRPr lang="zh-TW" altLang="en-US" sz="1350" dirty="0"/>
          </a:p>
        </p:txBody>
      </p:sp>
      <p:sp>
        <p:nvSpPr>
          <p:cNvPr id="25" name="步驟亮起底 25"/>
          <p:cNvSpPr/>
          <p:nvPr/>
        </p:nvSpPr>
        <p:spPr>
          <a:xfrm>
            <a:off x="758952" y="4151376"/>
            <a:ext cx="59436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6" name="步驟編號 26"/>
          <p:cNvSpPr/>
          <p:nvPr/>
        </p:nvSpPr>
        <p:spPr>
          <a:xfrm>
            <a:off x="886968" y="4279392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7" name="文字 27"/>
          <p:cNvSpPr txBox="1"/>
          <p:nvPr/>
        </p:nvSpPr>
        <p:spPr>
          <a:xfrm>
            <a:off x="1453896" y="4242816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24 小時驗收</a:t>
            </a:r>
            <a:endParaRPr lang="zh-TW" altLang="en-US" sz="1700" dirty="0"/>
          </a:p>
        </p:txBody>
      </p:sp>
      <p:sp>
        <p:nvSpPr>
          <p:cNvPr id="28" name="文字 28"/>
          <p:cNvSpPr txBox="1"/>
          <p:nvPr/>
        </p:nvSpPr>
        <p:spPr>
          <a:xfrm>
            <a:off x="1453896" y="4572000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350" b="0" dirty="0">
                <a:solidFill>
                  <a:srgbClr val="55636A"/>
                </a:solidFill>
              </a:rPr>
              <a:t>買家確認書況後按「完成訂單」</a:t>
            </a:r>
            <a:endParaRPr lang="zh-TW" altLang="en-US" sz="1350" dirty="0"/>
          </a:p>
        </p:txBody>
      </p:sp>
      <p:sp>
        <p:nvSpPr>
          <p:cNvPr id="29" name="步驟編號底 29"/>
          <p:cNvSpPr/>
          <p:nvPr/>
        </p:nvSpPr>
        <p:spPr>
          <a:xfrm>
            <a:off x="886968" y="5047488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0" name="文字 30"/>
          <p:cNvSpPr txBox="1"/>
          <p:nvPr/>
        </p:nvSpPr>
        <p:spPr>
          <a:xfrm>
            <a:off x="1453896" y="5010912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9AA6AC"/>
                </a:solidFill>
              </a:rPr>
              <a:t>撥款至賣家錢包</a:t>
            </a:r>
            <a:endParaRPr lang="zh-TW" altLang="en-US" sz="1700" dirty="0"/>
          </a:p>
        </p:txBody>
      </p:sp>
      <p:sp>
        <p:nvSpPr>
          <p:cNvPr id="31" name="文字 31"/>
          <p:cNvSpPr txBox="1"/>
          <p:nvPr/>
        </p:nvSpPr>
        <p:spPr>
          <a:xfrm>
            <a:off x="1453896" y="5340096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350" b="0" dirty="0">
                <a:solidFill>
                  <a:srgbClr val="A9B3B8"/>
                </a:solidFill>
              </a:rPr>
              <a:t>250 代幣撥入賣家錢包</a:t>
            </a:r>
            <a:endParaRPr lang="zh-TW" altLang="en-US" sz="1350" dirty="0"/>
          </a:p>
        </p:txBody>
      </p:sp>
      <p:sp>
        <p:nvSpPr>
          <p:cNvPr id="32" name="步驟亮起底 32"/>
          <p:cNvSpPr/>
          <p:nvPr/>
        </p:nvSpPr>
        <p:spPr>
          <a:xfrm>
            <a:off x="758952" y="4919472"/>
            <a:ext cx="59436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3" name="步驟編號 33"/>
          <p:cNvSpPr/>
          <p:nvPr/>
        </p:nvSpPr>
        <p:spPr>
          <a:xfrm>
            <a:off x="886968" y="5047488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34" name="文字 34"/>
          <p:cNvSpPr txBox="1"/>
          <p:nvPr/>
        </p:nvSpPr>
        <p:spPr>
          <a:xfrm>
            <a:off x="1453896" y="5010912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700" b="1" dirty="0">
                <a:solidFill>
                  <a:srgbClr val="1F2A30"/>
                </a:solidFill>
              </a:rPr>
              <a:t>撥款至賣家錢包</a:t>
            </a:r>
            <a:endParaRPr lang="zh-TW" altLang="en-US" sz="1700" dirty="0"/>
          </a:p>
        </p:txBody>
      </p:sp>
      <p:sp>
        <p:nvSpPr>
          <p:cNvPr id="35" name="文字 35"/>
          <p:cNvSpPr txBox="1"/>
          <p:nvPr/>
        </p:nvSpPr>
        <p:spPr>
          <a:xfrm>
            <a:off x="1453896" y="5340096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350" b="0" dirty="0">
                <a:solidFill>
                  <a:srgbClr val="55636A"/>
                </a:solidFill>
              </a:rPr>
              <a:t>250 代幣撥入賣家錢包</a:t>
            </a:r>
            <a:endParaRPr lang="zh-TW" altLang="en-US" sz="1350" dirty="0"/>
          </a:p>
        </p:txBody>
      </p:sp>
      <p:sp>
        <p:nvSpPr>
          <p:cNvPr id="36" name="餘額 36"/>
          <p:cNvSpPr/>
          <p:nvPr/>
        </p:nvSpPr>
        <p:spPr>
          <a:xfrm>
            <a:off x="3858768" y="5138928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B48A4A"/>
          </a:solidFill>
          <a:ln>
            <a:noFill/>
          </a:ln>
        </p:spPr>
        <p:txBody>
          <a:bodyPr wrap="square" lIns="54864" tIns="0" rIns="54864" bIns="0" anchor="ctr" rtlCol="0">
            <a:noAutofit/>
          </a:bodyPr>
          <a:lstStyle/>
          <a:p>
            <a:pPr algn="ctr">
              <a:buNone/>
            </a:pPr>
            <a:r>
              <a:rPr lang="zh-TW" altLang="en-US" sz="1300" b="1" dirty="0">
                <a:solidFill>
                  <a:srgbClr val="FFFFFF"/>
                </a:solidFill>
              </a:rPr>
              <a:t>賣家錢包餘額 9,194 → 9,444</a:t>
            </a:r>
            <a:endParaRPr lang="zh-TW" altLang="en-US" sz="1300" dirty="0"/>
          </a:p>
        </p:txBody>
      </p:sp>
      <p:pic>
        <p:nvPicPr>
          <p:cNvPr id="37" name="!!手機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18120" y="1481328"/>
            <a:ext cx="2255520" cy="457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94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64" repeatCount="indefinite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2" grpId="0" animBg="1"/>
      <p:bldP spid="33" grpId="0" animBg="1"/>
      <p:bldP spid="34" grpId="0" animBg="1"/>
      <p:bldP spid="35" grpId="0" animBg="1"/>
      <p:bldP spid="36" grpId="0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維運與例外處理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維運與例外處理</a:t>
            </a:r>
            <a:endParaRPr lang="zh-TW" altLang="en-US" sz="3600" dirty="0"/>
          </a:p>
        </p:txBody>
      </p:sp>
      <p:sp>
        <p:nvSpPr>
          <p:cNvPr id="3" name="!!英文標籤｜OPERATIONS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OPERATIONS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29</a:t>
            </a:fld>
            <a:endParaRPr lang="zh-TW" altLang="en-US" sz="1400" spc="200" dirty="0"/>
          </a:p>
        </p:txBody>
      </p:sp>
      <p:sp>
        <p:nvSpPr>
          <p:cNvPr id="6" name="卡片 6"/>
          <p:cNvSpPr/>
          <p:nvPr/>
        </p:nvSpPr>
        <p:spPr>
          <a:xfrm>
            <a:off x="758952" y="1664208"/>
            <a:ext cx="3374136" cy="416052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7" name="圖示底 7"/>
          <p:cNvSpPr/>
          <p:nvPr/>
        </p:nvSpPr>
        <p:spPr>
          <a:xfrm>
            <a:off x="1033272" y="1901952"/>
            <a:ext cx="566928" cy="56692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8" name="圖示 8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996" y="2026676"/>
            <a:ext cx="317480" cy="31748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1746504" y="1901952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2000" b="1" dirty="0">
                <a:solidFill>
                  <a:srgbClr val="1F2A30"/>
                </a:solidFill>
              </a:rPr>
              <a:t>裝置管理</a:t>
            </a:r>
            <a:endParaRPr lang="zh-TW" altLang="en-US" sz="2000" dirty="0"/>
          </a:p>
        </p:txBody>
      </p:sp>
      <p:cxnSp>
        <p:nvCxnSpPr>
          <p:cNvPr id="10" name="線條 10"/>
          <p:cNvCxnSpPr/>
          <p:nvPr/>
        </p:nvCxnSpPr>
        <p:spPr>
          <a:xfrm>
            <a:off x="1033272" y="2670048"/>
            <a:ext cx="2825496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11" name="文字 11"/>
          <p:cNvSpPr txBox="1"/>
          <p:nvPr/>
        </p:nvSpPr>
        <p:spPr>
          <a:xfrm>
            <a:off x="1033272" y="2852928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配對碼</a:t>
            </a:r>
            <a:endParaRPr lang="zh-TW" altLang="en-US" sz="2400" dirty="0"/>
          </a:p>
        </p:txBody>
      </p:sp>
      <p:sp>
        <p:nvSpPr>
          <p:cNvPr id="12" name="文字 12"/>
          <p:cNvSpPr txBox="1"/>
          <p:nvPr/>
        </p:nvSpPr>
        <p:spPr>
          <a:xfrm>
            <a:off x="1033272" y="331012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螢幕顯示，管理員後台輸入</a:t>
            </a:r>
            <a:endParaRPr lang="zh-TW" altLang="en-US" sz="1450" dirty="0"/>
          </a:p>
        </p:txBody>
      </p:sp>
      <p:sp>
        <p:nvSpPr>
          <p:cNvPr id="13" name="文字 13"/>
          <p:cNvSpPr txBox="1"/>
          <p:nvPr/>
        </p:nvSpPr>
        <p:spPr>
          <a:xfrm>
            <a:off x="1033272" y="382219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遠端</a:t>
            </a:r>
            <a:endParaRPr lang="zh-TW" altLang="en-US" sz="2400" dirty="0"/>
          </a:p>
        </p:txBody>
      </p:sp>
      <p:sp>
        <p:nvSpPr>
          <p:cNvPr id="14" name="文字 14"/>
          <p:cNvSpPr txBox="1"/>
          <p:nvPr/>
        </p:nvSpPr>
        <p:spPr>
          <a:xfrm>
            <a:off x="1033272" y="42793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開櫃、調整螢幕亮度</a:t>
            </a:r>
            <a:endParaRPr lang="zh-TW" altLang="en-US" sz="1450" dirty="0"/>
          </a:p>
        </p:txBody>
      </p:sp>
      <p:sp>
        <p:nvSpPr>
          <p:cNvPr id="15" name="文字 15"/>
          <p:cNvSpPr txBox="1"/>
          <p:nvPr/>
        </p:nvSpPr>
        <p:spPr>
          <a:xfrm>
            <a:off x="1033272" y="4791456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1 年</a:t>
            </a:r>
            <a:endParaRPr lang="zh-TW" altLang="en-US" sz="2400" dirty="0"/>
          </a:p>
        </p:txBody>
      </p:sp>
      <p:sp>
        <p:nvSpPr>
          <p:cNvPr id="16" name="文字 16"/>
          <p:cNvSpPr txBox="1"/>
          <p:nvPr/>
        </p:nvSpPr>
        <p:spPr>
          <a:xfrm>
            <a:off x="1033272" y="524865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開關門事件紀錄保存</a:t>
            </a:r>
            <a:endParaRPr lang="zh-TW" altLang="en-US" sz="1450" dirty="0"/>
          </a:p>
        </p:txBody>
      </p:sp>
      <p:sp>
        <p:nvSpPr>
          <p:cNvPr id="17" name="卡片 17"/>
          <p:cNvSpPr/>
          <p:nvPr/>
        </p:nvSpPr>
        <p:spPr>
          <a:xfrm>
            <a:off x="4407408" y="1664208"/>
            <a:ext cx="3374136" cy="416052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圖示底 18"/>
          <p:cNvSpPr/>
          <p:nvPr/>
        </p:nvSpPr>
        <p:spPr>
          <a:xfrm>
            <a:off x="4681728" y="1901952"/>
            <a:ext cx="566928" cy="56692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9" name="圖示 19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452" y="2026676"/>
            <a:ext cx="317480" cy="317480"/>
          </a:xfrm>
          <a:prstGeom prst="rect">
            <a:avLst/>
          </a:prstGeom>
        </p:spPr>
      </p:pic>
      <p:sp>
        <p:nvSpPr>
          <p:cNvPr id="20" name="文字 20"/>
          <p:cNvSpPr txBox="1"/>
          <p:nvPr/>
        </p:nvSpPr>
        <p:spPr>
          <a:xfrm>
            <a:off x="5394960" y="1901952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2000" b="1" dirty="0">
                <a:solidFill>
                  <a:srgbClr val="1F2A30"/>
                </a:solidFill>
              </a:rPr>
              <a:t>異常處置</a:t>
            </a:r>
            <a:endParaRPr lang="zh-TW" altLang="en-US" sz="2000" dirty="0"/>
          </a:p>
        </p:txBody>
      </p:sp>
      <p:cxnSp>
        <p:nvCxnSpPr>
          <p:cNvPr id="21" name="線條 21"/>
          <p:cNvCxnSpPr/>
          <p:nvPr/>
        </p:nvCxnSpPr>
        <p:spPr>
          <a:xfrm>
            <a:off x="4681728" y="2670048"/>
            <a:ext cx="2825496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22" name="文字 22"/>
          <p:cNvSpPr txBox="1"/>
          <p:nvPr/>
        </p:nvSpPr>
        <p:spPr>
          <a:xfrm>
            <a:off x="4681728" y="2852928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5 分鐘</a:t>
            </a:r>
            <a:endParaRPr lang="zh-TW" altLang="en-US" sz="2400" dirty="0"/>
          </a:p>
        </p:txBody>
      </p:sp>
      <p:sp>
        <p:nvSpPr>
          <p:cNvPr id="23" name="文字 23"/>
          <p:cNvSpPr txBox="1"/>
          <p:nvPr/>
        </p:nvSpPr>
        <p:spPr>
          <a:xfrm>
            <a:off x="4681728" y="331012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離線即通知管理員</a:t>
            </a:r>
            <a:endParaRPr lang="zh-TW" altLang="en-US" sz="1450" dirty="0"/>
          </a:p>
        </p:txBody>
      </p:sp>
      <p:sp>
        <p:nvSpPr>
          <p:cNvPr id="24" name="文字 24"/>
          <p:cNvSpPr txBox="1"/>
          <p:nvPr/>
        </p:nvSpPr>
        <p:spPr>
          <a:xfrm>
            <a:off x="4681728" y="382219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2 分鐘</a:t>
            </a:r>
            <a:endParaRPr lang="zh-TW" altLang="en-US" sz="2400" dirty="0"/>
          </a:p>
        </p:txBody>
      </p:sp>
      <p:sp>
        <p:nvSpPr>
          <p:cNvPr id="25" name="文字 25"/>
          <p:cNvSpPr txBox="1"/>
          <p:nvPr/>
        </p:nvSpPr>
        <p:spPr>
          <a:xfrm>
            <a:off x="4681728" y="42793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故障改為手動回報</a:t>
            </a:r>
            <a:endParaRPr lang="zh-TW" altLang="en-US" sz="1450" dirty="0"/>
          </a:p>
        </p:txBody>
      </p:sp>
      <p:sp>
        <p:nvSpPr>
          <p:cNvPr id="26" name="文字 26"/>
          <p:cNvSpPr txBox="1"/>
          <p:nvPr/>
        </p:nvSpPr>
        <p:spPr>
          <a:xfrm>
            <a:off x="4681728" y="4791456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確認</a:t>
            </a:r>
            <a:endParaRPr lang="zh-TW" altLang="en-US" sz="2400" dirty="0"/>
          </a:p>
        </p:txBody>
      </p:sp>
      <p:sp>
        <p:nvSpPr>
          <p:cNvPr id="27" name="文字 27"/>
          <p:cNvSpPr txBox="1"/>
          <p:nvPr/>
        </p:nvSpPr>
        <p:spPr>
          <a:xfrm>
            <a:off x="4681728" y="524865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手動回報須管理員確認</a:t>
            </a:r>
            <a:endParaRPr lang="zh-TW" altLang="en-US" sz="1450" dirty="0"/>
          </a:p>
        </p:txBody>
      </p:sp>
      <p:sp>
        <p:nvSpPr>
          <p:cNvPr id="28" name="卡片 28"/>
          <p:cNvSpPr/>
          <p:nvPr/>
        </p:nvSpPr>
        <p:spPr>
          <a:xfrm>
            <a:off x="8055864" y="1664208"/>
            <a:ext cx="3374136" cy="416052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9" name="圖示底 29"/>
          <p:cNvSpPr/>
          <p:nvPr/>
        </p:nvSpPr>
        <p:spPr>
          <a:xfrm>
            <a:off x="8330184" y="1901952"/>
            <a:ext cx="566928" cy="566928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0" name="圖示 30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908" y="2026676"/>
            <a:ext cx="317480" cy="317480"/>
          </a:xfrm>
          <a:prstGeom prst="rect">
            <a:avLst/>
          </a:prstGeom>
        </p:spPr>
      </p:pic>
      <p:sp>
        <p:nvSpPr>
          <p:cNvPr id="31" name="文字 31"/>
          <p:cNvSpPr txBox="1"/>
          <p:nvPr/>
        </p:nvSpPr>
        <p:spPr>
          <a:xfrm>
            <a:off x="9043416" y="1901952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2000" b="1" dirty="0">
                <a:solidFill>
                  <a:srgbClr val="1F2A30"/>
                </a:solidFill>
              </a:rPr>
              <a:t>逾期處理</a:t>
            </a:r>
            <a:endParaRPr lang="zh-TW" altLang="en-US" sz="2000" dirty="0"/>
          </a:p>
        </p:txBody>
      </p:sp>
      <p:cxnSp>
        <p:nvCxnSpPr>
          <p:cNvPr id="32" name="線條 32"/>
          <p:cNvCxnSpPr/>
          <p:nvPr/>
        </p:nvCxnSpPr>
        <p:spPr>
          <a:xfrm>
            <a:off x="8330184" y="2670048"/>
            <a:ext cx="2825496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33" name="文字 33"/>
          <p:cNvSpPr txBox="1"/>
          <p:nvPr/>
        </p:nvSpPr>
        <p:spPr>
          <a:xfrm>
            <a:off x="8330184" y="2852928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7 天</a:t>
            </a:r>
            <a:endParaRPr lang="zh-TW" altLang="en-US" sz="2400" dirty="0"/>
          </a:p>
        </p:txBody>
      </p:sp>
      <p:sp>
        <p:nvSpPr>
          <p:cNvPr id="34" name="文字 34"/>
          <p:cNvSpPr txBox="1"/>
          <p:nvPr/>
        </p:nvSpPr>
        <p:spPr>
          <a:xfrm>
            <a:off x="8330184" y="331012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未存書或未取書，取消退款</a:t>
            </a:r>
            <a:endParaRPr lang="zh-TW" altLang="en-US" sz="1450" dirty="0"/>
          </a:p>
        </p:txBody>
      </p:sp>
      <p:sp>
        <p:nvSpPr>
          <p:cNvPr id="35" name="文字 35"/>
          <p:cNvSpPr txBox="1"/>
          <p:nvPr/>
        </p:nvSpPr>
        <p:spPr>
          <a:xfrm>
            <a:off x="8330184" y="382219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14 天</a:t>
            </a:r>
            <a:endParaRPr lang="zh-TW" altLang="en-US" sz="2400" dirty="0"/>
          </a:p>
        </p:txBody>
      </p:sp>
      <p:sp>
        <p:nvSpPr>
          <p:cNvPr id="36" name="文字 36"/>
          <p:cNvSpPr txBox="1"/>
          <p:nvPr/>
        </p:nvSpPr>
        <p:spPr>
          <a:xfrm>
            <a:off x="8330184" y="42793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先行存書由平台取出</a:t>
            </a:r>
            <a:endParaRPr lang="zh-TW" altLang="en-US" sz="1450" dirty="0"/>
          </a:p>
        </p:txBody>
      </p:sp>
      <p:sp>
        <p:nvSpPr>
          <p:cNvPr id="37" name="文字 37"/>
          <p:cNvSpPr txBox="1"/>
          <p:nvPr/>
        </p:nvSpPr>
        <p:spPr>
          <a:xfrm>
            <a:off x="8330184" y="4791456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2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30 天</a:t>
            </a:r>
            <a:endParaRPr lang="zh-TW" altLang="en-US" sz="2400" dirty="0"/>
          </a:p>
        </p:txBody>
      </p:sp>
      <p:sp>
        <p:nvSpPr>
          <p:cNvPr id="38" name="文字 38"/>
          <p:cNvSpPr txBox="1"/>
          <p:nvPr/>
        </p:nvSpPr>
        <p:spPr>
          <a:xfrm>
            <a:off x="8330184" y="524865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平台保管期限</a:t>
            </a:r>
            <a:endParaRPr lang="zh-TW" alt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43455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05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成果與後續規劃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成果總結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成果總結</a:t>
            </a:r>
            <a:endParaRPr lang="zh-TW" altLang="en-US" sz="3600" dirty="0"/>
          </a:p>
        </p:txBody>
      </p:sp>
      <p:sp>
        <p:nvSpPr>
          <p:cNvPr id="3" name="!!英文標籤｜RESULTS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RESULTS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31</a:t>
            </a:fld>
            <a:endParaRPr lang="zh-TW" altLang="en-US" sz="1400" spc="200" dirty="0"/>
          </a:p>
        </p:txBody>
      </p:sp>
      <p:sp>
        <p:nvSpPr>
          <p:cNvPr id="6" name="成果數字卡 6"/>
          <p:cNvSpPr/>
          <p:nvPr/>
        </p:nvSpPr>
        <p:spPr>
          <a:xfrm>
            <a:off x="758952" y="1691640"/>
            <a:ext cx="1984248" cy="214884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7" name="成果數字 7"/>
          <p:cNvSpPr txBox="1"/>
          <p:nvPr/>
        </p:nvSpPr>
        <p:spPr>
          <a:xfrm>
            <a:off x="758952" y="1874520"/>
            <a:ext cx="198424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4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301</a:t>
            </a:r>
            <a:endParaRPr lang="zh-TW" altLang="en-US" sz="4400" dirty="0"/>
          </a:p>
        </p:txBody>
      </p:sp>
      <p:sp>
        <p:nvSpPr>
          <p:cNvPr id="8" name="成果項目 8"/>
          <p:cNvSpPr txBox="1"/>
          <p:nvPr/>
        </p:nvSpPr>
        <p:spPr>
          <a:xfrm>
            <a:off x="758952" y="2788920"/>
            <a:ext cx="1984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API 端點</a:t>
            </a:r>
            <a:endParaRPr lang="zh-TW" altLang="en-US" sz="1600" dirty="0"/>
          </a:p>
        </p:txBody>
      </p:sp>
      <p:sp>
        <p:nvSpPr>
          <p:cNvPr id="9" name="成果說明 9"/>
          <p:cNvSpPr txBox="1"/>
          <p:nvPr/>
        </p:nvSpPr>
        <p:spPr>
          <a:xfrm>
            <a:off x="758952" y="3172968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200" b="0" dirty="0">
                <a:solidFill>
                  <a:srgbClr val="7E8A90"/>
                </a:solidFill>
              </a:rPr>
              <a:t>RESTful API</a:t>
            </a:r>
            <a:endParaRPr lang="zh-TW" altLang="en-US" sz="1200" dirty="0"/>
          </a:p>
        </p:txBody>
      </p:sp>
      <p:sp>
        <p:nvSpPr>
          <p:cNvPr id="10" name="成果數字卡 10"/>
          <p:cNvSpPr/>
          <p:nvPr/>
        </p:nvSpPr>
        <p:spPr>
          <a:xfrm>
            <a:off x="2930652" y="1691640"/>
            <a:ext cx="1984248" cy="214884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成果數字 11"/>
          <p:cNvSpPr txBox="1"/>
          <p:nvPr/>
        </p:nvSpPr>
        <p:spPr>
          <a:xfrm>
            <a:off x="2930652" y="1874520"/>
            <a:ext cx="198424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4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1,563</a:t>
            </a:r>
            <a:endParaRPr lang="zh-TW" altLang="en-US" sz="4400" dirty="0"/>
          </a:p>
        </p:txBody>
      </p:sp>
      <p:sp>
        <p:nvSpPr>
          <p:cNvPr id="12" name="成果項目 12"/>
          <p:cNvSpPr txBox="1"/>
          <p:nvPr/>
        </p:nvSpPr>
        <p:spPr>
          <a:xfrm>
            <a:off x="2930652" y="2788920"/>
            <a:ext cx="1984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後端測試</a:t>
            </a:r>
            <a:endParaRPr lang="zh-TW" altLang="en-US" sz="1600" dirty="0"/>
          </a:p>
        </p:txBody>
      </p:sp>
      <p:sp>
        <p:nvSpPr>
          <p:cNvPr id="13" name="成果說明 13"/>
          <p:cNvSpPr txBox="1"/>
          <p:nvPr/>
        </p:nvSpPr>
        <p:spPr>
          <a:xfrm>
            <a:off x="2930652" y="3172968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200" b="0" dirty="0">
                <a:solidFill>
                  <a:srgbClr val="7E8A90"/>
                </a:solidFill>
              </a:rPr>
              <a:t>11 組全數通過</a:t>
            </a:r>
            <a:endParaRPr lang="zh-TW" altLang="en-US" sz="1200" dirty="0"/>
          </a:p>
        </p:txBody>
      </p:sp>
      <p:sp>
        <p:nvSpPr>
          <p:cNvPr id="14" name="成果數字卡 14"/>
          <p:cNvSpPr/>
          <p:nvPr/>
        </p:nvSpPr>
        <p:spPr>
          <a:xfrm>
            <a:off x="5102352" y="1691640"/>
            <a:ext cx="1984248" cy="214884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5" name="成果數字 15"/>
          <p:cNvSpPr txBox="1"/>
          <p:nvPr/>
        </p:nvSpPr>
        <p:spPr>
          <a:xfrm>
            <a:off x="5102352" y="1874520"/>
            <a:ext cx="198424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4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2,815</a:t>
            </a:r>
            <a:endParaRPr lang="zh-TW" altLang="en-US" sz="4400" dirty="0"/>
          </a:p>
        </p:txBody>
      </p:sp>
      <p:sp>
        <p:nvSpPr>
          <p:cNvPr id="16" name="成果項目 16"/>
          <p:cNvSpPr txBox="1"/>
          <p:nvPr/>
        </p:nvSpPr>
        <p:spPr>
          <a:xfrm>
            <a:off x="5102352" y="2788920"/>
            <a:ext cx="1984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App 測試</a:t>
            </a:r>
            <a:endParaRPr lang="zh-TW" altLang="en-US" sz="1600" dirty="0"/>
          </a:p>
        </p:txBody>
      </p:sp>
      <p:sp>
        <p:nvSpPr>
          <p:cNvPr id="17" name="成果說明 17"/>
          <p:cNvSpPr txBox="1"/>
          <p:nvPr/>
        </p:nvSpPr>
        <p:spPr>
          <a:xfrm>
            <a:off x="5102352" y="3172968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200" b="0" dirty="0">
                <a:solidFill>
                  <a:srgbClr val="7E8A90"/>
                </a:solidFill>
              </a:rPr>
              <a:t>全數通過</a:t>
            </a:r>
            <a:endParaRPr lang="zh-TW" altLang="en-US" sz="1200" dirty="0"/>
          </a:p>
        </p:txBody>
      </p:sp>
      <p:sp>
        <p:nvSpPr>
          <p:cNvPr id="18" name="成果數字卡 18"/>
          <p:cNvSpPr/>
          <p:nvPr/>
        </p:nvSpPr>
        <p:spPr>
          <a:xfrm>
            <a:off x="7274052" y="1691640"/>
            <a:ext cx="1984248" cy="214884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成果數字 19"/>
          <p:cNvSpPr txBox="1"/>
          <p:nvPr/>
        </p:nvSpPr>
        <p:spPr>
          <a:xfrm>
            <a:off x="7274052" y="1874520"/>
            <a:ext cx="198424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4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7</a:t>
            </a:r>
            <a:endParaRPr lang="zh-TW" altLang="en-US" sz="4400" dirty="0"/>
          </a:p>
        </p:txBody>
      </p:sp>
      <p:sp>
        <p:nvSpPr>
          <p:cNvPr id="20" name="成果項目 20"/>
          <p:cNvSpPr txBox="1"/>
          <p:nvPr/>
        </p:nvSpPr>
        <p:spPr>
          <a:xfrm>
            <a:off x="7274052" y="2788920"/>
            <a:ext cx="1984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項 AI 服務</a:t>
            </a:r>
            <a:endParaRPr lang="zh-TW" altLang="en-US" sz="1600" dirty="0"/>
          </a:p>
        </p:txBody>
      </p:sp>
      <p:sp>
        <p:nvSpPr>
          <p:cNvPr id="21" name="成果說明 21"/>
          <p:cNvSpPr txBox="1"/>
          <p:nvPr/>
        </p:nvSpPr>
        <p:spPr>
          <a:xfrm>
            <a:off x="7274052" y="3172968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200" b="0" dirty="0">
                <a:solidFill>
                  <a:srgbClr val="7E8A90"/>
                </a:solidFill>
              </a:rPr>
              <a:t>上架到售後</a:t>
            </a:r>
            <a:endParaRPr lang="zh-TW" altLang="en-US" sz="1200" dirty="0"/>
          </a:p>
        </p:txBody>
      </p:sp>
      <p:sp>
        <p:nvSpPr>
          <p:cNvPr id="22" name="成果數字卡 22"/>
          <p:cNvSpPr/>
          <p:nvPr/>
        </p:nvSpPr>
        <p:spPr>
          <a:xfrm>
            <a:off x="9445752" y="1691640"/>
            <a:ext cx="1984248" cy="214884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3" name="成果數字 23"/>
          <p:cNvSpPr txBox="1"/>
          <p:nvPr/>
        </p:nvSpPr>
        <p:spPr>
          <a:xfrm>
            <a:off x="9445752" y="1874520"/>
            <a:ext cx="198424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4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3</a:t>
            </a:r>
            <a:endParaRPr lang="zh-TW" altLang="en-US" sz="4400" dirty="0"/>
          </a:p>
        </p:txBody>
      </p:sp>
      <p:sp>
        <p:nvSpPr>
          <p:cNvPr id="24" name="成果項目 24"/>
          <p:cNvSpPr txBox="1"/>
          <p:nvPr/>
        </p:nvSpPr>
        <p:spPr>
          <a:xfrm>
            <a:off x="9445752" y="2788920"/>
            <a:ext cx="1984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600" b="1" dirty="0">
                <a:solidFill>
                  <a:srgbClr val="1F2A30"/>
                </a:solidFill>
              </a:rPr>
              <a:t>種裝置</a:t>
            </a:r>
            <a:endParaRPr lang="zh-TW" altLang="en-US" sz="1600" dirty="0"/>
          </a:p>
        </p:txBody>
      </p:sp>
      <p:sp>
        <p:nvSpPr>
          <p:cNvPr id="25" name="成果說明 25"/>
          <p:cNvSpPr txBox="1"/>
          <p:nvPr/>
        </p:nvSpPr>
        <p:spPr>
          <a:xfrm>
            <a:off x="9445752" y="3172968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zh-TW" altLang="en-US" sz="1200" b="0" dirty="0">
                <a:solidFill>
                  <a:srgbClr val="7E8A90"/>
                </a:solidFill>
              </a:rPr>
              <a:t>iPhone・iPad・Android</a:t>
            </a:r>
            <a:endParaRPr lang="zh-TW" altLang="en-US" sz="1200" dirty="0"/>
          </a:p>
        </p:txBody>
      </p:sp>
      <p:sp>
        <p:nvSpPr>
          <p:cNvPr id="26" name="成果重點卡 26"/>
          <p:cNvSpPr/>
          <p:nvPr/>
        </p:nvSpPr>
        <p:spPr>
          <a:xfrm>
            <a:off x="758952" y="4114800"/>
            <a:ext cx="5198364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7" name="成果圖示底 27"/>
          <p:cNvSpPr/>
          <p:nvPr/>
        </p:nvSpPr>
        <p:spPr>
          <a:xfrm>
            <a:off x="1033272" y="4389120"/>
            <a:ext cx="603504" cy="60350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8" name="成果圖示 28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043" y="4521891"/>
            <a:ext cx="337962" cy="337962"/>
          </a:xfrm>
          <a:prstGeom prst="rect">
            <a:avLst/>
          </a:prstGeom>
        </p:spPr>
      </p:pic>
      <p:sp>
        <p:nvSpPr>
          <p:cNvPr id="29" name="成果重點 29"/>
          <p:cNvSpPr txBox="1"/>
          <p:nvPr/>
        </p:nvSpPr>
        <p:spPr>
          <a:xfrm>
            <a:off x="1810512" y="4315968"/>
            <a:ext cx="396392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書櫃實機</a:t>
            </a:r>
            <a:endParaRPr lang="zh-TW" altLang="en-US" sz="1800" dirty="0"/>
          </a:p>
        </p:txBody>
      </p:sp>
      <p:sp>
        <p:nvSpPr>
          <p:cNvPr id="30" name="成果重點說明 30"/>
          <p:cNvSpPr txBox="1"/>
          <p:nvPr/>
        </p:nvSpPr>
        <p:spPr>
          <a:xfrm>
            <a:off x="1810512" y="4754880"/>
            <a:ext cx="391820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螢幕、繼電器與四顆電磁鎖測通；正式韌體已連網並完成配對；自製主控板 Rev A 已送打樣</a:t>
            </a:r>
            <a:endParaRPr lang="zh-TW" altLang="en-US" sz="1450" dirty="0"/>
          </a:p>
        </p:txBody>
      </p:sp>
      <p:sp>
        <p:nvSpPr>
          <p:cNvPr id="31" name="成果重點卡 31"/>
          <p:cNvSpPr/>
          <p:nvPr/>
        </p:nvSpPr>
        <p:spPr>
          <a:xfrm>
            <a:off x="6231636" y="4114800"/>
            <a:ext cx="5198364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成果圖示底 32"/>
          <p:cNvSpPr/>
          <p:nvPr/>
        </p:nvSpPr>
        <p:spPr>
          <a:xfrm>
            <a:off x="6505956" y="4389120"/>
            <a:ext cx="603504" cy="60350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33" name="成果圖示 3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727" y="4521891"/>
            <a:ext cx="337962" cy="337962"/>
          </a:xfrm>
          <a:prstGeom prst="rect">
            <a:avLst/>
          </a:prstGeom>
        </p:spPr>
      </p:pic>
      <p:sp>
        <p:nvSpPr>
          <p:cNvPr id="34" name="成果重點 34"/>
          <p:cNvSpPr txBox="1"/>
          <p:nvPr/>
        </p:nvSpPr>
        <p:spPr>
          <a:xfrm>
            <a:off x="7283196" y="4315968"/>
            <a:ext cx="396392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800" b="1" dirty="0">
                <a:solidFill>
                  <a:srgbClr val="1F2A30"/>
                </a:solidFill>
              </a:rPr>
              <a:t>完整交易流程</a:t>
            </a:r>
            <a:endParaRPr lang="zh-TW" altLang="en-US" sz="1800" dirty="0"/>
          </a:p>
        </p:txBody>
      </p:sp>
      <p:sp>
        <p:nvSpPr>
          <p:cNvPr id="35" name="成果重點說明 35"/>
          <p:cNvSpPr txBox="1"/>
          <p:nvPr/>
        </p:nvSpPr>
        <p:spPr>
          <a:xfrm>
            <a:off x="7283196" y="4754880"/>
            <a:ext cx="391820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上架、付款暫管、存書、取書、撥款與爭議處理皆可實際操作</a:t>
            </a:r>
            <a:endParaRPr lang="zh-TW" alt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GitHub 開發貢獻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GitHub 開發貢獻</a:t>
            </a:r>
            <a:endParaRPr lang="zh-TW" altLang="en-US" sz="3600" dirty="0"/>
          </a:p>
        </p:txBody>
      </p:sp>
      <p:sp>
        <p:nvSpPr>
          <p:cNvPr id="3" name="!!英文標籤｜CONTRIBUTIONS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CONTRIBUTIONS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32</a:t>
            </a:fld>
            <a:endParaRPr lang="zh-TW" altLang="en-US" sz="1400" spc="200" dirty="0"/>
          </a:p>
        </p:txBody>
      </p:sp>
      <p:sp>
        <p:nvSpPr>
          <p:cNvPr id="6" name="提交總數卡 6"/>
          <p:cNvSpPr/>
          <p:nvPr/>
        </p:nvSpPr>
        <p:spPr>
          <a:xfrm>
            <a:off x="758952" y="1627632"/>
            <a:ext cx="27432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7" name="提交標籤 7"/>
          <p:cNvSpPr txBox="1"/>
          <p:nvPr/>
        </p:nvSpPr>
        <p:spPr>
          <a:xfrm>
            <a:off x="1033272" y="186537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300" b="1" dirty="0">
                <a:solidFill>
                  <a:srgbClr val="7E8A90"/>
                </a:solidFill>
              </a:rPr>
              <a:t>總提交次數</a:t>
            </a:r>
            <a:endParaRPr lang="zh-TW" altLang="en-US" sz="1300" dirty="0"/>
          </a:p>
        </p:txBody>
      </p:sp>
      <p:sp>
        <p:nvSpPr>
          <p:cNvPr id="8" name="提交總數 8"/>
          <p:cNvSpPr txBox="1"/>
          <p:nvPr/>
        </p:nvSpPr>
        <p:spPr>
          <a:xfrm>
            <a:off x="1033272" y="2157984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>
              <a:buNone/>
            </a:pPr>
            <a:r>
              <a:rPr lang="zh-TW" altLang="en-US" sz="54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555</a:t>
            </a:r>
            <a:r>
              <a:rPr lang="zh-TW" altLang="en-US" sz="1600" b="1" dirty="0">
                <a:solidFill>
                  <a:srgbClr val="1F2A30"/>
                </a:solidFill>
              </a:rPr>
              <a:t> 次提交</a:t>
            </a:r>
            <a:endParaRPr lang="zh-TW" altLang="en-US" sz="1600" dirty="0"/>
          </a:p>
        </p:txBody>
      </p:sp>
      <p:cxnSp>
        <p:nvCxnSpPr>
          <p:cNvPr id="9" name="提交分隔 9"/>
          <p:cNvCxnSpPr/>
          <p:nvPr/>
        </p:nvCxnSpPr>
        <p:spPr>
          <a:xfrm>
            <a:off x="1033272" y="3163824"/>
            <a:ext cx="2194560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10" name="期間標籤 10"/>
          <p:cNvSpPr txBox="1"/>
          <p:nvPr/>
        </p:nvSpPr>
        <p:spPr>
          <a:xfrm>
            <a:off x="1033272" y="327355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150" b="0" dirty="0">
                <a:solidFill>
                  <a:srgbClr val="7E8A90"/>
                </a:solidFill>
              </a:rPr>
              <a:t>統計期間</a:t>
            </a:r>
            <a:endParaRPr lang="zh-TW" altLang="en-US" sz="1150" dirty="0"/>
          </a:p>
        </p:txBody>
      </p:sp>
      <p:sp>
        <p:nvSpPr>
          <p:cNvPr id="11" name="統計期間 11"/>
          <p:cNvSpPr txBox="1"/>
          <p:nvPr/>
        </p:nvSpPr>
        <p:spPr>
          <a:xfrm>
            <a:off x="1033272" y="35112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400" b="1" dirty="0">
                <a:solidFill>
                  <a:srgbClr val="1F2A30"/>
                </a:solidFill>
                <a:latin typeface="Manrope"/>
                <a:ea typeface="Manrope"/>
                <a:cs typeface="Manrope"/>
              </a:rPr>
              <a:t>2026/3/15 – 2026/10/4</a:t>
            </a:r>
            <a:endParaRPr lang="zh-TW" altLang="en-US" sz="1400" dirty="0"/>
          </a:p>
        </p:txBody>
      </p:sp>
      <p:sp>
        <p:nvSpPr>
          <p:cNvPr id="12" name="提交圖卡 12"/>
          <p:cNvSpPr/>
          <p:nvPr/>
        </p:nvSpPr>
        <p:spPr>
          <a:xfrm>
            <a:off x="3703320" y="1627632"/>
            <a:ext cx="77266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3" name="期間色帶 13"/>
          <p:cNvSpPr/>
          <p:nvPr/>
        </p:nvSpPr>
        <p:spPr>
          <a:xfrm>
            <a:off x="3947453" y="1821033"/>
            <a:ext cx="2528008" cy="1374677"/>
          </a:xfrm>
          <a:prstGeom prst="roundRect">
            <a:avLst>
              <a:gd name="adj" fmla="val 3991"/>
            </a:avLst>
          </a:prstGeom>
          <a:solidFill>
            <a:srgbClr val="607D8B">
              <a:alpha val="11000"/>
            </a:srgbClr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4" name="期間色帶 14"/>
          <p:cNvSpPr/>
          <p:nvPr/>
        </p:nvSpPr>
        <p:spPr>
          <a:xfrm>
            <a:off x="9632559" y="1821033"/>
            <a:ext cx="1168864" cy="1374677"/>
          </a:xfrm>
          <a:prstGeom prst="roundRect">
            <a:avLst>
              <a:gd name="adj" fmla="val 4693"/>
            </a:avLst>
          </a:prstGeom>
          <a:solidFill>
            <a:srgbClr val="B48A4A">
              <a:alpha val="15000"/>
            </a:srgbClr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5" name="提交長條圖 15" descr="每週提交次數（GitHub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828800"/>
            <a:ext cx="7269480" cy="1599907"/>
          </a:xfrm>
          <a:prstGeom prst="rect">
            <a:avLst/>
          </a:prstGeom>
        </p:spPr>
      </p:pic>
      <p:sp>
        <p:nvSpPr>
          <p:cNvPr id="16" name="圖例色塊 16"/>
          <p:cNvSpPr/>
          <p:nvPr/>
        </p:nvSpPr>
        <p:spPr>
          <a:xfrm>
            <a:off x="3995928" y="360273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607D8B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7" name="圖例 17"/>
          <p:cNvSpPr txBox="1"/>
          <p:nvPr/>
        </p:nvSpPr>
        <p:spPr>
          <a:xfrm>
            <a:off x="4251960" y="3529584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00" b="1" dirty="0">
                <a:solidFill>
                  <a:srgbClr val="1F2A30"/>
                </a:solidFill>
              </a:rPr>
              <a:t>3–5 月</a:t>
            </a:r>
            <a:r>
              <a:rPr lang="zh-TW" altLang="en-US" sz="1300" b="0" dirty="0">
                <a:solidFill>
                  <a:srgbClr val="55636A"/>
                </a:solidFill>
              </a:rPr>
              <a:t>　初評前開發高峰</a:t>
            </a:r>
            <a:endParaRPr lang="zh-TW" altLang="en-US" sz="1300" dirty="0"/>
          </a:p>
        </p:txBody>
      </p:sp>
      <p:sp>
        <p:nvSpPr>
          <p:cNvPr id="18" name="圖例色塊 18"/>
          <p:cNvSpPr/>
          <p:nvPr/>
        </p:nvSpPr>
        <p:spPr>
          <a:xfrm>
            <a:off x="6720840" y="360273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B48A4A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9" name="圖例 19"/>
          <p:cNvSpPr txBox="1"/>
          <p:nvPr/>
        </p:nvSpPr>
        <p:spPr>
          <a:xfrm>
            <a:off x="6976872" y="3529584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zh-TW" altLang="en-US" sz="1300" b="1" dirty="0">
                <a:solidFill>
                  <a:srgbClr val="1F2A30"/>
                </a:solidFill>
              </a:rPr>
              <a:t>9 月起</a:t>
            </a:r>
            <a:r>
              <a:rPr lang="zh-TW" altLang="en-US" sz="1300" b="0" dirty="0">
                <a:solidFill>
                  <a:srgbClr val="55636A"/>
                </a:solidFill>
              </a:rPr>
              <a:t>　AI、書櫃韌體與複評改善</a:t>
            </a:r>
            <a:endParaRPr lang="zh-TW" altLang="en-US" sz="1300" dirty="0"/>
          </a:p>
        </p:txBody>
      </p:sp>
      <p:sp>
        <p:nvSpPr>
          <p:cNvPr id="20" name="組員卡片 20"/>
          <p:cNvSpPr/>
          <p:nvPr/>
        </p:nvSpPr>
        <p:spPr>
          <a:xfrm>
            <a:off x="758952" y="4142232"/>
            <a:ext cx="2530602" cy="1938528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21" name="組員頭像 21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325112"/>
            <a:ext cx="475488" cy="475488"/>
          </a:xfrm>
          <a:prstGeom prst="rect">
            <a:avLst/>
          </a:prstGeom>
        </p:spPr>
      </p:pic>
      <p:sp>
        <p:nvSpPr>
          <p:cNvPr id="22" name="頭像框 22"/>
          <p:cNvSpPr/>
          <p:nvPr/>
        </p:nvSpPr>
        <p:spPr>
          <a:xfrm>
            <a:off x="941832" y="4325112"/>
            <a:ext cx="475488" cy="475488"/>
          </a:xfrm>
          <a:prstGeom prst="ellipse">
            <a:avLst/>
          </a:prstGeom>
          <a:noFill/>
          <a:ln w="12700">
            <a:solidFill>
              <a:srgbClr val="D5DEE2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3" name="組員姓名 23"/>
          <p:cNvSpPr txBox="1"/>
          <p:nvPr/>
        </p:nvSpPr>
        <p:spPr>
          <a:xfrm>
            <a:off x="1545336" y="4297680"/>
            <a:ext cx="115900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許凱俊</a:t>
            </a:r>
            <a:endParaRPr lang="zh-TW" altLang="en-US" sz="1500" dirty="0"/>
          </a:p>
        </p:txBody>
      </p:sp>
      <p:sp>
        <p:nvSpPr>
          <p:cNvPr id="24" name="組員學號 24"/>
          <p:cNvSpPr txBox="1"/>
          <p:nvPr/>
        </p:nvSpPr>
        <p:spPr>
          <a:xfrm>
            <a:off x="1545336" y="4581144"/>
            <a:ext cx="115900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050" b="0" dirty="0">
                <a:solidFill>
                  <a:srgbClr val="7E8A90"/>
                </a:solidFill>
                <a:latin typeface="Manrope"/>
                <a:ea typeface="Manrope"/>
                <a:cs typeface="Manrope"/>
              </a:rPr>
              <a:t>11246063</a:t>
            </a:r>
            <a:endParaRPr lang="zh-TW" altLang="en-US" sz="1050" dirty="0"/>
          </a:p>
        </p:txBody>
      </p:sp>
      <p:sp>
        <p:nvSpPr>
          <p:cNvPr id="25" name="排名 25"/>
          <p:cNvSpPr/>
          <p:nvPr/>
        </p:nvSpPr>
        <p:spPr>
          <a:xfrm>
            <a:off x="2667762" y="4370832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B48A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#1</a:t>
            </a:r>
            <a:endParaRPr lang="zh-TW" altLang="en-US" sz="1100" dirty="0"/>
          </a:p>
        </p:txBody>
      </p:sp>
      <p:sp>
        <p:nvSpPr>
          <p:cNvPr id="26" name="組員提交 26"/>
          <p:cNvSpPr txBox="1"/>
          <p:nvPr/>
        </p:nvSpPr>
        <p:spPr>
          <a:xfrm>
            <a:off x="941832" y="487375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295</a:t>
            </a:r>
            <a:r>
              <a:rPr lang="zh-TW" altLang="en-US" sz="1150" b="1" dirty="0">
                <a:solidFill>
                  <a:srgbClr val="55636A"/>
                </a:solidFill>
              </a:rPr>
              <a:t> 次提交</a:t>
            </a:r>
            <a:endParaRPr lang="zh-TW" altLang="en-US" sz="1600" dirty="0"/>
          </a:p>
        </p:txBody>
      </p:sp>
      <p:sp>
        <p:nvSpPr>
          <p:cNvPr id="27" name="增刪行數 27"/>
          <p:cNvSpPr txBox="1"/>
          <p:nvPr/>
        </p:nvSpPr>
        <p:spPr>
          <a:xfrm>
            <a:off x="2055114" y="4892040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050" b="1" dirty="0">
                <a:solidFill>
                  <a:srgbClr val="2E7D4F"/>
                </a:solidFill>
                <a:latin typeface="Manrope"/>
                <a:ea typeface="Manrope"/>
                <a:cs typeface="Manrope"/>
              </a:rPr>
              <a:t>+566,786</a:t>
            </a:r>
            <a:r>
              <a:rPr lang="zh-TW" altLang="en-US" sz="1050" b="0" dirty="0">
                <a:solidFill>
                  <a:srgbClr val="7E8A90"/>
                </a:solidFill>
              </a:rPr>
              <a:t> 行</a:t>
            </a:r>
            <a:endParaRPr lang="zh-TW" altLang="en-US" sz="1050" dirty="0"/>
          </a:p>
          <a:p>
            <a:pPr algn="r">
              <a:buNone/>
            </a:pPr>
            <a:r>
              <a:rPr lang="zh-TW" altLang="en-US" sz="1050" b="1" dirty="0">
                <a:solidFill>
                  <a:srgbClr val="B4423E"/>
                </a:solidFill>
                <a:latin typeface="Manrope"/>
                <a:ea typeface="Manrope"/>
                <a:cs typeface="Manrope"/>
              </a:rPr>
              <a:t>−155,400</a:t>
            </a:r>
            <a:r>
              <a:rPr lang="zh-TW" altLang="en-US" sz="1050" b="0" dirty="0">
                <a:solidFill>
                  <a:srgbClr val="7E8A90"/>
                </a:solidFill>
              </a:rPr>
              <a:t> 行</a:t>
            </a:r>
            <a:endParaRPr lang="zh-TW" altLang="en-US" sz="1050" dirty="0"/>
          </a:p>
        </p:txBody>
      </p:sp>
      <p:pic>
        <p:nvPicPr>
          <p:cNvPr id="28" name="組員長條圖 28" descr="許凱俊 每週提交次數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281612"/>
            <a:ext cx="2256282" cy="689420"/>
          </a:xfrm>
          <a:prstGeom prst="rect">
            <a:avLst/>
          </a:prstGeom>
        </p:spPr>
      </p:pic>
      <p:sp>
        <p:nvSpPr>
          <p:cNvPr id="29" name="組員卡片 29"/>
          <p:cNvSpPr/>
          <p:nvPr/>
        </p:nvSpPr>
        <p:spPr>
          <a:xfrm>
            <a:off x="3472434" y="4142232"/>
            <a:ext cx="2530602" cy="1938528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30" name="組員頭像 30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314" y="4325112"/>
            <a:ext cx="475488" cy="475488"/>
          </a:xfrm>
          <a:prstGeom prst="rect">
            <a:avLst/>
          </a:prstGeom>
        </p:spPr>
      </p:pic>
      <p:sp>
        <p:nvSpPr>
          <p:cNvPr id="31" name="頭像框 31"/>
          <p:cNvSpPr/>
          <p:nvPr/>
        </p:nvSpPr>
        <p:spPr>
          <a:xfrm>
            <a:off x="3655314" y="4325112"/>
            <a:ext cx="475488" cy="475488"/>
          </a:xfrm>
          <a:prstGeom prst="ellipse">
            <a:avLst/>
          </a:prstGeom>
          <a:noFill/>
          <a:ln w="12700">
            <a:solidFill>
              <a:srgbClr val="D5DEE2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組員姓名 32"/>
          <p:cNvSpPr txBox="1"/>
          <p:nvPr/>
        </p:nvSpPr>
        <p:spPr>
          <a:xfrm>
            <a:off x="4258818" y="4297680"/>
            <a:ext cx="115900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陳秉鴻</a:t>
            </a:r>
            <a:endParaRPr lang="zh-TW" altLang="en-US" sz="1500" dirty="0"/>
          </a:p>
        </p:txBody>
      </p:sp>
      <p:sp>
        <p:nvSpPr>
          <p:cNvPr id="33" name="組員學號 33"/>
          <p:cNvSpPr txBox="1"/>
          <p:nvPr/>
        </p:nvSpPr>
        <p:spPr>
          <a:xfrm>
            <a:off x="4258818" y="4581144"/>
            <a:ext cx="115900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050" b="0" dirty="0">
                <a:solidFill>
                  <a:srgbClr val="7E8A90"/>
                </a:solidFill>
                <a:latin typeface="Manrope"/>
                <a:ea typeface="Manrope"/>
                <a:cs typeface="Manrope"/>
              </a:rPr>
              <a:t>11246065</a:t>
            </a:r>
            <a:endParaRPr lang="zh-TW" altLang="en-US" sz="1050" dirty="0"/>
          </a:p>
        </p:txBody>
      </p:sp>
      <p:sp>
        <p:nvSpPr>
          <p:cNvPr id="34" name="排名 34"/>
          <p:cNvSpPr/>
          <p:nvPr/>
        </p:nvSpPr>
        <p:spPr>
          <a:xfrm>
            <a:off x="5381244" y="4370832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100" b="1" dirty="0">
                <a:solidFill>
                  <a:srgbClr val="46555C"/>
                </a:solidFill>
                <a:latin typeface="Manrope"/>
                <a:ea typeface="Manrope"/>
                <a:cs typeface="Manrope"/>
              </a:rPr>
              <a:t>#2</a:t>
            </a:r>
            <a:endParaRPr lang="zh-TW" altLang="en-US" sz="1100" dirty="0"/>
          </a:p>
        </p:txBody>
      </p:sp>
      <p:sp>
        <p:nvSpPr>
          <p:cNvPr id="35" name="組員提交 35"/>
          <p:cNvSpPr txBox="1"/>
          <p:nvPr/>
        </p:nvSpPr>
        <p:spPr>
          <a:xfrm>
            <a:off x="3655314" y="487375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144</a:t>
            </a:r>
            <a:r>
              <a:rPr lang="zh-TW" altLang="en-US" sz="1150" b="1" dirty="0">
                <a:solidFill>
                  <a:srgbClr val="55636A"/>
                </a:solidFill>
              </a:rPr>
              <a:t> 次提交</a:t>
            </a:r>
            <a:endParaRPr lang="zh-TW" altLang="en-US" sz="1600" dirty="0"/>
          </a:p>
        </p:txBody>
      </p:sp>
      <p:sp>
        <p:nvSpPr>
          <p:cNvPr id="36" name="增刪行數 36"/>
          <p:cNvSpPr txBox="1"/>
          <p:nvPr/>
        </p:nvSpPr>
        <p:spPr>
          <a:xfrm>
            <a:off x="4768596" y="4892040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050" b="1" dirty="0">
                <a:solidFill>
                  <a:srgbClr val="2E7D4F"/>
                </a:solidFill>
                <a:latin typeface="Manrope"/>
                <a:ea typeface="Manrope"/>
                <a:cs typeface="Manrope"/>
              </a:rPr>
              <a:t>+302,626</a:t>
            </a:r>
            <a:r>
              <a:rPr lang="zh-TW" altLang="en-US" sz="1050" b="0" dirty="0">
                <a:solidFill>
                  <a:srgbClr val="7E8A90"/>
                </a:solidFill>
              </a:rPr>
              <a:t> 行</a:t>
            </a:r>
            <a:endParaRPr lang="zh-TW" altLang="en-US" sz="1050" dirty="0"/>
          </a:p>
          <a:p>
            <a:pPr algn="r">
              <a:buNone/>
            </a:pPr>
            <a:r>
              <a:rPr lang="zh-TW" altLang="en-US" sz="1050" b="1" dirty="0">
                <a:solidFill>
                  <a:srgbClr val="B4423E"/>
                </a:solidFill>
                <a:latin typeface="Manrope"/>
                <a:ea typeface="Manrope"/>
                <a:cs typeface="Manrope"/>
              </a:rPr>
              <a:t>−165,716</a:t>
            </a:r>
            <a:r>
              <a:rPr lang="zh-TW" altLang="en-US" sz="1050" b="0" dirty="0">
                <a:solidFill>
                  <a:srgbClr val="7E8A90"/>
                </a:solidFill>
              </a:rPr>
              <a:t> 行</a:t>
            </a:r>
            <a:endParaRPr lang="zh-TW" altLang="en-US" sz="1050" dirty="0"/>
          </a:p>
        </p:txBody>
      </p:sp>
      <p:pic>
        <p:nvPicPr>
          <p:cNvPr id="37" name="組員長條圖 37" descr="陳秉鴻 每週提交次數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594" y="5281612"/>
            <a:ext cx="2256282" cy="689420"/>
          </a:xfrm>
          <a:prstGeom prst="rect">
            <a:avLst/>
          </a:prstGeom>
        </p:spPr>
      </p:pic>
      <p:sp>
        <p:nvSpPr>
          <p:cNvPr id="38" name="組員卡片 38"/>
          <p:cNvSpPr/>
          <p:nvPr/>
        </p:nvSpPr>
        <p:spPr>
          <a:xfrm>
            <a:off x="6185916" y="4142232"/>
            <a:ext cx="2530602" cy="1938528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39" name="組員頭像 39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796" y="4325112"/>
            <a:ext cx="475488" cy="475488"/>
          </a:xfrm>
          <a:prstGeom prst="rect">
            <a:avLst/>
          </a:prstGeom>
        </p:spPr>
      </p:pic>
      <p:sp>
        <p:nvSpPr>
          <p:cNvPr id="40" name="頭像框 40"/>
          <p:cNvSpPr/>
          <p:nvPr/>
        </p:nvSpPr>
        <p:spPr>
          <a:xfrm>
            <a:off x="6368796" y="4325112"/>
            <a:ext cx="475488" cy="475488"/>
          </a:xfrm>
          <a:prstGeom prst="ellipse">
            <a:avLst/>
          </a:prstGeom>
          <a:noFill/>
          <a:ln w="12700">
            <a:solidFill>
              <a:srgbClr val="D5DEE2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41" name="組員姓名 41"/>
          <p:cNvSpPr txBox="1"/>
          <p:nvPr/>
        </p:nvSpPr>
        <p:spPr>
          <a:xfrm>
            <a:off x="6972300" y="4297680"/>
            <a:ext cx="115900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江芸萱</a:t>
            </a:r>
            <a:endParaRPr lang="zh-TW" altLang="en-US" sz="1500" dirty="0"/>
          </a:p>
        </p:txBody>
      </p:sp>
      <p:sp>
        <p:nvSpPr>
          <p:cNvPr id="42" name="組員學號 42"/>
          <p:cNvSpPr txBox="1"/>
          <p:nvPr/>
        </p:nvSpPr>
        <p:spPr>
          <a:xfrm>
            <a:off x="6972300" y="4581144"/>
            <a:ext cx="115900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050" b="0" dirty="0">
                <a:solidFill>
                  <a:srgbClr val="7E8A90"/>
                </a:solidFill>
                <a:latin typeface="Manrope"/>
                <a:ea typeface="Manrope"/>
                <a:cs typeface="Manrope"/>
              </a:rPr>
              <a:t>11246074</a:t>
            </a:r>
            <a:endParaRPr lang="zh-TW" altLang="en-US" sz="1050" dirty="0"/>
          </a:p>
        </p:txBody>
      </p:sp>
      <p:sp>
        <p:nvSpPr>
          <p:cNvPr id="43" name="排名 43"/>
          <p:cNvSpPr/>
          <p:nvPr/>
        </p:nvSpPr>
        <p:spPr>
          <a:xfrm>
            <a:off x="8094726" y="4370832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100" b="1" dirty="0">
                <a:solidFill>
                  <a:srgbClr val="46555C"/>
                </a:solidFill>
                <a:latin typeface="Manrope"/>
                <a:ea typeface="Manrope"/>
                <a:cs typeface="Manrope"/>
              </a:rPr>
              <a:t>#3</a:t>
            </a:r>
            <a:endParaRPr lang="zh-TW" altLang="en-US" sz="1100" dirty="0"/>
          </a:p>
        </p:txBody>
      </p:sp>
      <p:sp>
        <p:nvSpPr>
          <p:cNvPr id="44" name="組員提交 44"/>
          <p:cNvSpPr txBox="1"/>
          <p:nvPr/>
        </p:nvSpPr>
        <p:spPr>
          <a:xfrm>
            <a:off x="6368796" y="487375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61</a:t>
            </a:r>
            <a:r>
              <a:rPr lang="zh-TW" altLang="en-US" sz="1150" b="1" dirty="0">
                <a:solidFill>
                  <a:srgbClr val="55636A"/>
                </a:solidFill>
              </a:rPr>
              <a:t> 次提交</a:t>
            </a:r>
            <a:endParaRPr lang="zh-TW" altLang="en-US" sz="1600" dirty="0"/>
          </a:p>
        </p:txBody>
      </p:sp>
      <p:sp>
        <p:nvSpPr>
          <p:cNvPr id="45" name="增刪行數 45"/>
          <p:cNvSpPr txBox="1"/>
          <p:nvPr/>
        </p:nvSpPr>
        <p:spPr>
          <a:xfrm>
            <a:off x="7482078" y="4892040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050" b="1" dirty="0">
                <a:solidFill>
                  <a:srgbClr val="2E7D4F"/>
                </a:solidFill>
                <a:latin typeface="Manrope"/>
                <a:ea typeface="Manrope"/>
                <a:cs typeface="Manrope"/>
              </a:rPr>
              <a:t>+174,347</a:t>
            </a:r>
            <a:r>
              <a:rPr lang="zh-TW" altLang="en-US" sz="1050" b="0" dirty="0">
                <a:solidFill>
                  <a:srgbClr val="7E8A90"/>
                </a:solidFill>
              </a:rPr>
              <a:t> 行</a:t>
            </a:r>
            <a:endParaRPr lang="zh-TW" altLang="en-US" sz="1050" dirty="0"/>
          </a:p>
          <a:p>
            <a:pPr algn="r">
              <a:buNone/>
            </a:pPr>
            <a:r>
              <a:rPr lang="zh-TW" altLang="en-US" sz="1050" b="1" dirty="0">
                <a:solidFill>
                  <a:srgbClr val="B4423E"/>
                </a:solidFill>
                <a:latin typeface="Manrope"/>
                <a:ea typeface="Manrope"/>
                <a:cs typeface="Manrope"/>
              </a:rPr>
              <a:t>−37,689</a:t>
            </a:r>
            <a:r>
              <a:rPr lang="zh-TW" altLang="en-US" sz="1050" b="0" dirty="0">
                <a:solidFill>
                  <a:srgbClr val="7E8A90"/>
                </a:solidFill>
              </a:rPr>
              <a:t> 行</a:t>
            </a:r>
            <a:endParaRPr lang="zh-TW" altLang="en-US" sz="1050" dirty="0"/>
          </a:p>
        </p:txBody>
      </p:sp>
      <p:pic>
        <p:nvPicPr>
          <p:cNvPr id="46" name="組員長條圖 46" descr="江芸萱 每週提交次數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3076" y="5281612"/>
            <a:ext cx="2256282" cy="689420"/>
          </a:xfrm>
          <a:prstGeom prst="rect">
            <a:avLst/>
          </a:prstGeom>
        </p:spPr>
      </p:pic>
      <p:sp>
        <p:nvSpPr>
          <p:cNvPr id="47" name="組員卡片 47"/>
          <p:cNvSpPr/>
          <p:nvPr/>
        </p:nvSpPr>
        <p:spPr>
          <a:xfrm>
            <a:off x="8899398" y="4142232"/>
            <a:ext cx="2530602" cy="1938528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pic>
        <p:nvPicPr>
          <p:cNvPr id="48" name="組員頭像 48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2278" y="4325112"/>
            <a:ext cx="475488" cy="475488"/>
          </a:xfrm>
          <a:prstGeom prst="rect">
            <a:avLst/>
          </a:prstGeom>
        </p:spPr>
      </p:pic>
      <p:sp>
        <p:nvSpPr>
          <p:cNvPr id="49" name="頭像框 49"/>
          <p:cNvSpPr/>
          <p:nvPr/>
        </p:nvSpPr>
        <p:spPr>
          <a:xfrm>
            <a:off x="9082278" y="4325112"/>
            <a:ext cx="475488" cy="475488"/>
          </a:xfrm>
          <a:prstGeom prst="ellipse">
            <a:avLst/>
          </a:prstGeom>
          <a:noFill/>
          <a:ln w="12700">
            <a:solidFill>
              <a:srgbClr val="D5DEE2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50" name="組員姓名 50"/>
          <p:cNvSpPr txBox="1"/>
          <p:nvPr/>
        </p:nvSpPr>
        <p:spPr>
          <a:xfrm>
            <a:off x="9685782" y="4297680"/>
            <a:ext cx="115900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500" b="1" dirty="0">
                <a:solidFill>
                  <a:srgbClr val="1F2A30"/>
                </a:solidFill>
              </a:rPr>
              <a:t>連卉媗</a:t>
            </a:r>
            <a:endParaRPr lang="zh-TW" altLang="en-US" sz="1500" dirty="0"/>
          </a:p>
        </p:txBody>
      </p:sp>
      <p:sp>
        <p:nvSpPr>
          <p:cNvPr id="51" name="組員學號 51"/>
          <p:cNvSpPr txBox="1"/>
          <p:nvPr/>
        </p:nvSpPr>
        <p:spPr>
          <a:xfrm>
            <a:off x="9685782" y="4581144"/>
            <a:ext cx="115900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050" b="0" dirty="0">
                <a:solidFill>
                  <a:srgbClr val="7E8A90"/>
                </a:solidFill>
                <a:latin typeface="Manrope"/>
                <a:ea typeface="Manrope"/>
                <a:cs typeface="Manrope"/>
              </a:rPr>
              <a:t>11246072</a:t>
            </a:r>
            <a:endParaRPr lang="zh-TW" altLang="en-US" sz="1050" dirty="0"/>
          </a:p>
        </p:txBody>
      </p:sp>
      <p:sp>
        <p:nvSpPr>
          <p:cNvPr id="52" name="排名 52"/>
          <p:cNvSpPr/>
          <p:nvPr/>
        </p:nvSpPr>
        <p:spPr>
          <a:xfrm>
            <a:off x="10808208" y="4370832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E7ECE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zh-TW" altLang="en-US" sz="1100" b="1" dirty="0">
                <a:solidFill>
                  <a:srgbClr val="46555C"/>
                </a:solidFill>
                <a:latin typeface="Manrope"/>
                <a:ea typeface="Manrope"/>
                <a:cs typeface="Manrope"/>
              </a:rPr>
              <a:t>#4</a:t>
            </a:r>
            <a:endParaRPr lang="zh-TW" altLang="en-US" sz="1100" dirty="0"/>
          </a:p>
        </p:txBody>
      </p:sp>
      <p:sp>
        <p:nvSpPr>
          <p:cNvPr id="53" name="組員提交 53"/>
          <p:cNvSpPr txBox="1"/>
          <p:nvPr/>
        </p:nvSpPr>
        <p:spPr>
          <a:xfrm>
            <a:off x="9082278" y="487375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55</a:t>
            </a:r>
            <a:r>
              <a:rPr lang="zh-TW" altLang="en-US" sz="1150" b="1" dirty="0">
                <a:solidFill>
                  <a:srgbClr val="55636A"/>
                </a:solidFill>
              </a:rPr>
              <a:t> 次提交</a:t>
            </a:r>
            <a:endParaRPr lang="zh-TW" altLang="en-US" sz="1600" dirty="0"/>
          </a:p>
        </p:txBody>
      </p:sp>
      <p:sp>
        <p:nvSpPr>
          <p:cNvPr id="54" name="增刪行數 54"/>
          <p:cNvSpPr txBox="1"/>
          <p:nvPr/>
        </p:nvSpPr>
        <p:spPr>
          <a:xfrm>
            <a:off x="10195560" y="4892040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zh-TW" altLang="en-US" sz="1050" b="1" dirty="0">
                <a:solidFill>
                  <a:srgbClr val="2E7D4F"/>
                </a:solidFill>
                <a:latin typeface="Manrope"/>
                <a:ea typeface="Manrope"/>
                <a:cs typeface="Manrope"/>
              </a:rPr>
              <a:t>+115,368</a:t>
            </a:r>
            <a:r>
              <a:rPr lang="zh-TW" altLang="en-US" sz="1050" b="0" dirty="0">
                <a:solidFill>
                  <a:srgbClr val="7E8A90"/>
                </a:solidFill>
              </a:rPr>
              <a:t> 行</a:t>
            </a:r>
            <a:endParaRPr lang="zh-TW" altLang="en-US" sz="1050" dirty="0"/>
          </a:p>
          <a:p>
            <a:pPr algn="r">
              <a:buNone/>
            </a:pPr>
            <a:r>
              <a:rPr lang="zh-TW" altLang="en-US" sz="1050" b="1" dirty="0">
                <a:solidFill>
                  <a:srgbClr val="B4423E"/>
                </a:solidFill>
                <a:latin typeface="Manrope"/>
                <a:ea typeface="Manrope"/>
                <a:cs typeface="Manrope"/>
              </a:rPr>
              <a:t>−29,734</a:t>
            </a:r>
            <a:r>
              <a:rPr lang="zh-TW" altLang="en-US" sz="1050" b="0" dirty="0">
                <a:solidFill>
                  <a:srgbClr val="7E8A90"/>
                </a:solidFill>
              </a:rPr>
              <a:t> 行</a:t>
            </a:r>
            <a:endParaRPr lang="zh-TW" altLang="en-US" sz="1050" dirty="0"/>
          </a:p>
        </p:txBody>
      </p:sp>
      <p:pic>
        <p:nvPicPr>
          <p:cNvPr id="55" name="組員長條圖 55" descr="連卉媗 每週提交次數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36558" y="5281612"/>
            <a:ext cx="2256282" cy="689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13" grpId="0" animBg="1"/>
      <p:bldP spid="16" grpId="0" animBg="1"/>
      <p:bldP spid="17" grpId="0" animBg="1"/>
      <p:bldP spid="14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標題｜後續規劃"/>
          <p:cNvSpPr txBox="1"/>
          <p:nvPr/>
        </p:nvSpPr>
        <p:spPr>
          <a:xfrm>
            <a:off x="681228" y="523951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3600" b="1" spc="150" dirty="0">
                <a:solidFill>
                  <a:srgbClr val="1F2A30"/>
                </a:solidFill>
                <a:latin typeface="+mn-ea"/>
              </a:rPr>
              <a:t>後續規劃</a:t>
            </a:r>
            <a:endParaRPr lang="zh-TW" altLang="en-US" sz="3600" dirty="0"/>
          </a:p>
        </p:txBody>
      </p:sp>
      <p:sp>
        <p:nvSpPr>
          <p:cNvPr id="3" name="!!英文標籤｜ROADMAP"/>
          <p:cNvSpPr txBox="1"/>
          <p:nvPr/>
        </p:nvSpPr>
        <p:spPr>
          <a:xfrm>
            <a:off x="2668219" y="828446"/>
            <a:ext cx="88422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pPr algn="r">
              <a:buNone/>
            </a:pPr>
            <a:r>
              <a:rPr lang="zh-TW" altLang="en-US" sz="1400" b="0" spc="200" dirty="0">
                <a:solidFill>
                  <a:srgbClr val="7E8A90"/>
                </a:solidFill>
              </a:rPr>
              <a:t>ROADMAP</a:t>
            </a:r>
            <a:endParaRPr lang="zh-TW" altLang="en-US" sz="1400" dirty="0"/>
          </a:p>
        </p:txBody>
      </p:sp>
      <p:cxnSp>
        <p:nvCxnSpPr>
          <p:cNvPr id="4" name="!!分隔線"/>
          <p:cNvCxnSpPr/>
          <p:nvPr/>
        </p:nvCxnSpPr>
        <p:spPr>
          <a:xfrm>
            <a:off x="758952" y="1343254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頁碼 5"/>
          <p:cNvSpPr txBox="1"/>
          <p:nvPr/>
        </p:nvSpPr>
        <p:spPr>
          <a:xfrm>
            <a:off x="10879531" y="6213348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33</a:t>
            </a:fld>
            <a:endParaRPr lang="zh-TW" altLang="en-US" sz="1400" spc="200" dirty="0"/>
          </a:p>
        </p:txBody>
      </p:sp>
      <p:cxnSp>
        <p:nvCxnSpPr>
          <p:cNvPr id="6" name="規劃軸線 6"/>
          <p:cNvCxnSpPr/>
          <p:nvPr/>
        </p:nvCxnSpPr>
        <p:spPr>
          <a:xfrm>
            <a:off x="1993392" y="2331720"/>
            <a:ext cx="8202168" cy="0"/>
          </a:xfrm>
          <a:prstGeom prst="line">
            <a:avLst/>
          </a:prstGeom>
          <a:ln w="31750">
            <a:solidFill>
              <a:srgbClr val="CFD9DD"/>
            </a:solidFill>
          </a:ln>
        </p:spPr>
      </p:cxnSp>
      <p:sp>
        <p:nvSpPr>
          <p:cNvPr id="7" name="規劃圖示底 7"/>
          <p:cNvSpPr/>
          <p:nvPr/>
        </p:nvSpPr>
        <p:spPr>
          <a:xfrm>
            <a:off x="1581912" y="1920240"/>
            <a:ext cx="822960" cy="8229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8" name="規劃圖示 8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963" y="2101291"/>
            <a:ext cx="460858" cy="460858"/>
          </a:xfrm>
          <a:prstGeom prst="rect">
            <a:avLst/>
          </a:prstGeom>
        </p:spPr>
      </p:pic>
      <p:sp>
        <p:nvSpPr>
          <p:cNvPr id="9" name="規劃卡片 9"/>
          <p:cNvSpPr/>
          <p:nvPr/>
        </p:nvSpPr>
        <p:spPr>
          <a:xfrm>
            <a:off x="758952" y="306324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0" name="規劃編號 10"/>
          <p:cNvSpPr txBox="1"/>
          <p:nvPr/>
        </p:nvSpPr>
        <p:spPr>
          <a:xfrm>
            <a:off x="1014984" y="33009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200" b="1" spc="150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200" dirty="0"/>
          </a:p>
        </p:txBody>
      </p:sp>
      <p:sp>
        <p:nvSpPr>
          <p:cNvPr id="11" name="規劃項目 11"/>
          <p:cNvSpPr txBox="1"/>
          <p:nvPr/>
        </p:nvSpPr>
        <p:spPr>
          <a:xfrm>
            <a:off x="1014984" y="3611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900" b="1" dirty="0">
                <a:solidFill>
                  <a:srgbClr val="1F2A30"/>
                </a:solidFill>
              </a:rPr>
              <a:t>第三方支付</a:t>
            </a:r>
            <a:endParaRPr lang="zh-TW" altLang="en-US" sz="1900" dirty="0"/>
          </a:p>
        </p:txBody>
      </p:sp>
      <p:sp>
        <p:nvSpPr>
          <p:cNvPr id="12" name="規劃說明 12"/>
          <p:cNvSpPr txBox="1"/>
          <p:nvPr/>
        </p:nvSpPr>
        <p:spPr>
          <a:xfrm>
            <a:off x="1014984" y="4087368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串接合法金流，</a:t>
            </a:r>
            <a:br>
              <a:rPr lang="zh-TW" altLang="en-US" sz="1450" dirty="0"/>
            </a:br>
            <a:r>
              <a:rPr lang="zh-TW" altLang="en-US" sz="1450" b="0" dirty="0">
                <a:solidFill>
                  <a:srgbClr val="55636A"/>
                </a:solidFill>
              </a:rPr>
              <a:t>提供儲值與提領</a:t>
            </a:r>
            <a:endParaRPr lang="zh-TW" altLang="en-US" sz="1450" dirty="0"/>
          </a:p>
        </p:txBody>
      </p:sp>
      <p:sp>
        <p:nvSpPr>
          <p:cNvPr id="13" name="規劃圖示底 13"/>
          <p:cNvSpPr/>
          <p:nvPr/>
        </p:nvSpPr>
        <p:spPr>
          <a:xfrm>
            <a:off x="4315968" y="1920240"/>
            <a:ext cx="822960" cy="8229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14" name="規劃圖示 14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019" y="2101291"/>
            <a:ext cx="460858" cy="460858"/>
          </a:xfrm>
          <a:prstGeom prst="rect">
            <a:avLst/>
          </a:prstGeom>
        </p:spPr>
      </p:pic>
      <p:sp>
        <p:nvSpPr>
          <p:cNvPr id="15" name="規劃卡片 15"/>
          <p:cNvSpPr/>
          <p:nvPr/>
        </p:nvSpPr>
        <p:spPr>
          <a:xfrm>
            <a:off x="3493008" y="306324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16" name="規劃編號 16"/>
          <p:cNvSpPr txBox="1"/>
          <p:nvPr/>
        </p:nvSpPr>
        <p:spPr>
          <a:xfrm>
            <a:off x="3749040" y="33009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200" b="1" spc="150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200" dirty="0"/>
          </a:p>
        </p:txBody>
      </p:sp>
      <p:sp>
        <p:nvSpPr>
          <p:cNvPr id="17" name="規劃項目 17"/>
          <p:cNvSpPr txBox="1"/>
          <p:nvPr/>
        </p:nvSpPr>
        <p:spPr>
          <a:xfrm>
            <a:off x="3749040" y="3611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900" b="1" dirty="0">
                <a:solidFill>
                  <a:srgbClr val="1F2A30"/>
                </a:solidFill>
              </a:rPr>
              <a:t>App 正式上架</a:t>
            </a:r>
            <a:endParaRPr lang="zh-TW" altLang="en-US" sz="1900" dirty="0"/>
          </a:p>
        </p:txBody>
      </p:sp>
      <p:sp>
        <p:nvSpPr>
          <p:cNvPr id="18" name="規劃說明 18"/>
          <p:cNvSpPr txBox="1"/>
          <p:nvPr/>
        </p:nvSpPr>
        <p:spPr>
          <a:xfrm>
            <a:off x="3749040" y="4087368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上架 App Store</a:t>
            </a:r>
            <a:br>
              <a:rPr lang="zh-TW" altLang="en-US" sz="1450" dirty="0"/>
            </a:br>
            <a:r>
              <a:rPr lang="zh-TW" altLang="en-US" sz="1450" b="0" dirty="0">
                <a:solidFill>
                  <a:srgbClr val="55636A"/>
                </a:solidFill>
              </a:rPr>
              <a:t>與 Google Play</a:t>
            </a:r>
            <a:endParaRPr lang="zh-TW" altLang="en-US" sz="1450" dirty="0"/>
          </a:p>
        </p:txBody>
      </p:sp>
      <p:sp>
        <p:nvSpPr>
          <p:cNvPr id="19" name="規劃圖示底 19"/>
          <p:cNvSpPr/>
          <p:nvPr/>
        </p:nvSpPr>
        <p:spPr>
          <a:xfrm>
            <a:off x="7050024" y="1920240"/>
            <a:ext cx="822960" cy="8229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0" name="規劃圖示 20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075" y="2101291"/>
            <a:ext cx="460858" cy="460858"/>
          </a:xfrm>
          <a:prstGeom prst="rect">
            <a:avLst/>
          </a:prstGeom>
        </p:spPr>
      </p:pic>
      <p:sp>
        <p:nvSpPr>
          <p:cNvPr id="21" name="規劃卡片 21"/>
          <p:cNvSpPr/>
          <p:nvPr/>
        </p:nvSpPr>
        <p:spPr>
          <a:xfrm>
            <a:off x="6227064" y="306324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2" name="規劃編號 22"/>
          <p:cNvSpPr txBox="1"/>
          <p:nvPr/>
        </p:nvSpPr>
        <p:spPr>
          <a:xfrm>
            <a:off x="6483096" y="33009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200" b="1" spc="150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200" dirty="0"/>
          </a:p>
        </p:txBody>
      </p:sp>
      <p:sp>
        <p:nvSpPr>
          <p:cNvPr id="23" name="規劃項目 23"/>
          <p:cNvSpPr txBox="1"/>
          <p:nvPr/>
        </p:nvSpPr>
        <p:spPr>
          <a:xfrm>
            <a:off x="6483096" y="3611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900" b="1" dirty="0">
                <a:solidFill>
                  <a:srgbClr val="1F2A30"/>
                </a:solidFill>
              </a:rPr>
              <a:t>場域擴充</a:t>
            </a:r>
            <a:endParaRPr lang="zh-TW" altLang="en-US" sz="1900" dirty="0"/>
          </a:p>
        </p:txBody>
      </p:sp>
      <p:sp>
        <p:nvSpPr>
          <p:cNvPr id="24" name="規劃說明 24"/>
          <p:cNvSpPr txBox="1"/>
          <p:nvPr/>
        </p:nvSpPr>
        <p:spPr>
          <a:xfrm>
            <a:off x="6483096" y="4087368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拓展至更多校園</a:t>
            </a:r>
            <a:br>
              <a:rPr lang="zh-TW" altLang="en-US" sz="1450" dirty="0"/>
            </a:br>
            <a:r>
              <a:rPr lang="zh-TW" altLang="en-US" sz="1450" b="0" dirty="0">
                <a:solidFill>
                  <a:srgbClr val="55636A"/>
                </a:solidFill>
              </a:rPr>
              <a:t>與公共場域</a:t>
            </a:r>
            <a:endParaRPr lang="zh-TW" altLang="en-US" sz="1450" dirty="0"/>
          </a:p>
          <a:p>
            <a:pPr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zh-TW" altLang="en-US" sz="1250" b="0" dirty="0">
                <a:solidFill>
                  <a:srgbClr val="7E8A90"/>
                </a:solidFill>
              </a:rPr>
              <a:t>以 </a:t>
            </a:r>
            <a:r>
              <a:rPr lang="zh-TW" altLang="en-US" sz="1250" b="1" dirty="0">
                <a:solidFill>
                  <a:srgbClr val="B48A4A"/>
                </a:solidFill>
                <a:latin typeface="Manrope"/>
                <a:ea typeface="Manrope"/>
                <a:cs typeface="Manrope"/>
              </a:rPr>
              <a:t>10%</a:t>
            </a:r>
            <a:r>
              <a:rPr lang="zh-TW" altLang="en-US" sz="1250" b="0" dirty="0">
                <a:solidFill>
                  <a:srgbClr val="7E8A90"/>
                </a:solidFill>
              </a:rPr>
              <a:t> 交易手續費</a:t>
            </a:r>
            <a:endParaRPr lang="zh-TW" altLang="en-US" sz="1250" dirty="0"/>
          </a:p>
          <a:p>
            <a:pPr algn="l">
              <a:lnSpc>
                <a:spcPct val="120000"/>
              </a:lnSpc>
              <a:buNone/>
            </a:pPr>
            <a:r>
              <a:rPr lang="zh-TW" altLang="en-US" sz="1250" b="0" dirty="0">
                <a:solidFill>
                  <a:srgbClr val="7E8A90"/>
                </a:solidFill>
              </a:rPr>
              <a:t>作為收益試算假設</a:t>
            </a:r>
            <a:endParaRPr lang="zh-TW" altLang="en-US" sz="1250" dirty="0"/>
          </a:p>
        </p:txBody>
      </p:sp>
      <p:sp>
        <p:nvSpPr>
          <p:cNvPr id="25" name="規劃圖示底 25"/>
          <p:cNvSpPr/>
          <p:nvPr/>
        </p:nvSpPr>
        <p:spPr>
          <a:xfrm>
            <a:off x="9784080" y="1920240"/>
            <a:ext cx="822960" cy="822960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pic>
        <p:nvPicPr>
          <p:cNvPr id="26" name="規劃圖示 26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5131" y="2101291"/>
            <a:ext cx="460858" cy="460858"/>
          </a:xfrm>
          <a:prstGeom prst="rect">
            <a:avLst/>
          </a:prstGeom>
        </p:spPr>
      </p:pic>
      <p:sp>
        <p:nvSpPr>
          <p:cNvPr id="27" name="規劃卡片 27"/>
          <p:cNvSpPr/>
          <p:nvPr/>
        </p:nvSpPr>
        <p:spPr>
          <a:xfrm>
            <a:off x="8961120" y="306324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>
            <a:noFill/>
          </a:ln>
          <a:effectLst>
            <a:outerShdw blurRad="342900" dist="57150" dir="5400000" algn="t" rotWithShape="0">
              <a:srgbClr val="1F2A30">
                <a:alpha val="9000"/>
              </a:srgbClr>
            </a:outerShdw>
          </a:effectLst>
        </p:spPr>
        <p:txBody>
          <a:bodyPr rtlCol="0" anchor="ctr"/>
          <a:lstStyle/>
          <a:p>
            <a:endParaRPr lang="zh-TW"/>
          </a:p>
        </p:txBody>
      </p:sp>
      <p:sp>
        <p:nvSpPr>
          <p:cNvPr id="28" name="規劃編號 28"/>
          <p:cNvSpPr txBox="1"/>
          <p:nvPr/>
        </p:nvSpPr>
        <p:spPr>
          <a:xfrm>
            <a:off x="9217152" y="33009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200" b="1" spc="150" dirty="0">
                <a:solidFill>
                  <a:srgbClr val="8AA1AC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200" dirty="0"/>
          </a:p>
        </p:txBody>
      </p:sp>
      <p:sp>
        <p:nvSpPr>
          <p:cNvPr id="29" name="規劃項目 29"/>
          <p:cNvSpPr txBox="1"/>
          <p:nvPr/>
        </p:nvSpPr>
        <p:spPr>
          <a:xfrm>
            <a:off x="9217152" y="3611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zh-TW" altLang="en-US" sz="1900" b="1" dirty="0">
                <a:solidFill>
                  <a:srgbClr val="1F2A30"/>
                </a:solidFill>
              </a:rPr>
              <a:t>應用延伸</a:t>
            </a:r>
            <a:endParaRPr lang="zh-TW" altLang="en-US" sz="1900" dirty="0"/>
          </a:p>
        </p:txBody>
      </p:sp>
      <p:sp>
        <p:nvSpPr>
          <p:cNvPr id="30" name="規劃說明 30"/>
          <p:cNvSpPr txBox="1"/>
          <p:nvPr/>
        </p:nvSpPr>
        <p:spPr>
          <a:xfrm>
            <a:off x="9217152" y="4087368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TW" altLang="en-US" sz="1450" b="0" dirty="0">
                <a:solidFill>
                  <a:srgbClr val="55636A"/>
                </a:solidFill>
              </a:rPr>
              <a:t>由二手書延伸至</a:t>
            </a:r>
            <a:br>
              <a:rPr lang="zh-TW" altLang="en-US" sz="1450" dirty="0"/>
            </a:br>
            <a:r>
              <a:rPr lang="zh-TW" altLang="en-US" sz="1450" b="0" dirty="0">
                <a:solidFill>
                  <a:srgbClr val="55636A"/>
                </a:solidFill>
              </a:rPr>
              <a:t>其他二手物品</a:t>
            </a:r>
            <a:endParaRPr lang="zh-TW" alt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29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29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459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459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459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459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529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529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8DC7-E360-91C6-DD7D-269B32FE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8">
            <a:extLst>
              <a:ext uri="{FF2B5EF4-FFF2-40B4-BE49-F238E27FC236}">
                <a16:creationId xmlns:a16="http://schemas.microsoft.com/office/drawing/2014/main" id="{663D3380-3B68-2991-FECC-EDCFEAC9FBD4}"/>
              </a:ext>
            </a:extLst>
          </p:cNvPr>
          <p:cNvSpPr/>
          <p:nvPr/>
        </p:nvSpPr>
        <p:spPr>
          <a:xfrm>
            <a:off x="3134678" y="0"/>
            <a:ext cx="5922645" cy="3200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963AF71F-6ED2-7CCD-1715-A85D69909E94}"/>
              </a:ext>
            </a:extLst>
          </p:cNvPr>
          <p:cNvSpPr/>
          <p:nvPr/>
        </p:nvSpPr>
        <p:spPr>
          <a:xfrm>
            <a:off x="-1047666" y="-925805"/>
            <a:ext cx="2493008" cy="2493006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633360C0-B41F-147E-9EE9-5A6EF7537B6D}"/>
              </a:ext>
            </a:extLst>
          </p:cNvPr>
          <p:cNvSpPr/>
          <p:nvPr/>
        </p:nvSpPr>
        <p:spPr>
          <a:xfrm>
            <a:off x="6698064" y="-2017352"/>
            <a:ext cx="3278956" cy="3278954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05ABAA79-9A86-56CB-C5FF-5BC890095B2D}"/>
              </a:ext>
            </a:extLst>
          </p:cNvPr>
          <p:cNvSpPr/>
          <p:nvPr/>
        </p:nvSpPr>
        <p:spPr>
          <a:xfrm>
            <a:off x="10058483" y="3728128"/>
            <a:ext cx="4871045" cy="4871042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F5C2317-19C2-95FB-07C2-014365E5BE50}"/>
              </a:ext>
            </a:extLst>
          </p:cNvPr>
          <p:cNvSpPr txBox="1"/>
          <p:nvPr/>
        </p:nvSpPr>
        <p:spPr>
          <a:xfrm>
            <a:off x="4233954" y="2490014"/>
            <a:ext cx="372409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6600" b="1" kern="0" spc="300" dirty="0">
                <a:solidFill>
                  <a:schemeClr val="tx2"/>
                </a:solidFill>
                <a:latin typeface="+mj-ea"/>
                <a:ea typeface="+mj-ea"/>
              </a:rPr>
              <a:t>感謝聆聽</a:t>
            </a:r>
            <a:endParaRPr kumimoji="0" lang="id-ID" sz="6600" b="1" i="0" u="none" strike="noStrike" kern="0" cap="none" spc="3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166AC6F-9EF8-C51B-5E87-353065D072A4}"/>
              </a:ext>
            </a:extLst>
          </p:cNvPr>
          <p:cNvSpPr txBox="1"/>
          <p:nvPr/>
        </p:nvSpPr>
        <p:spPr>
          <a:xfrm>
            <a:off x="4522492" y="3598546"/>
            <a:ext cx="31470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4400" b="1" spc="150" dirty="0">
                <a:solidFill>
                  <a:schemeClr val="accent1"/>
                </a:solidFill>
                <a:ea typeface="+mj-ea"/>
              </a:rPr>
              <a:t>Thank You</a:t>
            </a:r>
            <a:endParaRPr lang="id-ID" sz="4400" b="1" spc="150" dirty="0">
              <a:solidFill>
                <a:schemeClr val="accent1"/>
              </a:solidFill>
              <a:ea typeface="+mj-ea"/>
            </a:endParaRPr>
          </a:p>
        </p:txBody>
      </p:sp>
      <p:sp useBgFill="1">
        <p:nvSpPr>
          <p:cNvPr id="5" name="Rectangle 10">
            <a:extLst>
              <a:ext uri="{FF2B5EF4-FFF2-40B4-BE49-F238E27FC236}">
                <a16:creationId xmlns:a16="http://schemas.microsoft.com/office/drawing/2014/main" id="{937AFA16-0C0B-EA77-3D5B-5E45DA6F1692}"/>
              </a:ext>
            </a:extLst>
          </p:cNvPr>
          <p:cNvSpPr/>
          <p:nvPr/>
        </p:nvSpPr>
        <p:spPr>
          <a:xfrm>
            <a:off x="3034604" y="3579046"/>
            <a:ext cx="6240780" cy="3278954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E94B765B-7FA4-1C5D-CF06-9B1FB4BA442B}"/>
              </a:ext>
            </a:extLst>
          </p:cNvPr>
          <p:cNvSpPr/>
          <p:nvPr/>
        </p:nvSpPr>
        <p:spPr>
          <a:xfrm>
            <a:off x="-1523915" y="5036845"/>
            <a:ext cx="3352716" cy="3352713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716784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accel="100000" fill="hold" grpId="1" nodeType="withEffect" p14:presetBounceEnd="98000">
                                      <p:stCondLst>
                                        <p:cond delay="25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accel="7000" decel="93000" fill="hold" grpId="2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4.16667E-6 3.7037E-6 L -0.5651 3.7037E-6 " pathEditMode="relative" rAng="0" ptsTypes="AA">
                                          <p:cBhvr>
                                            <p:cTn id="12" dur="5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25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ccel="100000" fill="hold" grpId="1" nodeType="withEffect" p14:presetBounceEnd="98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18" dur="1000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1.85185E-6 L 0.00247 0.69606 " pathEditMode="relative" rAng="0" ptsTypes="AA">
                                          <p:cBhvr>
                                            <p:cTn id="20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7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ccel="100000" fill="hold" grpId="1" nodeType="withEffect" p14:presetBounceEnd="98000">
                                      <p:stCondLst>
                                        <p:cond delay="75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26" dur="1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4.16667E-7 -2.22222E-6 L 4.16667E-7 -0.79583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9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6" presetClass="emph" presetSubtype="0" accel="100000" fill="hold" grpId="1" nodeType="withEffect" p14:presetBounceEnd="98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34" dur="1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73472E-18 3.7037E-6 L 0.84609 3.7037E-6 " pathEditMode="relative" rAng="0" ptsTypes="AA">
                                          <p:cBhvr>
                                            <p:cTn id="36" dur="5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230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decel="10000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xit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42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decel="10000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8" grpId="0" animBg="1"/>
          <p:bldP spid="8" grpId="1" animBg="1"/>
          <p:bldP spid="8" grpId="2" animBg="1"/>
          <p:bldP spid="9" grpId="0" animBg="1"/>
          <p:bldP spid="9" grpId="1" animBg="1"/>
          <p:bldP spid="9" grpId="2" animBg="1"/>
          <p:bldP spid="4" grpId="0"/>
          <p:bldP spid="2" grpId="0"/>
          <p:bldP spid="5" grpId="0" animBg="1"/>
          <p:bldP spid="7" grpId="0" animBg="1"/>
          <p:bldP spid="7" grpId="1" animBg="1"/>
          <p:bldP spid="7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accel="10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Scale>
                                          <p:cBhvr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accel="7000" decel="93000" fill="hold" grpId="2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4.16667E-6 3.7037E-6 L -0.5651 3.7037E-6 " pathEditMode="relative" rAng="0" ptsTypes="AA">
                                          <p:cBhvr>
                                            <p:cTn id="12" dur="5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25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ccel="10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1000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1.85185E-6 L 0.00247 0.69606 " pathEditMode="relative" rAng="0" ptsTypes="AA">
                                          <p:cBhvr>
                                            <p:cTn id="20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7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ccel="10000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1000" fill="hold"/>
                                            <p:tgtEl>
                                              <p:spTgt spid="1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2.91667E-6 -4.07407E-6 L 0.11432 0.00232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716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6" presetClass="emph" presetSubtype="0" accel="10000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34" dur="1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4.16667E-7 -2.22222E-6 L 4.16667E-7 -0.79583 " pathEditMode="relative" rAng="0" ptsTypes="AA">
                                          <p:cBhvr>
                                            <p:cTn id="36" dur="5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9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6" presetClass="emph" presetSubtype="0" accel="10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42" dur="1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3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73472E-18 3.7037E-6 L 0.84609 3.7037E-6 " pathEditMode="relative" rAng="0" ptsTypes="AA">
                                          <p:cBhvr>
                                            <p:cTn id="44" dur="5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230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decel="10000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xit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50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decel="10000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8" grpId="0" animBg="1"/>
          <p:bldP spid="8" grpId="1" animBg="1"/>
          <p:bldP spid="8" grpId="2" animBg="1"/>
          <p:bldP spid="9" grpId="0" animBg="1"/>
          <p:bldP spid="9" grpId="1" animBg="1"/>
          <p:bldP spid="9" grpId="2" animBg="1"/>
          <p:bldP spid="10" grpId="0" animBg="1"/>
          <p:bldP spid="10" grpId="1" animBg="1"/>
          <p:bldP spid="10" grpId="2" animBg="1"/>
          <p:bldP spid="4" grpId="0"/>
          <p:bldP spid="2" grpId="0"/>
          <p:bldP spid="5" grpId="0" animBg="1"/>
          <p:bldP spid="7" grpId="0" animBg="1"/>
          <p:bldP spid="7" grpId="1" animBg="1"/>
          <p:bldP spid="7" grpId="2" animBg="1"/>
        </p:bldLst>
      </p:timing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8500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Q&amp;A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評審問答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6000000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敬請評審老師指教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theme/theme1.xml><?xml version="1.0" encoding="utf-8"?>
<a:theme xmlns:a="http://schemas.openxmlformats.org/drawingml/2006/main" name="Office 佈景主題">
  <a:themeElements>
    <a:clrScheme name="NTUB Project">
      <a:dk1>
        <a:srgbClr val="1F2A30"/>
      </a:dk1>
      <a:lt1>
        <a:srgbClr val="FFFFFF"/>
      </a:lt1>
      <a:dk2>
        <a:srgbClr val="3F5560"/>
      </a:dk2>
      <a:lt2>
        <a:srgbClr val="E7ECEE"/>
      </a:lt2>
      <a:accent1>
        <a:srgbClr val="607D8B"/>
      </a:accent1>
      <a:accent2>
        <a:srgbClr val="8AA1AC"/>
      </a:accent2>
      <a:accent3>
        <a:srgbClr val="CFD9DD"/>
      </a:accent3>
      <a:accent4>
        <a:srgbClr val="B48A4A"/>
      </a:accent4>
      <a:accent5>
        <a:srgbClr val="7E8A90"/>
      </a:accent5>
      <a:accent6>
        <a:srgbClr val="46555C"/>
      </a:accent6>
      <a:hlink>
        <a:srgbClr val="3F7A92"/>
      </a:hlink>
      <a:folHlink>
        <a:srgbClr val="6E5A8A"/>
      </a:folHlink>
    </a:clrScheme>
    <a:fontScheme name="自訂 15">
      <a:majorFont>
        <a:latin typeface="Manrope"/>
        <a:ea typeface="Noto Sans TC"/>
        <a:cs typeface=""/>
      </a:majorFont>
      <a:minorFont>
        <a:latin typeface="Manrope"/>
        <a:ea typeface="Noto Sans T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3776</TotalTime>
  <Words>1256</Words>
  <Application>Microsoft Office PowerPoint</Application>
  <PresentationFormat>寬螢幕</PresentationFormat>
  <Paragraphs>446</Paragraphs>
  <Slides>35</Slides>
  <Notes>35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四技第115414組-救「舊」我的書</dc:title>
  <dc:creator>11246065_陳秉鴻</dc:creator>
  <cp:lastModifiedBy>11246065_陳秉鴻</cp:lastModifiedBy>
  <cp:revision>79</cp:revision>
  <dcterms:created xsi:type="dcterms:W3CDTF">2026-05-19T08:20:24Z</dcterms:created>
  <dcterms:modified xsi:type="dcterms:W3CDTF">2026-06-11T15:32:48Z</dcterms:modified>
</cp:coreProperties>
</file>