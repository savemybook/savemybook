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90" r:id="rId6"/>
    <p:sldId id="260" r:id="rId7"/>
    <p:sldId id="289" r:id="rId8"/>
    <p:sldId id="261" r:id="rId9"/>
    <p:sldId id="262" r:id="rId10"/>
    <p:sldId id="292" r:id="rId11"/>
    <p:sldId id="263" r:id="rId12"/>
    <p:sldId id="264" r:id="rId13"/>
    <p:sldId id="291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9" r:id="rId27"/>
    <p:sldId id="277" r:id="rId28"/>
    <p:sldId id="278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93" r:id="rId3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85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第1頁｜救「舊」我的書</a:t>
            </a:r>
          </a:p>
          <a:p>
            <a:r>
              <a:t>預估10秒｜累積0:10</a:t>
            </a:r>
          </a:p>
          <a:p>
            <a:endParaRPr/>
          </a:p>
          <a:p>
            <a:r>
              <a:t>建議講稿</a:t>
            </a:r>
          </a:p>
          <a:p>
            <a:r>
              <a:t>各位評審老師好，我們是四技第115414組。救「舊」我的書結合AI、App與智慧書櫃，今天將以一筆完整的二手書交易，展示初評後的改善成果。</a:t>
            </a:r>
          </a:p>
          <a:p>
            <a:endParaRPr/>
          </a:p>
          <a:p>
            <a:r>
              <a:t>Demo操作</a:t>
            </a:r>
          </a:p>
          <a:p>
            <a:r>
              <a:t>無。依簡報說明。</a:t>
            </a:r>
          </a:p>
          <a:p>
            <a:endParaRPr/>
          </a:p>
          <a:p>
            <a:r>
              <a:t>換手機畫面</a:t>
            </a:r>
          </a:p>
          <a:p>
            <a:r>
              <a:t>不需換手機畫面。</a:t>
            </a:r>
          </a:p>
          <a:p>
            <a:endParaRPr/>
          </a:p>
          <a:p>
            <a:r>
              <a:t>智慧書櫃操作</a:t>
            </a:r>
          </a:p>
          <a:p>
            <a:r>
              <a:t>無。</a:t>
            </a:r>
          </a:p>
          <a:p>
            <a:endParaRPr/>
          </a:p>
          <a:p>
            <a:r>
              <a:t>依據</a:t>
            </a:r>
          </a:p>
          <a:p>
            <a:r>
              <a:t>初評簡報封面；README.md</a:t>
            </a:r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第2頁｜報告架構</a:t>
            </a:r>
          </a:p>
          <a:p>
            <a:r>
              <a:t>預估10秒｜累積0:20</a:t>
            </a:r>
          </a:p>
          <a:p>
            <a:endParaRPr/>
          </a:p>
          <a:p>
            <a:r>
              <a:t>建議講稿</a:t>
            </a:r>
          </a:p>
          <a:p>
            <a:r>
              <a:t>報告分成五個章節，先說明初評改善與系統設計，再以完整交易Demo為核心，最後呈現驗證、場域可行性及後續規劃。</a:t>
            </a:r>
          </a:p>
          <a:p>
            <a:endParaRPr/>
          </a:p>
          <a:p>
            <a:r>
              <a:t>Demo操作</a:t>
            </a:r>
          </a:p>
          <a:p>
            <a:r>
              <a:t>無。依簡報說明。</a:t>
            </a:r>
          </a:p>
          <a:p>
            <a:endParaRPr/>
          </a:p>
          <a:p>
            <a:r>
              <a:t>換手機畫面</a:t>
            </a:r>
          </a:p>
          <a:p>
            <a:r>
              <a:t>不需換手機畫面。</a:t>
            </a:r>
          </a:p>
          <a:p>
            <a:endParaRPr/>
          </a:p>
          <a:p>
            <a:r>
              <a:t>智慧書櫃操作</a:t>
            </a:r>
          </a:p>
          <a:p>
            <a:r>
              <a:t>無。</a:t>
            </a:r>
          </a:p>
          <a:p>
            <a:endParaRPr/>
          </a:p>
          <a:p>
            <a:r>
              <a:t>依據</a:t>
            </a:r>
          </a:p>
          <a:p>
            <a:r>
              <a:t>本次使用者指定架構</a:t>
            </a:r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第3頁｜初評建議與改善成果：交易與 AI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預估40秒｜累積1:00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建議講稿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初評提出的第一類問題是書況與合理定價，我們把AI直接整合進上架流程，提供判斷理由與售價參考，由賣家確認。第二類是付款不完整，目前已完成站內代幣扣款、暫管、撥款與退款。第三類是交易風險，補強取書後24小時爭議、證據上傳與聊天防詐。這些改善會在後面的交易Demo逐一展示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Demo操作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無。依簡報說明。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換手機畫面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不需換手機畫面。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智慧書櫃操作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依據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初評評審建議事項與修正情形.docx 第1、7、10項；複評手冊§2-5、§5-1；第12章§12-3、12-5、12-6、12-9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724F1-55E1-F85D-8C7B-ECBF6352B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3F006-C394-333C-CCE9-138D94481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F8993-DE18-FFE9-F110-6198A5E7F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第3頁｜初評建議與改善成果：交易與 AI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預估40秒｜累積1:00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建議講稿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初評提出的第一類問題是書況與合理定價，我們把AI直接整合進上架流程，提供判斷理由與售價參考，由賣家確認。第二類是付款不完整，目前已完成站內代幣扣款、暫管、撥款與退款。第三類是交易風險，補強取書後24小時爭議、證據上傳與聊天防詐。這些改善會在後面的交易Demo逐一展示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Demo操作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無。依簡報說明。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換手機畫面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不需換手機畫面。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智慧書櫃操作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依據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初評評審建議事項與修正情形.docx 第1、7、10項；複評手冊§2-5、§5-1；第12章§12-3、12-5、12-6、12-9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1A78B-A058-425F-F133-7166C6E1C93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209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第4頁｜初評建議與改善成果：交付與場域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預估30秒｜累積1:30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建議講稿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另外三類是實體交付、設備維運與場域。開櫃加入動態QR Code、定位與數字確認，關門後才更新資料。硬體改為ESP32-S3控制電磁鎖，後台可配對裝置與處理故障。競品分析已補入讀冊，定位聚焦校園就近自助交付。需特別區分：開櫃驗證不等於自動辨識櫃內實物，仍靠買家驗收與管理員處理；校園合作也不能寫成已完成試營運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Demo操作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無。依簡報說明。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換手機畫面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不需換手機畫面。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智慧書櫃操作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依據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初評評審建議事項與修正情形.docx 第2–6、8–9、11–13項；複評手冊§1-2、§2-7；savemybook_firmware/README.md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BF575-09CF-23E6-B73E-ACF67E59D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2C066-5BE8-9736-A7E2-0B3C374C6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401EF-64DA-13BF-FB02-022D58813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第4頁｜初評建議與改善成果：交付與場域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預估30秒｜累積1:30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建議講稿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另外三類是實體交付、設備維運與場域。開櫃加入動態QR Code、定位與數字確認，關門後才更新資料。硬體改為ESP32-S3控制電磁鎖，後台可配對裝置與處理故障。競品分析已補入讀冊，定位聚焦校園就近自助交付。需特別區分：開櫃驗證不等於自動辨識櫃內實物，仍靠買家驗收與管理員處理；校園合作也不能寫成已完成試營運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Demo操作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無。依簡報說明。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換手機畫面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不需換手機畫面。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智慧書櫃操作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依據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初評評審建議事項與修正情形.docx 第2–6、8–9、11–13項；複評手冊§1-2、§2-7；savemybook_firmware/README.md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C5027-69C3-38F7-0995-364AA630351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2458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第5頁｜專題背景與核心需求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預估40秒｜累積2:10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建議講稿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我們以498份有效問卷作為需求依據。35%的受訪者想清出空間，卻覺得處理麻煩；在寄送痛點題中，57.9%反映自行包裝與跑超商的不便；51.4%偏好實體儲物櫃方案。因此系統聚焦降低上架門檻，並讓買賣雙方在場域營業時間內各自存取，不必約同一個面交時間。這些是問卷需求，並非正式上線後的成效數字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Demo操作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無。依簡報說明。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換手機畫面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不需換手機畫面。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智慧書櫃操作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依據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複評手冊§1-2：498份有效問卷；圖1-2-4、1-2-6、1-2-7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C9D45-828B-0534-2F01-B51F04D58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4336CA-22AD-2B08-A583-48D56C85E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1CDE9D-0957-346C-E8A4-81965C475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第5頁｜專題背景與核心需求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預估40秒｜累積2:10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建議講稿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我們以498份有效問卷作為需求依據。35%的受訪者想清出空間，卻覺得處理麻煩；在寄送痛點題中，57.9%反映自行包裝與跑超商的不便；51.4%偏好實體儲物櫃方案。因此系統聚焦降低上架門檻，並讓買賣雙方在場域營業時間內各自存取，不必約同一個面交時間。這些是問卷需求，並非正式上線後的成效數字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Demo操作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無。依簡報說明。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換手機畫面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不需換手機畫面。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智慧書櫃操作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依據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複評手冊§1-2：498份有效問卷；圖1-2-4、1-2-6、1-2-7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03EDB-4A04-1C6A-76AB-CADA24F3734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75708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第6頁｜系統整體架構與複評演進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預估50秒｜累積3:00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建議講稿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使用者透過Flutter App操作，REST API交由Express後端處理，透過Prisma存取MariaDB。ESP32-S3以HTTPS連到裝置API，接收開鎖指令並回報櫃門事件，資料庫不直接控制硬體。AI服務提供上架、顧問與客服；聊天與通知透過Socket.IO及Firebase。相較初評，現在已把AI服務、訂單暫管及具回報機制的實體交付串在一起，並補上管理端處理異常的能力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Demo操作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無。依簡報說明。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換手機畫面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不需換手機畫面。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智慧書櫃操作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依據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README.md 架構；複評手冊§3-1、§7-3～7-5；savemybook_api/services/orders/checkout.js；savemybook_firmware/README.md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第7頁｜完整交易操作流程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預估20秒｜累積3:20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建議講稿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接下來用賣家與買家兩個帳號，走完同一本書的交易。先登入、上架與套用AI建議，再切換買家找書、下單付款，最後由賣家存書、買家取書並驗收。正常交易會完成撥款，異常分支則用另一筆預備訂單說明爭議，避免影響主線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Demo操作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切換投影至賣家手機。使用一筆新上架、尚未存入書櫃的書籍，完整走先付款後存書主線。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換手機畫面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簡報流程總覽；下一頁切賣家登入。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智慧書櫃操作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依據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獨立第12章§12-1～12-9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5C766-E2BE-4C45-A933-14E1BFFC1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5E32A9-56B0-E696-C71B-22160103B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A0BABE-0DF4-8120-42A1-355DE465F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第7頁｜完整交易操作流程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預估20秒｜累積3:20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建議講稿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接下來用賣家與買家兩個帳號，走完同一本書的交易。先登入、上架與套用AI建議，再切換買家找書、下單付款，最後由賣家存書、買家取書並驗收。正常交易會完成撥款，異常分支則用另一筆預備訂單說明爭議，避免影響主線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Demo操作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切換投影至賣家手機。使用一筆新上架、尚未存入書櫃的書籍，完整走先付款後存書主線。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換手機畫面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簡報流程總覽；下一頁切賣家登入。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智慧書櫃操作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依據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獨立第12章§12-1～12-9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9A6E8-451E-F428-9914-D4CB5FF65C8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61489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第8頁｜會員註冊與登入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預估35秒｜累積3:55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建議講稿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完整操作從登入開始。新會員填寫Email、暱稱與密碼，並同意條款建立帳號。為控制現場時間，這裡使用預先準備的賣家帳號登入，確認成功進入首頁。系統也支援通行密鑰與生物辨識，第三方方式則依後台啟用項目顯示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Demo操作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開啟登入頁，指出註冊入口；輸入賣家Email與密碼並登入。不要在投影片寫出帳密。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換手機畫面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已使用手冊既有截圖：表12-1-1 登入頁.PNG、表12-2-1 首頁書籍列表.PNG。建議換成現場同一本書／同一筆訂單的對應截圖。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智慧書櫃操作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依據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第12章§12-1、12-12；savemybook_app/lib/features/auth/login_screen.dart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截圖：/Users/yxuan/develop/projects/SaveMyBook/documents/使用手冊截圖/1. 註冊與登入/表12-1-1 登入頁.PNG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截圖：/Users/yxuan/develop/projects/SaveMyBook/documents/使用手冊截圖/2. 瀏覽與搜尋書籍/表12-2-1 首頁書籍列表.PNG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第9頁｜賣家書籍上架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預估45秒｜累積4:40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建議講稿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賣家新增書籍後，先掃描ISBN帶入書目，確認版本與作者。下一步上傳封面、封底與條碼三張必要照片，也可以補上內頁、筆記或附件。針對初評詢問的缺附件問題，使用者能補拍並在簡介說明。此時先不送出，接著示範AI如何協助判斷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Demo操作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操作新增書籍、ISBN掃描及查詢。選用預備的真實照片，確認三張必填照片及補充內頁。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換手機畫面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已使用手冊既有截圖：表12-3-1 掃描 ISBN 條碼.PNG、表12-3-3 上傳書籍照片.PNG。建議換成現場同一本書／同一筆訂單的對應截圖。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智慧書櫃操作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依據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第12章§12-3；savemybook_app/lib/features/selling/sell_book_screen.dart、sell_book_detail_screen.dart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截圖：/Users/yxuan/develop/projects/SaveMyBook/documents/使用手冊截圖/3. 上架書籍（賣家）/表12-3-1 掃描 ISBN 條碼.PNG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截圖：/Users/yxuan/develop/projects/SaveMyBook/documents/使用手冊截圖/3. 上架書籍（賣家）/表12-3-3 上傳書籍照片.PNG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第10頁｜AI 輔助上架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預估40秒｜累積5:20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建議講稿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針對初評的書況與價格建議，我們把AI整合進上架流程。它依書目與照片提供分類、書況及售價參考，也會提醒照片不足之處。賣家查看理由與資料來源後，仍可自行調整，再選擇書櫃並確認上架。AI只能判讀提供的照片，不能保證未拍到的內頁與附件狀態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Demo操作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按AI帶入，展示建議與理由；套用後確認價格及書櫃並上架。若AI等候超過10秒，切回已備妥的真實錄影／截圖說明。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換手機畫面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已使用手冊既有截圖：表12-3-2 AI 建議書籍資料.PNG、表12-3-3 AI 建議書況與售價.PNG。建議換成現場同一本書／同一筆訂單的對應截圖。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智慧書櫃操作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依據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第12章§12-3；savemybook_api/services/ai/listing-assist.js；savemybook_app/lib/features/selling/ai_listing_assist.dart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截圖：/Users/yxuan/develop/projects/SaveMyBook/documents/使用手冊截圖/3. 上架書籍（賣家）/表12-3-2 AI 建議書籍資料.PNG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截圖：/Users/yxuan/develop/projects/SaveMyBook/documents/使用手冊截圖/3. 上架書籍（賣家）/表12-3-3 AI 建議書況與售價.PNG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第11頁｜買家書籍探索與商品選擇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預估25秒｜累積5:45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建議講稿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現在切換買家帳號。首頁可依分類瀏覽，或以書名、作者及ISBN搜尋。為您推薦會參考收藏、購物車與瀏覽紀錄。商品詳情保留書況、照片、售價及書櫃資訊，買家可以先判斷是否合適，接著用AI顧問進一步找書。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Demo操作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切換買家手機；搜尋剛上架書籍並展示詳情，收藏後回到首頁聊天入口。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換手機畫面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已使用手冊既有截圖：表12-2-4 為您推薦與最近瀏覽.PNG、表12-2-4 商品詳情.PNG。建議換成現場同一本書／同一筆訂單的對應截圖。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智慧書櫃操作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依據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第12章§12-2；savemybook_api/services/ai/recommend.js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截圖：/Users/yxuan/develop/projects/SaveMyBook/documents/使用手冊截圖/2. 瀏覽與搜尋書籍/表12-2-4 為您推薦與最近瀏覽.PNG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截圖：/Users/yxuan/develop/projects/SaveMyBook/documents/使用手冊截圖/2. 瀏覽與搜尋書籍/表12-2-4 商品詳情.PNG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第12頁｜AI 書籍顧問與站內推薦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預估45秒｜累積6:30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建議講稿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AI書籍顧問的入口在聊天頁。我們輸入讀者需求、預算與書況條件，系統先檢索平台商品，再由AI說明推薦理由。推薦卡片對應站內可購買的書籍，能直接開啟商品詳情。若沒有相關商品，系統會說明，並區分其他在售書。這裡選擇本次交易的同一本書；若結果未列入，就回到搜尋，不宣稱AI保證推薦特定商品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Demo操作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從首頁聊天入口進入顧問，輸入符合演示書籍的真實需求；開啟推薦卡。可快速指出收藏與聊聊，主線不送出額外預約。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換手機畫面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已使用手冊既有截圖：表12-5-8 AI 書籍顧問.PNG、表12-5-8 AI 推薦書籍.PNG。建議換成現場同一本書／同一筆訂單的對應截圖。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智慧書櫃操作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依據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第12章§12-5-8；savemybook_api/services/ai/book-chat.js；savemybook_app/lib/features/chat/ai/ai_book_chat_screen.dart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截圖：/Users/yxuan/develop/projects/SaveMyBook/documents/使用手冊截圖/5. 聊天協商、預約與轉帳/表12-5-8 AI 書籍顧問.PNG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截圖：/Users/yxuan/develop/projects/SaveMyBook/documents/使用手冊截圖/5. 聊天協商、預約與轉帳/表12-5-8 AI 推薦書籍.PNG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第13頁｜購物車、下單與付款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預估45秒｜累積7:15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建議講稿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將商品加入購物車後結帳，付款必須經過交易密碼或生物辨識驗證。款項從買家站內代幣錢包扣除，由平台暫管，賣家此時尚未收到款項。訂單成立後提醒賣家存書。現階段儲值由客服協助，第三方支付與提領仍屬未來規劃。聊天室直接轉帳不具這筆訂單的暫管流程，因此Demo一定走商品結帳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Demo操作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勾選同一本書並結帳，驗證付款後開啟訂單，確認待賣家存書。預先備足買家測試代幣。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換手機畫面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已使用手冊既有截圖：表12-6-1 購物車.PNG、表12-6-2 付款成功.PNG。建議換成現場同一本書／同一筆訂單的對應截圖。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智慧書櫃操作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依據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第12章§12-6；複評手冊§2-5；savemybook_api/services/orders/checkout.js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截圖：/Users/yxuan/develop/projects/SaveMyBook/documents/使用手冊截圖/6. 加入購物車與結帳/表12-6-1 購物車.PNG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截圖：/Users/yxuan/develop/projects/SaveMyBook/documents/使用手冊截圖/6. 加入購物車與結帳/表12-6-2 付款成功.PNG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第14頁｜智慧書櫃存書流程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預估80秒｜累積8:35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建議講稿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賣家帶書到指定書櫃，先允許定位並掃描螢幕QR Code。QR約每30秒更新，系統確認人位於200公尺內，並檢查書櫃、訂單與身分。賣家在60秒內選擇待存項目，按開啟櫃門；接著在60秒內輸入書櫃螢幕顯示的兩位數字，只有一次輸入機會。驗證通過後依指定櫃門放入書籍，關門並完成，系統收到關門事件才更新存書紀錄、通知買家。若要取消，必須在關門前按取消；開門後取消會列為待確認，由管理員檢查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Demo操作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賣家手機：銷售訂單→掃描書櫃存書→允許定位→掃碼→勾選本次訂單→開啟櫃門→輸入現場兩位數字→放書→關門→完成→確認已存書。鏡頭同時拍書櫃螢幕、開門、書籍放入與關門。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換手機畫面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已使用手冊既有截圖：表12-7-1 輸入書櫃螢幕數字.PNG、表12-7-2 櫃門已開啟.PNG。建議換成現場同一本書／同一筆訂單的對應截圖。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智慧書櫃操作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需要。同步投影手機與拍攝書櫃螢幕、櫃門及實體書籍。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依據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第12章§12-7-1、12-7-2；constants/policy.js；cabinet_flow_controller.dart；cabinet-challenges.js、cabinet-commit.js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截圖：/Users/yxuan/develop/projects/SaveMyBook/documents/使用手冊截圖/7. 智慧書櫃存書與取書/表12-7-1 輸入書櫃螢幕數字.PNG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截圖：/Users/yxuan/develop/projects/SaveMyBook/documents/使用手冊截圖/7. 智慧書櫃存書與取書/表12-7-2 櫃門已開啟.PNG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第15頁｜智慧書櫃取書流程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預估80秒｜累積9:55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建議講稿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買家收到通知後，先查看待取訂單與交通資訊，可快速瀏覽捷運、公車、YouBike及停車資訊，再回到取書。到場後取得定位、掃描書櫃QR Code，選擇同一筆訂單，再輸入書櫃螢幕的兩位數字。系統驗證後開啟存放該書的櫃門。買家取出、關門並完成取書。取書完成不等於交易已撥款，接著還要驗收。若數字錯誤或逾時，重新掃碼；操作取消必須在關門前進行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Demo操作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買家手機：待取訂單→交通資訊快速展示→取書掃碼→勾選項目→兩位數確認→開門取書→關門→完成。現場鏡頭完整拍取出與關門；確認手機顯示待完成訂單。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換手機畫面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已使用手冊既有截圖：表12-7-3 確認取書項目.PNG、表12-7-4 取書完成.PNG。建議換成現場同一本書／同一筆訂單的對應截圖。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智慧書櫃操作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需要。同步投影手機與拍攝書櫃螢幕、櫃門及實體書籍。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依據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第12章§12-7-3、12-7-4、12-8；cabinet_flow_controller.dart；cabinet-commit.js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截圖：/Users/yxuan/develop/projects/SaveMyBook/documents/使用手冊截圖/7. 智慧書櫃存書與取書/表12-7-3 確認取書項目.PNG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截圖：/Users/yxuan/develop/projects/SaveMyBook/documents/使用手冊截圖/7. 智慧書櫃存書與取書/表12-7-4 取書完成.PNG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第16頁｜商品驗收、爭議與交易完成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預估40秒｜累積10:35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建議講稿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主線先檢查實際書況，沒有問題就完成訂單，切到賣家錢包確認款項入帳。若未主動確認，取書滿24小時且沒有爭議才自動完成。異常分支另用預備訂單展示：在完成前且取書後24小時內填寫說明、上傳照片，系統暫停撥款，由管理員裁決。不能完成訂單後再把同一筆送爭議，也不能將AI建議當成自動裁決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Demo操作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本次主線完成訂單→賣家錢包確認入帳。爭議改用另一筆預備待驗收訂單，只展示填寫與照片入口；需要演示送出時使用預備測試訂單。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換手機畫面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此頁可換入：本次交易完成、賣家入帳、爭議表單。現有畫面為手冊功能示例。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智慧書櫃操作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依據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第12章§12-7-4、12-9、12-10；services/disputes.js；constants/policy.js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截圖：/Users/yxuan/develop/projects/SaveMyBook/documents/使用手冊截圖/9. 訂單爭議/表12-9-1 填寫爭議說明.PNG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截圖：/Users/yxuan/develop/projects/SaveMyBook/documents/使用手冊截圖/10. 錢包與會員等級/表12-10-1 待撥款項.PNG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第17頁｜其他新增功能與平台治理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預估25秒｜累積11:00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建議講稿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交易以外，我們補上AI客服與人工轉接、聊天防詐提醒，以及通行密鑰和登入裝置管理。推播、會員等級、帳號資料匯出與刪除也已整合。這些功能集中呈現，現場只快速展示客服與防詐畫面，不再延長交易主線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Demo操作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快速切AI客服與防詐既有畫面，各停留約5秒；不在現場刻意發送可疑訊息。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換手機畫面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已使用手冊既有截圖：表12-11-1 AI 客服.PNG、表12-5-9 防詐提醒.PNG。建議換成現場同一本書／同一筆訂單的對應截圖。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智慧書櫃操作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依據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第12章§12-5-9、12-11～12-17；複評手冊§5-1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截圖：/Users/yxuan/develop/projects/SaveMyBook/documents/使用手冊截圖/11. 客服與常見問題/表12-11-1 AI 客服.PNG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截圖：/Users/yxuan/develop/projects/SaveMyBook/documents/使用手冊截圖/5. 聊天協商、預約與轉帳/表12-5-9 防詐提醒.PNG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第19頁｜智慧書櫃維運與場域可行性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預估55秒｜累積12:50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建議講稿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實體書櫃以ESP32-S3、顯示螢幕與四組電磁鎖提供交付，後台可以配對、查看裝置狀態、遠端開櫃及檢查事件。故障時的手動回報必須經管理員確認才生效，不能直接改變訂單。交易扣款與狀態更新採資料庫交易，櫃門事件重送也避免重複登記。落地先以校園室內場域為目標，需要電源、Wi-Fi、營業時間及巡檢責任。現階段不把長期妥善率、合作完成或AI辨識櫃內物品當成既成成果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Demo操作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無。依簡報說明。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換手機畫面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不需換手機畫面。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智慧書櫃操作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依據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複評手冊§2-7、§5-1；第12章§12-19、12-20；savemybook_firmware/README.md；cabinet-commit.js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截圖：/Users/yxuan/develop/projects/SaveMyBook/documents/使用手冊截圖/19. 書櫃裝置與櫃門管理（管理員）/表12-19-1 書櫃裝置.PNG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資料依據：documents/部署/2026-09-29/常見問題更新.md。</a:t>
            </a:r>
          </a:p>
          <a:p>
            <a:r>
              <a:t>補充依據：documents/部署/2026-09-29/部署清單.md 中對定位用途與交通資料部署的說明。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第17頁｜其他新增功能與平台治理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預估25秒｜累積11:00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建議講稿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交易以外，我們補上AI客服與人工轉接、聊天防詐提醒，以及通行密鑰和登入裝置管理。推播、會員等級、帳號資料匯出與刪除也已整合。這些功能集中呈現，現場只快速展示客服與防詐畫面，不再延長交易主線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Demo操作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快速切AI客服與防詐既有畫面，各停留約5秒；不在現場刻意發送可疑訊息。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換手機畫面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已使用手冊既有截圖：表12-11-1 AI 客服.PNG、表12-5-9 防詐提醒.PNG。建議換成現場同一本書／同一筆訂單的對應截圖。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智慧書櫃操作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依據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第12章§12-5-9、12-11～12-17；複評手冊§5-1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截圖：/Users/yxuan/develop/projects/SaveMyBook/documents/使用手冊截圖/11. 客服與常見問題/表12-11-1 AI 客服.PNG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截圖：/Users/yxuan/develop/projects/SaveMyBook/documents/使用手冊截圖/5. 聊天協商、預約與轉帳/表12-5-9 防詐提醒.PNG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資料依據：savemybook_firmware/README.md 的硬體、接線與安全設計。</a:t>
            </a:r>
          </a:p>
          <a:p>
            <a:r>
              <a:t>圖片來源：Diagrams/Circuit diagram/v4/接線圖.png。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資料依據：savemybook_firmware/README.md 的第一次上機與程式結構。</a:t>
            </a:r>
          </a:p>
          <a:p>
            <a:r>
              <a:t>資料依據：documents/系統手冊/產生工具/activity/use_cases.md 的 UC-33 書櫃裝置配對與管理。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資料依據：documents/系統手冊/產生工具/activity/use_cases.md 的 UC-05 賣家實體書櫃存書與 UC-06 買家實體書櫃取書。</a:t>
            </a:r>
          </a:p>
          <a:p>
            <a:r>
              <a:t>流程補充：Diagrams/Sequence Diagrams/v3/seq_deposit.puml 與 seq_pickup.puml。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資料依據：documents/部署/2026-09-29/常見問題更新.md。</a:t>
            </a:r>
          </a:p>
          <a:p>
            <a:r>
              <a:t>資料依據：documents/系統手冊/產生工具/activity/use_cases.md 的 UC-31 至 UC-34。</a:t>
            </a:r>
          </a:p>
          <a:p>
            <a:r>
              <a:t>限制承接原簡報第 21 頁對支付串接與長期場域實測的說明。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7DB13-AA43-9B4A-5912-31E57C216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B7D4AB-2F3C-ECB4-60B3-9FCBC9EC4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AB0A8F-5C7B-AAE3-330B-33D8F10F2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第7頁｜完整交易操作流程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預估20秒｜累積3:20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建議講稿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接下來用賣家與買家兩個帳號，走完同一本書的交易。先登入、上架與套用AI建議，再切換買家找書、下單付款，最後由賣家存書、買家取書並驗收。正常交易會完成撥款，異常分支則用另一筆預備訂單說明爭議，避免影響主線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Demo操作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切換投影至賣家手機。使用一筆新上架、尚未存入書櫃的書籍，完整走先付款後存書主線。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換手機畫面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簡報流程總覽；下一頁切賣家登入。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智慧書櫃操作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無。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依據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獨立第12章§12-1～12-9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D0778-F91F-2F9D-ABEC-C22A60DCEE9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1148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8CBCD6-DA0E-068D-0B22-4A7F6C1F0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C89EDDD-BE1F-7DE7-8857-4DD4ADD36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AEE0816-98E8-108B-8236-7EDB856D0A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C220565-DB05-4523-A428-D47760A5323A}" type="datetimeFigureOut">
              <a:t>2026/10/8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7B57EA-45FC-92BE-3E10-97B23DD499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ED4720-97CA-51CA-6A02-B350111D64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8344CE-ED16-4DF8-B71B-368BD23895A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423CD8-DD4F-24D0-6912-CA20ADDB1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C4E930-BCD6-97BC-3365-F2161DACF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38B31B-2050-0A34-38C6-D0BD2715160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C220565-DB05-4523-A428-D47760A5323A}" type="datetimeFigureOut">
              <a:t>2026/10/8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9D12FB-A09E-D694-8776-A622DE480FC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C68E6A-0FC7-71AB-6C8D-5F6E5061F6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8344CE-ED16-4DF8-B71B-368BD23895A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DB5425-0AF6-4894-F37C-143DAC43D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9179CF8-12F4-F3EF-A98A-50D9CE932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675756-F8C8-7CF1-D334-B8E2F5B7C4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C220565-DB05-4523-A428-D47760A5323A}" type="datetimeFigureOut">
              <a:t>2026/10/8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A5C48F-EC15-7656-B51D-9536A141424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A757AB-3085-37EC-1949-F6450661F2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8344CE-ED16-4DF8-B71B-368BD23895A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54C2F4-680F-EF66-54DF-620C397FB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DDD993-42EC-8B77-0E8E-5B2DE73A3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8FF110E-FC6C-420E-7CFC-1B9A1902E8B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0CAC335-0916-D7E9-1020-57E950C41F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C220565-DB05-4523-A428-D47760A5323A}" type="datetimeFigureOut">
              <a:t>2026/10/8</a:t>
            </a:fld>
            <a:endParaRPr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99B3A7-3247-089E-D3A1-A652C3ABF50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D3FF99E-4A48-0D68-B52A-B5107BD3A9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8344CE-ED16-4DF8-B71B-368BD23895A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B84C73-EF2A-06E1-C88D-19ADFF619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B89AE7-A2A3-140D-16DC-2B0287BD9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B0FC15B-5D91-46B7-72E3-84D27B9B72A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BB321C2-D28B-EF2A-1710-C139E7446CC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C5C955B-5895-1668-355B-126BF44E310D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3536E26-B145-7A54-E93E-719786BA801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C220565-DB05-4523-A428-D47760A5323A}" type="datetimeFigureOut">
              <a:t>2026/10/8</a:t>
            </a:fld>
            <a:endParaRPr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B01A1CE-676C-B92E-07E7-14AA8A039D7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CD36E90-BE8F-EC26-C7CF-3AEEA84D28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8344CE-ED16-4DF8-B71B-368BD23895A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FE484B-B9E5-2EFC-577C-0A5525C76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1DE99B8-233E-356C-CEB0-7E0DF59914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C220565-DB05-4523-A428-D47760A5323A}" type="datetimeFigureOut">
              <a:t>2026/10/8</a:t>
            </a:fld>
            <a:endParaRPr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8E61FDC-21D3-9E07-B1C4-B455A1EE409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CCA94C0-2579-8A54-3B08-6FD42006C1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8344CE-ED16-4DF8-B71B-368BD23895A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194E9A7-530B-BCF7-EC22-702761B8F6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C220565-DB05-4523-A428-D47760A5323A}" type="datetimeFigureOut">
              <a:t>2026/10/8</a:t>
            </a:fld>
            <a:endParaRPr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92D0E4A-F11F-0146-4909-368F424E4D7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D170D2-B481-5B9F-3A7A-224EFE982B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8344CE-ED16-4DF8-B71B-368BD23895A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BD7426-9AE6-AB2C-488C-4EC50F0EC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F5A7FA-BEE0-205A-8752-825C39298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EC632BA-1257-1C11-4522-0A0F949596D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0050E62-4799-8FFC-DF75-088340579F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C220565-DB05-4523-A428-D47760A5323A}" type="datetimeFigureOut">
              <a:t>2026/10/8</a:t>
            </a:fld>
            <a:endParaRPr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1CCBA2-6040-C6A2-9599-256A55E6A22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34BF37-0D8E-9374-345C-EEB78C1A9E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8344CE-ED16-4DF8-B71B-368BD23895A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EE6C28-DCAF-439D-CDA0-BD59D5550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18E4B44-F534-A400-1406-91EE85D03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E745EA9-45A2-1378-FAF3-71DF97228DB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308EAAB-8680-3E35-9735-D01D5779497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C220565-DB05-4523-A428-D47760A5323A}" type="datetimeFigureOut">
              <a:t>2026/10/8</a:t>
            </a:fld>
            <a:endParaRPr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E64D2E-1418-26F8-FA0B-0AE8134F47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CACE9A-561E-EF64-EBDB-7D70BBB68B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8344CE-ED16-4DF8-B71B-368BD23895A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EB84E3-0F2B-E5C1-533B-9596A27B7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D2427A7-0F29-A064-3AC2-E1F83BBB7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9CD2FB-A672-9001-C0FD-28FCFFE16E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C220565-DB05-4523-A428-D47760A5323A}" type="datetimeFigureOut">
              <a:t>2026/10/8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C700CD-E5BB-E39A-56FB-19F22572307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2A44F1-2ACE-73EB-6093-84C6E0A4CF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8344CE-ED16-4DF8-B71B-368BD23895A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C941E94-C7D9-2499-F23D-47FD178E0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754C61C-A654-E214-C970-7DB5EE6AC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4025D6-C922-DA5E-2D81-216C616895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C220565-DB05-4523-A428-D47760A5323A}" type="datetimeFigureOut">
              <a:t>2026/10/8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4B930E-9785-8964-2B90-AB080A58137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CE0C5B-2C0F-869A-62D4-2EECAA9F70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8344CE-ED16-4DF8-B71B-368BD23895A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CE76CD7-18FA-0DC6-3AEC-1DFEC1B5E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4F9C4F1-00C3-6599-F818-49F61D79A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F6823C-F31C-E52F-EBC3-3E544D64FD1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220565-DB05-4523-A428-D47760A5323A}" type="datetimeFigureOut">
              <a:t>2026/10/8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1FC8C7-C36B-F329-4CC2-55101E48F77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B3C781-8624-116B-AE11-8F511226D69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>
            <a:fld id="{FA8344CE-ED16-4DF8-B71B-368BD23895A0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9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9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9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9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9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9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6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086412A9-BB27-426E-A415-81B54D60BF37}"/>
              </a:ext>
            </a:extLst>
          </p:cNvPr>
          <p:cNvSpPr>
            <a:spLocks noGrp="1"/>
          </p:cNvSpPr>
          <p:nvPr/>
        </p:nvSpPr>
        <p:spPr>
          <a:xfrm>
            <a:off x="0" y="4664364"/>
            <a:ext cx="12191999" cy="21936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0A348579-313E-8E09-6699-96ED2776B5BE}"/>
              </a:ext>
            </a:extLst>
          </p:cNvPr>
          <p:cNvSpPr>
            <a:spLocks noGrp="1"/>
          </p:cNvSpPr>
          <p:nvPr/>
        </p:nvSpPr>
        <p:spPr>
          <a:xfrm>
            <a:off x="1047750" y="1695450"/>
            <a:ext cx="6905625" cy="106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5475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>
                <a:solidFill>
                  <a:srgbClr val="1F2A30"/>
                </a:solidFill>
              </a:rPr>
              <a:t>救 </a:t>
            </a:r>
            <a:r>
              <a:rPr>
                <a:solidFill>
                  <a:srgbClr val="607D8B"/>
                </a:solidFill>
              </a:rPr>
              <a:t>「舊」</a:t>
            </a:r>
            <a:r>
              <a:rPr>
                <a:solidFill>
                  <a:srgbClr val="1F2A30"/>
                </a:solidFill>
              </a:rPr>
              <a:t>我的書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4A6338D1-7CFE-CFD4-ECD9-34285F9A9BB4}"/>
              </a:ext>
            </a:extLst>
          </p:cNvPr>
          <p:cNvSpPr>
            <a:spLocks noGrp="1"/>
          </p:cNvSpPr>
          <p:nvPr/>
        </p:nvSpPr>
        <p:spPr>
          <a:xfrm>
            <a:off x="1047750" y="714375"/>
            <a:ext cx="428625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>
                <a:solidFill>
                  <a:srgbClr val="607D8B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 spc="100">
                <a:solidFill>
                  <a:srgbClr val="607D8B"/>
                </a:solidFill>
                <a:latin typeface="Noto Sans TC"/>
                <a:ea typeface="Noto Sans TC"/>
                <a:cs typeface="Noto Sans TC"/>
              </a:rPr>
              <a:t>四技第115414組</a:t>
            </a:r>
          </a:p>
        </p:txBody>
      </p:sp>
      <p:pic>
        <p:nvPicPr>
          <p:cNvPr id="54" name="圖片 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41125" y="900589"/>
            <a:ext cx="3112675" cy="3112675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AD0BEAEF-A48A-4FD8-BB5A-CD6EE437CF26}"/>
              </a:ext>
            </a:extLst>
          </p:cNvPr>
          <p:cNvSpPr>
            <a:spLocks noGrp="1"/>
          </p:cNvSpPr>
          <p:nvPr/>
        </p:nvSpPr>
        <p:spPr>
          <a:xfrm>
            <a:off x="1047750" y="297180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1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AI 智慧服務 × APP 交易平台 × IoT 智慧書櫃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808BD1C-1F59-4364-A32F-E85F324C2870}"/>
              </a:ext>
            </a:extLst>
          </p:cNvPr>
          <p:cNvSpPr>
            <a:spLocks noGrp="1"/>
          </p:cNvSpPr>
          <p:nvPr/>
        </p:nvSpPr>
        <p:spPr>
          <a:xfrm>
            <a:off x="1047750" y="365760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1">
                <a:solidFill>
                  <a:srgbClr val="607D8B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607D8B"/>
                </a:solidFill>
                <a:latin typeface="Noto Sans TC"/>
                <a:ea typeface="Noto Sans TC"/>
                <a:cs typeface="Noto Sans TC"/>
              </a:rPr>
              <a:t>複評成果與完整交易展示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070B740-22FD-493B-9503-FAC051CD0604}"/>
              </a:ext>
            </a:extLst>
          </p:cNvPr>
          <p:cNvSpPr>
            <a:spLocks noGrp="1"/>
          </p:cNvSpPr>
          <p:nvPr/>
        </p:nvSpPr>
        <p:spPr>
          <a:xfrm>
            <a:off x="1047750" y="5229225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指導老師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8686014-2289-4F72-98A5-668D24BF6CC2}"/>
              </a:ext>
            </a:extLst>
          </p:cNvPr>
          <p:cNvSpPr>
            <a:spLocks noGrp="1"/>
          </p:cNvSpPr>
          <p:nvPr/>
        </p:nvSpPr>
        <p:spPr>
          <a:xfrm>
            <a:off x="1047750" y="5676900"/>
            <a:ext cx="1619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林俊杰 老師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9298B8A-20B0-44EC-9F8F-50E468A4C914}"/>
              </a:ext>
            </a:extLst>
          </p:cNvPr>
          <p:cNvSpPr>
            <a:spLocks noGrp="1"/>
          </p:cNvSpPr>
          <p:nvPr/>
        </p:nvSpPr>
        <p:spPr>
          <a:xfrm>
            <a:off x="2857500" y="5229225"/>
            <a:ext cx="1809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組長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598CA1A-87AB-476B-8777-64A920C999B1}"/>
              </a:ext>
            </a:extLst>
          </p:cNvPr>
          <p:cNvSpPr>
            <a:spLocks noGrp="1"/>
          </p:cNvSpPr>
          <p:nvPr/>
        </p:nvSpPr>
        <p:spPr>
          <a:xfrm>
            <a:off x="2857500" y="5676900"/>
            <a:ext cx="25241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11246063 許凱俊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38C3B19-56DC-494C-8ECC-F3E76DECF0AF}"/>
              </a:ext>
            </a:extLst>
          </p:cNvPr>
          <p:cNvSpPr>
            <a:spLocks noGrp="1"/>
          </p:cNvSpPr>
          <p:nvPr/>
        </p:nvSpPr>
        <p:spPr>
          <a:xfrm>
            <a:off x="5476875" y="5229225"/>
            <a:ext cx="5334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組員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2CF6B3B-F279-4535-8921-8356F148BBFE}"/>
              </a:ext>
            </a:extLst>
          </p:cNvPr>
          <p:cNvSpPr>
            <a:spLocks noGrp="1"/>
          </p:cNvSpPr>
          <p:nvPr/>
        </p:nvSpPr>
        <p:spPr>
          <a:xfrm>
            <a:off x="5476875" y="5676900"/>
            <a:ext cx="61436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11246065 陳秉鴻　11246072 連卉媗</a:t>
            </a:r>
            <a:r>
              <a:rPr sz="165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sz="16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11246074 江芸萱</a:t>
            </a:r>
          </a:p>
        </p:txBody>
      </p:sp>
    </p:spTree>
    <p:extLst>
      <p:ext uri="{BB962C8B-B14F-4D97-AF65-F5344CB8AC3E}">
        <p14:creationId xmlns:p14="http://schemas.microsoft.com/office/powerpoint/2010/main" val="149886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5630C435-6BD0-4CAD-73C7-EED432411646}"/>
              </a:ext>
            </a:extLst>
          </p:cNvPr>
          <p:cNvSpPr>
            <a:spLocks noGrp="1"/>
          </p:cNvSpPr>
          <p:nvPr/>
        </p:nvSpPr>
        <p:spPr>
          <a:xfrm>
            <a:off x="7934038" y="4122625"/>
            <a:ext cx="4796496" cy="4796496"/>
          </a:xfrm>
          <a:prstGeom prst="ellipse">
            <a:avLst/>
          </a:prstGeom>
          <a:gradFill>
            <a:gsLst>
              <a:gs pos="40000">
                <a:schemeClr val="accent2"/>
              </a:gs>
              <a:gs pos="19000">
                <a:schemeClr val="accent1"/>
              </a:gs>
              <a:gs pos="0">
                <a:schemeClr val="accent2"/>
              </a:gs>
            </a:gsLst>
            <a:lin ang="4200000" scaled="0"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!!直角三角形 7">
            <a:extLst>
              <a:ext uri="{FF2B5EF4-FFF2-40B4-BE49-F238E27FC236}">
                <a16:creationId xmlns:a16="http://schemas.microsoft.com/office/drawing/2014/main" id="{9CC581E5-1FB2-E1E3-DAE7-B3F08BCE868C}"/>
              </a:ext>
            </a:extLst>
          </p:cNvPr>
          <p:cNvSpPr>
            <a:spLocks noGrp="1"/>
          </p:cNvSpPr>
          <p:nvPr/>
        </p:nvSpPr>
        <p:spPr>
          <a:xfrm rot="5400000">
            <a:off x="4994759" y="-4994759"/>
            <a:ext cx="2202482" cy="12192000"/>
          </a:xfrm>
          <a:custGeom>
            <a:avLst/>
            <a:gdLst>
              <a:gd name="connsiteX0" fmla="*/ 0 w 2198044"/>
              <a:gd name="connsiteY0" fmla="*/ 12192000 h 12192000"/>
              <a:gd name="connsiteX1" fmla="*/ 0 w 2198044"/>
              <a:gd name="connsiteY1" fmla="*/ 0 h 12192000"/>
              <a:gd name="connsiteX2" fmla="*/ 1062338 w 2198044"/>
              <a:gd name="connsiteY2" fmla="*/ 0 h 12192000"/>
              <a:gd name="connsiteX3" fmla="*/ 1093993 w 2198044"/>
              <a:gd name="connsiteY3" fmla="*/ 45340 h 12192000"/>
              <a:gd name="connsiteX4" fmla="*/ 2198044 w 2198044"/>
              <a:gd name="connsiteY4" fmla="*/ 6096000 h 12192000"/>
              <a:gd name="connsiteX5" fmla="*/ 1093993 w 2198044"/>
              <a:gd name="connsiteY5" fmla="*/ 12146660 h 12192000"/>
              <a:gd name="connsiteX6" fmla="*/ 1062338 w 2198044"/>
              <a:gd name="connsiteY6" fmla="*/ 12192000 h 12192000"/>
              <a:gd name="connsiteX7" fmla="*/ 0 w 2198044"/>
              <a:gd name="connsiteY7" fmla="*/ 12192000 h 12192000"/>
              <a:gd name="connsiteX0" fmla="*/ 0 w 2202940"/>
              <a:gd name="connsiteY0" fmla="*/ 12192000 h 12192000"/>
              <a:gd name="connsiteX1" fmla="*/ 0 w 2202940"/>
              <a:gd name="connsiteY1" fmla="*/ 0 h 12192000"/>
              <a:gd name="connsiteX2" fmla="*/ 1062338 w 2202940"/>
              <a:gd name="connsiteY2" fmla="*/ 0 h 12192000"/>
              <a:gd name="connsiteX3" fmla="*/ 1093993 w 2202940"/>
              <a:gd name="connsiteY3" fmla="*/ 45340 h 12192000"/>
              <a:gd name="connsiteX4" fmla="*/ 2198044 w 2202940"/>
              <a:gd name="connsiteY4" fmla="*/ 6096000 h 12192000"/>
              <a:gd name="connsiteX5" fmla="*/ 1093993 w 2202940"/>
              <a:gd name="connsiteY5" fmla="*/ 12146660 h 12192000"/>
              <a:gd name="connsiteX6" fmla="*/ 1062338 w 2202940"/>
              <a:gd name="connsiteY6" fmla="*/ 12192000 h 12192000"/>
              <a:gd name="connsiteX7" fmla="*/ 0 w 2202940"/>
              <a:gd name="connsiteY7" fmla="*/ 12192000 h 12192000"/>
              <a:gd name="connsiteX0" fmla="*/ 0 w 2202482"/>
              <a:gd name="connsiteY0" fmla="*/ 12192000 h 12192000"/>
              <a:gd name="connsiteX1" fmla="*/ 0 w 2202482"/>
              <a:gd name="connsiteY1" fmla="*/ 0 h 12192000"/>
              <a:gd name="connsiteX2" fmla="*/ 1062338 w 2202482"/>
              <a:gd name="connsiteY2" fmla="*/ 0 h 12192000"/>
              <a:gd name="connsiteX3" fmla="*/ 1093993 w 2202482"/>
              <a:gd name="connsiteY3" fmla="*/ 45340 h 12192000"/>
              <a:gd name="connsiteX4" fmla="*/ 2198044 w 2202482"/>
              <a:gd name="connsiteY4" fmla="*/ 6096000 h 12192000"/>
              <a:gd name="connsiteX5" fmla="*/ 1093993 w 2202482"/>
              <a:gd name="connsiteY5" fmla="*/ 12146660 h 12192000"/>
              <a:gd name="connsiteX6" fmla="*/ 1062338 w 2202482"/>
              <a:gd name="connsiteY6" fmla="*/ 12192000 h 12192000"/>
              <a:gd name="connsiteX7" fmla="*/ 0 w 2202482"/>
              <a:gd name="connsiteY7" fmla="*/ 12192000 h 12192000"/>
            </a:gdLst>
            <a:ahLst/>
            <a:cxnLst/>
            <a:rect l="l" t="t" r="r" b="b"/>
            <a:pathLst>
              <a:path w="2202482" h="12192000">
                <a:moveTo>
                  <a:pt x="0" y="12192000"/>
                </a:moveTo>
                <a:lnTo>
                  <a:pt x="0" y="0"/>
                </a:lnTo>
                <a:lnTo>
                  <a:pt x="1062338" y="0"/>
                </a:lnTo>
                <a:lnTo>
                  <a:pt x="1093993" y="45340"/>
                </a:lnTo>
                <a:cubicBezTo>
                  <a:pt x="1681838" y="1148900"/>
                  <a:pt x="2259004" y="3299782"/>
                  <a:pt x="2198044" y="6096000"/>
                </a:cubicBezTo>
                <a:cubicBezTo>
                  <a:pt x="2137084" y="8892218"/>
                  <a:pt x="1742797" y="11149780"/>
                  <a:pt x="1093993" y="12146660"/>
                </a:cubicBezTo>
                <a:lnTo>
                  <a:pt x="1062338" y="1219200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F53496BD-DD2E-5B25-E7BC-29CB6913857A}"/>
              </a:ext>
            </a:extLst>
          </p:cNvPr>
          <p:cNvSpPr>
            <a:spLocks noGrp="1"/>
          </p:cNvSpPr>
          <p:nvPr/>
        </p:nvSpPr>
        <p:spPr>
          <a:xfrm rot="6412382">
            <a:off x="-1159979" y="3114856"/>
            <a:ext cx="2230568" cy="2230568"/>
          </a:xfrm>
          <a:prstGeom prst="ellipse">
            <a:avLst/>
          </a:prstGeom>
          <a:gradFill>
            <a:gsLst>
              <a:gs pos="49000">
                <a:schemeClr val="accent2"/>
              </a:gs>
              <a:gs pos="26000">
                <a:schemeClr val="accent1"/>
              </a:gs>
              <a:gs pos="0">
                <a:schemeClr val="accent2"/>
              </a:gs>
            </a:gsLst>
            <a:lin ang="4200000" scaled="0"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3CF99C2-458A-49A3-95E5-7A4F1ECE967E}"/>
              </a:ext>
            </a:extLst>
          </p:cNvPr>
          <p:cNvSpPr>
            <a:spLocks noGrp="1"/>
          </p:cNvSpPr>
          <p:nvPr/>
        </p:nvSpPr>
        <p:spPr>
          <a:xfrm>
            <a:off x="2571750" y="342900"/>
            <a:ext cx="70485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52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52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CONTENTS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E4D2EF-EC42-486D-893A-962859598650}"/>
              </a:ext>
            </a:extLst>
          </p:cNvPr>
          <p:cNvSpPr>
            <a:spLocks noGrp="1"/>
          </p:cNvSpPr>
          <p:nvPr/>
        </p:nvSpPr>
        <p:spPr>
          <a:xfrm>
            <a:off x="3429000" y="1304925"/>
            <a:ext cx="53340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目　錄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4566F1B-6635-4C17-A424-43316EF2E2EE}"/>
              </a:ext>
            </a:extLst>
          </p:cNvPr>
          <p:cNvSpPr>
            <a:spLocks noGrp="1"/>
          </p:cNvSpPr>
          <p:nvPr/>
        </p:nvSpPr>
        <p:spPr>
          <a:xfrm>
            <a:off x="1047750" y="2857500"/>
            <a:ext cx="2095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3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33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7336B7-ECEE-40F2-B4DC-1603384DF5D5}"/>
              </a:ext>
            </a:extLst>
          </p:cNvPr>
          <p:cNvSpPr>
            <a:spLocks noGrp="1"/>
          </p:cNvSpPr>
          <p:nvPr/>
        </p:nvSpPr>
        <p:spPr>
          <a:xfrm>
            <a:off x="1047750" y="3467100"/>
            <a:ext cx="328612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1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初評評審建議</a:t>
            </a:r>
          </a:p>
          <a:p>
            <a:pPr algn="l">
              <a:buNone/>
              <a:defRPr sz="21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與改善成果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7B5B27D-CE10-43DB-AFDF-8752647A649F}"/>
              </a:ext>
            </a:extLst>
          </p:cNvPr>
          <p:cNvSpPr>
            <a:spLocks noGrp="1"/>
          </p:cNvSpPr>
          <p:nvPr/>
        </p:nvSpPr>
        <p:spPr>
          <a:xfrm>
            <a:off x="4524375" y="2857500"/>
            <a:ext cx="2095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3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33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A42D7B-6CBB-4131-B1D4-06252FEA43B0}"/>
              </a:ext>
            </a:extLst>
          </p:cNvPr>
          <p:cNvSpPr>
            <a:spLocks noGrp="1"/>
          </p:cNvSpPr>
          <p:nvPr/>
        </p:nvSpPr>
        <p:spPr>
          <a:xfrm>
            <a:off x="4524375" y="3467100"/>
            <a:ext cx="328612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1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專題核心</a:t>
            </a:r>
          </a:p>
          <a:p>
            <a:pPr algn="l">
              <a:buNone/>
              <a:defRPr sz="21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與系統設計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B7B61F2-451E-45F0-8886-940D41315954}"/>
              </a:ext>
            </a:extLst>
          </p:cNvPr>
          <p:cNvSpPr>
            <a:spLocks noGrp="1"/>
          </p:cNvSpPr>
          <p:nvPr/>
        </p:nvSpPr>
        <p:spPr>
          <a:xfrm>
            <a:off x="8001000" y="2857500"/>
            <a:ext cx="2095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3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33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DC047CE-9E43-4E54-A959-F694D0309486}"/>
              </a:ext>
            </a:extLst>
          </p:cNvPr>
          <p:cNvSpPr>
            <a:spLocks noGrp="1"/>
          </p:cNvSpPr>
          <p:nvPr/>
        </p:nvSpPr>
        <p:spPr>
          <a:xfrm>
            <a:off x="8001000" y="3467100"/>
            <a:ext cx="328612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1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APP 操作與</a:t>
            </a:r>
          </a:p>
          <a:p>
            <a:pPr algn="l">
              <a:buNone/>
              <a:defRPr sz="21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完整交易 Demo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A8E6FC-D657-4EC1-A607-2E66F614C6EB}"/>
              </a:ext>
            </a:extLst>
          </p:cNvPr>
          <p:cNvSpPr>
            <a:spLocks noGrp="1"/>
          </p:cNvSpPr>
          <p:nvPr/>
        </p:nvSpPr>
        <p:spPr>
          <a:xfrm>
            <a:off x="1047750" y="4772025"/>
            <a:ext cx="2095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3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33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786C95A-8D78-48DA-950A-C42B459B3470}"/>
              </a:ext>
            </a:extLst>
          </p:cNvPr>
          <p:cNvSpPr>
            <a:spLocks noGrp="1"/>
          </p:cNvSpPr>
          <p:nvPr/>
        </p:nvSpPr>
        <p:spPr>
          <a:xfrm>
            <a:off x="1047750" y="5381625"/>
            <a:ext cx="328612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1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2100" b="1" dirty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智慧實體書櫃</a:t>
            </a:r>
            <a:endParaRPr sz="2100" b="1" dirty="0">
              <a:solidFill>
                <a:srgbClr val="1F2A30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9DB636-44EC-4A88-BA1B-743297035F70}"/>
              </a:ext>
            </a:extLst>
          </p:cNvPr>
          <p:cNvSpPr>
            <a:spLocks noGrp="1"/>
          </p:cNvSpPr>
          <p:nvPr/>
        </p:nvSpPr>
        <p:spPr>
          <a:xfrm>
            <a:off x="4524375" y="4772025"/>
            <a:ext cx="2095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3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33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DCC6C53-8494-4FAA-889B-99273B29BEE3}"/>
              </a:ext>
            </a:extLst>
          </p:cNvPr>
          <p:cNvSpPr>
            <a:spLocks noGrp="1"/>
          </p:cNvSpPr>
          <p:nvPr/>
        </p:nvSpPr>
        <p:spPr>
          <a:xfrm>
            <a:off x="4524375" y="5381625"/>
            <a:ext cx="328612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1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未來展望</a:t>
            </a:r>
          </a:p>
          <a:p>
            <a:pPr algn="l">
              <a:buNone/>
              <a:defRPr sz="21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與成果總結</a:t>
            </a:r>
          </a:p>
        </p:txBody>
      </p:sp>
    </p:spTree>
    <p:extLst>
      <p:ext uri="{BB962C8B-B14F-4D97-AF65-F5344CB8AC3E}">
        <p14:creationId xmlns:p14="http://schemas.microsoft.com/office/powerpoint/2010/main" val="1811967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30950"/>
            <a:ext cx="12192001" cy="6888950"/>
          </a:xfrm>
          <a:prstGeom prst="rect">
            <a:avLst/>
          </a:prstGeom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20A3E3CB-89B1-8FB8-4AA0-635D5AC3D6C9}"/>
              </a:ext>
            </a:extLst>
          </p:cNvPr>
          <p:cNvSpPr>
            <a:spLocks noGrp="1"/>
          </p:cNvSpPr>
          <p:nvPr/>
        </p:nvSpPr>
        <p:spPr>
          <a:xfrm>
            <a:off x="981143" y="1814922"/>
            <a:ext cx="46939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0" b="1" spc="100">
                <a:gradFill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01</a:t>
            </a:r>
            <a:endParaRPr sz="20000" b="1" spc="10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1E1EABE-CF3F-435D-F316-B15870664EB8}"/>
              </a:ext>
            </a:extLst>
          </p:cNvPr>
          <p:cNvSpPr>
            <a:spLocks noGrp="1"/>
          </p:cNvSpPr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21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6000" b="1">
                <a:solidFill>
                  <a:schemeClr val="bg1">
                    <a:lumMod val="95000"/>
                  </a:schemeClr>
                </a:solidFill>
                <a:latin typeface="Noto Sans TC"/>
                <a:ea typeface="Noto Sans TC"/>
                <a:cs typeface="Noto Sans TC"/>
              </a:rPr>
              <a:t>初評評審建議與改善成果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20CFC9AB-F211-E047-5922-B1D0113763D7}"/>
              </a:ext>
            </a:extLst>
          </p:cNvPr>
          <p:cNvSpPr>
            <a:spLocks noGrp="1"/>
          </p:cNvSpPr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sz="2800" spc="100">
                <a:solidFill>
                  <a:srgbClr val="F8FAFB"/>
                </a:solidFill>
                <a:latin typeface="Noto Sans TC Medium"/>
                <a:ea typeface="Noto Sans TC Medium"/>
                <a:cs typeface="Noto Sans TC Medium"/>
              </a:rPr>
              <a:t>報告人</a:t>
            </a:r>
            <a:r>
              <a:rPr sz="2800" b="1" spc="100">
                <a:solidFill>
                  <a:srgbClr val="F8FAFB"/>
                </a:solidFill>
                <a:latin typeface="+mj-ea"/>
                <a:ea typeface="+mj-ea"/>
                <a:cs typeface="+mj-ea"/>
              </a:rPr>
              <a:t>｜</a:t>
            </a:r>
            <a:endParaRPr sz="2800" spc="100">
              <a:solidFill>
                <a:srgbClr val="F8FAFB"/>
              </a:solidFill>
              <a:latin typeface="Noto Sans TC Medium"/>
              <a:ea typeface="Noto Sans TC Medium"/>
              <a:cs typeface="Noto Sans T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9834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>
            <a:extLst>
              <a:ext uri="{FF2B5EF4-FFF2-40B4-BE49-F238E27FC236}">
                <a16:creationId xmlns:a16="http://schemas.microsoft.com/office/drawing/2014/main" id="{64E2B62A-0B17-45BB-8BE2-7C1313144FDE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CACA789-D268-6F20-F7CE-CC1E04CA74B9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0477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 spc="15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初評建議與改善成果：交易與 AI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57DD34D-02BD-F5C6-A73E-DA1C396353DB}"/>
              </a:ext>
            </a:extLst>
          </p:cNvPr>
          <p:cNvSpPr>
            <a:spLocks noGrp="1"/>
          </p:cNvSpPr>
          <p:nvPr/>
        </p:nvSpPr>
        <p:spPr>
          <a:xfrm>
            <a:off x="7191375" y="1076325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125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01  初評建議與改善成果</a:t>
            </a:r>
            <a:endParaRPr sz="1400" spc="200">
              <a:solidFill>
                <a:srgbClr val="7E8A9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B1A15D2-F2DB-A848-5B8E-3084BEB782AE}"/>
              </a:ext>
            </a:extLst>
          </p:cNvPr>
          <p:cNvSpPr>
            <a:spLocks noGrp="1"/>
          </p:cNvSpPr>
          <p:nvPr/>
        </p:nvSpPr>
        <p:spPr>
          <a:xfrm>
            <a:off x="10829925" y="631507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3</a:t>
            </a:r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8" name="表格 16">
            <a:extLst>
              <a:ext uri="{FF2B5EF4-FFF2-40B4-BE49-F238E27FC236}">
                <a16:creationId xmlns:a16="http://schemas.microsoft.com/office/drawing/2014/main" id="{2C24BCDD-4140-0D63-CB4C-247C867340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7919412"/>
              </p:ext>
            </p:extLst>
          </p:nvPr>
        </p:nvGraphicFramePr>
        <p:xfrm>
          <a:off x="762000" y="1790699"/>
          <a:ext cx="10668001" cy="4486855"/>
        </p:xfrm>
        <a:graphic>
          <a:graphicData uri="http://schemas.openxmlformats.org/drawingml/2006/table">
            <a:tbl>
              <a:tblPr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2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7371">
                <a:tc>
                  <a:txBody>
                    <a:bodyPr/>
                    <a:lstStyle/>
                    <a:p>
                      <a:r>
                        <a:rPr sz="1875" b="1" dirty="0" err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初評建議</a:t>
                      </a:r>
                      <a:endParaRPr sz="1875" b="1" dirty="0">
                        <a:solidFill>
                          <a:srgbClr val="FFFFFF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607D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 dirty="0" err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改善方向</a:t>
                      </a:r>
                      <a:endParaRPr sz="1875" b="1" dirty="0">
                        <a:solidFill>
                          <a:srgbClr val="FFFFFF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607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371">
                <a:tc>
                  <a:txBody>
                    <a:bodyPr/>
                    <a:lstStyle/>
                    <a:p>
                      <a:r>
                        <a:rPr lang="zh-TW" altLang="zh-TW" sz="1600" dirty="0"/>
                        <a:t>書籍附件如光碟，需標示缺附件或附件完整</a:t>
                      </a:r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zh-TW" sz="1600" dirty="0"/>
                        <a:t>上架可多張照片、書況照片、簡介補充；可於書籍資訊呈現更完整書況</a:t>
                      </a:r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7371">
                <a:tc>
                  <a:txBody>
                    <a:bodyPr/>
                    <a:lstStyle/>
                    <a:p>
                      <a:r>
                        <a:rPr sz="1725" b="0" dirty="0" err="1">
                          <a:solidFill>
                            <a:srgbClr val="1F2A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差異化與場域落地</a:t>
                      </a:r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 err="1">
                          <a:solidFill>
                            <a:srgbClr val="1F2A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補入讀冊比較與室內合作</a:t>
                      </a:r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7371">
                <a:tc>
                  <a:txBody>
                    <a:bodyPr/>
                    <a:lstStyle/>
                    <a:p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7371">
                <a:tc>
                  <a:txBody>
                    <a:bodyPr/>
                    <a:lstStyle/>
                    <a:p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884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980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023689-9CA1-1400-EA18-21C96B479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>
            <a:extLst>
              <a:ext uri="{FF2B5EF4-FFF2-40B4-BE49-F238E27FC236}">
                <a16:creationId xmlns:a16="http://schemas.microsoft.com/office/drawing/2014/main" id="{2E275404-07CB-CF51-4CF0-D58198A1A7D5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106EF5B-E2FF-2851-DF5F-CEE1EEFDE398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0477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 spc="150" dirty="0" err="1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初評建議與改善成果：交易與</a:t>
            </a:r>
            <a:r>
              <a:rPr sz="3300" b="1" spc="150" dirty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 AI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6DA7B34-893E-7DA2-6DBD-CBCA85CEE3BE}"/>
              </a:ext>
            </a:extLst>
          </p:cNvPr>
          <p:cNvSpPr>
            <a:spLocks noGrp="1"/>
          </p:cNvSpPr>
          <p:nvPr/>
        </p:nvSpPr>
        <p:spPr>
          <a:xfrm>
            <a:off x="7191375" y="1076325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125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01  初評建議與改善成果</a:t>
            </a:r>
            <a:endParaRPr sz="1400" spc="200">
              <a:solidFill>
                <a:srgbClr val="7E8A9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2BF561B-6D5A-6CAF-105D-113895F4B614}"/>
              </a:ext>
            </a:extLst>
          </p:cNvPr>
          <p:cNvSpPr>
            <a:spLocks noGrp="1"/>
          </p:cNvSpPr>
          <p:nvPr/>
        </p:nvSpPr>
        <p:spPr>
          <a:xfrm>
            <a:off x="10829925" y="631507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3</a:t>
            </a:r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8" name="表格 16">
            <a:extLst>
              <a:ext uri="{FF2B5EF4-FFF2-40B4-BE49-F238E27FC236}">
                <a16:creationId xmlns:a16="http://schemas.microsoft.com/office/drawing/2014/main" id="{9DFF50F8-8075-DE69-5D93-365AFFC81EF9}"/>
              </a:ext>
            </a:extLst>
          </p:cNvPr>
          <p:cNvGraphicFramePr/>
          <p:nvPr/>
        </p:nvGraphicFramePr>
        <p:xfrm>
          <a:off x="762000" y="1790699"/>
          <a:ext cx="10668001" cy="4486855"/>
        </p:xfrm>
        <a:graphic>
          <a:graphicData uri="http://schemas.openxmlformats.org/drawingml/2006/table">
            <a:tbl>
              <a:tblPr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2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7371">
                <a:tc>
                  <a:txBody>
                    <a:bodyPr/>
                    <a:lstStyle/>
                    <a:p>
                      <a:r>
                        <a:rPr sz="1875" b="1" dirty="0" err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初評建議</a:t>
                      </a:r>
                      <a:endParaRPr sz="1875" b="1" dirty="0">
                        <a:solidFill>
                          <a:srgbClr val="FFFFFF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607D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 dirty="0" err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改善方向</a:t>
                      </a:r>
                      <a:endParaRPr sz="1875" b="1" dirty="0">
                        <a:solidFill>
                          <a:srgbClr val="FFFFFF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607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371">
                <a:tc>
                  <a:txBody>
                    <a:bodyPr/>
                    <a:lstStyle/>
                    <a:p>
                      <a:r>
                        <a:rPr lang="zh-TW" altLang="zh-TW" sz="1600" dirty="0"/>
                        <a:t>書況判定可用 AI</a:t>
                      </a:r>
                      <a:endParaRPr lang="en-US" altLang="zh-TW" sz="1600" dirty="0"/>
                    </a:p>
                    <a:p>
                      <a:r>
                        <a:rPr lang="zh-TW" altLang="zh-TW" sz="1600" dirty="0"/>
                        <a:t>補充書籍知識與合理定價</a:t>
                      </a:r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zh-TW" sz="1600" dirty="0"/>
                        <a:t>新增 ISBN 掃描、AI 輔助上架、AI 書況／分類／售價建議、AI 書目補齊、AI 書籍顧問</a:t>
                      </a:r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7371">
                <a:tc>
                  <a:txBody>
                    <a:bodyPr/>
                    <a:lstStyle/>
                    <a:p>
                      <a:r>
                        <a:rPr lang="zh-TW" altLang="zh-TW" sz="1600" dirty="0"/>
                        <a:t>如何防止放入非書籍或</a:t>
                      </a:r>
                      <a:endParaRPr lang="en-US" altLang="zh-TW" sz="1600" dirty="0"/>
                    </a:p>
                    <a:p>
                      <a:r>
                        <a:rPr lang="zh-TW" altLang="zh-TW" sz="1600" dirty="0"/>
                        <a:t>不當交易物品</a:t>
                      </a:r>
                      <a:r>
                        <a:rPr lang="zh-TW" altLang="en-US" sz="1600" dirty="0"/>
                        <a:t> </a:t>
                      </a:r>
                      <a:r>
                        <a:rPr lang="en-US" altLang="zh-TW" sz="1600" dirty="0"/>
                        <a:t>?</a:t>
                      </a:r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zh-TW" dirty="0"/>
                        <a:t>新增上架審核、AI 內容審核、檢舉、防詐提醒、爭議處理與管理員裁決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7371">
                <a:tc>
                  <a:txBody>
                    <a:bodyPr/>
                    <a:lstStyle/>
                    <a:p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7371">
                <a:tc>
                  <a:txBody>
                    <a:bodyPr/>
                    <a:lstStyle/>
                    <a:p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884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3112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>
            <a:extLst>
              <a:ext uri="{FF2B5EF4-FFF2-40B4-BE49-F238E27FC236}">
                <a16:creationId xmlns:a16="http://schemas.microsoft.com/office/drawing/2014/main" id="{64E2B62A-0B17-45BB-8BE2-7C1313144FDE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CACA789-D268-6F20-F7CE-CC1E04CA74B9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0477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 spc="150" dirty="0" err="1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初評建議與改善成果</a:t>
            </a:r>
            <a:r>
              <a:rPr sz="3300" b="1" spc="150" dirty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：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57DD34D-02BD-F5C6-A73E-DA1C396353DB}"/>
              </a:ext>
            </a:extLst>
          </p:cNvPr>
          <p:cNvSpPr>
            <a:spLocks noGrp="1"/>
          </p:cNvSpPr>
          <p:nvPr/>
        </p:nvSpPr>
        <p:spPr>
          <a:xfrm>
            <a:off x="7191375" y="1076325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125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01  初評建議與改善成果</a:t>
            </a:r>
            <a:endParaRPr sz="1400" spc="200">
              <a:solidFill>
                <a:srgbClr val="7E8A9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B1A15D2-F2DB-A848-5B8E-3084BEB782AE}"/>
              </a:ext>
            </a:extLst>
          </p:cNvPr>
          <p:cNvSpPr>
            <a:spLocks noGrp="1"/>
          </p:cNvSpPr>
          <p:nvPr/>
        </p:nvSpPr>
        <p:spPr>
          <a:xfrm>
            <a:off x="10829925" y="631507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4</a:t>
            </a:r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8" name="表格 16"/>
          <p:cNvGraphicFramePr/>
          <p:nvPr>
            <p:extLst>
              <p:ext uri="{D42A27DB-BD31-4B8C-83A1-F6EECF244321}">
                <p14:modId xmlns:p14="http://schemas.microsoft.com/office/powerpoint/2010/main" val="2563556447"/>
              </p:ext>
            </p:extLst>
          </p:nvPr>
        </p:nvGraphicFramePr>
        <p:xfrm>
          <a:off x="762000" y="1790699"/>
          <a:ext cx="10668001" cy="4486855"/>
        </p:xfrm>
        <a:graphic>
          <a:graphicData uri="http://schemas.openxmlformats.org/drawingml/2006/table">
            <a:tbl>
              <a:tblPr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2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7371">
                <a:tc>
                  <a:txBody>
                    <a:bodyPr/>
                    <a:lstStyle/>
                    <a:p>
                      <a:r>
                        <a:rPr sz="1875" b="1" dirty="0" err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初評建議</a:t>
                      </a:r>
                      <a:endParaRPr sz="1875" b="1" dirty="0">
                        <a:solidFill>
                          <a:srgbClr val="FFFFFF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607D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 dirty="0" err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改善方向</a:t>
                      </a:r>
                      <a:endParaRPr sz="1875" b="1" dirty="0">
                        <a:solidFill>
                          <a:srgbClr val="FFFFFF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607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371">
                <a:tc>
                  <a:txBody>
                    <a:bodyPr/>
                    <a:lstStyle/>
                    <a:p>
                      <a:r>
                        <a:rPr lang="zh-TW" altLang="zh-TW" sz="1600" dirty="0"/>
                        <a:t>手機上架與實際放書流程應同步，避免資料庫不一致</a:t>
                      </a:r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zh-TW" sz="1600" dirty="0"/>
                        <a:t>已修正流程為 App 掃描書櫃 QR Code、定位驗證、輸入螢幕數字後開櫃，且須等櫃門關閉後才登記存書或取書。</a:t>
                      </a:r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7371">
                <a:tc>
                  <a:txBody>
                    <a:bodyPr/>
                    <a:lstStyle/>
                    <a:p>
                      <a:r>
                        <a:rPr lang="zh-TW" altLang="zh-TW" sz="1600" dirty="0"/>
                        <a:t>3D 列印若量產需考量耐用性</a:t>
                      </a:r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dirty="0"/>
                        <a:t>最新版改為合板櫃體、壓克力雷射切割面板與櫃門，</a:t>
                      </a:r>
                      <a:r>
                        <a:rPr lang="en-US" altLang="zh-TW" dirty="0"/>
                        <a:t>ESP32-S3 </a:t>
                      </a:r>
                      <a:r>
                        <a:rPr lang="zh-TW" altLang="en-US" dirty="0"/>
                        <a:t>控制四門</a:t>
                      </a: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7371">
                <a:tc>
                  <a:txBody>
                    <a:bodyPr/>
                    <a:lstStyle/>
                    <a:p>
                      <a:r>
                        <a:rPr sz="1725" b="0" dirty="0" err="1">
                          <a:solidFill>
                            <a:srgbClr val="1F2A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差異化與場域落地</a:t>
                      </a:r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 err="1">
                          <a:solidFill>
                            <a:srgbClr val="1F2A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補入讀冊比較與室內合作</a:t>
                      </a:r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7371">
                <a:tc>
                  <a:txBody>
                    <a:bodyPr/>
                    <a:lstStyle/>
                    <a:p>
                      <a:r>
                        <a:rPr lang="zh-TW" altLang="zh-TW" sz="1600" dirty="0"/>
                        <a:t>書櫃設置地點、維護者</a:t>
                      </a:r>
                      <a:endParaRPr lang="en-US" altLang="zh-TW" sz="1600" dirty="0"/>
                    </a:p>
                    <a:p>
                      <a:r>
                        <a:rPr lang="zh-TW" altLang="zh-TW" sz="1600" dirty="0"/>
                        <a:t>首次成本與安全性</a:t>
                      </a:r>
                      <a:r>
                        <a:rPr lang="zh-TW" altLang="en-US" sz="1600" dirty="0"/>
                        <a:t>需</a:t>
                      </a:r>
                      <a:r>
                        <a:rPr lang="zh-TW" altLang="zh-TW" sz="1600" dirty="0"/>
                        <a:t>說</a:t>
                      </a:r>
                      <a:r>
                        <a:rPr lang="zh-TW" altLang="en-US" sz="1600" dirty="0"/>
                        <a:t>明</a:t>
                      </a:r>
                      <a:r>
                        <a:rPr lang="zh-TW" altLang="zh-TW" sz="1600" dirty="0"/>
                        <a:t>清楚</a:t>
                      </a:r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文件中</a:t>
                      </a:r>
                      <a:r>
                        <a:rPr lang="zh-TW" altLang="zh-TW" sz="1600" dirty="0"/>
                        <a:t>新增成本與收益分析、單台書櫃成本、年度維護成本、人力成本、場域維運</a:t>
                      </a:r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884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8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16C7A-3E21-75FC-7CB4-95B687FC8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>
            <a:extLst>
              <a:ext uri="{FF2B5EF4-FFF2-40B4-BE49-F238E27FC236}">
                <a16:creationId xmlns:a16="http://schemas.microsoft.com/office/drawing/2014/main" id="{AE6B7919-B99A-0AC2-DD7E-84722236CAE7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5C8D689-C301-2599-A870-6FE4EC4DC8E1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0477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 spc="150" dirty="0" err="1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初評建議與改善成果</a:t>
            </a:r>
            <a:r>
              <a:rPr sz="3300" b="1" spc="150" dirty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：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39D1077-F10C-78F0-598A-B801E7D97A1F}"/>
              </a:ext>
            </a:extLst>
          </p:cNvPr>
          <p:cNvSpPr>
            <a:spLocks noGrp="1"/>
          </p:cNvSpPr>
          <p:nvPr/>
        </p:nvSpPr>
        <p:spPr>
          <a:xfrm>
            <a:off x="7191375" y="1076325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125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01  初評建議與改善成果</a:t>
            </a:r>
            <a:endParaRPr sz="1400" spc="200">
              <a:solidFill>
                <a:srgbClr val="7E8A9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5BDF7FB-9E75-56D6-002C-22FFAE86C52B}"/>
              </a:ext>
            </a:extLst>
          </p:cNvPr>
          <p:cNvSpPr>
            <a:spLocks noGrp="1"/>
          </p:cNvSpPr>
          <p:nvPr/>
        </p:nvSpPr>
        <p:spPr>
          <a:xfrm>
            <a:off x="10829925" y="631507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4</a:t>
            </a:r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8" name="表格 16">
            <a:extLst>
              <a:ext uri="{FF2B5EF4-FFF2-40B4-BE49-F238E27FC236}">
                <a16:creationId xmlns:a16="http://schemas.microsoft.com/office/drawing/2014/main" id="{6C32E612-414C-3D9A-A20A-F2C3E9BFED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4963826"/>
              </p:ext>
            </p:extLst>
          </p:nvPr>
        </p:nvGraphicFramePr>
        <p:xfrm>
          <a:off x="762000" y="1790699"/>
          <a:ext cx="10668001" cy="4486855"/>
        </p:xfrm>
        <a:graphic>
          <a:graphicData uri="http://schemas.openxmlformats.org/drawingml/2006/table">
            <a:tbl>
              <a:tblPr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2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7371">
                <a:tc>
                  <a:txBody>
                    <a:bodyPr/>
                    <a:lstStyle/>
                    <a:p>
                      <a:r>
                        <a:rPr sz="1875" b="1" dirty="0" err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初評建議</a:t>
                      </a:r>
                      <a:endParaRPr sz="1875" b="1" dirty="0">
                        <a:solidFill>
                          <a:srgbClr val="FFFFFF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607D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 dirty="0" err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改善方向</a:t>
                      </a:r>
                      <a:endParaRPr sz="1875" b="1" dirty="0">
                        <a:solidFill>
                          <a:srgbClr val="FFFFFF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607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371">
                <a:tc>
                  <a:txBody>
                    <a:bodyPr/>
                    <a:lstStyle/>
                    <a:p>
                      <a:r>
                        <a:rPr lang="zh-TW" altLang="zh-TW" sz="1600" dirty="0"/>
                        <a:t>每個書架是否都要掃描裝置</a:t>
                      </a:r>
                      <a:endParaRPr lang="en-US" altLang="zh-TW" sz="1600" dirty="0"/>
                    </a:p>
                    <a:p>
                      <a:r>
                        <a:rPr lang="zh-TW" altLang="zh-TW" sz="1600" dirty="0"/>
                        <a:t>成本如何降低</a:t>
                      </a:r>
                      <a:r>
                        <a:rPr lang="zh-TW" altLang="en-US" sz="1600" dirty="0"/>
                        <a:t> </a:t>
                      </a:r>
                      <a:r>
                        <a:rPr lang="en-US" altLang="zh-TW" sz="1600" dirty="0"/>
                        <a:t>?</a:t>
                      </a:r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zh-TW" sz="1600" dirty="0"/>
                        <a:t>新增單台 ESP32-S3 控制四組電磁鎖與顯示螢幕，並有櫃門管理</a:t>
                      </a:r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7371">
                <a:tc>
                  <a:txBody>
                    <a:bodyPr/>
                    <a:lstStyle/>
                    <a:p>
                      <a:r>
                        <a:rPr lang="zh-TW" altLang="zh-TW" sz="1600" dirty="0"/>
                        <a:t>若不像蝦皮由人員放貨</a:t>
                      </a:r>
                      <a:endParaRPr lang="en-US" altLang="zh-TW" sz="1600" dirty="0"/>
                    </a:p>
                    <a:p>
                      <a:r>
                        <a:rPr lang="zh-TW" altLang="zh-TW" sz="1600" dirty="0"/>
                        <a:t>安全性要如何兼顧</a:t>
                      </a:r>
                      <a:r>
                        <a:rPr lang="zh-TW" altLang="en-US" sz="1600" dirty="0"/>
                        <a:t> </a:t>
                      </a:r>
                      <a:r>
                        <a:rPr lang="en-US" altLang="zh-TW" sz="1600" dirty="0"/>
                        <a:t>?</a:t>
                      </a:r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zh-TW"/>
                        <a:t>新增 QR 一次性挑戰碼</a:t>
                      </a:r>
                      <a:r>
                        <a:rPr lang="zh-TW" altLang="en-US"/>
                        <a:t>、</a:t>
                      </a:r>
                      <a:r>
                        <a:rPr lang="zh-TW" altLang="zh-TW"/>
                        <a:t>定位 200 公尺、數字驗證、裝置憑證、事件紀錄、手動回報確認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7371">
                <a:tc>
                  <a:txBody>
                    <a:bodyPr/>
                    <a:lstStyle/>
                    <a:p>
                      <a:r>
                        <a:rPr lang="zh-TW" altLang="zh-TW" sz="1600" dirty="0"/>
                        <a:t>逾期未取回如何處理</a:t>
                      </a:r>
                      <a:r>
                        <a:rPr lang="zh-TW" altLang="en-US" sz="1600" dirty="0"/>
                        <a:t> </a:t>
                      </a:r>
                      <a:r>
                        <a:rPr lang="en-US" altLang="zh-TW" sz="1600" dirty="0"/>
                        <a:t>?</a:t>
                      </a:r>
                      <a:r>
                        <a:rPr lang="zh-TW" altLang="en-US" sz="1600" dirty="0"/>
                        <a:t> </a:t>
                      </a:r>
                      <a:endParaRPr lang="en-US" altLang="zh-TW" sz="1600" dirty="0"/>
                    </a:p>
                    <a:p>
                      <a:r>
                        <a:rPr lang="zh-TW" altLang="zh-TW" sz="1600" dirty="0"/>
                        <a:t>管理員收回後的法律與存放問題</a:t>
                      </a:r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zh-TW" sz="1600" dirty="0"/>
                        <a:t>新增法律可行性</a:t>
                      </a:r>
                      <a:endParaRPr lang="en-US" altLang="zh-TW" sz="1600" dirty="0"/>
                    </a:p>
                    <a:p>
                      <a:r>
                        <a:rPr lang="zh-TW" altLang="zh-TW" sz="1600" dirty="0"/>
                        <a:t>寄託關係、14 天取出、平台代保管 30 天、可領回／寄回／逾期捐贈或回收</a:t>
                      </a:r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7371">
                <a:tc>
                  <a:txBody>
                    <a:bodyPr/>
                    <a:lstStyle/>
                    <a:p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endParaRPr sz="1725" b="0" dirty="0">
                        <a:solidFill>
                          <a:srgbClr val="1F2A30"/>
                        </a:solidFill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anchor="ctr"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884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1817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30950"/>
            <a:ext cx="12192001" cy="6888950"/>
          </a:xfrm>
          <a:prstGeom prst="rect">
            <a:avLst/>
          </a:prstGeom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AE5384E4-513C-E59C-B03F-1C25CA65DF37}"/>
              </a:ext>
            </a:extLst>
          </p:cNvPr>
          <p:cNvSpPr>
            <a:spLocks noGrp="1"/>
          </p:cNvSpPr>
          <p:nvPr/>
        </p:nvSpPr>
        <p:spPr>
          <a:xfrm>
            <a:off x="981143" y="1814922"/>
            <a:ext cx="46939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0" b="1" spc="100">
                <a:gradFill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02</a:t>
            </a:r>
            <a:endParaRPr sz="20000" b="1" spc="10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E1AB0AA-73E8-A249-4954-F0FDF27AF398}"/>
              </a:ext>
            </a:extLst>
          </p:cNvPr>
          <p:cNvSpPr>
            <a:spLocks noGrp="1"/>
          </p:cNvSpPr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21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6000" b="1">
                <a:solidFill>
                  <a:schemeClr val="bg1">
                    <a:lumMod val="95000"/>
                  </a:schemeClr>
                </a:solidFill>
                <a:latin typeface="Noto Sans TC"/>
                <a:ea typeface="Noto Sans TC"/>
                <a:cs typeface="Noto Sans TC"/>
              </a:rPr>
              <a:t>核心與系統設計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93D84D94-6149-9B4D-0D6B-055914A00CAB}"/>
              </a:ext>
            </a:extLst>
          </p:cNvPr>
          <p:cNvSpPr>
            <a:spLocks noGrp="1"/>
          </p:cNvSpPr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sz="2800" spc="100">
                <a:solidFill>
                  <a:srgbClr val="F8FAFB"/>
                </a:solidFill>
                <a:latin typeface="Noto Sans TC Medium"/>
                <a:ea typeface="Noto Sans TC Medium"/>
                <a:cs typeface="Noto Sans TC Medium"/>
              </a:rPr>
              <a:t>報告人</a:t>
            </a:r>
            <a:r>
              <a:rPr sz="2800" b="1" spc="100">
                <a:solidFill>
                  <a:srgbClr val="F8FAFB"/>
                </a:solidFill>
                <a:latin typeface="+mj-ea"/>
                <a:ea typeface="+mj-ea"/>
                <a:cs typeface="+mj-ea"/>
              </a:rPr>
              <a:t>｜</a:t>
            </a:r>
            <a:endParaRPr sz="2800" spc="100">
              <a:solidFill>
                <a:srgbClr val="F8FAFB"/>
              </a:solidFill>
              <a:latin typeface="Noto Sans TC Medium"/>
              <a:ea typeface="Noto Sans TC Medium"/>
              <a:cs typeface="Noto Sans T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47825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>
            <a:extLst>
              <a:ext uri="{FF2B5EF4-FFF2-40B4-BE49-F238E27FC236}">
                <a16:creationId xmlns:a16="http://schemas.microsoft.com/office/drawing/2014/main" id="{64E2B62A-0B17-45BB-8BE2-7C1313144FDE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CACA789-D268-6F20-F7CE-CC1E04CA74B9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0477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 spc="15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背景與核心需求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57DD34D-02BD-F5C6-A73E-DA1C396353DB}"/>
              </a:ext>
            </a:extLst>
          </p:cNvPr>
          <p:cNvSpPr>
            <a:spLocks noGrp="1"/>
          </p:cNvSpPr>
          <p:nvPr/>
        </p:nvSpPr>
        <p:spPr>
          <a:xfrm>
            <a:off x="7191375" y="1076325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125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02  專題核心與系統設計</a:t>
            </a:r>
            <a:endParaRPr sz="1400" spc="200">
              <a:solidFill>
                <a:srgbClr val="7E8A9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B1A15D2-F2DB-A848-5B8E-3084BEB782AE}"/>
              </a:ext>
            </a:extLst>
          </p:cNvPr>
          <p:cNvSpPr>
            <a:spLocks noGrp="1"/>
          </p:cNvSpPr>
          <p:nvPr/>
        </p:nvSpPr>
        <p:spPr>
          <a:xfrm>
            <a:off x="10829925" y="631507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5</a:t>
            </a:r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DFC4DF-FE9F-4610-8A92-F9A132D680C8}"/>
              </a:ext>
            </a:extLst>
          </p:cNvPr>
          <p:cNvSpPr>
            <a:spLocks noGrp="1"/>
          </p:cNvSpPr>
          <p:nvPr/>
        </p:nvSpPr>
        <p:spPr>
          <a:xfrm>
            <a:off x="762000" y="2162175"/>
            <a:ext cx="3257550" cy="1114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6300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6300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35%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EC5148-2B7F-49EF-B21F-858299302955}"/>
              </a:ext>
            </a:extLst>
          </p:cNvPr>
          <p:cNvSpPr>
            <a:spLocks noGrp="1"/>
          </p:cNvSpPr>
          <p:nvPr/>
        </p:nvSpPr>
        <p:spPr>
          <a:xfrm>
            <a:off x="762000" y="3571875"/>
            <a:ext cx="325755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閒置書想清空，</a:t>
            </a:r>
          </a:p>
          <a:p>
            <a:pPr algn="ctr">
              <a:buNone/>
              <a:defRPr sz="210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卻懶得處理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3AFC92-36D9-49FB-BAE8-68AE58F6510C}"/>
              </a:ext>
            </a:extLst>
          </p:cNvPr>
          <p:cNvSpPr>
            <a:spLocks noGrp="1"/>
          </p:cNvSpPr>
          <p:nvPr/>
        </p:nvSpPr>
        <p:spPr>
          <a:xfrm>
            <a:off x="4381500" y="2162175"/>
            <a:ext cx="3257550" cy="1114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6300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6300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57.9%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4C42D0-FE30-452E-BD02-DACB02115271}"/>
              </a:ext>
            </a:extLst>
          </p:cNvPr>
          <p:cNvSpPr>
            <a:spLocks noGrp="1"/>
          </p:cNvSpPr>
          <p:nvPr/>
        </p:nvSpPr>
        <p:spPr>
          <a:xfrm>
            <a:off x="4381500" y="3571875"/>
            <a:ext cx="325755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寄送不便在於</a:t>
            </a:r>
          </a:p>
          <a:p>
            <a:pPr algn="ctr">
              <a:buNone/>
              <a:defRPr sz="210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包裝與跑超商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45D41A-FF59-4EF9-B44F-449587CFFF52}"/>
              </a:ext>
            </a:extLst>
          </p:cNvPr>
          <p:cNvSpPr>
            <a:spLocks noGrp="1"/>
          </p:cNvSpPr>
          <p:nvPr/>
        </p:nvSpPr>
        <p:spPr>
          <a:xfrm>
            <a:off x="8001000" y="2162175"/>
            <a:ext cx="3257550" cy="1114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6300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6300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51.4%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C163494-2633-4361-A815-2A811B415908}"/>
              </a:ext>
            </a:extLst>
          </p:cNvPr>
          <p:cNvSpPr>
            <a:spLocks noGrp="1"/>
          </p:cNvSpPr>
          <p:nvPr/>
        </p:nvSpPr>
        <p:spPr>
          <a:xfrm>
            <a:off x="8001000" y="3571875"/>
            <a:ext cx="325755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偏好實體儲物櫃</a:t>
            </a:r>
          </a:p>
          <a:p>
            <a:pPr algn="ctr">
              <a:buNone/>
              <a:defRPr sz="210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作為改善方案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31C7E0E-E0E3-4397-8EB1-03DD55E2EA5A}"/>
              </a:ext>
            </a:extLst>
          </p:cNvPr>
          <p:cNvSpPr>
            <a:spLocks noGrp="1"/>
          </p:cNvSpPr>
          <p:nvPr/>
        </p:nvSpPr>
        <p:spPr>
          <a:xfrm>
            <a:off x="762000" y="5238750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025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AI 降低上架負擔，App 串接交易，智慧書櫃支援非同步交付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9FD0852-629F-4F0D-8FF7-83AD698D813D}"/>
              </a:ext>
            </a:extLst>
          </p:cNvPr>
          <p:cNvSpPr>
            <a:spLocks noGrp="1"/>
          </p:cNvSpPr>
          <p:nvPr/>
        </p:nvSpPr>
        <p:spPr>
          <a:xfrm>
            <a:off x="762000" y="5953125"/>
            <a:ext cx="106680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498 份有效問卷；各比例來自不同題項，非相同題目的分布。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BF11547-E194-23F1-90DC-EF5916161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611" y="4795473"/>
            <a:ext cx="6681727" cy="364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1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8B647-D4E4-2C59-0824-59BC20A5C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>
            <a:extLst>
              <a:ext uri="{FF2B5EF4-FFF2-40B4-BE49-F238E27FC236}">
                <a16:creationId xmlns:a16="http://schemas.microsoft.com/office/drawing/2014/main" id="{5A2BC045-7997-4817-A4CF-B4E519B42F1E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4C8BEE5-6982-C0A0-0729-DA5090D73449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0477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3300" b="1" spc="150" dirty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打造交易閉環</a:t>
            </a:r>
            <a:endParaRPr sz="3300" b="1" spc="150" dirty="0">
              <a:solidFill>
                <a:srgbClr val="1F2A30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8F0AEB-5383-A487-6732-A4F00841525F}"/>
              </a:ext>
            </a:extLst>
          </p:cNvPr>
          <p:cNvSpPr>
            <a:spLocks noGrp="1"/>
          </p:cNvSpPr>
          <p:nvPr/>
        </p:nvSpPr>
        <p:spPr>
          <a:xfrm>
            <a:off x="7191375" y="1076325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125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02  專題核心與系統設計</a:t>
            </a:r>
            <a:endParaRPr sz="1400" spc="200">
              <a:solidFill>
                <a:srgbClr val="7E8A9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9FBE685-864A-EE65-2B1B-A5458B78D0E1}"/>
              </a:ext>
            </a:extLst>
          </p:cNvPr>
          <p:cNvSpPr>
            <a:spLocks noGrp="1"/>
          </p:cNvSpPr>
          <p:nvPr/>
        </p:nvSpPr>
        <p:spPr>
          <a:xfrm>
            <a:off x="10829925" y="631507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5</a:t>
            </a:r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A91865BD-7FE3-C418-9E9A-306E4F998D3B}"/>
              </a:ext>
            </a:extLst>
          </p:cNvPr>
          <p:cNvSpPr txBox="1"/>
          <p:nvPr/>
        </p:nvSpPr>
        <p:spPr>
          <a:xfrm>
            <a:off x="1373429" y="2690336"/>
            <a:ext cx="59490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</a:rPr>
              <a:t>APP：媒合、交易、訂單管理</a:t>
            </a:r>
            <a:endParaRPr lang="en-US" altLang="zh-TW" sz="1800" b="0" i="0" dirty="0">
              <a:solidFill>
                <a:schemeClr val="tx1"/>
              </a:solidFill>
              <a:effectLst/>
            </a:endParaRPr>
          </a:p>
          <a:p>
            <a:pPr algn="l" rtl="0">
              <a:buNone/>
            </a:pPr>
            <a:endParaRPr lang="zh-TW" altLang="zh-TW" sz="1800" dirty="0">
              <a:effectLst/>
            </a:endParaRPr>
          </a:p>
          <a:p>
            <a:pPr algn="l" rtl="0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</a:rPr>
              <a:t>AI：降低上架成本、改善書況資訊、協助選書</a:t>
            </a:r>
            <a:endParaRPr lang="en-US" altLang="zh-TW" sz="1800" b="0" i="0" dirty="0">
              <a:solidFill>
                <a:schemeClr val="tx1"/>
              </a:solidFill>
              <a:effectLst/>
            </a:endParaRPr>
          </a:p>
          <a:p>
            <a:pPr algn="l" rtl="0">
              <a:buNone/>
            </a:pPr>
            <a:endParaRPr lang="zh-TW" altLang="zh-TW" sz="1800" dirty="0">
              <a:effectLst/>
            </a:endParaRPr>
          </a:p>
          <a:p>
            <a:pPr algn="l" rtl="0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</a:rPr>
              <a:t>IoT 智慧書櫃：非同步存書／取書</a:t>
            </a:r>
            <a:endParaRPr lang="zh-TW" altLang="zh-TW" sz="1200" dirty="0">
              <a:effectLst/>
            </a:endParaRPr>
          </a:p>
        </p:txBody>
      </p:sp>
      <p:pic>
        <p:nvPicPr>
          <p:cNvPr id="43" name="圖片 42">
            <a:extLst>
              <a:ext uri="{FF2B5EF4-FFF2-40B4-BE49-F238E27FC236}">
                <a16:creationId xmlns:a16="http://schemas.microsoft.com/office/drawing/2014/main" id="{58965029-7911-5EBA-B753-0A0C8F39C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962" y="2007140"/>
            <a:ext cx="4941038" cy="328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757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>
            <a:extLst>
              <a:ext uri="{FF2B5EF4-FFF2-40B4-BE49-F238E27FC236}">
                <a16:creationId xmlns:a16="http://schemas.microsoft.com/office/drawing/2014/main" id="{64E2B62A-0B17-45BB-8BE2-7C1313144FDE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CACA789-D268-6F20-F7CE-CC1E04CA74B9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0477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3300" b="1" spc="150" dirty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系統架構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57DD34D-02BD-F5C6-A73E-DA1C396353DB}"/>
              </a:ext>
            </a:extLst>
          </p:cNvPr>
          <p:cNvSpPr>
            <a:spLocks noGrp="1"/>
          </p:cNvSpPr>
          <p:nvPr/>
        </p:nvSpPr>
        <p:spPr>
          <a:xfrm>
            <a:off x="7191375" y="1076325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125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02  專題核心與系統設計</a:t>
            </a:r>
            <a:endParaRPr sz="1400" spc="200">
              <a:solidFill>
                <a:srgbClr val="7E8A9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B1A15D2-F2DB-A848-5B8E-3084BEB782AE}"/>
              </a:ext>
            </a:extLst>
          </p:cNvPr>
          <p:cNvSpPr>
            <a:spLocks noGrp="1"/>
          </p:cNvSpPr>
          <p:nvPr/>
        </p:nvSpPr>
        <p:spPr>
          <a:xfrm>
            <a:off x="10829925" y="631507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6</a:t>
            </a:r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A298DE2-2C99-4A53-A73B-45CDB09D0F97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2857500" cy="1114425"/>
          </a:xfrm>
          <a:prstGeom prst="rect">
            <a:avLst/>
          </a:prstGeom>
          <a:solidFill>
            <a:srgbClr val="E7ECE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CC164B-4028-40CE-A1D5-89F452CE60AA}"/>
              </a:ext>
            </a:extLst>
          </p:cNvPr>
          <p:cNvSpPr>
            <a:spLocks noGrp="1"/>
          </p:cNvSpPr>
          <p:nvPr/>
        </p:nvSpPr>
        <p:spPr>
          <a:xfrm>
            <a:off x="923925" y="2133600"/>
            <a:ext cx="25336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10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Flutter App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82156B-A9AD-44FA-8D76-A23A9AD64CFC}"/>
              </a:ext>
            </a:extLst>
          </p:cNvPr>
          <p:cNvSpPr>
            <a:spLocks noGrp="1"/>
          </p:cNvSpPr>
          <p:nvPr/>
        </p:nvSpPr>
        <p:spPr>
          <a:xfrm>
            <a:off x="923925" y="2638425"/>
            <a:ext cx="25336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75" b="0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登入、媒合與管理端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DBBF2A5-4BE5-4274-818A-0341101AF652}"/>
              </a:ext>
            </a:extLst>
          </p:cNvPr>
          <p:cNvSpPr>
            <a:spLocks noGrp="1"/>
          </p:cNvSpPr>
          <p:nvPr/>
        </p:nvSpPr>
        <p:spPr>
          <a:xfrm>
            <a:off x="4410075" y="1952625"/>
            <a:ext cx="3286125" cy="1114425"/>
          </a:xfrm>
          <a:prstGeom prst="rect">
            <a:avLst/>
          </a:prstGeom>
          <a:solidFill>
            <a:srgbClr val="E7ECE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9E6D8A6-851A-4645-91B2-4DC591E5F45F}"/>
              </a:ext>
            </a:extLst>
          </p:cNvPr>
          <p:cNvSpPr>
            <a:spLocks noGrp="1"/>
          </p:cNvSpPr>
          <p:nvPr/>
        </p:nvSpPr>
        <p:spPr>
          <a:xfrm>
            <a:off x="4572000" y="2133600"/>
            <a:ext cx="29622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10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Express Backend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8E17ADD-F951-4EA8-A709-AA9EFAA77415}"/>
              </a:ext>
            </a:extLst>
          </p:cNvPr>
          <p:cNvSpPr>
            <a:spLocks noGrp="1"/>
          </p:cNvSpPr>
          <p:nvPr/>
        </p:nvSpPr>
        <p:spPr>
          <a:xfrm>
            <a:off x="4572000" y="2638425"/>
            <a:ext cx="29622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75" b="0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REST API／交易與權限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FCECB88-A9E2-4215-B447-D0309E5F3333}"/>
              </a:ext>
            </a:extLst>
          </p:cNvPr>
          <p:cNvSpPr>
            <a:spLocks noGrp="1"/>
          </p:cNvSpPr>
          <p:nvPr/>
        </p:nvSpPr>
        <p:spPr>
          <a:xfrm>
            <a:off x="8553450" y="1952625"/>
            <a:ext cx="2876550" cy="1114425"/>
          </a:xfrm>
          <a:prstGeom prst="rect">
            <a:avLst/>
          </a:prstGeom>
          <a:solidFill>
            <a:srgbClr val="E7ECE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D9E35EF-624E-4927-A4D5-4B5B71AAEE8A}"/>
              </a:ext>
            </a:extLst>
          </p:cNvPr>
          <p:cNvSpPr>
            <a:spLocks noGrp="1"/>
          </p:cNvSpPr>
          <p:nvPr/>
        </p:nvSpPr>
        <p:spPr>
          <a:xfrm>
            <a:off x="8715375" y="2133600"/>
            <a:ext cx="25527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10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25ADFDD-F060-48A0-AEFC-35FA0228BA78}"/>
              </a:ext>
            </a:extLst>
          </p:cNvPr>
          <p:cNvSpPr>
            <a:spLocks noGrp="1"/>
          </p:cNvSpPr>
          <p:nvPr/>
        </p:nvSpPr>
        <p:spPr>
          <a:xfrm>
            <a:off x="8715375" y="2638425"/>
            <a:ext cx="25527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75" b="0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Prisma 資料存取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2EC818D-9DEC-4F89-AD8F-DA367820BCB6}"/>
              </a:ext>
            </a:extLst>
          </p:cNvPr>
          <p:cNvSpPr>
            <a:spLocks noGrp="1"/>
          </p:cNvSpPr>
          <p:nvPr/>
        </p:nvSpPr>
        <p:spPr>
          <a:xfrm>
            <a:off x="3829050" y="4010025"/>
            <a:ext cx="4533900" cy="1114425"/>
          </a:xfrm>
          <a:prstGeom prst="rect">
            <a:avLst/>
          </a:prstGeom>
          <a:solidFill>
            <a:srgbClr val="E7ECE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33D3716-F7D4-45FD-9E01-7F220AD620E7}"/>
              </a:ext>
            </a:extLst>
          </p:cNvPr>
          <p:cNvSpPr>
            <a:spLocks noGrp="1"/>
          </p:cNvSpPr>
          <p:nvPr/>
        </p:nvSpPr>
        <p:spPr>
          <a:xfrm>
            <a:off x="3990975" y="4191000"/>
            <a:ext cx="42100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10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ESP32-S3 智慧書櫃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1A3DA3E-5123-4FF1-BD31-43DA208A3682}"/>
              </a:ext>
            </a:extLst>
          </p:cNvPr>
          <p:cNvSpPr>
            <a:spLocks noGrp="1"/>
          </p:cNvSpPr>
          <p:nvPr/>
        </p:nvSpPr>
        <p:spPr>
          <a:xfrm>
            <a:off x="3990975" y="4695825"/>
            <a:ext cx="42100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75" b="0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HTTPS 裝置 API／開鎖與事件回報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00A4FF2-614F-4ACD-A867-A8B3DB2966F2}"/>
              </a:ext>
            </a:extLst>
          </p:cNvPr>
          <p:cNvSpPr>
            <a:spLocks noGrp="1"/>
          </p:cNvSpPr>
          <p:nvPr/>
        </p:nvSpPr>
        <p:spPr>
          <a:xfrm>
            <a:off x="3762375" y="2171700"/>
            <a:ext cx="5143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225" b="0">
                <a:solidFill>
                  <a:srgbClr val="607D8B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0">
                <a:solidFill>
                  <a:srgbClr val="607D8B"/>
                </a:solidFill>
                <a:latin typeface="Noto Sans TC"/>
                <a:ea typeface="Noto Sans TC"/>
                <a:cs typeface="Noto Sans TC"/>
              </a:rPr>
              <a:t>⇄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C89CA9E-8067-48A7-B297-5C76553FFEF7}"/>
              </a:ext>
            </a:extLst>
          </p:cNvPr>
          <p:cNvSpPr>
            <a:spLocks noGrp="1"/>
          </p:cNvSpPr>
          <p:nvPr/>
        </p:nvSpPr>
        <p:spPr>
          <a:xfrm>
            <a:off x="7858125" y="2171700"/>
            <a:ext cx="5143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225" b="0">
                <a:solidFill>
                  <a:srgbClr val="607D8B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0">
                <a:solidFill>
                  <a:srgbClr val="607D8B"/>
                </a:solidFill>
                <a:latin typeface="Noto Sans TC"/>
                <a:ea typeface="Noto Sans TC"/>
                <a:cs typeface="Noto Sans TC"/>
              </a:rPr>
              <a:t>⇄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1082556-1E53-47D9-823D-707C4C0A911C}"/>
              </a:ext>
            </a:extLst>
          </p:cNvPr>
          <p:cNvSpPr>
            <a:spLocks noGrp="1"/>
          </p:cNvSpPr>
          <p:nvPr/>
        </p:nvSpPr>
        <p:spPr>
          <a:xfrm>
            <a:off x="5829300" y="3238500"/>
            <a:ext cx="571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225" b="0">
                <a:solidFill>
                  <a:srgbClr val="607D8B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0">
                <a:solidFill>
                  <a:srgbClr val="607D8B"/>
                </a:solidFill>
                <a:latin typeface="Noto Sans TC"/>
                <a:ea typeface="Noto Sans TC"/>
                <a:cs typeface="Noto Sans TC"/>
              </a:rPr>
              <a:t>⇅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C11F60-432C-4607-8F0D-56DC3C440186}"/>
              </a:ext>
            </a:extLst>
          </p:cNvPr>
          <p:cNvSpPr>
            <a:spLocks noGrp="1"/>
          </p:cNvSpPr>
          <p:nvPr/>
        </p:nvSpPr>
        <p:spPr>
          <a:xfrm>
            <a:off x="762000" y="4067175"/>
            <a:ext cx="280987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AI 服務</a:t>
            </a:r>
          </a:p>
          <a:p>
            <a:pPr algn="l">
              <a:buNone/>
              <a:defRPr sz="1875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上架、顧問與客服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5535B96-9C04-48EC-8453-751345082DA2}"/>
              </a:ext>
            </a:extLst>
          </p:cNvPr>
          <p:cNvSpPr>
            <a:spLocks noGrp="1"/>
          </p:cNvSpPr>
          <p:nvPr/>
        </p:nvSpPr>
        <p:spPr>
          <a:xfrm>
            <a:off x="8705850" y="4067175"/>
            <a:ext cx="27241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即時訊息與推播</a:t>
            </a:r>
          </a:p>
          <a:p>
            <a:pPr algn="l">
              <a:buNone/>
              <a:defRPr sz="1725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Socket.IO／Firebase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F2DBD4D-E760-49E5-9A9D-992C82DB49D9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1">
                <a:solidFill>
                  <a:srgbClr val="B54646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B54646"/>
                </a:solidFill>
                <a:latin typeface="Noto Sans TC"/>
                <a:ea typeface="Noto Sans TC"/>
                <a:cs typeface="Noto Sans TC"/>
              </a:rPr>
              <a:t>複評補強：AI 整合、代幣暫管、存取驗證、平台治理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83360B4-D266-CF04-B463-4F2D6C1F4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75" y="5599923"/>
            <a:ext cx="6118489" cy="251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8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>
            <a:extLst>
              <a:ext uri="{FF2B5EF4-FFF2-40B4-BE49-F238E27FC236}">
                <a16:creationId xmlns:a16="http://schemas.microsoft.com/office/drawing/2014/main" id="{64E2B62A-0B17-45BB-8BE2-7C1313144FDE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CACA789-D268-6F20-F7CE-CC1E04CA74B9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0477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 spc="15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完整交易操作流程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57DD34D-02BD-F5C6-A73E-DA1C396353DB}"/>
              </a:ext>
            </a:extLst>
          </p:cNvPr>
          <p:cNvSpPr>
            <a:spLocks noGrp="1"/>
          </p:cNvSpPr>
          <p:nvPr/>
        </p:nvSpPr>
        <p:spPr>
          <a:xfrm>
            <a:off x="7191375" y="1076325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125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03  APP 完整交易 Demo</a:t>
            </a:r>
            <a:endParaRPr sz="1400" spc="200">
              <a:solidFill>
                <a:srgbClr val="7E8A9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B1A15D2-F2DB-A848-5B8E-3084BEB782AE}"/>
              </a:ext>
            </a:extLst>
          </p:cNvPr>
          <p:cNvSpPr>
            <a:spLocks noGrp="1"/>
          </p:cNvSpPr>
          <p:nvPr/>
        </p:nvSpPr>
        <p:spPr>
          <a:xfrm>
            <a:off x="10829925" y="631507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7</a:t>
            </a:r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2FD206-FAF9-4C8F-A703-9692C7D42512}"/>
              </a:ext>
            </a:extLst>
          </p:cNvPr>
          <p:cNvSpPr>
            <a:spLocks noGrp="1"/>
          </p:cNvSpPr>
          <p:nvPr/>
        </p:nvSpPr>
        <p:spPr>
          <a:xfrm>
            <a:off x="762000" y="1781175"/>
            <a:ext cx="106680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2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同一本書、兩個角色、一筆訂單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CFE706-111B-4A77-9F77-285632CFA1A2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2238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24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A084B2A-2BB5-47D8-9DA4-AF0E892CC213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24288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025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登入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F057A76-F67F-4163-BD2A-C484E464D3C0}"/>
              </a:ext>
            </a:extLst>
          </p:cNvPr>
          <p:cNvSpPr>
            <a:spLocks noGrp="1"/>
          </p:cNvSpPr>
          <p:nvPr/>
        </p:nvSpPr>
        <p:spPr>
          <a:xfrm>
            <a:off x="3114675" y="3276600"/>
            <a:ext cx="33337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8AA1AC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8AA1AC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A67D40B-5A25-409D-B55B-BD25B60195AA}"/>
              </a:ext>
            </a:extLst>
          </p:cNvPr>
          <p:cNvSpPr>
            <a:spLocks noGrp="1"/>
          </p:cNvSpPr>
          <p:nvPr/>
        </p:nvSpPr>
        <p:spPr>
          <a:xfrm>
            <a:off x="3476625" y="2838450"/>
            <a:ext cx="2238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24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44C46E-F5AF-48BC-BD9F-F51B587AC21A}"/>
              </a:ext>
            </a:extLst>
          </p:cNvPr>
          <p:cNvSpPr>
            <a:spLocks noGrp="1"/>
          </p:cNvSpPr>
          <p:nvPr/>
        </p:nvSpPr>
        <p:spPr>
          <a:xfrm>
            <a:off x="3476625" y="3352800"/>
            <a:ext cx="24288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025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賣家上架＋AI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D573985-0F36-4936-83D7-C1ECBA3C550F}"/>
              </a:ext>
            </a:extLst>
          </p:cNvPr>
          <p:cNvSpPr>
            <a:spLocks noGrp="1"/>
          </p:cNvSpPr>
          <p:nvPr/>
        </p:nvSpPr>
        <p:spPr>
          <a:xfrm>
            <a:off x="5829300" y="3276600"/>
            <a:ext cx="33337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8AA1AC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8AA1AC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BB0124E-28A2-433D-BA9F-D9935E4DFA23}"/>
              </a:ext>
            </a:extLst>
          </p:cNvPr>
          <p:cNvSpPr>
            <a:spLocks noGrp="1"/>
          </p:cNvSpPr>
          <p:nvPr/>
        </p:nvSpPr>
        <p:spPr>
          <a:xfrm>
            <a:off x="6191250" y="2838450"/>
            <a:ext cx="2238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24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84E18C2-AC79-45C1-A336-8EDE3BF44C90}"/>
              </a:ext>
            </a:extLst>
          </p:cNvPr>
          <p:cNvSpPr>
            <a:spLocks noGrp="1"/>
          </p:cNvSpPr>
          <p:nvPr/>
        </p:nvSpPr>
        <p:spPr>
          <a:xfrm>
            <a:off x="6191250" y="3352800"/>
            <a:ext cx="24288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025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買家找書＋顧問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CDD535-0B1E-45F8-BD94-50F4336FF8AE}"/>
              </a:ext>
            </a:extLst>
          </p:cNvPr>
          <p:cNvSpPr>
            <a:spLocks noGrp="1"/>
          </p:cNvSpPr>
          <p:nvPr/>
        </p:nvSpPr>
        <p:spPr>
          <a:xfrm>
            <a:off x="8543925" y="3276600"/>
            <a:ext cx="33337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8AA1AC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8AA1AC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3480964-F230-49A9-8037-3027CF527142}"/>
              </a:ext>
            </a:extLst>
          </p:cNvPr>
          <p:cNvSpPr>
            <a:spLocks noGrp="1"/>
          </p:cNvSpPr>
          <p:nvPr/>
        </p:nvSpPr>
        <p:spPr>
          <a:xfrm>
            <a:off x="8905875" y="2838450"/>
            <a:ext cx="2238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24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4F89136-472F-4510-BB0C-0513CFE35F39}"/>
              </a:ext>
            </a:extLst>
          </p:cNvPr>
          <p:cNvSpPr>
            <a:spLocks noGrp="1"/>
          </p:cNvSpPr>
          <p:nvPr/>
        </p:nvSpPr>
        <p:spPr>
          <a:xfrm>
            <a:off x="8905875" y="3352800"/>
            <a:ext cx="24288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025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下單付款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2997E1B-3BC5-4C81-A2A4-ECFA4E626C35}"/>
              </a:ext>
            </a:extLst>
          </p:cNvPr>
          <p:cNvSpPr>
            <a:spLocks noGrp="1"/>
          </p:cNvSpPr>
          <p:nvPr/>
        </p:nvSpPr>
        <p:spPr>
          <a:xfrm>
            <a:off x="762000" y="4238625"/>
            <a:ext cx="2238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24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4B07A56-E145-48D8-B202-96A416DA11D6}"/>
              </a:ext>
            </a:extLst>
          </p:cNvPr>
          <p:cNvSpPr>
            <a:spLocks noGrp="1"/>
          </p:cNvSpPr>
          <p:nvPr/>
        </p:nvSpPr>
        <p:spPr>
          <a:xfrm>
            <a:off x="762000" y="4752975"/>
            <a:ext cx="24288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025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賣家存書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CEF19BF-3BD4-4C35-A078-E653F6278E45}"/>
              </a:ext>
            </a:extLst>
          </p:cNvPr>
          <p:cNvSpPr>
            <a:spLocks noGrp="1"/>
          </p:cNvSpPr>
          <p:nvPr/>
        </p:nvSpPr>
        <p:spPr>
          <a:xfrm>
            <a:off x="3114675" y="4676775"/>
            <a:ext cx="33337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8AA1AC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8AA1AC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EEDDC23-B696-47DB-8E7D-7F4F79CE2F19}"/>
              </a:ext>
            </a:extLst>
          </p:cNvPr>
          <p:cNvSpPr>
            <a:spLocks noGrp="1"/>
          </p:cNvSpPr>
          <p:nvPr/>
        </p:nvSpPr>
        <p:spPr>
          <a:xfrm>
            <a:off x="3476625" y="4238625"/>
            <a:ext cx="2238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24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84EA2E2-C95B-4943-BD7F-C85A934038CF}"/>
              </a:ext>
            </a:extLst>
          </p:cNvPr>
          <p:cNvSpPr>
            <a:spLocks noGrp="1"/>
          </p:cNvSpPr>
          <p:nvPr/>
        </p:nvSpPr>
        <p:spPr>
          <a:xfrm>
            <a:off x="3476625" y="4752975"/>
            <a:ext cx="24288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025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買家取書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9DC5EB0-640A-4CD4-BB56-26E95A373C94}"/>
              </a:ext>
            </a:extLst>
          </p:cNvPr>
          <p:cNvSpPr>
            <a:spLocks noGrp="1"/>
          </p:cNvSpPr>
          <p:nvPr/>
        </p:nvSpPr>
        <p:spPr>
          <a:xfrm>
            <a:off x="5829300" y="4676775"/>
            <a:ext cx="33337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8AA1AC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8AA1AC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58AACFF-95C7-4DA5-AB66-5C37970AD310}"/>
              </a:ext>
            </a:extLst>
          </p:cNvPr>
          <p:cNvSpPr>
            <a:spLocks noGrp="1"/>
          </p:cNvSpPr>
          <p:nvPr/>
        </p:nvSpPr>
        <p:spPr>
          <a:xfrm>
            <a:off x="6191250" y="4238625"/>
            <a:ext cx="2238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24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102E94C-BD9A-4670-A876-885189741F67}"/>
              </a:ext>
            </a:extLst>
          </p:cNvPr>
          <p:cNvSpPr>
            <a:spLocks noGrp="1"/>
          </p:cNvSpPr>
          <p:nvPr/>
        </p:nvSpPr>
        <p:spPr>
          <a:xfrm>
            <a:off x="6191250" y="4752975"/>
            <a:ext cx="24288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025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驗收／爭議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D6D7BB5-CC81-4B09-820F-DA901853AA0C}"/>
              </a:ext>
            </a:extLst>
          </p:cNvPr>
          <p:cNvSpPr>
            <a:spLocks noGrp="1"/>
          </p:cNvSpPr>
          <p:nvPr/>
        </p:nvSpPr>
        <p:spPr>
          <a:xfrm>
            <a:off x="8543925" y="4676775"/>
            <a:ext cx="33337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8AA1AC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8AA1AC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06F6FE3-2265-411B-A8D5-4A27EE701746}"/>
              </a:ext>
            </a:extLst>
          </p:cNvPr>
          <p:cNvSpPr>
            <a:spLocks noGrp="1"/>
          </p:cNvSpPr>
          <p:nvPr/>
        </p:nvSpPr>
        <p:spPr>
          <a:xfrm>
            <a:off x="8905875" y="4238625"/>
            <a:ext cx="2238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24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08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8AED8C1-8E28-48FC-8AA3-562CA4A17372}"/>
              </a:ext>
            </a:extLst>
          </p:cNvPr>
          <p:cNvSpPr>
            <a:spLocks noGrp="1"/>
          </p:cNvSpPr>
          <p:nvPr/>
        </p:nvSpPr>
        <p:spPr>
          <a:xfrm>
            <a:off x="8905875" y="4752975"/>
            <a:ext cx="24288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025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交易完成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855EC99-429D-420C-8967-301C1DB4D770}"/>
              </a:ext>
            </a:extLst>
          </p:cNvPr>
          <p:cNvSpPr>
            <a:spLocks noGrp="1"/>
          </p:cNvSpPr>
          <p:nvPr/>
        </p:nvSpPr>
        <p:spPr>
          <a:xfrm>
            <a:off x="762000" y="59245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完整保留登入、上架、付款與智慧書櫃存取</a:t>
            </a:r>
          </a:p>
        </p:txBody>
      </p:sp>
    </p:spTree>
    <p:extLst>
      <p:ext uri="{BB962C8B-B14F-4D97-AF65-F5344CB8AC3E}">
        <p14:creationId xmlns:p14="http://schemas.microsoft.com/office/powerpoint/2010/main" val="1964316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5ECE8-3D21-6B69-818F-13E574927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>
            <a:extLst>
              <a:ext uri="{FF2B5EF4-FFF2-40B4-BE49-F238E27FC236}">
                <a16:creationId xmlns:a16="http://schemas.microsoft.com/office/drawing/2014/main" id="{C23E51DB-FC1F-0424-CBF3-F4617A1C6CFA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ACEFA62-FCD0-B440-FFB2-570B21D343CC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0477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lang="en-US" altLang="zh-TW" sz="3300" b="1" spc="150" dirty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AI</a:t>
            </a:r>
            <a:r>
              <a:rPr lang="zh-TW" altLang="en-US" sz="3300" b="1" spc="150" dirty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功能整合</a:t>
            </a:r>
            <a:endParaRPr sz="3300" b="1" spc="150" dirty="0">
              <a:solidFill>
                <a:srgbClr val="1F2A30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EC49CA1-09A8-9A99-E61A-723D7A15EC09}"/>
              </a:ext>
            </a:extLst>
          </p:cNvPr>
          <p:cNvSpPr>
            <a:spLocks noGrp="1"/>
          </p:cNvSpPr>
          <p:nvPr/>
        </p:nvSpPr>
        <p:spPr>
          <a:xfrm>
            <a:off x="10829925" y="631507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7</a:t>
            </a:r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CD1E76E-9A89-4239-A937-8FCF15AA3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46" y="1458277"/>
            <a:ext cx="9893808" cy="1378021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1579D523-6513-6236-7585-CBE61283ED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8634" b="7560"/>
          <a:stretch>
            <a:fillRect/>
          </a:stretch>
        </p:blipFill>
        <p:spPr>
          <a:xfrm>
            <a:off x="626191" y="2950970"/>
            <a:ext cx="10939618" cy="331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346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30950"/>
            <a:ext cx="12192001" cy="6888950"/>
          </a:xfrm>
          <a:prstGeom prst="rect">
            <a:avLst/>
          </a:prstGeom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3726A5B4-F21F-D2F5-4387-1989F040ADC2}"/>
              </a:ext>
            </a:extLst>
          </p:cNvPr>
          <p:cNvSpPr>
            <a:spLocks noGrp="1"/>
          </p:cNvSpPr>
          <p:nvPr/>
        </p:nvSpPr>
        <p:spPr>
          <a:xfrm>
            <a:off x="981143" y="1814922"/>
            <a:ext cx="46939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0" b="1" spc="100">
                <a:gradFill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03</a:t>
            </a:r>
            <a:endParaRPr sz="20000" b="1" spc="10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7157592-9F19-BDFF-47E4-7C3B0309F901}"/>
              </a:ext>
            </a:extLst>
          </p:cNvPr>
          <p:cNvSpPr>
            <a:spLocks noGrp="1"/>
          </p:cNvSpPr>
          <p:nvPr/>
        </p:nvSpPr>
        <p:spPr>
          <a:xfrm>
            <a:off x="1132113" y="4028981"/>
            <a:ext cx="1089055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spc="300">
                <a:solidFill>
                  <a:schemeClr val="bg1"/>
                </a:solidFill>
                <a:latin typeface="+mj-ea"/>
                <a:ea typeface="+mj-ea"/>
                <a:cs typeface="+mj-ea"/>
              </a:rPr>
              <a:t>APP畫面展示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65346AB6-C089-AECB-8B27-BE70CBE4EA0B}"/>
              </a:ext>
            </a:extLst>
          </p:cNvPr>
          <p:cNvSpPr>
            <a:spLocks noGrp="1"/>
          </p:cNvSpPr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sz="2800" spc="100">
                <a:solidFill>
                  <a:srgbClr val="F8FAFB"/>
                </a:solidFill>
                <a:latin typeface="Noto Sans TC Medium"/>
                <a:ea typeface="Noto Sans TC Medium"/>
                <a:cs typeface="Noto Sans TC Medium"/>
              </a:rPr>
              <a:t>報告人</a:t>
            </a:r>
            <a:r>
              <a:rPr sz="2800" b="1" spc="100">
                <a:solidFill>
                  <a:srgbClr val="F8FAFB"/>
                </a:solidFill>
                <a:latin typeface="+mj-ea"/>
                <a:ea typeface="+mj-ea"/>
                <a:cs typeface="+mj-ea"/>
              </a:rPr>
              <a:t>｜</a:t>
            </a:r>
            <a:endParaRPr sz="2800" spc="100">
              <a:solidFill>
                <a:srgbClr val="F8FAFB"/>
              </a:solidFill>
              <a:latin typeface="Noto Sans TC Medium"/>
              <a:ea typeface="Noto Sans TC Medium"/>
              <a:cs typeface="Noto Sans T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530935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>
            <a:extLst>
              <a:ext uri="{FF2B5EF4-FFF2-40B4-BE49-F238E27FC236}">
                <a16:creationId xmlns:a16="http://schemas.microsoft.com/office/drawing/2014/main" id="{64E2B62A-0B17-45BB-8BE2-7C1313144FDE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CACA789-D268-6F20-F7CE-CC1E04CA74B9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0477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 spc="15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會員註冊與登入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57DD34D-02BD-F5C6-A73E-DA1C396353DB}"/>
              </a:ext>
            </a:extLst>
          </p:cNvPr>
          <p:cNvSpPr>
            <a:spLocks noGrp="1"/>
          </p:cNvSpPr>
          <p:nvPr/>
        </p:nvSpPr>
        <p:spPr>
          <a:xfrm>
            <a:off x="7191375" y="1076325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125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03  APP 完整交易 Demo</a:t>
            </a:r>
            <a:endParaRPr sz="1400" spc="200">
              <a:solidFill>
                <a:srgbClr val="7E8A9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B1A15D2-F2DB-A848-5B8E-3084BEB782AE}"/>
              </a:ext>
            </a:extLst>
          </p:cNvPr>
          <p:cNvSpPr>
            <a:spLocks noGrp="1"/>
          </p:cNvSpPr>
          <p:nvPr/>
        </p:nvSpPr>
        <p:spPr>
          <a:xfrm>
            <a:off x="10829925" y="631507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8</a:t>
            </a:r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7" name="圖片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8902" y="1778246"/>
            <a:ext cx="1794072" cy="3889438"/>
          </a:xfrm>
          <a:prstGeom prst="roundRect">
            <a:avLst>
              <a:gd name="adj" fmla="val 12211"/>
            </a:avLst>
          </a:prstGeom>
        </p:spPr>
      </p:pic>
      <p:pic>
        <p:nvPicPr>
          <p:cNvPr id="38" name="圖形 3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09625" y="1704975"/>
            <a:ext cx="1952625" cy="404812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BD899DB0-2C86-40A8-92ED-A971C317331B}"/>
              </a:ext>
            </a:extLst>
          </p:cNvPr>
          <p:cNvSpPr>
            <a:spLocks noGrp="1"/>
          </p:cNvSpPr>
          <p:nvPr/>
        </p:nvSpPr>
        <p:spPr>
          <a:xfrm>
            <a:off x="809625" y="5819775"/>
            <a:ext cx="195262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9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SCREEN 01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A4BCF4-9979-4FDB-BFC7-41D9D3E2CC16}"/>
              </a:ext>
            </a:extLst>
          </p:cNvPr>
          <p:cNvSpPr>
            <a:spLocks noGrp="1"/>
          </p:cNvSpPr>
          <p:nvPr/>
        </p:nvSpPr>
        <p:spPr>
          <a:xfrm>
            <a:off x="733425" y="6057900"/>
            <a:ext cx="21050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登入頁</a:t>
            </a:r>
          </a:p>
        </p:txBody>
      </p:sp>
      <p:pic>
        <p:nvPicPr>
          <p:cNvPr id="41" name="圖片 3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155852" y="1778246"/>
            <a:ext cx="1794072" cy="3889438"/>
          </a:xfrm>
          <a:prstGeom prst="roundRect">
            <a:avLst>
              <a:gd name="adj" fmla="val 12211"/>
            </a:avLst>
          </a:prstGeom>
        </p:spPr>
      </p:pic>
      <p:pic>
        <p:nvPicPr>
          <p:cNvPr id="42" name="圖形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076575" y="1704975"/>
            <a:ext cx="1952625" cy="404812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A44F819E-1412-47E5-82EA-947E84ED76AC}"/>
              </a:ext>
            </a:extLst>
          </p:cNvPr>
          <p:cNvSpPr>
            <a:spLocks noGrp="1"/>
          </p:cNvSpPr>
          <p:nvPr/>
        </p:nvSpPr>
        <p:spPr>
          <a:xfrm>
            <a:off x="3076575" y="5819775"/>
            <a:ext cx="195262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9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SCREEN 02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30BE16A-A846-4DBC-90E7-966C087D902E}"/>
              </a:ext>
            </a:extLst>
          </p:cNvPr>
          <p:cNvSpPr>
            <a:spLocks noGrp="1"/>
          </p:cNvSpPr>
          <p:nvPr/>
        </p:nvSpPr>
        <p:spPr>
          <a:xfrm>
            <a:off x="3000375" y="6057900"/>
            <a:ext cx="21050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登入成功首頁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9B65406-AC00-488F-804F-66CCD02A5619}"/>
              </a:ext>
            </a:extLst>
          </p:cNvPr>
          <p:cNvSpPr>
            <a:spLocks noGrp="1"/>
          </p:cNvSpPr>
          <p:nvPr/>
        </p:nvSpPr>
        <p:spPr>
          <a:xfrm>
            <a:off x="5467350" y="1743075"/>
            <a:ext cx="59626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B54646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B54646"/>
                </a:solidFill>
                <a:latin typeface="Noto Sans TC"/>
                <a:ea typeface="Noto Sans TC"/>
                <a:cs typeface="Noto Sans TC"/>
              </a:rPr>
              <a:t>Passkey／生物辨識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7E42B7D-C975-4509-B8ED-7135455CC7FB}"/>
              </a:ext>
            </a:extLst>
          </p:cNvPr>
          <p:cNvSpPr>
            <a:spLocks noGrp="1"/>
          </p:cNvSpPr>
          <p:nvPr/>
        </p:nvSpPr>
        <p:spPr>
          <a:xfrm>
            <a:off x="5467350" y="2362200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D8C1020-966E-4C32-B7D1-3762046A48B5}"/>
              </a:ext>
            </a:extLst>
          </p:cNvPr>
          <p:cNvSpPr>
            <a:spLocks noGrp="1"/>
          </p:cNvSpPr>
          <p:nvPr/>
        </p:nvSpPr>
        <p:spPr>
          <a:xfrm>
            <a:off x="5953125" y="2362200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開啟 App，說明註冊入口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2D25478-60C2-4FF4-99D7-1AACC70CA19B}"/>
              </a:ext>
            </a:extLst>
          </p:cNvPr>
          <p:cNvSpPr>
            <a:spLocks noGrp="1"/>
          </p:cNvSpPr>
          <p:nvPr/>
        </p:nvSpPr>
        <p:spPr>
          <a:xfrm>
            <a:off x="5467350" y="3095625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60FA973-365D-4538-B09B-FE13C1E5FB14}"/>
              </a:ext>
            </a:extLst>
          </p:cNvPr>
          <p:cNvSpPr>
            <a:spLocks noGrp="1"/>
          </p:cNvSpPr>
          <p:nvPr/>
        </p:nvSpPr>
        <p:spPr>
          <a:xfrm>
            <a:off x="5953125" y="3095625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以 Email／密碼登入賣家帳號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1D8D893-3604-4E0C-9617-E755D6ED009D}"/>
              </a:ext>
            </a:extLst>
          </p:cNvPr>
          <p:cNvSpPr>
            <a:spLocks noGrp="1"/>
          </p:cNvSpPr>
          <p:nvPr/>
        </p:nvSpPr>
        <p:spPr>
          <a:xfrm>
            <a:off x="5467350" y="3829050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9C77AAD-0813-4648-85CE-2B9826DF6AB9}"/>
              </a:ext>
            </a:extLst>
          </p:cNvPr>
          <p:cNvSpPr>
            <a:spLocks noGrp="1"/>
          </p:cNvSpPr>
          <p:nvPr/>
        </p:nvSpPr>
        <p:spPr>
          <a:xfrm>
            <a:off x="5953125" y="3829050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成功進入首頁，確認登入身分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BAF2674-65D6-43FE-BB25-BF85B73F1EB8}"/>
              </a:ext>
            </a:extLst>
          </p:cNvPr>
          <p:cNvSpPr>
            <a:spLocks noGrp="1"/>
          </p:cNvSpPr>
          <p:nvPr/>
        </p:nvSpPr>
        <p:spPr>
          <a:xfrm>
            <a:off x="5467350" y="4562475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5D886D0-B25B-464E-AC92-6F953FC5AA0C}"/>
              </a:ext>
            </a:extLst>
          </p:cNvPr>
          <p:cNvSpPr>
            <a:spLocks noGrp="1"/>
          </p:cNvSpPr>
          <p:nvPr/>
        </p:nvSpPr>
        <p:spPr>
          <a:xfrm>
            <a:off x="5953125" y="4562475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補充：Passkey／生物辨識登入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F8EDF61-78CE-4FD2-9105-EBE70F39B9E1}"/>
              </a:ext>
            </a:extLst>
          </p:cNvPr>
          <p:cNvSpPr>
            <a:spLocks noGrp="1"/>
          </p:cNvSpPr>
          <p:nvPr/>
        </p:nvSpPr>
        <p:spPr>
          <a:xfrm>
            <a:off x="5467350" y="5819775"/>
            <a:ext cx="596265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從登入開始，建立完整且可追蹤的交易身分。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45EF202-E104-405B-B5A4-DC54A6AE7229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7429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手冊截圖／功能示例</a:t>
            </a:r>
          </a:p>
        </p:txBody>
      </p:sp>
    </p:spTree>
    <p:extLst>
      <p:ext uri="{BB962C8B-B14F-4D97-AF65-F5344CB8AC3E}">
        <p14:creationId xmlns:p14="http://schemas.microsoft.com/office/powerpoint/2010/main" val="916305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>
            <a:extLst>
              <a:ext uri="{FF2B5EF4-FFF2-40B4-BE49-F238E27FC236}">
                <a16:creationId xmlns:a16="http://schemas.microsoft.com/office/drawing/2014/main" id="{64E2B62A-0B17-45BB-8BE2-7C1313144FDE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CACA789-D268-6F20-F7CE-CC1E04CA74B9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0477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 spc="15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賣家書籍上架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57DD34D-02BD-F5C6-A73E-DA1C396353DB}"/>
              </a:ext>
            </a:extLst>
          </p:cNvPr>
          <p:cNvSpPr>
            <a:spLocks noGrp="1"/>
          </p:cNvSpPr>
          <p:nvPr/>
        </p:nvSpPr>
        <p:spPr>
          <a:xfrm>
            <a:off x="7191375" y="1076325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125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03  APP 完整交易 Demo</a:t>
            </a:r>
            <a:endParaRPr sz="1400" spc="200">
              <a:solidFill>
                <a:srgbClr val="7E8A9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B1A15D2-F2DB-A848-5B8E-3084BEB782AE}"/>
              </a:ext>
            </a:extLst>
          </p:cNvPr>
          <p:cNvSpPr>
            <a:spLocks noGrp="1"/>
          </p:cNvSpPr>
          <p:nvPr/>
        </p:nvSpPr>
        <p:spPr>
          <a:xfrm>
            <a:off x="10829925" y="631507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9</a:t>
            </a:r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6" name="圖片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8902" y="1778246"/>
            <a:ext cx="1794072" cy="3889438"/>
          </a:xfrm>
          <a:prstGeom prst="roundRect">
            <a:avLst>
              <a:gd name="adj" fmla="val 12211"/>
            </a:avLst>
          </a:prstGeom>
        </p:spPr>
      </p:pic>
      <p:pic>
        <p:nvPicPr>
          <p:cNvPr id="37" name="圖形 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09625" y="1704975"/>
            <a:ext cx="1952625" cy="404812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74215CDF-F3AB-499B-A4BF-94F9E15FD550}"/>
              </a:ext>
            </a:extLst>
          </p:cNvPr>
          <p:cNvSpPr>
            <a:spLocks noGrp="1"/>
          </p:cNvSpPr>
          <p:nvPr/>
        </p:nvSpPr>
        <p:spPr>
          <a:xfrm>
            <a:off x="809625" y="5819775"/>
            <a:ext cx="195262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9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SCREEN 01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5992068-170B-4149-B4E3-DBA55D214FCB}"/>
              </a:ext>
            </a:extLst>
          </p:cNvPr>
          <p:cNvSpPr>
            <a:spLocks noGrp="1"/>
          </p:cNvSpPr>
          <p:nvPr/>
        </p:nvSpPr>
        <p:spPr>
          <a:xfrm>
            <a:off x="733425" y="6057900"/>
            <a:ext cx="21050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ISBN 掃描</a:t>
            </a:r>
          </a:p>
        </p:txBody>
      </p:sp>
      <p:pic>
        <p:nvPicPr>
          <p:cNvPr id="40" name="圖片 3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155852" y="1778246"/>
            <a:ext cx="1794072" cy="3889438"/>
          </a:xfrm>
          <a:prstGeom prst="roundRect">
            <a:avLst>
              <a:gd name="adj" fmla="val 12211"/>
            </a:avLst>
          </a:prstGeom>
        </p:spPr>
      </p:pic>
      <p:pic>
        <p:nvPicPr>
          <p:cNvPr id="41" name="圖形 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076575" y="1704975"/>
            <a:ext cx="1952625" cy="404812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64A8EEC5-1B59-44B3-87C7-AAAA142637A9}"/>
              </a:ext>
            </a:extLst>
          </p:cNvPr>
          <p:cNvSpPr>
            <a:spLocks noGrp="1"/>
          </p:cNvSpPr>
          <p:nvPr/>
        </p:nvSpPr>
        <p:spPr>
          <a:xfrm>
            <a:off x="3076575" y="5819775"/>
            <a:ext cx="195262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9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SCREEN 02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E07B2F-C9B5-473D-AC34-93CB18482454}"/>
              </a:ext>
            </a:extLst>
          </p:cNvPr>
          <p:cNvSpPr>
            <a:spLocks noGrp="1"/>
          </p:cNvSpPr>
          <p:nvPr/>
        </p:nvSpPr>
        <p:spPr>
          <a:xfrm>
            <a:off x="3000375" y="6057900"/>
            <a:ext cx="21050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書況照片上傳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4C2AE95-6DC0-4E5F-9169-DAE46DEEDA1A}"/>
              </a:ext>
            </a:extLst>
          </p:cNvPr>
          <p:cNvSpPr>
            <a:spLocks noGrp="1"/>
          </p:cNvSpPr>
          <p:nvPr/>
        </p:nvSpPr>
        <p:spPr>
          <a:xfrm>
            <a:off x="5467350" y="2019300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A33AD6E-4717-40D1-8F27-C71A2D88E755}"/>
              </a:ext>
            </a:extLst>
          </p:cNvPr>
          <p:cNvSpPr>
            <a:spLocks noGrp="1"/>
          </p:cNvSpPr>
          <p:nvPr/>
        </p:nvSpPr>
        <p:spPr>
          <a:xfrm>
            <a:off x="5953125" y="2019300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新增書籍，掃描 ISBN 條碼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B1E52EA-D494-438B-82AE-78B35E10C424}"/>
              </a:ext>
            </a:extLst>
          </p:cNvPr>
          <p:cNvSpPr>
            <a:spLocks noGrp="1"/>
          </p:cNvSpPr>
          <p:nvPr/>
        </p:nvSpPr>
        <p:spPr>
          <a:xfrm>
            <a:off x="5467350" y="2752725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5F63FA9-58F7-4950-ACC5-292118E72ADE}"/>
              </a:ext>
            </a:extLst>
          </p:cNvPr>
          <p:cNvSpPr>
            <a:spLocks noGrp="1"/>
          </p:cNvSpPr>
          <p:nvPr/>
        </p:nvSpPr>
        <p:spPr>
          <a:xfrm>
            <a:off x="5953125" y="2752725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查詢並確認書名、作者與出版資訊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8D816C3-6901-4B42-966A-D6B7E7DFBF97}"/>
              </a:ext>
            </a:extLst>
          </p:cNvPr>
          <p:cNvSpPr>
            <a:spLocks noGrp="1"/>
          </p:cNvSpPr>
          <p:nvPr/>
        </p:nvSpPr>
        <p:spPr>
          <a:xfrm>
            <a:off x="5467350" y="3486150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9A3D60D-47EB-4B46-93AC-FFFFD3A0F412}"/>
              </a:ext>
            </a:extLst>
          </p:cNvPr>
          <p:cNvSpPr>
            <a:spLocks noGrp="1"/>
          </p:cNvSpPr>
          <p:nvPr/>
        </p:nvSpPr>
        <p:spPr>
          <a:xfrm>
            <a:off x="5953125" y="3486150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上傳封面、封底與條碼照片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446AFB5-02FA-401E-8ECE-084D5D1428C9}"/>
              </a:ext>
            </a:extLst>
          </p:cNvPr>
          <p:cNvSpPr>
            <a:spLocks noGrp="1"/>
          </p:cNvSpPr>
          <p:nvPr/>
        </p:nvSpPr>
        <p:spPr>
          <a:xfrm>
            <a:off x="5467350" y="4219575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00C4FA8-5CDC-45D2-B3F2-EFCFBDDE53FF}"/>
              </a:ext>
            </a:extLst>
          </p:cNvPr>
          <p:cNvSpPr>
            <a:spLocks noGrp="1"/>
          </p:cNvSpPr>
          <p:nvPr/>
        </p:nvSpPr>
        <p:spPr>
          <a:xfrm>
            <a:off x="5953125" y="4219575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補拍內頁／附件，填寫缺損說明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F3DE276-AB3F-4F00-B4A5-18D877F6434C}"/>
              </a:ext>
            </a:extLst>
          </p:cNvPr>
          <p:cNvSpPr>
            <a:spLocks noGrp="1"/>
          </p:cNvSpPr>
          <p:nvPr/>
        </p:nvSpPr>
        <p:spPr>
          <a:xfrm>
            <a:off x="5467350" y="5819775"/>
            <a:ext cx="596265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掃描書目並補齊實拍照片，降低上架輸入負擔。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FD880F4-8270-4637-B383-1C07767F7C82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7429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手冊截圖／功能示例</a:t>
            </a:r>
          </a:p>
        </p:txBody>
      </p:sp>
    </p:spTree>
    <p:extLst>
      <p:ext uri="{BB962C8B-B14F-4D97-AF65-F5344CB8AC3E}">
        <p14:creationId xmlns:p14="http://schemas.microsoft.com/office/powerpoint/2010/main" val="1157361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>
            <a:extLst>
              <a:ext uri="{FF2B5EF4-FFF2-40B4-BE49-F238E27FC236}">
                <a16:creationId xmlns:a16="http://schemas.microsoft.com/office/drawing/2014/main" id="{64E2B62A-0B17-45BB-8BE2-7C1313144FDE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CACA789-D268-6F20-F7CE-CC1E04CA74B9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0477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 spc="15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AI 輔助上架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57DD34D-02BD-F5C6-A73E-DA1C396353DB}"/>
              </a:ext>
            </a:extLst>
          </p:cNvPr>
          <p:cNvSpPr>
            <a:spLocks noGrp="1"/>
          </p:cNvSpPr>
          <p:nvPr/>
        </p:nvSpPr>
        <p:spPr>
          <a:xfrm>
            <a:off x="7191375" y="1076325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125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03  APP 完整交易 Demo</a:t>
            </a:r>
            <a:endParaRPr sz="1400" spc="200">
              <a:solidFill>
                <a:srgbClr val="7E8A9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B1A15D2-F2DB-A848-5B8E-3084BEB782AE}"/>
              </a:ext>
            </a:extLst>
          </p:cNvPr>
          <p:cNvSpPr>
            <a:spLocks noGrp="1"/>
          </p:cNvSpPr>
          <p:nvPr/>
        </p:nvSpPr>
        <p:spPr>
          <a:xfrm>
            <a:off x="10829925" y="631507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10</a:t>
            </a:r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7" name="圖片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8902" y="1778246"/>
            <a:ext cx="1794072" cy="3889438"/>
          </a:xfrm>
          <a:prstGeom prst="roundRect">
            <a:avLst>
              <a:gd name="adj" fmla="val 12211"/>
            </a:avLst>
          </a:prstGeom>
        </p:spPr>
      </p:pic>
      <p:pic>
        <p:nvPicPr>
          <p:cNvPr id="38" name="圖形 3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09625" y="1704975"/>
            <a:ext cx="1952625" cy="404812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C66D6ECB-FD68-4084-9930-F935B6D72F05}"/>
              </a:ext>
            </a:extLst>
          </p:cNvPr>
          <p:cNvSpPr>
            <a:spLocks noGrp="1"/>
          </p:cNvSpPr>
          <p:nvPr/>
        </p:nvSpPr>
        <p:spPr>
          <a:xfrm>
            <a:off x="809625" y="5819775"/>
            <a:ext cx="195262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9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SCREEN 01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889F6C-6EE8-4FC7-92D9-234A27E7AE84}"/>
              </a:ext>
            </a:extLst>
          </p:cNvPr>
          <p:cNvSpPr>
            <a:spLocks noGrp="1"/>
          </p:cNvSpPr>
          <p:nvPr/>
        </p:nvSpPr>
        <p:spPr>
          <a:xfrm>
            <a:off x="733425" y="6057900"/>
            <a:ext cx="21050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AI 書目建議</a:t>
            </a:r>
          </a:p>
        </p:txBody>
      </p:sp>
      <p:pic>
        <p:nvPicPr>
          <p:cNvPr id="41" name="圖片 3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155852" y="1778246"/>
            <a:ext cx="1794072" cy="3889438"/>
          </a:xfrm>
          <a:prstGeom prst="roundRect">
            <a:avLst>
              <a:gd name="adj" fmla="val 12211"/>
            </a:avLst>
          </a:prstGeom>
        </p:spPr>
      </p:pic>
      <p:pic>
        <p:nvPicPr>
          <p:cNvPr id="42" name="圖形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076575" y="1704975"/>
            <a:ext cx="1952625" cy="404812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EC5F8848-A44A-4C5B-B551-EF6C83945715}"/>
              </a:ext>
            </a:extLst>
          </p:cNvPr>
          <p:cNvSpPr>
            <a:spLocks noGrp="1"/>
          </p:cNvSpPr>
          <p:nvPr/>
        </p:nvSpPr>
        <p:spPr>
          <a:xfrm>
            <a:off x="3076575" y="5819775"/>
            <a:ext cx="195262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9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SCREEN 02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C94479-20F6-4BE0-BB42-36ABF63EF8E9}"/>
              </a:ext>
            </a:extLst>
          </p:cNvPr>
          <p:cNvSpPr>
            <a:spLocks noGrp="1"/>
          </p:cNvSpPr>
          <p:nvPr/>
        </p:nvSpPr>
        <p:spPr>
          <a:xfrm>
            <a:off x="3000375" y="6057900"/>
            <a:ext cx="21050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AI 書況與售價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633D3B-89C2-4C0C-8F77-6DF1A6671AA1}"/>
              </a:ext>
            </a:extLst>
          </p:cNvPr>
          <p:cNvSpPr>
            <a:spLocks noGrp="1"/>
          </p:cNvSpPr>
          <p:nvPr/>
        </p:nvSpPr>
        <p:spPr>
          <a:xfrm>
            <a:off x="5467350" y="1743075"/>
            <a:ext cx="59626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B54646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B54646"/>
                </a:solidFill>
                <a:latin typeface="Noto Sans TC"/>
                <a:ea typeface="Noto Sans TC"/>
                <a:cs typeface="Noto Sans TC"/>
              </a:rPr>
              <a:t>AI 書況與售價建議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079644A-A356-4933-9243-A0BB2AAE1F63}"/>
              </a:ext>
            </a:extLst>
          </p:cNvPr>
          <p:cNvSpPr>
            <a:spLocks noGrp="1"/>
          </p:cNvSpPr>
          <p:nvPr/>
        </p:nvSpPr>
        <p:spPr>
          <a:xfrm>
            <a:off x="5467350" y="2362200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47E6745-C3FA-46AA-BBF7-6D9C44EC5CD8}"/>
              </a:ext>
            </a:extLst>
          </p:cNvPr>
          <p:cNvSpPr>
            <a:spLocks noGrp="1"/>
          </p:cNvSpPr>
          <p:nvPr/>
        </p:nvSpPr>
        <p:spPr>
          <a:xfrm>
            <a:off x="5953125" y="2362200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使用 AI 帶入，補齊書目與分類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11F5FD-0CFF-4418-AC59-49C9CCBF19CE}"/>
              </a:ext>
            </a:extLst>
          </p:cNvPr>
          <p:cNvSpPr>
            <a:spLocks noGrp="1"/>
          </p:cNvSpPr>
          <p:nvPr/>
        </p:nvSpPr>
        <p:spPr>
          <a:xfrm>
            <a:off x="5467350" y="3095625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18A55A3-9923-40E3-A3B7-3A771A8F242E}"/>
              </a:ext>
            </a:extLst>
          </p:cNvPr>
          <p:cNvSpPr>
            <a:spLocks noGrp="1"/>
          </p:cNvSpPr>
          <p:nvPr/>
        </p:nvSpPr>
        <p:spPr>
          <a:xfrm>
            <a:off x="5953125" y="3095625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分析照片，顯示書況判斷理由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9607E8-4957-4A78-84E3-F598AA1355D2}"/>
              </a:ext>
            </a:extLst>
          </p:cNvPr>
          <p:cNvSpPr>
            <a:spLocks noGrp="1"/>
          </p:cNvSpPr>
          <p:nvPr/>
        </p:nvSpPr>
        <p:spPr>
          <a:xfrm>
            <a:off x="5467350" y="3829050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AD45B5-D604-46FC-B1B3-15731A08A378}"/>
              </a:ext>
            </a:extLst>
          </p:cNvPr>
          <p:cNvSpPr>
            <a:spLocks noGrp="1"/>
          </p:cNvSpPr>
          <p:nvPr/>
        </p:nvSpPr>
        <p:spPr>
          <a:xfrm>
            <a:off x="5953125" y="3829050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查看售價區間、依據與補拍提醒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5BDFF5-547E-4103-BDC0-4F2B3110B1DB}"/>
              </a:ext>
            </a:extLst>
          </p:cNvPr>
          <p:cNvSpPr>
            <a:spLocks noGrp="1"/>
          </p:cNvSpPr>
          <p:nvPr/>
        </p:nvSpPr>
        <p:spPr>
          <a:xfrm>
            <a:off x="5467350" y="4562475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44417FB-8EBA-4D5B-87F0-C5AF49CC9CE0}"/>
              </a:ext>
            </a:extLst>
          </p:cNvPr>
          <p:cNvSpPr>
            <a:spLocks noGrp="1"/>
          </p:cNvSpPr>
          <p:nvPr/>
        </p:nvSpPr>
        <p:spPr>
          <a:xfrm>
            <a:off x="5953125" y="4562475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賣家確認並套用，選擇書櫃後上架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0A8F8BB-D06F-4AAA-959F-2F9C5B397507}"/>
              </a:ext>
            </a:extLst>
          </p:cNvPr>
          <p:cNvSpPr>
            <a:spLocks noGrp="1"/>
          </p:cNvSpPr>
          <p:nvPr/>
        </p:nvSpPr>
        <p:spPr>
          <a:xfrm>
            <a:off x="5467350" y="5819775"/>
            <a:ext cx="596265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回應初評的書況判斷與合理售價建議。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72BA61C-796E-4BF3-88A3-740A02803797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7429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手冊截圖／功能示例</a:t>
            </a:r>
          </a:p>
        </p:txBody>
      </p:sp>
    </p:spTree>
    <p:extLst>
      <p:ext uri="{BB962C8B-B14F-4D97-AF65-F5344CB8AC3E}">
        <p14:creationId xmlns:p14="http://schemas.microsoft.com/office/powerpoint/2010/main" val="1230251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>
            <a:extLst>
              <a:ext uri="{FF2B5EF4-FFF2-40B4-BE49-F238E27FC236}">
                <a16:creationId xmlns:a16="http://schemas.microsoft.com/office/drawing/2014/main" id="{64E2B62A-0B17-45BB-8BE2-7C1313144FDE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CACA789-D268-6F20-F7CE-CC1E04CA74B9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0477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 spc="15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買家書籍探索與商品選擇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57DD34D-02BD-F5C6-A73E-DA1C396353DB}"/>
              </a:ext>
            </a:extLst>
          </p:cNvPr>
          <p:cNvSpPr>
            <a:spLocks noGrp="1"/>
          </p:cNvSpPr>
          <p:nvPr/>
        </p:nvSpPr>
        <p:spPr>
          <a:xfrm>
            <a:off x="7191375" y="1076325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125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03  APP 完整交易 Demo</a:t>
            </a:r>
            <a:endParaRPr sz="1400" spc="200">
              <a:solidFill>
                <a:srgbClr val="7E8A9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B1A15D2-F2DB-A848-5B8E-3084BEB782AE}"/>
              </a:ext>
            </a:extLst>
          </p:cNvPr>
          <p:cNvSpPr>
            <a:spLocks noGrp="1"/>
          </p:cNvSpPr>
          <p:nvPr/>
        </p:nvSpPr>
        <p:spPr>
          <a:xfrm>
            <a:off x="10829925" y="631507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11</a:t>
            </a:r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4" name="圖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8902" y="1778246"/>
            <a:ext cx="1794072" cy="3889438"/>
          </a:xfrm>
          <a:prstGeom prst="roundRect">
            <a:avLst>
              <a:gd name="adj" fmla="val 12211"/>
            </a:avLst>
          </a:prstGeom>
        </p:spPr>
      </p:pic>
      <p:pic>
        <p:nvPicPr>
          <p:cNvPr id="35" name="圖形 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09625" y="1704975"/>
            <a:ext cx="1952625" cy="404812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CEFBE82-898E-4611-8A93-E7B1A5D08E86}"/>
              </a:ext>
            </a:extLst>
          </p:cNvPr>
          <p:cNvSpPr>
            <a:spLocks noGrp="1"/>
          </p:cNvSpPr>
          <p:nvPr/>
        </p:nvSpPr>
        <p:spPr>
          <a:xfrm>
            <a:off x="809625" y="5819775"/>
            <a:ext cx="195262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9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SCREEN 01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4CBA06-DC62-472A-86C2-004D9F226A22}"/>
              </a:ext>
            </a:extLst>
          </p:cNvPr>
          <p:cNvSpPr>
            <a:spLocks noGrp="1"/>
          </p:cNvSpPr>
          <p:nvPr/>
        </p:nvSpPr>
        <p:spPr>
          <a:xfrm>
            <a:off x="733425" y="6057900"/>
            <a:ext cx="21050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個人化推薦</a:t>
            </a:r>
          </a:p>
        </p:txBody>
      </p:sp>
      <p:pic>
        <p:nvPicPr>
          <p:cNvPr id="38" name="圖片 3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155852" y="1778246"/>
            <a:ext cx="1794072" cy="3889438"/>
          </a:xfrm>
          <a:prstGeom prst="roundRect">
            <a:avLst>
              <a:gd name="adj" fmla="val 12211"/>
            </a:avLst>
          </a:prstGeom>
        </p:spPr>
      </p:pic>
      <p:pic>
        <p:nvPicPr>
          <p:cNvPr id="39" name="圖形 3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076575" y="1704975"/>
            <a:ext cx="1952625" cy="404812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58097F63-F74A-40B2-9430-66EBD692893D}"/>
              </a:ext>
            </a:extLst>
          </p:cNvPr>
          <p:cNvSpPr>
            <a:spLocks noGrp="1"/>
          </p:cNvSpPr>
          <p:nvPr/>
        </p:nvSpPr>
        <p:spPr>
          <a:xfrm>
            <a:off x="3076575" y="5819775"/>
            <a:ext cx="195262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9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SCREEN 02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177FC7B-97F6-4EA0-ABC7-30AF8141C95A}"/>
              </a:ext>
            </a:extLst>
          </p:cNvPr>
          <p:cNvSpPr>
            <a:spLocks noGrp="1"/>
          </p:cNvSpPr>
          <p:nvPr/>
        </p:nvSpPr>
        <p:spPr>
          <a:xfrm>
            <a:off x="3000375" y="6057900"/>
            <a:ext cx="21050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商品詳情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35993FC-CAB8-41BF-BF28-9C26B01BD877}"/>
              </a:ext>
            </a:extLst>
          </p:cNvPr>
          <p:cNvSpPr>
            <a:spLocks noGrp="1"/>
          </p:cNvSpPr>
          <p:nvPr/>
        </p:nvSpPr>
        <p:spPr>
          <a:xfrm>
            <a:off x="5467350" y="2019300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57CC552-2819-4790-8D30-4FA012E58014}"/>
              </a:ext>
            </a:extLst>
          </p:cNvPr>
          <p:cNvSpPr>
            <a:spLocks noGrp="1"/>
          </p:cNvSpPr>
          <p:nvPr/>
        </p:nvSpPr>
        <p:spPr>
          <a:xfrm>
            <a:off x="5953125" y="2019300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切換買家帳號，瀏覽首頁與分類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035E1C4-9604-4B32-B5D4-7053F6206C39}"/>
              </a:ext>
            </a:extLst>
          </p:cNvPr>
          <p:cNvSpPr>
            <a:spLocks noGrp="1"/>
          </p:cNvSpPr>
          <p:nvPr/>
        </p:nvSpPr>
        <p:spPr>
          <a:xfrm>
            <a:off x="5467350" y="2752725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CC4B828-E006-476A-92E9-6851CED3FCFC}"/>
              </a:ext>
            </a:extLst>
          </p:cNvPr>
          <p:cNvSpPr>
            <a:spLocks noGrp="1"/>
          </p:cNvSpPr>
          <p:nvPr/>
        </p:nvSpPr>
        <p:spPr>
          <a:xfrm>
            <a:off x="5953125" y="2752725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以書名、作者或 ISBN 搜尋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650FB52-FDA5-44C5-8ADD-8F80BD8818F4}"/>
              </a:ext>
            </a:extLst>
          </p:cNvPr>
          <p:cNvSpPr>
            <a:spLocks noGrp="1"/>
          </p:cNvSpPr>
          <p:nvPr/>
        </p:nvSpPr>
        <p:spPr>
          <a:xfrm>
            <a:off x="5467350" y="3486150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CD80C6B-1789-4521-8A09-02668C919221}"/>
              </a:ext>
            </a:extLst>
          </p:cNvPr>
          <p:cNvSpPr>
            <a:spLocks noGrp="1"/>
          </p:cNvSpPr>
          <p:nvPr/>
        </p:nvSpPr>
        <p:spPr>
          <a:xfrm>
            <a:off x="5953125" y="3486150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查看推薦理由、書況與商品詳情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F6A991F-048E-4E42-961E-72927038B27D}"/>
              </a:ext>
            </a:extLst>
          </p:cNvPr>
          <p:cNvSpPr>
            <a:spLocks noGrp="1"/>
          </p:cNvSpPr>
          <p:nvPr/>
        </p:nvSpPr>
        <p:spPr>
          <a:xfrm>
            <a:off x="5467350" y="5819775"/>
            <a:ext cx="596265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讓買家先確認商品資訊，再進入交易。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BCC691F-64C7-4AA4-83F0-B7C0D245FDDA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7429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手冊截圖／功能示例</a:t>
            </a:r>
          </a:p>
        </p:txBody>
      </p:sp>
    </p:spTree>
    <p:extLst>
      <p:ext uri="{BB962C8B-B14F-4D97-AF65-F5344CB8AC3E}">
        <p14:creationId xmlns:p14="http://schemas.microsoft.com/office/powerpoint/2010/main" val="324932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>
            <a:extLst>
              <a:ext uri="{FF2B5EF4-FFF2-40B4-BE49-F238E27FC236}">
                <a16:creationId xmlns:a16="http://schemas.microsoft.com/office/drawing/2014/main" id="{64E2B62A-0B17-45BB-8BE2-7C1313144FDE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CACA789-D268-6F20-F7CE-CC1E04CA74B9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0477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 spc="15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AI 書籍顧問與站內推薦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57DD34D-02BD-F5C6-A73E-DA1C396353DB}"/>
              </a:ext>
            </a:extLst>
          </p:cNvPr>
          <p:cNvSpPr>
            <a:spLocks noGrp="1"/>
          </p:cNvSpPr>
          <p:nvPr/>
        </p:nvSpPr>
        <p:spPr>
          <a:xfrm>
            <a:off x="7191375" y="1076325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125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03  APP 完整交易 Demo</a:t>
            </a:r>
            <a:endParaRPr sz="1400" spc="200">
              <a:solidFill>
                <a:srgbClr val="7E8A9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B1A15D2-F2DB-A848-5B8E-3084BEB782AE}"/>
              </a:ext>
            </a:extLst>
          </p:cNvPr>
          <p:cNvSpPr>
            <a:spLocks noGrp="1"/>
          </p:cNvSpPr>
          <p:nvPr/>
        </p:nvSpPr>
        <p:spPr>
          <a:xfrm>
            <a:off x="10829925" y="631507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12</a:t>
            </a:r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7" name="圖片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8902" y="1778246"/>
            <a:ext cx="1794072" cy="3889438"/>
          </a:xfrm>
          <a:prstGeom prst="roundRect">
            <a:avLst>
              <a:gd name="adj" fmla="val 12211"/>
            </a:avLst>
          </a:prstGeom>
        </p:spPr>
      </p:pic>
      <p:pic>
        <p:nvPicPr>
          <p:cNvPr id="38" name="圖形 3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09625" y="1704975"/>
            <a:ext cx="1952625" cy="404812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A0FB2F3-88B4-42A1-A324-42F27E5617F6}"/>
              </a:ext>
            </a:extLst>
          </p:cNvPr>
          <p:cNvSpPr>
            <a:spLocks noGrp="1"/>
          </p:cNvSpPr>
          <p:nvPr/>
        </p:nvSpPr>
        <p:spPr>
          <a:xfrm>
            <a:off x="809625" y="5819775"/>
            <a:ext cx="195262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9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SCREEN 01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66BED4-BC8F-40BA-8A6D-20612820E7F5}"/>
              </a:ext>
            </a:extLst>
          </p:cNvPr>
          <p:cNvSpPr>
            <a:spLocks noGrp="1"/>
          </p:cNvSpPr>
          <p:nvPr/>
        </p:nvSpPr>
        <p:spPr>
          <a:xfrm>
            <a:off x="733425" y="6057900"/>
            <a:ext cx="21050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書籍顧問入口</a:t>
            </a:r>
          </a:p>
        </p:txBody>
      </p:sp>
      <p:pic>
        <p:nvPicPr>
          <p:cNvPr id="41" name="圖片 3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155852" y="1778246"/>
            <a:ext cx="1794072" cy="3889438"/>
          </a:xfrm>
          <a:prstGeom prst="roundRect">
            <a:avLst>
              <a:gd name="adj" fmla="val 12211"/>
            </a:avLst>
          </a:prstGeom>
        </p:spPr>
      </p:pic>
      <p:pic>
        <p:nvPicPr>
          <p:cNvPr id="42" name="圖形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076575" y="1704975"/>
            <a:ext cx="1952625" cy="404812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3FE47406-3298-4EA7-B562-F1DD8ED2398A}"/>
              </a:ext>
            </a:extLst>
          </p:cNvPr>
          <p:cNvSpPr>
            <a:spLocks noGrp="1"/>
          </p:cNvSpPr>
          <p:nvPr/>
        </p:nvSpPr>
        <p:spPr>
          <a:xfrm>
            <a:off x="3076575" y="5819775"/>
            <a:ext cx="195262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9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SCREEN 02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61CA6F3-C9C3-4093-8EF4-2E994FB4859D}"/>
              </a:ext>
            </a:extLst>
          </p:cNvPr>
          <p:cNvSpPr>
            <a:spLocks noGrp="1"/>
          </p:cNvSpPr>
          <p:nvPr/>
        </p:nvSpPr>
        <p:spPr>
          <a:xfrm>
            <a:off x="3000375" y="6057900"/>
            <a:ext cx="21050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站內商品推薦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0909624-7FE7-4C01-B92D-A369E5AAF41E}"/>
              </a:ext>
            </a:extLst>
          </p:cNvPr>
          <p:cNvSpPr>
            <a:spLocks noGrp="1"/>
          </p:cNvSpPr>
          <p:nvPr/>
        </p:nvSpPr>
        <p:spPr>
          <a:xfrm>
            <a:off x="5467350" y="1743075"/>
            <a:ext cx="59626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B54646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B54646"/>
                </a:solidFill>
                <a:latin typeface="Noto Sans TC"/>
                <a:ea typeface="Noto Sans TC"/>
                <a:cs typeface="Noto Sans TC"/>
              </a:rPr>
              <a:t>AI 書籍顧問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8FFB0E1-E4EB-4DC2-8338-0F9247136E77}"/>
              </a:ext>
            </a:extLst>
          </p:cNvPr>
          <p:cNvSpPr>
            <a:spLocks noGrp="1"/>
          </p:cNvSpPr>
          <p:nvPr/>
        </p:nvSpPr>
        <p:spPr>
          <a:xfrm>
            <a:off x="5467350" y="2362200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52A97CF-E12B-4845-A3F3-6217DEFBE223}"/>
              </a:ext>
            </a:extLst>
          </p:cNvPr>
          <p:cNvSpPr>
            <a:spLocks noGrp="1"/>
          </p:cNvSpPr>
          <p:nvPr/>
        </p:nvSpPr>
        <p:spPr>
          <a:xfrm>
            <a:off x="5953125" y="2362200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首頁聊天入口，開啟 AI 書籍顧問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925C46A-C57E-4BFD-96EE-8C796B963BF1}"/>
              </a:ext>
            </a:extLst>
          </p:cNvPr>
          <p:cNvSpPr>
            <a:spLocks noGrp="1"/>
          </p:cNvSpPr>
          <p:nvPr/>
        </p:nvSpPr>
        <p:spPr>
          <a:xfrm>
            <a:off x="5467350" y="3095625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8699E6D-33E5-4CDE-A9D4-CFD2690442DE}"/>
              </a:ext>
            </a:extLst>
          </p:cNvPr>
          <p:cNvSpPr>
            <a:spLocks noGrp="1"/>
          </p:cNvSpPr>
          <p:nvPr/>
        </p:nvSpPr>
        <p:spPr>
          <a:xfrm>
            <a:off x="5953125" y="3095625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描述用途、預算與可接受書況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256C6AE-9767-4E4C-8B0D-A57C0CC1533A}"/>
              </a:ext>
            </a:extLst>
          </p:cNvPr>
          <p:cNvSpPr>
            <a:spLocks noGrp="1"/>
          </p:cNvSpPr>
          <p:nvPr/>
        </p:nvSpPr>
        <p:spPr>
          <a:xfrm>
            <a:off x="5467350" y="3829050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EA99EDF-9DF2-48C1-BEA2-0FAE4C4C4E96}"/>
              </a:ext>
            </a:extLst>
          </p:cNvPr>
          <p:cNvSpPr>
            <a:spLocks noGrp="1"/>
          </p:cNvSpPr>
          <p:nvPr/>
        </p:nvSpPr>
        <p:spPr>
          <a:xfrm>
            <a:off x="5953125" y="3829050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查看平台內可購買書籍與推薦理由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3F2ABDF-370B-4BFD-AAE8-40AC0EEABED9}"/>
              </a:ext>
            </a:extLst>
          </p:cNvPr>
          <p:cNvSpPr>
            <a:spLocks noGrp="1"/>
          </p:cNvSpPr>
          <p:nvPr/>
        </p:nvSpPr>
        <p:spPr>
          <a:xfrm>
            <a:off x="5467350" y="4562475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D4D4A25-AB0D-400F-BCE1-DCEF2B489B56}"/>
              </a:ext>
            </a:extLst>
          </p:cNvPr>
          <p:cNvSpPr>
            <a:spLocks noGrp="1"/>
          </p:cNvSpPr>
          <p:nvPr/>
        </p:nvSpPr>
        <p:spPr>
          <a:xfrm>
            <a:off x="5953125" y="4562475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點選書卡，回到商品詳情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77EF8E9-C5EA-48EF-876E-CC9EBE1B9479}"/>
              </a:ext>
            </a:extLst>
          </p:cNvPr>
          <p:cNvSpPr>
            <a:spLocks noGrp="1"/>
          </p:cNvSpPr>
          <p:nvPr/>
        </p:nvSpPr>
        <p:spPr>
          <a:xfrm>
            <a:off x="5467350" y="5819775"/>
            <a:ext cx="596265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把選書需求連結到平台內實際可購買的商品。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65687E9-E909-4AB2-8941-D07DC9CD1EF6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7429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手冊截圖／功能示例</a:t>
            </a:r>
          </a:p>
        </p:txBody>
      </p:sp>
    </p:spTree>
    <p:extLst>
      <p:ext uri="{BB962C8B-B14F-4D97-AF65-F5344CB8AC3E}">
        <p14:creationId xmlns:p14="http://schemas.microsoft.com/office/powerpoint/2010/main" val="712421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>
            <a:extLst>
              <a:ext uri="{FF2B5EF4-FFF2-40B4-BE49-F238E27FC236}">
                <a16:creationId xmlns:a16="http://schemas.microsoft.com/office/drawing/2014/main" id="{64E2B62A-0B17-45BB-8BE2-7C1313144FDE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CACA789-D268-6F20-F7CE-CC1E04CA74B9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0477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 spc="15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購物車、下單與付款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57DD34D-02BD-F5C6-A73E-DA1C396353DB}"/>
              </a:ext>
            </a:extLst>
          </p:cNvPr>
          <p:cNvSpPr>
            <a:spLocks noGrp="1"/>
          </p:cNvSpPr>
          <p:nvPr/>
        </p:nvSpPr>
        <p:spPr>
          <a:xfrm>
            <a:off x="7191375" y="1076325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125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03  APP 完整交易 Demo</a:t>
            </a:r>
            <a:endParaRPr sz="1400" spc="200">
              <a:solidFill>
                <a:srgbClr val="7E8A9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B1A15D2-F2DB-A848-5B8E-3084BEB782AE}"/>
              </a:ext>
            </a:extLst>
          </p:cNvPr>
          <p:cNvSpPr>
            <a:spLocks noGrp="1"/>
          </p:cNvSpPr>
          <p:nvPr/>
        </p:nvSpPr>
        <p:spPr>
          <a:xfrm>
            <a:off x="10829925" y="631507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13</a:t>
            </a:r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8" name="圖片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8902" y="1778246"/>
            <a:ext cx="1794072" cy="3889438"/>
          </a:xfrm>
          <a:prstGeom prst="roundRect">
            <a:avLst>
              <a:gd name="adj" fmla="val 12211"/>
            </a:avLst>
          </a:prstGeom>
        </p:spPr>
      </p:pic>
      <p:pic>
        <p:nvPicPr>
          <p:cNvPr id="39" name="圖形 3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09625" y="1704975"/>
            <a:ext cx="1952625" cy="404812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A6AA078-1C1F-4D8C-9817-762DC2F1C865}"/>
              </a:ext>
            </a:extLst>
          </p:cNvPr>
          <p:cNvSpPr>
            <a:spLocks noGrp="1"/>
          </p:cNvSpPr>
          <p:nvPr/>
        </p:nvSpPr>
        <p:spPr>
          <a:xfrm>
            <a:off x="809625" y="5819775"/>
            <a:ext cx="195262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9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SCREEN 01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B51EE3-DCD8-4D8B-8D8C-66A5F10F975C}"/>
              </a:ext>
            </a:extLst>
          </p:cNvPr>
          <p:cNvSpPr>
            <a:spLocks noGrp="1"/>
          </p:cNvSpPr>
          <p:nvPr/>
        </p:nvSpPr>
        <p:spPr>
          <a:xfrm>
            <a:off x="733425" y="6057900"/>
            <a:ext cx="21050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購物車結帳</a:t>
            </a:r>
          </a:p>
        </p:txBody>
      </p:sp>
      <p:pic>
        <p:nvPicPr>
          <p:cNvPr id="42" name="圖片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155852" y="1778246"/>
            <a:ext cx="1794072" cy="3889438"/>
          </a:xfrm>
          <a:prstGeom prst="roundRect">
            <a:avLst>
              <a:gd name="adj" fmla="val 12211"/>
            </a:avLst>
          </a:prstGeom>
        </p:spPr>
      </p:pic>
      <p:pic>
        <p:nvPicPr>
          <p:cNvPr id="43" name="圖形 3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076575" y="1704975"/>
            <a:ext cx="1952625" cy="404812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0393A817-B7E7-4D87-8908-FDD6A011580E}"/>
              </a:ext>
            </a:extLst>
          </p:cNvPr>
          <p:cNvSpPr>
            <a:spLocks noGrp="1"/>
          </p:cNvSpPr>
          <p:nvPr/>
        </p:nvSpPr>
        <p:spPr>
          <a:xfrm>
            <a:off x="3076575" y="5819775"/>
            <a:ext cx="195262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9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SCREEN 02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42E2CF0-E021-47EB-8157-9E504240E8B4}"/>
              </a:ext>
            </a:extLst>
          </p:cNvPr>
          <p:cNvSpPr>
            <a:spLocks noGrp="1"/>
          </p:cNvSpPr>
          <p:nvPr/>
        </p:nvSpPr>
        <p:spPr>
          <a:xfrm>
            <a:off x="3000375" y="6057900"/>
            <a:ext cx="21050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付款成功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A7120C3-2DF6-48A0-BD2A-7F08121457D3}"/>
              </a:ext>
            </a:extLst>
          </p:cNvPr>
          <p:cNvSpPr>
            <a:spLocks noGrp="1"/>
          </p:cNvSpPr>
          <p:nvPr/>
        </p:nvSpPr>
        <p:spPr>
          <a:xfrm>
            <a:off x="5467350" y="1743075"/>
            <a:ext cx="59626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B54646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B54646"/>
                </a:solidFill>
                <a:latin typeface="Noto Sans TC"/>
                <a:ea typeface="Noto Sans TC"/>
                <a:cs typeface="Noto Sans TC"/>
              </a:rPr>
              <a:t>代幣暫管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CB441D-68A9-4559-B1BE-8144A14D5294}"/>
              </a:ext>
            </a:extLst>
          </p:cNvPr>
          <p:cNvSpPr>
            <a:spLocks noGrp="1"/>
          </p:cNvSpPr>
          <p:nvPr/>
        </p:nvSpPr>
        <p:spPr>
          <a:xfrm>
            <a:off x="5467350" y="2362200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5B9B4C6-D538-4271-A26B-1D98C62E619C}"/>
              </a:ext>
            </a:extLst>
          </p:cNvPr>
          <p:cNvSpPr>
            <a:spLocks noGrp="1"/>
          </p:cNvSpPr>
          <p:nvPr/>
        </p:nvSpPr>
        <p:spPr>
          <a:xfrm>
            <a:off x="5953125" y="2362200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加入購物車，勾選商品並結帳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8F25504-8B1D-42E9-A230-C4B7C1FA5388}"/>
              </a:ext>
            </a:extLst>
          </p:cNvPr>
          <p:cNvSpPr>
            <a:spLocks noGrp="1"/>
          </p:cNvSpPr>
          <p:nvPr/>
        </p:nvSpPr>
        <p:spPr>
          <a:xfrm>
            <a:off x="5467350" y="3095625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EE4DCB3-F64C-4FEF-9714-8C47F40199FE}"/>
              </a:ext>
            </a:extLst>
          </p:cNvPr>
          <p:cNvSpPr>
            <a:spLocks noGrp="1"/>
          </p:cNvSpPr>
          <p:nvPr/>
        </p:nvSpPr>
        <p:spPr>
          <a:xfrm>
            <a:off x="5953125" y="3095625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以交易密碼或生物辨識完成驗證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20702C0-26B6-4E97-A7BD-502CEA865ACE}"/>
              </a:ext>
            </a:extLst>
          </p:cNvPr>
          <p:cNvSpPr>
            <a:spLocks noGrp="1"/>
          </p:cNvSpPr>
          <p:nvPr/>
        </p:nvSpPr>
        <p:spPr>
          <a:xfrm>
            <a:off x="5467350" y="3829050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726C3F2-9536-424D-B855-7DBA3B1D040D}"/>
              </a:ext>
            </a:extLst>
          </p:cNvPr>
          <p:cNvSpPr>
            <a:spLocks noGrp="1"/>
          </p:cNvSpPr>
          <p:nvPr/>
        </p:nvSpPr>
        <p:spPr>
          <a:xfrm>
            <a:off x="5953125" y="3829050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站內代幣扣款，平台暫管款項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9FAAA60-E2B8-4459-8F4C-80DB4ED319F5}"/>
              </a:ext>
            </a:extLst>
          </p:cNvPr>
          <p:cNvSpPr>
            <a:spLocks noGrp="1"/>
          </p:cNvSpPr>
          <p:nvPr/>
        </p:nvSpPr>
        <p:spPr>
          <a:xfrm>
            <a:off x="5467350" y="4562475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6463FEB-EEAD-4880-A05C-94B05A2F27EE}"/>
              </a:ext>
            </a:extLst>
          </p:cNvPr>
          <p:cNvSpPr>
            <a:spLocks noGrp="1"/>
          </p:cNvSpPr>
          <p:nvPr/>
        </p:nvSpPr>
        <p:spPr>
          <a:xfrm>
            <a:off x="5953125" y="4562475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訂單成立，通知賣家存書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198BD9A-50A9-4302-A8E3-8239C932F15F}"/>
              </a:ext>
            </a:extLst>
          </p:cNvPr>
          <p:cNvSpPr>
            <a:spLocks noGrp="1"/>
          </p:cNvSpPr>
          <p:nvPr/>
        </p:nvSpPr>
        <p:spPr>
          <a:xfrm>
            <a:off x="5467350" y="5353050"/>
            <a:ext cx="59626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275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現階段為站內代幣結算；第三方支付與提領尚未完成。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73F3E9D-4CC0-4D1F-9E90-7D6B17B79E1E}"/>
              </a:ext>
            </a:extLst>
          </p:cNvPr>
          <p:cNvSpPr>
            <a:spLocks noGrp="1"/>
          </p:cNvSpPr>
          <p:nvPr/>
        </p:nvSpPr>
        <p:spPr>
          <a:xfrm>
            <a:off x="5467350" y="5819775"/>
            <a:ext cx="596265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買家付款 → 平台暫管 → 完成訂單後撥款。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83D7E35-C4D9-4FD1-B91E-11C4D511398C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7429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手冊截圖／功能示例</a:t>
            </a:r>
          </a:p>
        </p:txBody>
      </p:sp>
    </p:spTree>
    <p:extLst>
      <p:ext uri="{BB962C8B-B14F-4D97-AF65-F5344CB8AC3E}">
        <p14:creationId xmlns:p14="http://schemas.microsoft.com/office/powerpoint/2010/main" val="2028770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>
            <a:extLst>
              <a:ext uri="{FF2B5EF4-FFF2-40B4-BE49-F238E27FC236}">
                <a16:creationId xmlns:a16="http://schemas.microsoft.com/office/drawing/2014/main" id="{64E2B62A-0B17-45BB-8BE2-7C1313144FDE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CACA789-D268-6F20-F7CE-CC1E04CA74B9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0477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 spc="15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智慧書櫃存書流程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57DD34D-02BD-F5C6-A73E-DA1C396353DB}"/>
              </a:ext>
            </a:extLst>
          </p:cNvPr>
          <p:cNvSpPr>
            <a:spLocks noGrp="1"/>
          </p:cNvSpPr>
          <p:nvPr/>
        </p:nvSpPr>
        <p:spPr>
          <a:xfrm>
            <a:off x="7191375" y="1076325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125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03  APP 完整交易 Demo</a:t>
            </a:r>
            <a:endParaRPr sz="1400" spc="200">
              <a:solidFill>
                <a:srgbClr val="7E8A9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B1A15D2-F2DB-A848-5B8E-3084BEB782AE}"/>
              </a:ext>
            </a:extLst>
          </p:cNvPr>
          <p:cNvSpPr>
            <a:spLocks noGrp="1"/>
          </p:cNvSpPr>
          <p:nvPr/>
        </p:nvSpPr>
        <p:spPr>
          <a:xfrm>
            <a:off x="10829925" y="631507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14</a:t>
            </a:r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9" name="圖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8902" y="1778246"/>
            <a:ext cx="1794072" cy="3889438"/>
          </a:xfrm>
          <a:prstGeom prst="roundRect">
            <a:avLst>
              <a:gd name="adj" fmla="val 12211"/>
            </a:avLst>
          </a:prstGeom>
        </p:spPr>
      </p:pic>
      <p:pic>
        <p:nvPicPr>
          <p:cNvPr id="40" name="圖形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09625" y="1704975"/>
            <a:ext cx="1952625" cy="404812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C13895A6-CFE4-4E5E-B53E-8EE8E277D68F}"/>
              </a:ext>
            </a:extLst>
          </p:cNvPr>
          <p:cNvSpPr>
            <a:spLocks noGrp="1"/>
          </p:cNvSpPr>
          <p:nvPr/>
        </p:nvSpPr>
        <p:spPr>
          <a:xfrm>
            <a:off x="809625" y="5819775"/>
            <a:ext cx="195262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9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SCREEN 01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1813C4-FF14-43BC-9902-0001B050BB5E}"/>
              </a:ext>
            </a:extLst>
          </p:cNvPr>
          <p:cNvSpPr>
            <a:spLocks noGrp="1"/>
          </p:cNvSpPr>
          <p:nvPr/>
        </p:nvSpPr>
        <p:spPr>
          <a:xfrm>
            <a:off x="733425" y="6057900"/>
            <a:ext cx="21050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兩位數驗證</a:t>
            </a:r>
          </a:p>
        </p:txBody>
      </p:sp>
      <p:pic>
        <p:nvPicPr>
          <p:cNvPr id="43" name="圖片 3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155852" y="1778246"/>
            <a:ext cx="1794072" cy="3889438"/>
          </a:xfrm>
          <a:prstGeom prst="roundRect">
            <a:avLst>
              <a:gd name="adj" fmla="val 12211"/>
            </a:avLst>
          </a:prstGeom>
        </p:spPr>
      </p:pic>
      <p:pic>
        <p:nvPicPr>
          <p:cNvPr id="44" name="圖形 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076575" y="1704975"/>
            <a:ext cx="1952625" cy="404812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19FB72F4-2275-49F6-9C63-625DB9AD6579}"/>
              </a:ext>
            </a:extLst>
          </p:cNvPr>
          <p:cNvSpPr>
            <a:spLocks noGrp="1"/>
          </p:cNvSpPr>
          <p:nvPr/>
        </p:nvSpPr>
        <p:spPr>
          <a:xfrm>
            <a:off x="3076575" y="5819775"/>
            <a:ext cx="195262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9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SCREEN 02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E947069-0280-44B0-881D-938A958456DC}"/>
              </a:ext>
            </a:extLst>
          </p:cNvPr>
          <p:cNvSpPr>
            <a:spLocks noGrp="1"/>
          </p:cNvSpPr>
          <p:nvPr/>
        </p:nvSpPr>
        <p:spPr>
          <a:xfrm>
            <a:off x="3000375" y="6057900"/>
            <a:ext cx="21050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指定櫃門開啟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D8CEE23-4BBE-4157-BFBD-960E55C83AA6}"/>
              </a:ext>
            </a:extLst>
          </p:cNvPr>
          <p:cNvSpPr>
            <a:spLocks noGrp="1"/>
          </p:cNvSpPr>
          <p:nvPr/>
        </p:nvSpPr>
        <p:spPr>
          <a:xfrm>
            <a:off x="5467350" y="1724025"/>
            <a:ext cx="5962650" cy="1419225"/>
          </a:xfrm>
          <a:prstGeom prst="rect">
            <a:avLst/>
          </a:prstGeom>
          <a:solidFill>
            <a:srgbClr val="E7ECEE"/>
          </a:solidFill>
          <a:ln w="9525">
            <a:solidFill>
              <a:srgbClr val="D5DEE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D73FF20-5A13-49DE-9D4E-974D915497C6}"/>
              </a:ext>
            </a:extLst>
          </p:cNvPr>
          <p:cNvSpPr>
            <a:spLocks noGrp="1"/>
          </p:cNvSpPr>
          <p:nvPr/>
        </p:nvSpPr>
        <p:spPr>
          <a:xfrm>
            <a:off x="5657850" y="2009775"/>
            <a:ext cx="55816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此處置入：智慧書櫃實機照片／影片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03E1643-2B8C-46BC-BAAF-8E915B4C88C3}"/>
              </a:ext>
            </a:extLst>
          </p:cNvPr>
          <p:cNvSpPr>
            <a:spLocks noGrp="1"/>
          </p:cNvSpPr>
          <p:nvPr/>
        </p:nvSpPr>
        <p:spPr>
          <a:xfrm>
            <a:off x="5657850" y="2533650"/>
            <a:ext cx="55816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0">
                <a:solidFill>
                  <a:srgbClr val="607D8B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607D8B"/>
                </a:solidFill>
                <a:latin typeface="Noto Sans TC"/>
                <a:ea typeface="Noto Sans TC"/>
                <a:cs typeface="Noto Sans TC"/>
              </a:rPr>
              <a:t>完整拍攝：開門 → 放書 → 關門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1D3DA94-4DED-4709-8823-8DC12B91C301}"/>
              </a:ext>
            </a:extLst>
          </p:cNvPr>
          <p:cNvSpPr>
            <a:spLocks noGrp="1"/>
          </p:cNvSpPr>
          <p:nvPr/>
        </p:nvSpPr>
        <p:spPr>
          <a:xfrm>
            <a:off x="5467350" y="3362325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55816C7-690E-42E5-AA1A-20B4BD7CCFD2}"/>
              </a:ext>
            </a:extLst>
          </p:cNvPr>
          <p:cNvSpPr>
            <a:spLocks noGrp="1"/>
          </p:cNvSpPr>
          <p:nvPr/>
        </p:nvSpPr>
        <p:spPr>
          <a:xfrm>
            <a:off x="5943600" y="3362325"/>
            <a:ext cx="54864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到櫃旁取得定位，掃描動態 QR Code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3F393F1-6E8D-4F4E-B81E-D50E2C1F9777}"/>
              </a:ext>
            </a:extLst>
          </p:cNvPr>
          <p:cNvSpPr>
            <a:spLocks noGrp="1"/>
          </p:cNvSpPr>
          <p:nvPr/>
        </p:nvSpPr>
        <p:spPr>
          <a:xfrm>
            <a:off x="5467350" y="39433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730B175-55C5-4FAB-A12B-5B84F4BB58D9}"/>
              </a:ext>
            </a:extLst>
          </p:cNvPr>
          <p:cNvSpPr>
            <a:spLocks noGrp="1"/>
          </p:cNvSpPr>
          <p:nvPr/>
        </p:nvSpPr>
        <p:spPr>
          <a:xfrm>
            <a:off x="5943600" y="3943350"/>
            <a:ext cx="54864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B5464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B54646"/>
                </a:solidFill>
                <a:latin typeface="Noto Sans TC"/>
                <a:ea typeface="Noto Sans TC"/>
                <a:cs typeface="Noto Sans TC"/>
              </a:rPr>
              <a:t>選書 60 秒；兩位數驗證另限 60 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6878383-9437-49C6-96DE-6932204C47B9}"/>
              </a:ext>
            </a:extLst>
          </p:cNvPr>
          <p:cNvSpPr>
            <a:spLocks noGrp="1"/>
          </p:cNvSpPr>
          <p:nvPr/>
        </p:nvSpPr>
        <p:spPr>
          <a:xfrm>
            <a:off x="5467350" y="4524375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1D272BE-1213-4110-82B6-3F7EF0C5E6BF}"/>
              </a:ext>
            </a:extLst>
          </p:cNvPr>
          <p:cNvSpPr>
            <a:spLocks noGrp="1"/>
          </p:cNvSpPr>
          <p:nvPr/>
        </p:nvSpPr>
        <p:spPr>
          <a:xfrm>
            <a:off x="5943600" y="4524375"/>
            <a:ext cx="54864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驗證通過開指定櫃門，放入同一本書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2749731-B3B8-4806-A878-F4F8DF050260}"/>
              </a:ext>
            </a:extLst>
          </p:cNvPr>
          <p:cNvSpPr>
            <a:spLocks noGrp="1"/>
          </p:cNvSpPr>
          <p:nvPr/>
        </p:nvSpPr>
        <p:spPr>
          <a:xfrm>
            <a:off x="5467350" y="510540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43EA184-9785-4DFE-ADD5-C6073DB5E371}"/>
              </a:ext>
            </a:extLst>
          </p:cNvPr>
          <p:cNvSpPr>
            <a:spLocks noGrp="1"/>
          </p:cNvSpPr>
          <p:nvPr/>
        </p:nvSpPr>
        <p:spPr>
          <a:xfrm>
            <a:off x="5943600" y="5105400"/>
            <a:ext cx="54864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關門並完成，確認存書紀錄與通知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758A82-A3DE-4899-A3B7-A6DCE30222DB}"/>
              </a:ext>
            </a:extLst>
          </p:cNvPr>
          <p:cNvSpPr>
            <a:spLocks noGrp="1"/>
          </p:cNvSpPr>
          <p:nvPr/>
        </p:nvSpPr>
        <p:spPr>
          <a:xfrm>
            <a:off x="5467350" y="5819775"/>
            <a:ext cx="596265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確認現場操作與關門回報後，才登記存書。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401B1D2-EFDC-4932-B441-5292D71BF83D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7429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手冊截圖／功能示例</a:t>
            </a:r>
          </a:p>
        </p:txBody>
      </p:sp>
    </p:spTree>
    <p:extLst>
      <p:ext uri="{BB962C8B-B14F-4D97-AF65-F5344CB8AC3E}">
        <p14:creationId xmlns:p14="http://schemas.microsoft.com/office/powerpoint/2010/main" val="1310273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>
            <a:extLst>
              <a:ext uri="{FF2B5EF4-FFF2-40B4-BE49-F238E27FC236}">
                <a16:creationId xmlns:a16="http://schemas.microsoft.com/office/drawing/2014/main" id="{64E2B62A-0B17-45BB-8BE2-7C1313144FDE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CACA789-D268-6F20-F7CE-CC1E04CA74B9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0477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 spc="15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智慧書櫃取書流程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57DD34D-02BD-F5C6-A73E-DA1C396353DB}"/>
              </a:ext>
            </a:extLst>
          </p:cNvPr>
          <p:cNvSpPr>
            <a:spLocks noGrp="1"/>
          </p:cNvSpPr>
          <p:nvPr/>
        </p:nvSpPr>
        <p:spPr>
          <a:xfrm>
            <a:off x="7191375" y="1076325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125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03  APP 完整交易 Demo</a:t>
            </a:r>
            <a:endParaRPr sz="1400" spc="200">
              <a:solidFill>
                <a:srgbClr val="7E8A9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B1A15D2-F2DB-A848-5B8E-3084BEB782AE}"/>
              </a:ext>
            </a:extLst>
          </p:cNvPr>
          <p:cNvSpPr>
            <a:spLocks noGrp="1"/>
          </p:cNvSpPr>
          <p:nvPr/>
        </p:nvSpPr>
        <p:spPr>
          <a:xfrm>
            <a:off x="10829925" y="631507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15</a:t>
            </a:r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9" name="圖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8902" y="1778246"/>
            <a:ext cx="1794072" cy="3889438"/>
          </a:xfrm>
          <a:prstGeom prst="roundRect">
            <a:avLst>
              <a:gd name="adj" fmla="val 12211"/>
            </a:avLst>
          </a:prstGeom>
        </p:spPr>
      </p:pic>
      <p:pic>
        <p:nvPicPr>
          <p:cNvPr id="40" name="圖形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09625" y="1704975"/>
            <a:ext cx="1952625" cy="404812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CAD2EDF1-2828-45CB-A315-AFC34164185A}"/>
              </a:ext>
            </a:extLst>
          </p:cNvPr>
          <p:cNvSpPr>
            <a:spLocks noGrp="1"/>
          </p:cNvSpPr>
          <p:nvPr/>
        </p:nvSpPr>
        <p:spPr>
          <a:xfrm>
            <a:off x="809625" y="5819775"/>
            <a:ext cx="195262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9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SCREEN 01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DBB2949-D78F-4441-A885-54A9BB9DFD36}"/>
              </a:ext>
            </a:extLst>
          </p:cNvPr>
          <p:cNvSpPr>
            <a:spLocks noGrp="1"/>
          </p:cNvSpPr>
          <p:nvPr/>
        </p:nvSpPr>
        <p:spPr>
          <a:xfrm>
            <a:off x="733425" y="6057900"/>
            <a:ext cx="21050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確認取書項目</a:t>
            </a:r>
          </a:p>
        </p:txBody>
      </p:sp>
      <p:pic>
        <p:nvPicPr>
          <p:cNvPr id="43" name="圖片 3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155852" y="1778246"/>
            <a:ext cx="1794072" cy="3889438"/>
          </a:xfrm>
          <a:prstGeom prst="roundRect">
            <a:avLst>
              <a:gd name="adj" fmla="val 12211"/>
            </a:avLst>
          </a:prstGeom>
        </p:spPr>
      </p:pic>
      <p:pic>
        <p:nvPicPr>
          <p:cNvPr id="44" name="圖形 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076575" y="1704975"/>
            <a:ext cx="1952625" cy="404812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6AF8DC37-99BE-4ED3-AEB9-163375056058}"/>
              </a:ext>
            </a:extLst>
          </p:cNvPr>
          <p:cNvSpPr>
            <a:spLocks noGrp="1"/>
          </p:cNvSpPr>
          <p:nvPr/>
        </p:nvSpPr>
        <p:spPr>
          <a:xfrm>
            <a:off x="3076575" y="5819775"/>
            <a:ext cx="195262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9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SCREEN 02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B6D5CBC-6E6C-4CFC-B75F-4BB6470E6AD0}"/>
              </a:ext>
            </a:extLst>
          </p:cNvPr>
          <p:cNvSpPr>
            <a:spLocks noGrp="1"/>
          </p:cNvSpPr>
          <p:nvPr/>
        </p:nvSpPr>
        <p:spPr>
          <a:xfrm>
            <a:off x="3000375" y="6057900"/>
            <a:ext cx="21050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取書完成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004ABD-ED2A-484D-9193-018164E6A82B}"/>
              </a:ext>
            </a:extLst>
          </p:cNvPr>
          <p:cNvSpPr>
            <a:spLocks noGrp="1"/>
          </p:cNvSpPr>
          <p:nvPr/>
        </p:nvSpPr>
        <p:spPr>
          <a:xfrm>
            <a:off x="5467350" y="1724025"/>
            <a:ext cx="5962650" cy="1419225"/>
          </a:xfrm>
          <a:prstGeom prst="rect">
            <a:avLst/>
          </a:prstGeom>
          <a:solidFill>
            <a:srgbClr val="E7ECEE"/>
          </a:solidFill>
          <a:ln w="9525">
            <a:solidFill>
              <a:srgbClr val="D5DEE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BAE0D6C-0358-4784-9EFA-0EFB7BDB3777}"/>
              </a:ext>
            </a:extLst>
          </p:cNvPr>
          <p:cNvSpPr>
            <a:spLocks noGrp="1"/>
          </p:cNvSpPr>
          <p:nvPr/>
        </p:nvSpPr>
        <p:spPr>
          <a:xfrm>
            <a:off x="5657850" y="2009775"/>
            <a:ext cx="55816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此處置入：智慧書櫃實機照片／影片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FF147FF-4C91-473D-A9EE-2332E1A0EA3D}"/>
              </a:ext>
            </a:extLst>
          </p:cNvPr>
          <p:cNvSpPr>
            <a:spLocks noGrp="1"/>
          </p:cNvSpPr>
          <p:nvPr/>
        </p:nvSpPr>
        <p:spPr>
          <a:xfrm>
            <a:off x="5657850" y="2533650"/>
            <a:ext cx="55816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0">
                <a:solidFill>
                  <a:srgbClr val="607D8B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607D8B"/>
                </a:solidFill>
                <a:latin typeface="Noto Sans TC"/>
                <a:ea typeface="Noto Sans TC"/>
                <a:cs typeface="Noto Sans TC"/>
              </a:rPr>
              <a:t>完整拍攝：開門 → 取書 → 關門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42BD3DD-C977-4EFB-A956-3935A80D648E}"/>
              </a:ext>
            </a:extLst>
          </p:cNvPr>
          <p:cNvSpPr>
            <a:spLocks noGrp="1"/>
          </p:cNvSpPr>
          <p:nvPr/>
        </p:nvSpPr>
        <p:spPr>
          <a:xfrm>
            <a:off x="5467350" y="3362325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529BDF-FA9B-47AE-9796-D0167755942F}"/>
              </a:ext>
            </a:extLst>
          </p:cNvPr>
          <p:cNvSpPr>
            <a:spLocks noGrp="1"/>
          </p:cNvSpPr>
          <p:nvPr/>
        </p:nvSpPr>
        <p:spPr>
          <a:xfrm>
            <a:off x="5943600" y="3362325"/>
            <a:ext cx="54864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查看待取訂單與前往書櫃資訊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9966E97-E3D9-4DAB-9394-5EF02838FDD0}"/>
              </a:ext>
            </a:extLst>
          </p:cNvPr>
          <p:cNvSpPr>
            <a:spLocks noGrp="1"/>
          </p:cNvSpPr>
          <p:nvPr/>
        </p:nvSpPr>
        <p:spPr>
          <a:xfrm>
            <a:off x="5467350" y="394335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2A7688B-9257-4790-85E5-E60C0D55CFA7}"/>
              </a:ext>
            </a:extLst>
          </p:cNvPr>
          <p:cNvSpPr>
            <a:spLocks noGrp="1"/>
          </p:cNvSpPr>
          <p:nvPr/>
        </p:nvSpPr>
        <p:spPr>
          <a:xfrm>
            <a:off x="5943600" y="3943350"/>
            <a:ext cx="54864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到櫃掃碼，選取同一筆待取項目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84EA965-4508-4AE2-B1CF-9A0240F005EB}"/>
              </a:ext>
            </a:extLst>
          </p:cNvPr>
          <p:cNvSpPr>
            <a:spLocks noGrp="1"/>
          </p:cNvSpPr>
          <p:nvPr/>
        </p:nvSpPr>
        <p:spPr>
          <a:xfrm>
            <a:off x="5467350" y="4524375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1C7C900-F06E-4444-BE5D-820623D2BB33}"/>
              </a:ext>
            </a:extLst>
          </p:cNvPr>
          <p:cNvSpPr>
            <a:spLocks noGrp="1"/>
          </p:cNvSpPr>
          <p:nvPr/>
        </p:nvSpPr>
        <p:spPr>
          <a:xfrm>
            <a:off x="5943600" y="4524375"/>
            <a:ext cx="54864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B5464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B54646"/>
                </a:solidFill>
                <a:latin typeface="Noto Sans TC"/>
                <a:ea typeface="Noto Sans TC"/>
                <a:cs typeface="Noto Sans TC"/>
              </a:rPr>
              <a:t>60 秒內輸入兩位數字，開指定櫃門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CBFF6F4-732D-45F1-9091-EFEC6F33DCAD}"/>
              </a:ext>
            </a:extLst>
          </p:cNvPr>
          <p:cNvSpPr>
            <a:spLocks noGrp="1"/>
          </p:cNvSpPr>
          <p:nvPr/>
        </p:nvSpPr>
        <p:spPr>
          <a:xfrm>
            <a:off x="5467350" y="5105400"/>
            <a:ext cx="38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7D6F517-D1BB-4881-8437-E9A7EC8DEBD1}"/>
              </a:ext>
            </a:extLst>
          </p:cNvPr>
          <p:cNvSpPr>
            <a:spLocks noGrp="1"/>
          </p:cNvSpPr>
          <p:nvPr/>
        </p:nvSpPr>
        <p:spPr>
          <a:xfrm>
            <a:off x="5943600" y="5105400"/>
            <a:ext cx="54864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取書、關門並完成，進入驗收階段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95606E6-F03F-4459-B2BF-2CB57036A415}"/>
              </a:ext>
            </a:extLst>
          </p:cNvPr>
          <p:cNvSpPr>
            <a:spLocks noGrp="1"/>
          </p:cNvSpPr>
          <p:nvPr/>
        </p:nvSpPr>
        <p:spPr>
          <a:xfrm>
            <a:off x="5467350" y="5819775"/>
            <a:ext cx="596265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非同步交付完成後，保留買家驗收與爭議權益。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7FF7C19-159B-49C3-B792-53F936FCC6A2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7429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手冊截圖／功能示例</a:t>
            </a:r>
          </a:p>
        </p:txBody>
      </p:sp>
    </p:spTree>
    <p:extLst>
      <p:ext uri="{BB962C8B-B14F-4D97-AF65-F5344CB8AC3E}">
        <p14:creationId xmlns:p14="http://schemas.microsoft.com/office/powerpoint/2010/main" val="13853155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>
            <a:extLst>
              <a:ext uri="{FF2B5EF4-FFF2-40B4-BE49-F238E27FC236}">
                <a16:creationId xmlns:a16="http://schemas.microsoft.com/office/drawing/2014/main" id="{64E2B62A-0B17-45BB-8BE2-7C1313144FDE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CACA789-D268-6F20-F7CE-CC1E04CA74B9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0477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 spc="15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商品驗收、爭議與交易完成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57DD34D-02BD-F5C6-A73E-DA1C396353DB}"/>
              </a:ext>
            </a:extLst>
          </p:cNvPr>
          <p:cNvSpPr>
            <a:spLocks noGrp="1"/>
          </p:cNvSpPr>
          <p:nvPr/>
        </p:nvSpPr>
        <p:spPr>
          <a:xfrm>
            <a:off x="7191375" y="1076325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125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03  APP 完整交易 Demo</a:t>
            </a:r>
            <a:endParaRPr sz="1400" spc="200">
              <a:solidFill>
                <a:srgbClr val="7E8A9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B1A15D2-F2DB-A848-5B8E-3084BEB782AE}"/>
              </a:ext>
            </a:extLst>
          </p:cNvPr>
          <p:cNvSpPr>
            <a:spLocks noGrp="1"/>
          </p:cNvSpPr>
          <p:nvPr/>
        </p:nvSpPr>
        <p:spPr>
          <a:xfrm>
            <a:off x="10829925" y="631507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16</a:t>
            </a:r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7" name="圖片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8902" y="1778246"/>
            <a:ext cx="1794072" cy="3889438"/>
          </a:xfrm>
          <a:prstGeom prst="roundRect">
            <a:avLst>
              <a:gd name="adj" fmla="val 12211"/>
            </a:avLst>
          </a:prstGeom>
        </p:spPr>
      </p:pic>
      <p:pic>
        <p:nvPicPr>
          <p:cNvPr id="38" name="圖形 3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09625" y="1704975"/>
            <a:ext cx="1952625" cy="404812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B9DFFC9-9B90-47E7-94DF-FD31A16C61FA}"/>
              </a:ext>
            </a:extLst>
          </p:cNvPr>
          <p:cNvSpPr>
            <a:spLocks noGrp="1"/>
          </p:cNvSpPr>
          <p:nvPr/>
        </p:nvSpPr>
        <p:spPr>
          <a:xfrm>
            <a:off x="809625" y="5819775"/>
            <a:ext cx="195262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9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SCREEN 01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3C18FC-97B0-45E9-820C-2D192E3CF3A4}"/>
              </a:ext>
            </a:extLst>
          </p:cNvPr>
          <p:cNvSpPr>
            <a:spLocks noGrp="1"/>
          </p:cNvSpPr>
          <p:nvPr/>
        </p:nvSpPr>
        <p:spPr>
          <a:xfrm>
            <a:off x="733425" y="6057900"/>
            <a:ext cx="21050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申請爭議</a:t>
            </a:r>
          </a:p>
        </p:txBody>
      </p:sp>
      <p:pic>
        <p:nvPicPr>
          <p:cNvPr id="41" name="圖片 3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155852" y="1778246"/>
            <a:ext cx="1794072" cy="3889438"/>
          </a:xfrm>
          <a:prstGeom prst="roundRect">
            <a:avLst>
              <a:gd name="adj" fmla="val 12211"/>
            </a:avLst>
          </a:prstGeom>
        </p:spPr>
      </p:pic>
      <p:pic>
        <p:nvPicPr>
          <p:cNvPr id="42" name="圖形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076575" y="1704975"/>
            <a:ext cx="1952625" cy="404812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F59AA4AD-5261-4496-B679-C575CB7F0795}"/>
              </a:ext>
            </a:extLst>
          </p:cNvPr>
          <p:cNvSpPr>
            <a:spLocks noGrp="1"/>
          </p:cNvSpPr>
          <p:nvPr/>
        </p:nvSpPr>
        <p:spPr>
          <a:xfrm>
            <a:off x="3076575" y="5819775"/>
            <a:ext cx="195262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9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SCREEN 02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060B8E0-A618-4656-96CA-B4E345792ADD}"/>
              </a:ext>
            </a:extLst>
          </p:cNvPr>
          <p:cNvSpPr>
            <a:spLocks noGrp="1"/>
          </p:cNvSpPr>
          <p:nvPr/>
        </p:nvSpPr>
        <p:spPr>
          <a:xfrm>
            <a:off x="3000375" y="6057900"/>
            <a:ext cx="21050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待撥款項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B071DF2-959C-452E-8FE3-49009B7285E9}"/>
              </a:ext>
            </a:extLst>
          </p:cNvPr>
          <p:cNvSpPr>
            <a:spLocks noGrp="1"/>
          </p:cNvSpPr>
          <p:nvPr/>
        </p:nvSpPr>
        <p:spPr>
          <a:xfrm>
            <a:off x="5467350" y="1743075"/>
            <a:ext cx="59626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B54646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B54646"/>
                </a:solidFill>
                <a:latin typeface="Noto Sans TC"/>
                <a:ea typeface="Noto Sans TC"/>
                <a:cs typeface="Noto Sans TC"/>
              </a:rPr>
              <a:t>24 小時爭議期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BE4C73-DEDF-432D-AA35-D761B280C0FA}"/>
              </a:ext>
            </a:extLst>
          </p:cNvPr>
          <p:cNvSpPr>
            <a:spLocks noGrp="1"/>
          </p:cNvSpPr>
          <p:nvPr/>
        </p:nvSpPr>
        <p:spPr>
          <a:xfrm>
            <a:off x="5467350" y="2362200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A17FBB4-8FD0-4803-AECF-5314F39B591C}"/>
              </a:ext>
            </a:extLst>
          </p:cNvPr>
          <p:cNvSpPr>
            <a:spLocks noGrp="1"/>
          </p:cNvSpPr>
          <p:nvPr/>
        </p:nvSpPr>
        <p:spPr>
          <a:xfrm>
            <a:off x="5953125" y="2362200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正常：驗收無誤，點選「完成訂單」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7949E-14F1-4B15-9B91-FB98AC42C4E0}"/>
              </a:ext>
            </a:extLst>
          </p:cNvPr>
          <p:cNvSpPr>
            <a:spLocks noGrp="1"/>
          </p:cNvSpPr>
          <p:nvPr/>
        </p:nvSpPr>
        <p:spPr>
          <a:xfrm>
            <a:off x="5467350" y="3095625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A0DE03D-8703-41DC-B5E2-B7FBE63C7BD7}"/>
              </a:ext>
            </a:extLst>
          </p:cNvPr>
          <p:cNvSpPr>
            <a:spLocks noGrp="1"/>
          </p:cNvSpPr>
          <p:nvPr/>
        </p:nvSpPr>
        <p:spPr>
          <a:xfrm>
            <a:off x="5953125" y="3095625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款項撥入賣家錢包，交易完成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34C0141-CD1A-4421-A0A9-6A0D3400A8AE}"/>
              </a:ext>
            </a:extLst>
          </p:cNvPr>
          <p:cNvSpPr>
            <a:spLocks noGrp="1"/>
          </p:cNvSpPr>
          <p:nvPr/>
        </p:nvSpPr>
        <p:spPr>
          <a:xfrm>
            <a:off x="5467350" y="3829050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B8DC9F8-200E-48A4-B780-2A5C9CBFC07F}"/>
              </a:ext>
            </a:extLst>
          </p:cNvPr>
          <p:cNvSpPr>
            <a:spLocks noGrp="1"/>
          </p:cNvSpPr>
          <p:nvPr/>
        </p:nvSpPr>
        <p:spPr>
          <a:xfrm>
            <a:off x="5953125" y="3829050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異常：完成前、取書後 24 小時內申請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BE00CCE-BE06-47FF-8E56-59B5AC3EC93E}"/>
              </a:ext>
            </a:extLst>
          </p:cNvPr>
          <p:cNvSpPr>
            <a:spLocks noGrp="1"/>
          </p:cNvSpPr>
          <p:nvPr/>
        </p:nvSpPr>
        <p:spPr>
          <a:xfrm>
            <a:off x="5467350" y="4562475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8A27313-8CA2-4ECE-B136-A797D995520D}"/>
              </a:ext>
            </a:extLst>
          </p:cNvPr>
          <p:cNvSpPr>
            <a:spLocks noGrp="1"/>
          </p:cNvSpPr>
          <p:nvPr/>
        </p:nvSpPr>
        <p:spPr>
          <a:xfrm>
            <a:off x="5953125" y="4562475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填說明與照片，暫停撥款並交管理員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9060C5A-19C0-4168-A8F0-9000A587D803}"/>
              </a:ext>
            </a:extLst>
          </p:cNvPr>
          <p:cNvSpPr>
            <a:spLocks noGrp="1"/>
          </p:cNvSpPr>
          <p:nvPr/>
        </p:nvSpPr>
        <p:spPr>
          <a:xfrm>
            <a:off x="5467350" y="5819775"/>
            <a:ext cx="596265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先驗收、後撥款；爭議由人工審核處理。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B4D497-E53B-4065-B1E6-F6CBBE2A0A6A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7429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手冊截圖／功能示例</a:t>
            </a:r>
          </a:p>
        </p:txBody>
      </p:sp>
    </p:spTree>
    <p:extLst>
      <p:ext uri="{BB962C8B-B14F-4D97-AF65-F5344CB8AC3E}">
        <p14:creationId xmlns:p14="http://schemas.microsoft.com/office/powerpoint/2010/main" val="9981843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>
            <a:extLst>
              <a:ext uri="{FF2B5EF4-FFF2-40B4-BE49-F238E27FC236}">
                <a16:creationId xmlns:a16="http://schemas.microsoft.com/office/drawing/2014/main" id="{64E2B62A-0B17-45BB-8BE2-7C1313144FDE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CACA789-D268-6F20-F7CE-CC1E04CA74B9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0477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 spc="15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其他新增功能與平台治理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57DD34D-02BD-F5C6-A73E-DA1C396353DB}"/>
              </a:ext>
            </a:extLst>
          </p:cNvPr>
          <p:cNvSpPr>
            <a:spLocks noGrp="1"/>
          </p:cNvSpPr>
          <p:nvPr/>
        </p:nvSpPr>
        <p:spPr>
          <a:xfrm>
            <a:off x="7191375" y="1076325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125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03  APP 完整交易 Demo</a:t>
            </a:r>
            <a:endParaRPr sz="1400" spc="200">
              <a:solidFill>
                <a:srgbClr val="7E8A9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B1A15D2-F2DB-A848-5B8E-3084BEB782AE}"/>
              </a:ext>
            </a:extLst>
          </p:cNvPr>
          <p:cNvSpPr>
            <a:spLocks noGrp="1"/>
          </p:cNvSpPr>
          <p:nvPr/>
        </p:nvSpPr>
        <p:spPr>
          <a:xfrm>
            <a:off x="10829925" y="631507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17</a:t>
            </a:r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7" name="圖片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8902" y="1778246"/>
            <a:ext cx="1794072" cy="3889438"/>
          </a:xfrm>
          <a:prstGeom prst="roundRect">
            <a:avLst>
              <a:gd name="adj" fmla="val 12211"/>
            </a:avLst>
          </a:prstGeom>
        </p:spPr>
      </p:pic>
      <p:pic>
        <p:nvPicPr>
          <p:cNvPr id="38" name="圖形 3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09625" y="1704975"/>
            <a:ext cx="1952625" cy="404812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22F1880-1290-4DCC-837E-943FBB8B905D}"/>
              </a:ext>
            </a:extLst>
          </p:cNvPr>
          <p:cNvSpPr>
            <a:spLocks noGrp="1"/>
          </p:cNvSpPr>
          <p:nvPr/>
        </p:nvSpPr>
        <p:spPr>
          <a:xfrm>
            <a:off x="809625" y="5819775"/>
            <a:ext cx="195262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9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SCREEN 01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C60D389-4D1F-4673-9398-63E3954021E7}"/>
              </a:ext>
            </a:extLst>
          </p:cNvPr>
          <p:cNvSpPr>
            <a:spLocks noGrp="1"/>
          </p:cNvSpPr>
          <p:nvPr/>
        </p:nvSpPr>
        <p:spPr>
          <a:xfrm>
            <a:off x="733425" y="6057900"/>
            <a:ext cx="21050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AI 客服</a:t>
            </a:r>
          </a:p>
        </p:txBody>
      </p:sp>
      <p:pic>
        <p:nvPicPr>
          <p:cNvPr id="41" name="圖片 3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155852" y="1778246"/>
            <a:ext cx="1794072" cy="3889438"/>
          </a:xfrm>
          <a:prstGeom prst="roundRect">
            <a:avLst>
              <a:gd name="adj" fmla="val 12211"/>
            </a:avLst>
          </a:prstGeom>
        </p:spPr>
      </p:pic>
      <p:pic>
        <p:nvPicPr>
          <p:cNvPr id="42" name="圖形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076575" y="1704975"/>
            <a:ext cx="1952625" cy="404812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C03F386A-1952-4DC3-878C-8FE7A44ED025}"/>
              </a:ext>
            </a:extLst>
          </p:cNvPr>
          <p:cNvSpPr>
            <a:spLocks noGrp="1"/>
          </p:cNvSpPr>
          <p:nvPr/>
        </p:nvSpPr>
        <p:spPr>
          <a:xfrm>
            <a:off x="3076575" y="5819775"/>
            <a:ext cx="195262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97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SCREEN 02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788ED62-9AB1-433D-837E-23B215A643BC}"/>
              </a:ext>
            </a:extLst>
          </p:cNvPr>
          <p:cNvSpPr>
            <a:spLocks noGrp="1"/>
          </p:cNvSpPr>
          <p:nvPr/>
        </p:nvSpPr>
        <p:spPr>
          <a:xfrm>
            <a:off x="3000375" y="6057900"/>
            <a:ext cx="21050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聊天防詐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CA14C8-90E9-4B7F-BD2F-47BC9D7B3CB4}"/>
              </a:ext>
            </a:extLst>
          </p:cNvPr>
          <p:cNvSpPr>
            <a:spLocks noGrp="1"/>
          </p:cNvSpPr>
          <p:nvPr/>
        </p:nvSpPr>
        <p:spPr>
          <a:xfrm>
            <a:off x="5467350" y="1743075"/>
            <a:ext cx="59626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B54646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B54646"/>
                </a:solidFill>
                <a:latin typeface="Noto Sans TC"/>
                <a:ea typeface="Noto Sans TC"/>
                <a:cs typeface="Noto Sans TC"/>
              </a:rPr>
              <a:t>AI 客服／聊天防詐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4BF8453-1FA3-4506-ACD5-DBF9F5C8612A}"/>
              </a:ext>
            </a:extLst>
          </p:cNvPr>
          <p:cNvSpPr>
            <a:spLocks noGrp="1"/>
          </p:cNvSpPr>
          <p:nvPr/>
        </p:nvSpPr>
        <p:spPr>
          <a:xfrm>
            <a:off x="5467350" y="2362200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9DCC428-8629-4DCF-A8AD-78482F2664B3}"/>
              </a:ext>
            </a:extLst>
          </p:cNvPr>
          <p:cNvSpPr>
            <a:spLocks noGrp="1"/>
          </p:cNvSpPr>
          <p:nvPr/>
        </p:nvSpPr>
        <p:spPr>
          <a:xfrm>
            <a:off x="5953125" y="2362200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AI 客服：平台說明與人工客服轉接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75A2085-DE34-4C3E-91C9-DADDA1E948AE}"/>
              </a:ext>
            </a:extLst>
          </p:cNvPr>
          <p:cNvSpPr>
            <a:spLocks noGrp="1"/>
          </p:cNvSpPr>
          <p:nvPr/>
        </p:nvSpPr>
        <p:spPr>
          <a:xfrm>
            <a:off x="5467350" y="3095625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F669B33-5DCA-447F-B0AE-904CE674DC3B}"/>
              </a:ext>
            </a:extLst>
          </p:cNvPr>
          <p:cNvSpPr>
            <a:spLocks noGrp="1"/>
          </p:cNvSpPr>
          <p:nvPr/>
        </p:nvSpPr>
        <p:spPr>
          <a:xfrm>
            <a:off x="5953125" y="3095625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聊天防詐：風險提醒、確認與檢舉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5EC0274-A925-44D9-AC2D-F772B1E73ADF}"/>
              </a:ext>
            </a:extLst>
          </p:cNvPr>
          <p:cNvSpPr>
            <a:spLocks noGrp="1"/>
          </p:cNvSpPr>
          <p:nvPr/>
        </p:nvSpPr>
        <p:spPr>
          <a:xfrm>
            <a:off x="5467350" y="3829050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CD09359-891D-402D-952B-2E6E4CBA42F0}"/>
              </a:ext>
            </a:extLst>
          </p:cNvPr>
          <p:cNvSpPr>
            <a:spLocks noGrp="1"/>
          </p:cNvSpPr>
          <p:nvPr/>
        </p:nvSpPr>
        <p:spPr>
          <a:xfrm>
            <a:off x="5953125" y="3829050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帳號安全：Passkey、登入裝置管理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72DF85E-911A-44B7-A2EC-4AE2DDCDFC26}"/>
              </a:ext>
            </a:extLst>
          </p:cNvPr>
          <p:cNvSpPr>
            <a:spLocks noGrp="1"/>
          </p:cNvSpPr>
          <p:nvPr/>
        </p:nvSpPr>
        <p:spPr>
          <a:xfrm>
            <a:off x="5467350" y="4562475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607D8B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07D8B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CF2713A-0F6F-4E52-BF94-D81A791DA1F9}"/>
              </a:ext>
            </a:extLst>
          </p:cNvPr>
          <p:cNvSpPr>
            <a:spLocks noGrp="1"/>
          </p:cNvSpPr>
          <p:nvPr/>
        </p:nvSpPr>
        <p:spPr>
          <a:xfrm>
            <a:off x="5953125" y="4562475"/>
            <a:ext cx="5476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會員服務：通知、等級、匯出與刪除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97379DF-4CAF-430C-87AD-AD115668888A}"/>
              </a:ext>
            </a:extLst>
          </p:cNvPr>
          <p:cNvSpPr>
            <a:spLocks noGrp="1"/>
          </p:cNvSpPr>
          <p:nvPr/>
        </p:nvSpPr>
        <p:spPr>
          <a:xfrm>
            <a:off x="5467350" y="5819775"/>
            <a:ext cx="596265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3F5560"/>
                </a:solidFill>
                <a:latin typeface="Noto Sans TC"/>
                <a:ea typeface="Noto Sans TC"/>
                <a:cs typeface="Noto Sans TC"/>
              </a:rPr>
              <a:t>讓交易之外的問題也有可處理的入口。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EFE7BE6-EF74-42B6-9B8D-56AF12A22853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7429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手冊截圖／功能示例</a:t>
            </a:r>
          </a:p>
        </p:txBody>
      </p:sp>
    </p:spTree>
    <p:extLst>
      <p:ext uri="{BB962C8B-B14F-4D97-AF65-F5344CB8AC3E}">
        <p14:creationId xmlns:p14="http://schemas.microsoft.com/office/powerpoint/2010/main" val="2114021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>
            <a:extLst>
              <a:ext uri="{FF2B5EF4-FFF2-40B4-BE49-F238E27FC236}">
                <a16:creationId xmlns:a16="http://schemas.microsoft.com/office/drawing/2014/main" id="{64E2B62A-0B17-45BB-8BE2-7C1313144FDE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CACA789-D268-6F20-F7CE-CC1E04CA74B9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0477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 spc="15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智慧書櫃維運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B1A15D2-F2DB-A848-5B8E-3084BEB782AE}"/>
              </a:ext>
            </a:extLst>
          </p:cNvPr>
          <p:cNvSpPr>
            <a:spLocks noGrp="1"/>
          </p:cNvSpPr>
          <p:nvPr/>
        </p:nvSpPr>
        <p:spPr>
          <a:xfrm>
            <a:off x="10829925" y="631507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19</a:t>
            </a:r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6" name="圖片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8902" y="1806821"/>
            <a:ext cx="1794072" cy="3889438"/>
          </a:xfrm>
          <a:prstGeom prst="roundRect">
            <a:avLst>
              <a:gd name="adj" fmla="val 12211"/>
            </a:avLst>
          </a:prstGeom>
        </p:spPr>
      </p:pic>
      <p:pic>
        <p:nvPicPr>
          <p:cNvPr id="27" name="圖形 2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09625" y="1733550"/>
            <a:ext cx="1952625" cy="404812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77B15D8-554C-400B-A85D-37013279069F}"/>
              </a:ext>
            </a:extLst>
          </p:cNvPr>
          <p:cNvSpPr>
            <a:spLocks noGrp="1"/>
          </p:cNvSpPr>
          <p:nvPr/>
        </p:nvSpPr>
        <p:spPr>
          <a:xfrm>
            <a:off x="3352800" y="1800225"/>
            <a:ext cx="78581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607D8B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607D8B"/>
                </a:solidFill>
                <a:latin typeface="Noto Sans TC"/>
                <a:ea typeface="Noto Sans TC"/>
                <a:cs typeface="Noto Sans TC"/>
              </a:rPr>
              <a:t>硬體交付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A9B646-DC44-4995-ABF1-3C6829AACC76}"/>
              </a:ext>
            </a:extLst>
          </p:cNvPr>
          <p:cNvSpPr>
            <a:spLocks noGrp="1"/>
          </p:cNvSpPr>
          <p:nvPr/>
        </p:nvSpPr>
        <p:spPr>
          <a:xfrm>
            <a:off x="3352800" y="2200275"/>
            <a:ext cx="80772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ESP32-S3、螢幕與四組電磁鎖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446AC0D-191F-474C-A4F1-F6FF3ABD3DF9}"/>
              </a:ext>
            </a:extLst>
          </p:cNvPr>
          <p:cNvSpPr>
            <a:spLocks noGrp="1"/>
          </p:cNvSpPr>
          <p:nvPr/>
        </p:nvSpPr>
        <p:spPr>
          <a:xfrm>
            <a:off x="3352800" y="2762250"/>
            <a:ext cx="78581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607D8B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607D8B"/>
                </a:solidFill>
                <a:latin typeface="Noto Sans TC"/>
                <a:ea typeface="Noto Sans TC"/>
                <a:cs typeface="Noto Sans TC"/>
              </a:rPr>
              <a:t>設備維運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5C564F-4506-4269-89BE-0036FCEB3723}"/>
              </a:ext>
            </a:extLst>
          </p:cNvPr>
          <p:cNvSpPr>
            <a:spLocks noGrp="1"/>
          </p:cNvSpPr>
          <p:nvPr/>
        </p:nvSpPr>
        <p:spPr>
          <a:xfrm>
            <a:off x="3352800" y="3162300"/>
            <a:ext cx="80772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裝置配對、狀態監控、遠端開櫃與事件紀錄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2A70FE0-DA86-43B9-86A7-7E57FDE7DE81}"/>
              </a:ext>
            </a:extLst>
          </p:cNvPr>
          <p:cNvSpPr>
            <a:spLocks noGrp="1"/>
          </p:cNvSpPr>
          <p:nvPr/>
        </p:nvSpPr>
        <p:spPr>
          <a:xfrm>
            <a:off x="3352800" y="3724275"/>
            <a:ext cx="78581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607D8B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607D8B"/>
                </a:solidFill>
                <a:latin typeface="Noto Sans TC"/>
                <a:ea typeface="Noto Sans TC"/>
                <a:cs typeface="Noto Sans TC"/>
              </a:rPr>
              <a:t>異常處置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DAE22BA-A9BE-423F-A690-C4AC43DB7C69}"/>
              </a:ext>
            </a:extLst>
          </p:cNvPr>
          <p:cNvSpPr>
            <a:spLocks noGrp="1"/>
          </p:cNvSpPr>
          <p:nvPr/>
        </p:nvSpPr>
        <p:spPr>
          <a:xfrm>
            <a:off x="3352800" y="4124325"/>
            <a:ext cx="80772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故障手動回報經管理員確認；關鍵操作留存紀錄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A6B91A6-046E-445A-8D16-E5B57D27C197}"/>
              </a:ext>
            </a:extLst>
          </p:cNvPr>
          <p:cNvSpPr>
            <a:spLocks noGrp="1"/>
          </p:cNvSpPr>
          <p:nvPr/>
        </p:nvSpPr>
        <p:spPr>
          <a:xfrm>
            <a:off x="3352800" y="4686300"/>
            <a:ext cx="78581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607D8B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607D8B"/>
                </a:solidFill>
                <a:latin typeface="Noto Sans TC"/>
                <a:ea typeface="Noto Sans TC"/>
                <a:cs typeface="Noto Sans TC"/>
              </a:rPr>
              <a:t>室內場域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985ADEC-45E1-49EA-A9D4-1DFF05A2E125}"/>
              </a:ext>
            </a:extLst>
          </p:cNvPr>
          <p:cNvSpPr>
            <a:spLocks noGrp="1"/>
          </p:cNvSpPr>
          <p:nvPr/>
        </p:nvSpPr>
        <p:spPr>
          <a:xfrm>
            <a:off x="3352800" y="5086350"/>
            <a:ext cx="80772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校園／圖書館試點，需電源、Wi-Fi 與巡檢分工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EE2490D-05D9-48B7-BBF4-26BDCCD21149}"/>
              </a:ext>
            </a:extLst>
          </p:cNvPr>
          <p:cNvSpPr>
            <a:spLocks noGrp="1"/>
          </p:cNvSpPr>
          <p:nvPr/>
        </p:nvSpPr>
        <p:spPr>
          <a:xfrm>
            <a:off x="3352800" y="5943600"/>
            <a:ext cx="806767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支付串接與長期場域實測仍待完成；不以測試數量推論妥善率。</a:t>
            </a:r>
          </a:p>
        </p:txBody>
      </p:sp>
    </p:spTree>
    <p:extLst>
      <p:ext uri="{BB962C8B-B14F-4D97-AF65-F5344CB8AC3E}">
        <p14:creationId xmlns:p14="http://schemas.microsoft.com/office/powerpoint/2010/main" val="5890160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A4E73FCA-AB7A-4B60-A7FD-181338521D23}"/>
              </a:ext>
            </a:extLst>
          </p:cNvPr>
          <p:cNvSpPr>
            <a:spLocks noGrp="1"/>
          </p:cNvSpPr>
          <p:nvPr/>
        </p:nvSpPr>
        <p:spPr>
          <a:xfrm>
            <a:off x="647700" y="381000"/>
            <a:ext cx="7048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2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書櫃場域與交通資訊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A5AEFF-272A-4D1A-AA84-452D5A650FFC}"/>
              </a:ext>
            </a:extLst>
          </p:cNvPr>
          <p:cNvSpPr>
            <a:spLocks noGrp="1"/>
          </p:cNvSpPr>
          <p:nvPr/>
        </p:nvSpPr>
        <p:spPr>
          <a:xfrm>
            <a:off x="647700" y="81915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500" lnSpcReduction="10000"/>
          </a:bodyPr>
          <a:lstStyle/>
          <a:p>
            <a:pPr algn="l">
              <a:defRPr sz="11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04  智慧實體書櫃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0073F0-FBDF-497A-A50F-D3C1B9079DA6}"/>
              </a:ext>
            </a:extLst>
          </p:cNvPr>
          <p:cNvSpPr>
            <a:spLocks noGrp="1"/>
          </p:cNvSpPr>
          <p:nvPr/>
        </p:nvSpPr>
        <p:spPr>
          <a:xfrm>
            <a:off x="647700" y="1123950"/>
            <a:ext cx="10287000" cy="19050"/>
          </a:xfrm>
          <a:prstGeom prst="rect">
            <a:avLst/>
          </a:prstGeom>
          <a:solidFill>
            <a:srgbClr val="1D3557"/>
          </a:solidFill>
          <a:ln w="0">
            <a:solidFill>
              <a:srgbClr val="1D355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B9592D8-5C54-486E-8A92-7ADFFB0008FF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3333750" cy="371475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F28728-7433-4C42-812E-EFD7104B88F7}"/>
              </a:ext>
            </a:extLst>
          </p:cNvPr>
          <p:cNvSpPr>
            <a:spLocks noGrp="1"/>
          </p:cNvSpPr>
          <p:nvPr/>
        </p:nvSpPr>
        <p:spPr>
          <a:xfrm>
            <a:off x="952500" y="175260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924" lnSpcReduction="10000"/>
          </a:bodyPr>
          <a:lstStyle/>
          <a:p>
            <a:pPr algn="l">
              <a:defRPr sz="16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使用情境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5DBECC92-B05B-4887-A18B-1E438F430206}"/>
              </a:ext>
            </a:extLst>
          </p:cNvPr>
          <p:cNvSpPr>
            <a:spLocks noGrp="1"/>
          </p:cNvSpPr>
          <p:nvPr/>
        </p:nvSpPr>
        <p:spPr>
          <a:xfrm>
            <a:off x="952500" y="233362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FA8BAE-4711-4D51-9F58-057C579D9A03}"/>
              </a:ext>
            </a:extLst>
          </p:cNvPr>
          <p:cNvSpPr>
            <a:spLocks noGrp="1"/>
          </p:cNvSpPr>
          <p:nvPr/>
        </p:nvSpPr>
        <p:spPr>
          <a:xfrm>
            <a:off x="1162050" y="2247900"/>
            <a:ext cx="25527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9352" lnSpcReduction="10000"/>
          </a:bodyPr>
          <a:lstStyle/>
          <a:p>
            <a:pPr algn="l">
              <a:defRPr sz="135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書籍詳情、訂單取書資訊、上架或編輯書籍時，都能進入「交通資訊」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F1EB8577-83ED-4413-A45C-2D7482D6B611}"/>
              </a:ext>
            </a:extLst>
          </p:cNvPr>
          <p:cNvSpPr>
            <a:spLocks noGrp="1"/>
          </p:cNvSpPr>
          <p:nvPr/>
        </p:nvSpPr>
        <p:spPr>
          <a:xfrm>
            <a:off x="952500" y="284797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0E7A40-3A33-4F69-898C-CF39CEF3BBC1}"/>
              </a:ext>
            </a:extLst>
          </p:cNvPr>
          <p:cNvSpPr>
            <a:spLocks noGrp="1"/>
          </p:cNvSpPr>
          <p:nvPr/>
        </p:nvSpPr>
        <p:spPr>
          <a:xfrm>
            <a:off x="1162050" y="2762250"/>
            <a:ext cx="25527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958" lnSpcReduction="10000"/>
          </a:bodyPr>
          <a:lstStyle/>
          <a:p>
            <a:pPr algn="l">
              <a:defRPr sz="135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頁面顯示書櫃地址、開放時間，可導航或複製地址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28A2744F-9DD4-4E27-A184-45FEF375512E}"/>
              </a:ext>
            </a:extLst>
          </p:cNvPr>
          <p:cNvSpPr>
            <a:spLocks noGrp="1"/>
          </p:cNvSpPr>
          <p:nvPr/>
        </p:nvSpPr>
        <p:spPr>
          <a:xfrm>
            <a:off x="952500" y="336232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793E5A6-27AD-44C7-B852-8AAD69EB9FD4}"/>
              </a:ext>
            </a:extLst>
          </p:cNvPr>
          <p:cNvSpPr>
            <a:spLocks noGrp="1"/>
          </p:cNvSpPr>
          <p:nvPr/>
        </p:nvSpPr>
        <p:spPr>
          <a:xfrm>
            <a:off x="1162050" y="3276600"/>
            <a:ext cx="25527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2597" lnSpcReduction="10000"/>
          </a:bodyPr>
          <a:lstStyle/>
          <a:p>
            <a:pPr algn="l">
              <a:defRPr sz="135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App 定位用於確認在書櫃旁、距離排序與找出最近捷運站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FC4B4DCD-8EEB-4098-B792-9BBAEB474D8F}"/>
              </a:ext>
            </a:extLst>
          </p:cNvPr>
          <p:cNvSpPr>
            <a:spLocks noGrp="1"/>
          </p:cNvSpPr>
          <p:nvPr/>
        </p:nvSpPr>
        <p:spPr>
          <a:xfrm>
            <a:off x="952500" y="387667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A74CCC-EDF9-4652-AD56-19D9391589C2}"/>
              </a:ext>
            </a:extLst>
          </p:cNvPr>
          <p:cNvSpPr>
            <a:spLocks noGrp="1"/>
          </p:cNvSpPr>
          <p:nvPr/>
        </p:nvSpPr>
        <p:spPr>
          <a:xfrm>
            <a:off x="1162050" y="3790950"/>
            <a:ext cx="25527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958" lnSpcReduction="10000"/>
          </a:bodyPr>
          <a:lstStyle/>
          <a:p>
            <a:pPr algn="l">
              <a:defRPr sz="135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位置不在背景取得，未選出發站時也不傳到伺服器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13ACCC56-BB9E-4033-A9CA-6845F3340143}"/>
              </a:ext>
            </a:extLst>
          </p:cNvPr>
          <p:cNvSpPr>
            <a:spLocks noGrp="1"/>
          </p:cNvSpPr>
          <p:nvPr/>
        </p:nvSpPr>
        <p:spPr>
          <a:xfrm>
            <a:off x="4400550" y="1466850"/>
            <a:ext cx="6572250" cy="371475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9525">
            <a:solidFill>
              <a:srgbClr val="D8DE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DA01F22-1DB7-4533-8A13-234BB2A5DD6C}"/>
              </a:ext>
            </a:extLst>
          </p:cNvPr>
          <p:cNvSpPr>
            <a:spLocks noGrp="1"/>
          </p:cNvSpPr>
          <p:nvPr/>
        </p:nvSpPr>
        <p:spPr>
          <a:xfrm>
            <a:off x="4724400" y="1752600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924" lnSpcReduction="10000"/>
          </a:bodyPr>
          <a:lstStyle/>
          <a:p>
            <a:pPr algn="l">
              <a:defRPr sz="16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可呈現的交通資料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D6399158-6CAC-42AA-B400-5C146318C485}"/>
              </a:ext>
            </a:extLst>
          </p:cNvPr>
          <p:cNvSpPr>
            <a:spLocks noGrp="1"/>
          </p:cNvSpPr>
          <p:nvPr/>
        </p:nvSpPr>
        <p:spPr>
          <a:xfrm>
            <a:off x="4724400" y="2266950"/>
            <a:ext cx="2667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3E08BFF-CB20-4512-85A1-D397C484F12A}"/>
              </a:ext>
            </a:extLst>
          </p:cNvPr>
          <p:cNvSpPr>
            <a:spLocks noGrp="1"/>
          </p:cNvSpPr>
          <p:nvPr/>
        </p:nvSpPr>
        <p:spPr>
          <a:xfrm>
            <a:off x="4876800" y="2362200"/>
            <a:ext cx="666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4167" lnSpcReduction="10000"/>
          </a:bodyPr>
          <a:lstStyle/>
          <a:p>
            <a:pPr algn="l">
              <a:defRPr sz="13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捷運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BD5F8BD-47AA-4B33-AD10-FFF0C1BD9A5C}"/>
              </a:ext>
            </a:extLst>
          </p:cNvPr>
          <p:cNvSpPr>
            <a:spLocks noGrp="1"/>
          </p:cNvSpPr>
          <p:nvPr/>
        </p:nvSpPr>
        <p:spPr>
          <a:xfrm>
            <a:off x="5600700" y="2352675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944" lnSpcReduction="10000"/>
          </a:bodyPr>
          <a:lstStyle/>
          <a:p>
            <a:pPr algn="l">
              <a:defRPr sz="112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最近兩站、出口、無障礙電梯與坡道、票價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833B06DB-A14C-4F3C-806B-71F63D022A54}"/>
              </a:ext>
            </a:extLst>
          </p:cNvPr>
          <p:cNvSpPr>
            <a:spLocks noGrp="1"/>
          </p:cNvSpPr>
          <p:nvPr/>
        </p:nvSpPr>
        <p:spPr>
          <a:xfrm>
            <a:off x="7724775" y="2266950"/>
            <a:ext cx="2667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644A554-5452-4F21-A5BC-319A8C630EE8}"/>
              </a:ext>
            </a:extLst>
          </p:cNvPr>
          <p:cNvSpPr>
            <a:spLocks noGrp="1"/>
          </p:cNvSpPr>
          <p:nvPr/>
        </p:nvSpPr>
        <p:spPr>
          <a:xfrm>
            <a:off x="7877175" y="2362200"/>
            <a:ext cx="666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4167" lnSpcReduction="10000"/>
          </a:bodyPr>
          <a:lstStyle/>
          <a:p>
            <a:pPr algn="l">
              <a:defRPr sz="13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公車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89AF425-39A1-4912-A1F7-EA2644B5555C}"/>
              </a:ext>
            </a:extLst>
          </p:cNvPr>
          <p:cNvSpPr>
            <a:spLocks noGrp="1"/>
          </p:cNvSpPr>
          <p:nvPr/>
        </p:nvSpPr>
        <p:spPr>
          <a:xfrm>
            <a:off x="8601075" y="2352675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417" lnSpcReduction="10000"/>
          </a:bodyPr>
          <a:lstStyle/>
          <a:p>
            <a:pPr algn="l">
              <a:defRPr sz="112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300 公尺內站位與即時預估到站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10F0A334-6BD7-4BF9-906D-186AEA101640}"/>
              </a:ext>
            </a:extLst>
          </p:cNvPr>
          <p:cNvSpPr>
            <a:spLocks noGrp="1"/>
          </p:cNvSpPr>
          <p:nvPr/>
        </p:nvSpPr>
        <p:spPr>
          <a:xfrm>
            <a:off x="4724400" y="3086100"/>
            <a:ext cx="2667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04C0E5E-12D8-4F55-AA4B-9042BADC8F04}"/>
              </a:ext>
            </a:extLst>
          </p:cNvPr>
          <p:cNvSpPr>
            <a:spLocks noGrp="1"/>
          </p:cNvSpPr>
          <p:nvPr/>
        </p:nvSpPr>
        <p:spPr>
          <a:xfrm>
            <a:off x="4876800" y="3181350"/>
            <a:ext cx="666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4167" lnSpcReduction="10000"/>
          </a:bodyPr>
          <a:lstStyle/>
          <a:p>
            <a:pPr algn="l">
              <a:defRPr sz="13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YouBike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0DDA0A8-50CB-438D-B930-ED195D6C0D7C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944" lnSpcReduction="10000"/>
          </a:bodyPr>
          <a:lstStyle/>
          <a:p>
            <a:pPr algn="l">
              <a:defRPr sz="112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500 公尺內可借、可還數量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806771F8-5EB8-4998-928E-B6C5391E3DB8}"/>
              </a:ext>
            </a:extLst>
          </p:cNvPr>
          <p:cNvSpPr>
            <a:spLocks noGrp="1"/>
          </p:cNvSpPr>
          <p:nvPr/>
        </p:nvSpPr>
        <p:spPr>
          <a:xfrm>
            <a:off x="7724775" y="3086100"/>
            <a:ext cx="2667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FCD2683-8650-472F-844B-ED8CDD78F6A6}"/>
              </a:ext>
            </a:extLst>
          </p:cNvPr>
          <p:cNvSpPr>
            <a:spLocks noGrp="1"/>
          </p:cNvSpPr>
          <p:nvPr/>
        </p:nvSpPr>
        <p:spPr>
          <a:xfrm>
            <a:off x="7877175" y="3181350"/>
            <a:ext cx="666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4167" lnSpcReduction="10000"/>
          </a:bodyPr>
          <a:lstStyle/>
          <a:p>
            <a:pPr algn="l">
              <a:defRPr sz="13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停車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07C6A55-EB0E-405E-8135-8DFB0A0D0493}"/>
              </a:ext>
            </a:extLst>
          </p:cNvPr>
          <p:cNvSpPr>
            <a:spLocks noGrp="1"/>
          </p:cNvSpPr>
          <p:nvPr/>
        </p:nvSpPr>
        <p:spPr>
          <a:xfrm>
            <a:off x="8601075" y="3171825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944" lnSpcReduction="10000"/>
          </a:bodyPr>
          <a:lstStyle/>
          <a:p>
            <a:pPr algn="l">
              <a:defRPr sz="112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停車場、路邊停車格位與周邊路況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31977B59-D89F-4E48-BCBD-B5DC66CDDD63}"/>
              </a:ext>
            </a:extLst>
          </p:cNvPr>
          <p:cNvSpPr>
            <a:spLocks noGrp="1"/>
          </p:cNvSpPr>
          <p:nvPr/>
        </p:nvSpPr>
        <p:spPr>
          <a:xfrm>
            <a:off x="4724400" y="3905250"/>
            <a:ext cx="2667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B4B08B6-FC37-4C93-8189-48B30BB5C1D6}"/>
              </a:ext>
            </a:extLst>
          </p:cNvPr>
          <p:cNvSpPr>
            <a:spLocks noGrp="1"/>
          </p:cNvSpPr>
          <p:nvPr/>
        </p:nvSpPr>
        <p:spPr>
          <a:xfrm>
            <a:off x="4876800" y="4000500"/>
            <a:ext cx="666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4167" lnSpcReduction="10000"/>
          </a:bodyPr>
          <a:lstStyle/>
          <a:p>
            <a:pPr algn="l">
              <a:defRPr sz="13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計程車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81871BF-3F08-40EF-9AD0-644BF7938C7E}"/>
              </a:ext>
            </a:extLst>
          </p:cNvPr>
          <p:cNvSpPr>
            <a:spLocks noGrp="1"/>
          </p:cNvSpPr>
          <p:nvPr/>
        </p:nvSpPr>
        <p:spPr>
          <a:xfrm>
            <a:off x="5600700" y="3990975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617"/>
          </a:bodyPr>
          <a:lstStyle/>
          <a:p>
            <a:pPr algn="l">
              <a:defRPr sz="112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800 公尺內計程車招呼站</a:t>
            </a: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FF908638-8386-4E98-BF90-41962C485EDD}"/>
              </a:ext>
            </a:extLst>
          </p:cNvPr>
          <p:cNvSpPr>
            <a:spLocks noGrp="1"/>
          </p:cNvSpPr>
          <p:nvPr/>
        </p:nvSpPr>
        <p:spPr>
          <a:xfrm>
            <a:off x="7724775" y="3905250"/>
            <a:ext cx="2667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EA618F5-F4AE-4B9B-8A41-10C5D1DAB11A}"/>
              </a:ext>
            </a:extLst>
          </p:cNvPr>
          <p:cNvSpPr>
            <a:spLocks noGrp="1"/>
          </p:cNvSpPr>
          <p:nvPr/>
        </p:nvSpPr>
        <p:spPr>
          <a:xfrm>
            <a:off x="7877175" y="4000500"/>
            <a:ext cx="666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4167" lnSpcReduction="10000"/>
          </a:bodyPr>
          <a:lstStyle/>
          <a:p>
            <a:pPr algn="l">
              <a:defRPr sz="13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導航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50FC743-28B4-42D6-8F0C-932CB6DCDBFC}"/>
              </a:ext>
            </a:extLst>
          </p:cNvPr>
          <p:cNvSpPr>
            <a:spLocks noGrp="1"/>
          </p:cNvSpPr>
          <p:nvPr/>
        </p:nvSpPr>
        <p:spPr>
          <a:xfrm>
            <a:off x="8601075" y="3990975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944" lnSpcReduction="10000"/>
          </a:bodyPr>
          <a:lstStyle/>
          <a:p>
            <a:pPr algn="l">
              <a:defRPr sz="112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點選任一項目可開啟 Google 地圖導航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6F91ABC-1A82-40BB-83C9-AC4479B31897}"/>
              </a:ext>
            </a:extLst>
          </p:cNvPr>
          <p:cNvSpPr>
            <a:spLocks noGrp="1"/>
          </p:cNvSpPr>
          <p:nvPr/>
        </p:nvSpPr>
        <p:spPr>
          <a:xfrm>
            <a:off x="800100" y="5524500"/>
            <a:ext cx="9620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資料來源為臺北市資料大平臺；公車、YouBike 與停車資訊目前以臺北市資料為主。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03B6C90-90C8-4F32-93F4-5670BD16AA79}"/>
              </a:ext>
            </a:extLst>
          </p:cNvPr>
          <p:cNvSpPr>
            <a:spLocks noGrp="1"/>
          </p:cNvSpPr>
          <p:nvPr/>
        </p:nvSpPr>
        <p:spPr>
          <a:xfrm>
            <a:off x="11010900" y="62103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2500" lnSpcReduction="10000"/>
          </a:bodyPr>
          <a:lstStyle/>
          <a:p>
            <a:pPr algn="r">
              <a:defRPr sz="120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19630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30950"/>
            <a:ext cx="12192001" cy="6888950"/>
          </a:xfrm>
          <a:prstGeom prst="rect">
            <a:avLst/>
          </a:prstGeom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D9C89E96-2E7C-EE4D-9181-55263397C2B1}"/>
              </a:ext>
            </a:extLst>
          </p:cNvPr>
          <p:cNvSpPr>
            <a:spLocks noGrp="1"/>
          </p:cNvSpPr>
          <p:nvPr/>
        </p:nvSpPr>
        <p:spPr>
          <a:xfrm>
            <a:off x="981143" y="1814922"/>
            <a:ext cx="46939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0" b="1" spc="100">
                <a:gradFill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04</a:t>
            </a:r>
            <a:endParaRPr sz="20000" b="1" spc="10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9201BAEB-7B6E-CD06-2DE5-DB9F7D94835D}"/>
              </a:ext>
            </a:extLst>
          </p:cNvPr>
          <p:cNvSpPr>
            <a:spLocks noGrp="1"/>
          </p:cNvSpPr>
          <p:nvPr/>
        </p:nvSpPr>
        <p:spPr>
          <a:xfrm>
            <a:off x="1132113" y="4028981"/>
            <a:ext cx="1089055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21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6000" b="1">
                <a:solidFill>
                  <a:schemeClr val="bg1">
                    <a:lumMod val="95000"/>
                  </a:schemeClr>
                </a:solidFill>
                <a:latin typeface="Noto Sans TC"/>
                <a:ea typeface="Noto Sans TC"/>
                <a:cs typeface="Noto Sans TC"/>
              </a:rPr>
              <a:t>智慧實體書櫃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620F741-CC64-B698-7FE8-E6A92AD1EE7C}"/>
              </a:ext>
            </a:extLst>
          </p:cNvPr>
          <p:cNvSpPr>
            <a:spLocks noGrp="1"/>
          </p:cNvSpPr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sz="2800" spc="100">
                <a:solidFill>
                  <a:srgbClr val="F8FAFB"/>
                </a:solidFill>
                <a:latin typeface="Noto Sans TC Medium"/>
                <a:ea typeface="Noto Sans TC Medium"/>
                <a:cs typeface="Noto Sans TC Medium"/>
              </a:rPr>
              <a:t>報告人</a:t>
            </a:r>
            <a:r>
              <a:rPr sz="2800" b="1" spc="100">
                <a:solidFill>
                  <a:srgbClr val="F8FAFB"/>
                </a:solidFill>
                <a:latin typeface="+mj-ea"/>
                <a:ea typeface="+mj-ea"/>
                <a:cs typeface="+mj-ea"/>
              </a:rPr>
              <a:t>｜</a:t>
            </a:r>
            <a:endParaRPr sz="2800" spc="100">
              <a:solidFill>
                <a:srgbClr val="F8FAFB"/>
              </a:solidFill>
              <a:latin typeface="Noto Sans TC Medium"/>
              <a:ea typeface="Noto Sans TC Medium"/>
              <a:cs typeface="Noto Sans TC Medium"/>
            </a:endParaRPr>
          </a:p>
        </p:txBody>
      </p:sp>
    </p:spTree>
    <p:extLst>
      <p:ext uri="{BB962C8B-B14F-4D97-AF65-F5344CB8AC3E}">
        <p14:creationId xmlns:p14="http://schemas.microsoft.com/office/powerpoint/2010/main" val="7213756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>
            <a:extLst>
              <a:ext uri="{FF2B5EF4-FFF2-40B4-BE49-F238E27FC236}">
                <a16:creationId xmlns:a16="http://schemas.microsoft.com/office/drawing/2014/main" id="{1000B7D8-5671-F501-7652-CE30464F52FD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7F6D2B9-6024-2089-C20D-6CA0E8811EA9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0477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 spc="15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智慧實體書櫃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AB9DFA1-CFAF-109E-6526-28044D7B1266}"/>
              </a:ext>
            </a:extLst>
          </p:cNvPr>
          <p:cNvSpPr>
            <a:spLocks noGrp="1"/>
          </p:cNvSpPr>
          <p:nvPr/>
        </p:nvSpPr>
        <p:spPr>
          <a:xfrm>
            <a:off x="10829925" y="631507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17</a:t>
            </a:r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4" name="圖片 2"/>
          <p:cNvPicPr>
            <a:picLocks noChangeAspect="1"/>
          </p:cNvPicPr>
          <p:nvPr/>
        </p:nvPicPr>
        <p:blipFill>
          <a:blip r:embed="rId3"/>
          <a:srcRect l="37405"/>
          <a:stretch>
            <a:fillRect/>
          </a:stretch>
        </p:blipFill>
        <p:spPr>
          <a:xfrm>
            <a:off x="4817533" y="1447714"/>
            <a:ext cx="7374467" cy="4867361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12BCCE2C-BB35-EE19-7524-5637635B9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890" y="1871515"/>
            <a:ext cx="3530781" cy="401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8997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C8E72753-19D3-4A5C-BCB4-F3F6EF4144FE}"/>
              </a:ext>
            </a:extLst>
          </p:cNvPr>
          <p:cNvSpPr>
            <a:spLocks noGrp="1"/>
          </p:cNvSpPr>
          <p:nvPr/>
        </p:nvSpPr>
        <p:spPr>
          <a:xfrm>
            <a:off x="647700" y="381000"/>
            <a:ext cx="7048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2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書櫃零件與硬體組成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F435CA-2D48-4F25-8BD4-9EED8F25A86D}"/>
              </a:ext>
            </a:extLst>
          </p:cNvPr>
          <p:cNvSpPr>
            <a:spLocks noGrp="1"/>
          </p:cNvSpPr>
          <p:nvPr/>
        </p:nvSpPr>
        <p:spPr>
          <a:xfrm>
            <a:off x="647700" y="81915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500" lnSpcReduction="10000"/>
          </a:bodyPr>
          <a:lstStyle/>
          <a:p>
            <a:pPr algn="l">
              <a:defRPr sz="11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04  智慧實體書櫃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726630-8C20-47EA-8972-9FB8564B3AFA}"/>
              </a:ext>
            </a:extLst>
          </p:cNvPr>
          <p:cNvSpPr>
            <a:spLocks noGrp="1"/>
          </p:cNvSpPr>
          <p:nvPr/>
        </p:nvSpPr>
        <p:spPr>
          <a:xfrm>
            <a:off x="647700" y="1123950"/>
            <a:ext cx="10287000" cy="19050"/>
          </a:xfrm>
          <a:prstGeom prst="rect">
            <a:avLst/>
          </a:prstGeom>
          <a:solidFill>
            <a:srgbClr val="1D3557"/>
          </a:solidFill>
          <a:ln w="0">
            <a:solidFill>
              <a:srgbClr val="1D355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EBB9713-4BA4-4680-ACCF-035D8CF32078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4953000" cy="40005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B8C4148-5BB7-4D84-8A18-9A55E4D9C368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924" lnSpcReduction="10000"/>
          </a:bodyPr>
          <a:lstStyle/>
          <a:p>
            <a:pPr algn="l">
              <a:defRPr sz="16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主要零件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EC87064A-DD00-4279-A646-18A88D1D7AFD}"/>
              </a:ext>
            </a:extLst>
          </p:cNvPr>
          <p:cNvSpPr>
            <a:spLocks noGrp="1"/>
          </p:cNvSpPr>
          <p:nvPr/>
        </p:nvSpPr>
        <p:spPr>
          <a:xfrm>
            <a:off x="952500" y="227647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E9636D-33ED-4DFB-B430-67D564C146EA}"/>
              </a:ext>
            </a:extLst>
          </p:cNvPr>
          <p:cNvSpPr>
            <a:spLocks noGrp="1"/>
          </p:cNvSpPr>
          <p:nvPr/>
        </p:nvSpPr>
        <p:spPr>
          <a:xfrm>
            <a:off x="1162050" y="2190750"/>
            <a:ext cx="38862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253" lnSpcReduction="10000"/>
          </a:bodyPr>
          <a:lstStyle/>
          <a:p>
            <a:pPr algn="l">
              <a:defRPr sz="135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ESP32-S3 開發板：控制四扇櫃門、螢幕與 HTTPS 同步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9C9E732A-FA27-4357-8955-6BB1158F39D6}"/>
              </a:ext>
            </a:extLst>
          </p:cNvPr>
          <p:cNvSpPr>
            <a:spLocks noGrp="1"/>
          </p:cNvSpPr>
          <p:nvPr/>
        </p:nvSpPr>
        <p:spPr>
          <a:xfrm>
            <a:off x="952500" y="282892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793BB6-4942-46C0-BD0F-5D49F0924409}"/>
              </a:ext>
            </a:extLst>
          </p:cNvPr>
          <p:cNvSpPr>
            <a:spLocks noGrp="1"/>
          </p:cNvSpPr>
          <p:nvPr/>
        </p:nvSpPr>
        <p:spPr>
          <a:xfrm>
            <a:off x="1162050" y="2743200"/>
            <a:ext cx="38862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2042" lnSpcReduction="10000"/>
          </a:bodyPr>
          <a:lstStyle/>
          <a:p>
            <a:pPr algn="l">
              <a:defRPr sz="135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2.8 吋 SPI TFT 螢幕：顯示 QR Code、配對碼、比對碼與作業狀態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04FD7E04-DAAF-4B86-8995-7EAA76418454}"/>
              </a:ext>
            </a:extLst>
          </p:cNvPr>
          <p:cNvSpPr>
            <a:spLocks noGrp="1"/>
          </p:cNvSpPr>
          <p:nvPr/>
        </p:nvSpPr>
        <p:spPr>
          <a:xfrm>
            <a:off x="952500" y="338137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AC813E5-240D-4E48-8728-BB9D6CB6F977}"/>
              </a:ext>
            </a:extLst>
          </p:cNvPr>
          <p:cNvSpPr>
            <a:spLocks noGrp="1"/>
          </p:cNvSpPr>
          <p:nvPr/>
        </p:nvSpPr>
        <p:spPr>
          <a:xfrm>
            <a:off x="1162050" y="3295650"/>
            <a:ext cx="38862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264"/>
          </a:bodyPr>
          <a:lstStyle/>
          <a:p>
            <a:pPr algn="l">
              <a:defRPr sz="135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四組 12V 電磁鎖與四路繼電器：通電開鎖、斷電上鎖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055004FB-2FF7-4F57-A54E-DF849A814209}"/>
              </a:ext>
            </a:extLst>
          </p:cNvPr>
          <p:cNvSpPr>
            <a:spLocks noGrp="1"/>
          </p:cNvSpPr>
          <p:nvPr/>
        </p:nvSpPr>
        <p:spPr>
          <a:xfrm>
            <a:off x="952500" y="393382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1C1FBB-5394-424D-B98B-7F179C00CB95}"/>
              </a:ext>
            </a:extLst>
          </p:cNvPr>
          <p:cNvSpPr>
            <a:spLocks noGrp="1"/>
          </p:cNvSpPr>
          <p:nvPr/>
        </p:nvSpPr>
        <p:spPr>
          <a:xfrm>
            <a:off x="1162050" y="3848100"/>
            <a:ext cx="38862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736" lnSpcReduction="20000"/>
          </a:bodyPr>
          <a:lstStyle/>
          <a:p>
            <a:pPr algn="l">
              <a:defRPr sz="135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24V 電源、7812/7805 穩壓、保險絲、電容與 1N4007 二極體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C4C80C1D-2335-4AC5-AE83-9DD3E521837E}"/>
              </a:ext>
            </a:extLst>
          </p:cNvPr>
          <p:cNvSpPr>
            <a:spLocks noGrp="1"/>
          </p:cNvSpPr>
          <p:nvPr/>
        </p:nvSpPr>
        <p:spPr>
          <a:xfrm>
            <a:off x="952500" y="448627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204DD9B-422B-4D39-B437-90BE091086DA}"/>
              </a:ext>
            </a:extLst>
          </p:cNvPr>
          <p:cNvSpPr>
            <a:spLocks noGrp="1"/>
          </p:cNvSpPr>
          <p:nvPr/>
        </p:nvSpPr>
        <p:spPr>
          <a:xfrm>
            <a:off x="1162050" y="4400550"/>
            <a:ext cx="38862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四組微動開關：偵測櫃門是否關閉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B8D7A991-7174-4127-A5BD-21F453E8F33E}"/>
              </a:ext>
            </a:extLst>
          </p:cNvPr>
          <p:cNvSpPr>
            <a:spLocks noGrp="1"/>
          </p:cNvSpPr>
          <p:nvPr/>
        </p:nvSpPr>
        <p:spPr>
          <a:xfrm>
            <a:off x="6019800" y="1447800"/>
            <a:ext cx="4953000" cy="4000500"/>
          </a:xfrm>
          <a:prstGeom prst="roundRect">
            <a:avLst>
              <a:gd name="adj" fmla="val 1905"/>
            </a:avLst>
          </a:prstGeom>
          <a:solidFill>
            <a:srgbClr val="F8FAFC"/>
          </a:solidFill>
          <a:ln w="9525">
            <a:solidFill>
              <a:srgbClr val="D8DEE8"/>
            </a:solidFill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58050" y="1676400"/>
            <a:ext cx="2476500" cy="2857500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08836244-4EE5-4DE1-A68C-B7B8C91DC286}"/>
              </a:ext>
            </a:extLst>
          </p:cNvPr>
          <p:cNvSpPr>
            <a:spLocks noGrp="1"/>
          </p:cNvSpPr>
          <p:nvPr/>
        </p:nvSpPr>
        <p:spPr>
          <a:xfrm>
            <a:off x="6286500" y="4705350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641"/>
          </a:bodyPr>
          <a:lstStyle/>
          <a:p>
            <a:pPr algn="l">
              <a:defRPr sz="120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安全設計：一次只讓一顆鎖通電，NO 接點讓停電時維持上鎖；開鎖脈衝限制在 3 秒內，避免線圈過熱。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89E9CE-183A-41DE-9BFD-85CD5C293354}"/>
              </a:ext>
            </a:extLst>
          </p:cNvPr>
          <p:cNvSpPr>
            <a:spLocks noGrp="1"/>
          </p:cNvSpPr>
          <p:nvPr/>
        </p:nvSpPr>
        <p:spPr>
          <a:xfrm>
            <a:off x="11010900" y="62103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2500" lnSpcReduction="10000"/>
          </a:bodyPr>
          <a:lstStyle/>
          <a:p>
            <a:pPr algn="r">
              <a:defRPr sz="120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617008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D2505383-296D-4043-87E3-B0C5B429BE45}"/>
              </a:ext>
            </a:extLst>
          </p:cNvPr>
          <p:cNvSpPr>
            <a:spLocks noGrp="1"/>
          </p:cNvSpPr>
          <p:nvPr/>
        </p:nvSpPr>
        <p:spPr>
          <a:xfrm>
            <a:off x="647700" y="381000"/>
            <a:ext cx="7048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2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裝置配對與連線運作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E695E5-3C8E-498A-940E-C748B2461367}"/>
              </a:ext>
            </a:extLst>
          </p:cNvPr>
          <p:cNvSpPr>
            <a:spLocks noGrp="1"/>
          </p:cNvSpPr>
          <p:nvPr/>
        </p:nvSpPr>
        <p:spPr>
          <a:xfrm>
            <a:off x="647700" y="81915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500" lnSpcReduction="10000"/>
          </a:bodyPr>
          <a:lstStyle/>
          <a:p>
            <a:pPr algn="l">
              <a:defRPr sz="11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04  智慧實體書櫃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A410F9-AD94-4169-BF9F-D68176CD3C03}"/>
              </a:ext>
            </a:extLst>
          </p:cNvPr>
          <p:cNvSpPr>
            <a:spLocks noGrp="1"/>
          </p:cNvSpPr>
          <p:nvPr/>
        </p:nvSpPr>
        <p:spPr>
          <a:xfrm>
            <a:off x="647700" y="1123950"/>
            <a:ext cx="10287000" cy="19050"/>
          </a:xfrm>
          <a:prstGeom prst="rect">
            <a:avLst/>
          </a:prstGeom>
          <a:solidFill>
            <a:srgbClr val="1D3557"/>
          </a:solidFill>
          <a:ln w="0">
            <a:solidFill>
              <a:srgbClr val="1D355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C18BB677-B88D-4E58-BA11-F4D98210A6E3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752600" cy="144780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9525">
            <a:solidFill>
              <a:srgbClr val="D8DE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889382BD-89BD-4D65-BFA7-DF6BE37AAB0D}"/>
              </a:ext>
            </a:extLst>
          </p:cNvPr>
          <p:cNvSpPr>
            <a:spLocks noGrp="1"/>
          </p:cNvSpPr>
          <p:nvPr/>
        </p:nvSpPr>
        <p:spPr>
          <a:xfrm>
            <a:off x="1066800" y="1790700"/>
            <a:ext cx="400050" cy="40005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FCAC3B-FFCC-4449-B966-2A780B020AD9}"/>
              </a:ext>
            </a:extLst>
          </p:cNvPr>
          <p:cNvSpPr>
            <a:spLocks noGrp="1"/>
          </p:cNvSpPr>
          <p:nvPr/>
        </p:nvSpPr>
        <p:spPr>
          <a:xfrm>
            <a:off x="1066800" y="1847850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426" lnSpcReduction="10000"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18EDAEA-426B-4FA9-889C-7A39BA33B0A3}"/>
              </a:ext>
            </a:extLst>
          </p:cNvPr>
          <p:cNvSpPr>
            <a:spLocks noGrp="1"/>
          </p:cNvSpPr>
          <p:nvPr/>
        </p:nvSpPr>
        <p:spPr>
          <a:xfrm>
            <a:off x="1581150" y="1771650"/>
            <a:ext cx="857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426" lnSpcReduction="10000"/>
          </a:bodyPr>
          <a:lstStyle/>
          <a:p>
            <a:pPr algn="l">
              <a:defRPr sz="13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開機連網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0AE934-D8D7-4DE5-A898-55E155FE524D}"/>
              </a:ext>
            </a:extLst>
          </p:cNvPr>
          <p:cNvSpPr>
            <a:spLocks noGrp="1"/>
          </p:cNvSpPr>
          <p:nvPr/>
        </p:nvSpPr>
        <p:spPr>
          <a:xfrm>
            <a:off x="1085850" y="2305050"/>
            <a:ext cx="14097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722" lnSpcReduction="10000"/>
          </a:bodyPr>
          <a:lstStyle/>
          <a:p>
            <a:pPr algn="l">
              <a:defRPr sz="112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螢幕顯示 Wi-Fi 設定 QR Code，完成後連到 API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82192E7-11E4-43E0-8AA0-51F9FD45A683}"/>
              </a:ext>
            </a:extLst>
          </p:cNvPr>
          <p:cNvSpPr>
            <a:spLocks noGrp="1"/>
          </p:cNvSpPr>
          <p:nvPr/>
        </p:nvSpPr>
        <p:spPr>
          <a:xfrm>
            <a:off x="2990850" y="1600200"/>
            <a:ext cx="175260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00157A7D-0B74-457F-8909-AA9A3BAC9B24}"/>
              </a:ext>
            </a:extLst>
          </p:cNvPr>
          <p:cNvSpPr>
            <a:spLocks noGrp="1"/>
          </p:cNvSpPr>
          <p:nvPr/>
        </p:nvSpPr>
        <p:spPr>
          <a:xfrm>
            <a:off x="3143250" y="1790700"/>
            <a:ext cx="400050" cy="40005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BAFB91-DA1B-4C3C-9D12-73CCBBDEDF13}"/>
              </a:ext>
            </a:extLst>
          </p:cNvPr>
          <p:cNvSpPr>
            <a:spLocks noGrp="1"/>
          </p:cNvSpPr>
          <p:nvPr/>
        </p:nvSpPr>
        <p:spPr>
          <a:xfrm>
            <a:off x="3143250" y="1847850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426" lnSpcReduction="10000"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A2D18C7-B893-41EA-9EDA-1F069521EE53}"/>
              </a:ext>
            </a:extLst>
          </p:cNvPr>
          <p:cNvSpPr>
            <a:spLocks noGrp="1"/>
          </p:cNvSpPr>
          <p:nvPr/>
        </p:nvSpPr>
        <p:spPr>
          <a:xfrm>
            <a:off x="3657600" y="1771650"/>
            <a:ext cx="857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426" lnSpcReduction="10000"/>
          </a:bodyPr>
          <a:lstStyle/>
          <a:p>
            <a:pPr algn="l">
              <a:defRPr sz="13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後台配對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8551203-54AC-4663-8E0F-FCC96795C00A}"/>
              </a:ext>
            </a:extLst>
          </p:cNvPr>
          <p:cNvSpPr>
            <a:spLocks noGrp="1"/>
          </p:cNvSpPr>
          <p:nvPr/>
        </p:nvSpPr>
        <p:spPr>
          <a:xfrm>
            <a:off x="3162300" y="2305050"/>
            <a:ext cx="14097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722"/>
          </a:bodyPr>
          <a:lstStyle/>
          <a:p>
            <a:pPr algn="l">
              <a:defRPr sz="112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裝置顯示 8 位配對碼，管理員在後台輸入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ACDAC7E2-DF2C-43D8-8917-A5AD522661F4}"/>
              </a:ext>
            </a:extLst>
          </p:cNvPr>
          <p:cNvSpPr>
            <a:spLocks noGrp="1"/>
          </p:cNvSpPr>
          <p:nvPr/>
        </p:nvSpPr>
        <p:spPr>
          <a:xfrm>
            <a:off x="5067300" y="1600200"/>
            <a:ext cx="1752600" cy="144780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9525">
            <a:solidFill>
              <a:srgbClr val="D8DE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35F0E218-53B4-46B0-A2C3-66D95399C00A}"/>
              </a:ext>
            </a:extLst>
          </p:cNvPr>
          <p:cNvSpPr>
            <a:spLocks noGrp="1"/>
          </p:cNvSpPr>
          <p:nvPr/>
        </p:nvSpPr>
        <p:spPr>
          <a:xfrm>
            <a:off x="5219700" y="1790700"/>
            <a:ext cx="400050" cy="40005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763160C-5E7F-418F-A001-CFF2CDC20E98}"/>
              </a:ext>
            </a:extLst>
          </p:cNvPr>
          <p:cNvSpPr>
            <a:spLocks noGrp="1"/>
          </p:cNvSpPr>
          <p:nvPr/>
        </p:nvSpPr>
        <p:spPr>
          <a:xfrm>
            <a:off x="5219700" y="1847850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426" lnSpcReduction="10000"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F57498B-CCC6-488A-BD86-7DB84613A332}"/>
              </a:ext>
            </a:extLst>
          </p:cNvPr>
          <p:cNvSpPr>
            <a:spLocks noGrp="1"/>
          </p:cNvSpPr>
          <p:nvPr/>
        </p:nvSpPr>
        <p:spPr>
          <a:xfrm>
            <a:off x="5734050" y="1771650"/>
            <a:ext cx="857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426" lnSpcReduction="10000"/>
          </a:bodyPr>
          <a:lstStyle/>
          <a:p>
            <a:pPr algn="l">
              <a:defRPr sz="13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取得憑證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C81AE5F-2127-45C2-B7A6-07705C009732}"/>
              </a:ext>
            </a:extLst>
          </p:cNvPr>
          <p:cNvSpPr>
            <a:spLocks noGrp="1"/>
          </p:cNvSpPr>
          <p:nvPr/>
        </p:nvSpPr>
        <p:spPr>
          <a:xfrm>
            <a:off x="5238750" y="2305050"/>
            <a:ext cx="14097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717"/>
          </a:bodyPr>
          <a:lstStyle/>
          <a:p>
            <a:pPr algn="l">
              <a:defRPr sz="112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後端綁定書櫃、建立 A01 至 A04 櫃門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85A17FE2-365E-4875-9611-FD07AB897D27}"/>
              </a:ext>
            </a:extLst>
          </p:cNvPr>
          <p:cNvSpPr>
            <a:spLocks noGrp="1"/>
          </p:cNvSpPr>
          <p:nvPr/>
        </p:nvSpPr>
        <p:spPr>
          <a:xfrm>
            <a:off x="7143750" y="1600200"/>
            <a:ext cx="175260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971197AF-EBE7-4BB0-BB02-3B89BE5BD87D}"/>
              </a:ext>
            </a:extLst>
          </p:cNvPr>
          <p:cNvSpPr>
            <a:spLocks noGrp="1"/>
          </p:cNvSpPr>
          <p:nvPr/>
        </p:nvSpPr>
        <p:spPr>
          <a:xfrm>
            <a:off x="7296150" y="1790700"/>
            <a:ext cx="400050" cy="40005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B211792-4995-49A3-9966-B2AAFA7A6315}"/>
              </a:ext>
            </a:extLst>
          </p:cNvPr>
          <p:cNvSpPr>
            <a:spLocks noGrp="1"/>
          </p:cNvSpPr>
          <p:nvPr/>
        </p:nvSpPr>
        <p:spPr>
          <a:xfrm>
            <a:off x="7296150" y="1847850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426" lnSpcReduction="10000"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F661B33-E37A-4321-945F-904A8D9EFE04}"/>
              </a:ext>
            </a:extLst>
          </p:cNvPr>
          <p:cNvSpPr>
            <a:spLocks noGrp="1"/>
          </p:cNvSpPr>
          <p:nvPr/>
        </p:nvSpPr>
        <p:spPr>
          <a:xfrm>
            <a:off x="7810500" y="1771650"/>
            <a:ext cx="857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426" lnSpcReduction="10000"/>
          </a:bodyPr>
          <a:lstStyle/>
          <a:p>
            <a:pPr algn="l">
              <a:defRPr sz="13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定時輪詢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4C1F494-F503-4641-8BDC-702573517D54}"/>
              </a:ext>
            </a:extLst>
          </p:cNvPr>
          <p:cNvSpPr>
            <a:spLocks noGrp="1"/>
          </p:cNvSpPr>
          <p:nvPr/>
        </p:nvSpPr>
        <p:spPr>
          <a:xfrm>
            <a:off x="7315200" y="2305050"/>
            <a:ext cx="14097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722"/>
          </a:bodyPr>
          <a:lstStyle/>
          <a:p>
            <a:pPr algn="l">
              <a:defRPr sz="112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閒置約每 2 秒、作業中約每 1 秒同步狀態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91AAF3EB-2348-4E7B-B1B9-A16F650F01B7}"/>
              </a:ext>
            </a:extLst>
          </p:cNvPr>
          <p:cNvSpPr>
            <a:spLocks noGrp="1"/>
          </p:cNvSpPr>
          <p:nvPr/>
        </p:nvSpPr>
        <p:spPr>
          <a:xfrm>
            <a:off x="9220200" y="1600200"/>
            <a:ext cx="1752600" cy="144780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9525">
            <a:solidFill>
              <a:srgbClr val="D8DE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14C19570-D7BB-4BDF-90AD-7E90136098DB}"/>
              </a:ext>
            </a:extLst>
          </p:cNvPr>
          <p:cNvSpPr>
            <a:spLocks noGrp="1"/>
          </p:cNvSpPr>
          <p:nvPr/>
        </p:nvSpPr>
        <p:spPr>
          <a:xfrm>
            <a:off x="9372600" y="1790700"/>
            <a:ext cx="400050" cy="400050"/>
          </a:xfrm>
          <a:prstGeom prst="ellipse">
            <a:avLst/>
          </a:prstGeom>
          <a:solidFill>
            <a:srgbClr val="D940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6C1BD26-CF94-4CFF-9119-8A68929A338C}"/>
              </a:ext>
            </a:extLst>
          </p:cNvPr>
          <p:cNvSpPr>
            <a:spLocks noGrp="1"/>
          </p:cNvSpPr>
          <p:nvPr/>
        </p:nvSpPr>
        <p:spPr>
          <a:xfrm>
            <a:off x="9372600" y="1847850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426" lnSpcReduction="10000"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F40D32F-5449-42C2-B73F-91BB0BFD9A1F}"/>
              </a:ext>
            </a:extLst>
          </p:cNvPr>
          <p:cNvSpPr>
            <a:spLocks noGrp="1"/>
          </p:cNvSpPr>
          <p:nvPr/>
        </p:nvSpPr>
        <p:spPr>
          <a:xfrm>
            <a:off x="9886950" y="1771650"/>
            <a:ext cx="857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426" lnSpcReduction="10000"/>
          </a:bodyPr>
          <a:lstStyle/>
          <a:p>
            <a:pPr algn="l">
              <a:defRPr sz="13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事件回報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3261F52-27C4-4DC2-8F71-EBA0A2B46344}"/>
              </a:ext>
            </a:extLst>
          </p:cNvPr>
          <p:cNvSpPr>
            <a:spLocks noGrp="1"/>
          </p:cNvSpPr>
          <p:nvPr/>
        </p:nvSpPr>
        <p:spPr>
          <a:xfrm>
            <a:off x="9391650" y="2305050"/>
            <a:ext cx="14097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7" lnSpcReduction="10000"/>
          </a:bodyPr>
          <a:lstStyle/>
          <a:p>
            <a:pPr algn="l">
              <a:defRPr sz="112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開門、關門、逾時、故障與完成都回寫後端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305AD000-3C4E-437A-9810-3022636A4542}"/>
              </a:ext>
            </a:extLst>
          </p:cNvPr>
          <p:cNvSpPr>
            <a:spLocks noGrp="1"/>
          </p:cNvSpPr>
          <p:nvPr/>
        </p:nvSpPr>
        <p:spPr>
          <a:xfrm>
            <a:off x="914400" y="3505200"/>
            <a:ext cx="4762500" cy="14859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30FD7D8-CA62-41E9-A5F1-506AD4665B66}"/>
              </a:ext>
            </a:extLst>
          </p:cNvPr>
          <p:cNvSpPr>
            <a:spLocks noGrp="1"/>
          </p:cNvSpPr>
          <p:nvPr/>
        </p:nvSpPr>
        <p:spPr>
          <a:xfrm>
            <a:off x="1181100" y="377190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48" lnSpcReduction="10000"/>
          </a:bodyPr>
          <a:lstStyle/>
          <a:p>
            <a:pPr algn="l">
              <a:defRPr sz="16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管理後台可看什麼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6B970E8-E659-4D57-A7C3-6DC94D205B4F}"/>
              </a:ext>
            </a:extLst>
          </p:cNvPr>
          <p:cNvSpPr>
            <a:spLocks noGrp="1"/>
          </p:cNvSpPr>
          <p:nvPr/>
        </p:nvSpPr>
        <p:spPr>
          <a:xfrm>
            <a:off x="1200150" y="429577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F5B803D-3E88-45CA-BF5D-AF520BB0319F}"/>
              </a:ext>
            </a:extLst>
          </p:cNvPr>
          <p:cNvSpPr>
            <a:spLocks noGrp="1"/>
          </p:cNvSpPr>
          <p:nvPr/>
        </p:nvSpPr>
        <p:spPr>
          <a:xfrm>
            <a:off x="1409700" y="4210050"/>
            <a:ext cx="36957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裝置連線狀態、韌體版本、最後連線時間與配對時間</a:t>
            </a: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ACE1C8BB-BF42-4881-B040-B52ECFB5A8AA}"/>
              </a:ext>
            </a:extLst>
          </p:cNvPr>
          <p:cNvSpPr>
            <a:spLocks noGrp="1"/>
          </p:cNvSpPr>
          <p:nvPr/>
        </p:nvSpPr>
        <p:spPr>
          <a:xfrm>
            <a:off x="1200150" y="460057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BDEBC30-480E-435A-822A-BB604A112AA3}"/>
              </a:ext>
            </a:extLst>
          </p:cNvPr>
          <p:cNvSpPr>
            <a:spLocks noGrp="1"/>
          </p:cNvSpPr>
          <p:nvPr/>
        </p:nvSpPr>
        <p:spPr>
          <a:xfrm>
            <a:off x="1409700" y="4514850"/>
            <a:ext cx="36957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櫃門狀態、最近作業、事件紀錄與待確認作業</a:t>
            </a:r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47330071-37B4-477C-9654-D0C3134EF8FD}"/>
              </a:ext>
            </a:extLst>
          </p:cNvPr>
          <p:cNvSpPr>
            <a:spLocks noGrp="1"/>
          </p:cNvSpPr>
          <p:nvPr/>
        </p:nvSpPr>
        <p:spPr>
          <a:xfrm>
            <a:off x="1200150" y="490537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AB60BCB-C313-4C53-AAFC-8D1BC8EF71A7}"/>
              </a:ext>
            </a:extLst>
          </p:cNvPr>
          <p:cNvSpPr>
            <a:spLocks noGrp="1"/>
          </p:cNvSpPr>
          <p:nvPr/>
        </p:nvSpPr>
        <p:spPr>
          <a:xfrm>
            <a:off x="1409700" y="4819650"/>
            <a:ext cx="36957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撤銷裝置、清除故障、遠端開櫃與維修註記</a:t>
            </a:r>
          </a:p>
        </p:txBody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98F7BD4C-008C-45D7-AFA7-8F317CE70646}"/>
              </a:ext>
            </a:extLst>
          </p:cNvPr>
          <p:cNvSpPr>
            <a:spLocks noGrp="1"/>
          </p:cNvSpPr>
          <p:nvPr/>
        </p:nvSpPr>
        <p:spPr>
          <a:xfrm>
            <a:off x="6096000" y="3505200"/>
            <a:ext cx="4762500" cy="148590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9525">
            <a:solidFill>
              <a:srgbClr val="D8DE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535F77E-7FF1-4391-B08A-015471B12A80}"/>
              </a:ext>
            </a:extLst>
          </p:cNvPr>
          <p:cNvSpPr>
            <a:spLocks noGrp="1"/>
          </p:cNvSpPr>
          <p:nvPr/>
        </p:nvSpPr>
        <p:spPr>
          <a:xfrm>
            <a:off x="6362700" y="377190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48" lnSpcReduction="10000"/>
          </a:bodyPr>
          <a:lstStyle/>
          <a:p>
            <a:pPr algn="l">
              <a:defRPr sz="16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離線與故障備援</a:t>
            </a: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A9017786-65B5-4112-9302-0E95B50432D2}"/>
              </a:ext>
            </a:extLst>
          </p:cNvPr>
          <p:cNvSpPr>
            <a:spLocks noGrp="1"/>
          </p:cNvSpPr>
          <p:nvPr/>
        </p:nvSpPr>
        <p:spPr>
          <a:xfrm>
            <a:off x="6381750" y="429577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45BB135-C947-43EA-9C06-615B9BC92BF4}"/>
              </a:ext>
            </a:extLst>
          </p:cNvPr>
          <p:cNvSpPr>
            <a:spLocks noGrp="1"/>
          </p:cNvSpPr>
          <p:nvPr/>
        </p:nvSpPr>
        <p:spPr>
          <a:xfrm>
            <a:off x="6591300" y="4210050"/>
            <a:ext cx="36957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離線超過 5 分鐘通知管理員</a:t>
            </a: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5E37DD0F-BA12-47C8-8E19-96499096E10D}"/>
              </a:ext>
            </a:extLst>
          </p:cNvPr>
          <p:cNvSpPr>
            <a:spLocks noGrp="1"/>
          </p:cNvSpPr>
          <p:nvPr/>
        </p:nvSpPr>
        <p:spPr>
          <a:xfrm>
            <a:off x="6381750" y="460057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3F1FD22-DA6B-44B4-AEC0-96A5E450C3C1}"/>
              </a:ext>
            </a:extLst>
          </p:cNvPr>
          <p:cNvSpPr>
            <a:spLocks noGrp="1"/>
          </p:cNvSpPr>
          <p:nvPr/>
        </p:nvSpPr>
        <p:spPr>
          <a:xfrm>
            <a:off x="6591300" y="4514850"/>
            <a:ext cx="36957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離線或故障持續 2 分鐘以上，可進入手動回報模式</a:t>
            </a: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7B7154BA-89AA-4D0E-B05D-8871FF90A7DF}"/>
              </a:ext>
            </a:extLst>
          </p:cNvPr>
          <p:cNvSpPr>
            <a:spLocks noGrp="1"/>
          </p:cNvSpPr>
          <p:nvPr/>
        </p:nvSpPr>
        <p:spPr>
          <a:xfrm>
            <a:off x="6381750" y="490537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B666E04-1256-4098-A185-B3917BBAEED9}"/>
              </a:ext>
            </a:extLst>
          </p:cNvPr>
          <p:cNvSpPr>
            <a:spLocks noGrp="1"/>
          </p:cNvSpPr>
          <p:nvPr/>
        </p:nvSpPr>
        <p:spPr>
          <a:xfrm>
            <a:off x="6591300" y="4819650"/>
            <a:ext cx="36957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恢復連線後，一般使用者仍須回到掃碼流程辦理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4435B60-E168-44B7-BEA0-AEF59646D359}"/>
              </a:ext>
            </a:extLst>
          </p:cNvPr>
          <p:cNvSpPr>
            <a:spLocks noGrp="1"/>
          </p:cNvSpPr>
          <p:nvPr/>
        </p:nvSpPr>
        <p:spPr>
          <a:xfrm>
            <a:off x="11010900" y="62103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2500" lnSpcReduction="10000"/>
          </a:bodyPr>
          <a:lstStyle/>
          <a:p>
            <a:pPr algn="r">
              <a:defRPr sz="120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567764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1D744D0C-699C-42C7-9115-6700B99E0676}"/>
              </a:ext>
            </a:extLst>
          </p:cNvPr>
          <p:cNvSpPr>
            <a:spLocks noGrp="1"/>
          </p:cNvSpPr>
          <p:nvPr/>
        </p:nvSpPr>
        <p:spPr>
          <a:xfrm>
            <a:off x="647700" y="381000"/>
            <a:ext cx="7048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2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存書、取書與交易狀態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00C8E4D-DD54-4756-999A-7DEB7DA35814}"/>
              </a:ext>
            </a:extLst>
          </p:cNvPr>
          <p:cNvSpPr>
            <a:spLocks noGrp="1"/>
          </p:cNvSpPr>
          <p:nvPr/>
        </p:nvSpPr>
        <p:spPr>
          <a:xfrm>
            <a:off x="647700" y="81915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500" lnSpcReduction="10000"/>
          </a:bodyPr>
          <a:lstStyle/>
          <a:p>
            <a:pPr algn="l">
              <a:defRPr sz="11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04  智慧實體書櫃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EB7585-67A3-4DD9-AC17-9248AE3DD859}"/>
              </a:ext>
            </a:extLst>
          </p:cNvPr>
          <p:cNvSpPr>
            <a:spLocks noGrp="1"/>
          </p:cNvSpPr>
          <p:nvPr/>
        </p:nvSpPr>
        <p:spPr>
          <a:xfrm>
            <a:off x="647700" y="1123950"/>
            <a:ext cx="10287000" cy="19050"/>
          </a:xfrm>
          <a:prstGeom prst="rect">
            <a:avLst/>
          </a:prstGeom>
          <a:solidFill>
            <a:srgbClr val="1D3557"/>
          </a:solidFill>
          <a:ln w="0">
            <a:solidFill>
              <a:srgbClr val="1D355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CBE92E18-FE97-4526-8DAA-8219BB345987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4953000" cy="40005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9B26F8-C6D0-47C3-9993-58D9BC1053AB}"/>
              </a:ext>
            </a:extLst>
          </p:cNvPr>
          <p:cNvSpPr>
            <a:spLocks noGrp="1"/>
          </p:cNvSpPr>
          <p:nvPr/>
        </p:nvSpPr>
        <p:spPr>
          <a:xfrm>
            <a:off x="990600" y="1695450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273" lnSpcReduction="10000"/>
          </a:bodyPr>
          <a:lstStyle/>
          <a:p>
            <a:pPr algn="l">
              <a:defRPr sz="16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賣家存書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9BBD6BF6-7294-416F-996A-C37DE50F2A80}"/>
              </a:ext>
            </a:extLst>
          </p:cNvPr>
          <p:cNvSpPr>
            <a:spLocks noGrp="1"/>
          </p:cNvSpPr>
          <p:nvPr/>
        </p:nvSpPr>
        <p:spPr>
          <a:xfrm>
            <a:off x="1009650" y="223837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C4B79C-C7D6-4499-9BA7-1B56D8227267}"/>
              </a:ext>
            </a:extLst>
          </p:cNvPr>
          <p:cNvSpPr>
            <a:spLocks noGrp="1"/>
          </p:cNvSpPr>
          <p:nvPr/>
        </p:nvSpPr>
        <p:spPr>
          <a:xfrm>
            <a:off x="1219200" y="2152650"/>
            <a:ext cx="38862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226" lnSpcReduction="20000"/>
          </a:bodyPr>
          <a:lstStyle/>
          <a:p>
            <a:pPr algn="l">
              <a:defRPr sz="127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掃描書櫃 QR Code，系統驗證 QR、營業狀態與 200 公尺定位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B98C55B5-0ABE-449B-957B-532BD47826F0}"/>
              </a:ext>
            </a:extLst>
          </p:cNvPr>
          <p:cNvSpPr>
            <a:spLocks noGrp="1"/>
          </p:cNvSpPr>
          <p:nvPr/>
        </p:nvSpPr>
        <p:spPr>
          <a:xfrm>
            <a:off x="1009650" y="275272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93DF6A-2644-4C21-B819-9EE90BB352A1}"/>
              </a:ext>
            </a:extLst>
          </p:cNvPr>
          <p:cNvSpPr>
            <a:spLocks noGrp="1"/>
          </p:cNvSpPr>
          <p:nvPr/>
        </p:nvSpPr>
        <p:spPr>
          <a:xfrm>
            <a:off x="1219200" y="2667000"/>
            <a:ext cx="38862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573"/>
          </a:bodyPr>
          <a:lstStyle/>
          <a:p>
            <a:pPr algn="l">
              <a:defRPr sz="127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60 秒內選項目，系統分配空櫃門並產生兩位數比對碼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F0871303-6772-4C1B-B849-038FBA5B5A71}"/>
              </a:ext>
            </a:extLst>
          </p:cNvPr>
          <p:cNvSpPr>
            <a:spLocks noGrp="1"/>
          </p:cNvSpPr>
          <p:nvPr/>
        </p:nvSpPr>
        <p:spPr>
          <a:xfrm>
            <a:off x="1009650" y="326707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ED02CD-1AEB-44A5-A30F-85B5746C8CB4}"/>
              </a:ext>
            </a:extLst>
          </p:cNvPr>
          <p:cNvSpPr>
            <a:spLocks noGrp="1"/>
          </p:cNvSpPr>
          <p:nvPr/>
        </p:nvSpPr>
        <p:spPr>
          <a:xfrm>
            <a:off x="1219200" y="3181350"/>
            <a:ext cx="38862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比對成功後開指定櫃門，放書、關門、點完成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4B95C2A9-A1CB-493D-91CC-C243D3BDB613}"/>
              </a:ext>
            </a:extLst>
          </p:cNvPr>
          <p:cNvSpPr>
            <a:spLocks noGrp="1"/>
          </p:cNvSpPr>
          <p:nvPr/>
        </p:nvSpPr>
        <p:spPr>
          <a:xfrm>
            <a:off x="1009650" y="378142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B27562-851D-4DD7-95D0-4B6754590FB0}"/>
              </a:ext>
            </a:extLst>
          </p:cNvPr>
          <p:cNvSpPr>
            <a:spLocks noGrp="1"/>
          </p:cNvSpPr>
          <p:nvPr/>
        </p:nvSpPr>
        <p:spPr>
          <a:xfrm>
            <a:off x="1219200" y="3695700"/>
            <a:ext cx="38862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8574" lnSpcReduction="10000"/>
          </a:bodyPr>
          <a:lstStyle/>
          <a:p>
            <a:pPr algn="l">
              <a:defRPr sz="127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依訂單存書會轉為已存書並通知買家；先行存書可讓買家下單後直接取書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E08BB431-B1C3-453B-923B-72EAB21EF3C3}"/>
              </a:ext>
            </a:extLst>
          </p:cNvPr>
          <p:cNvSpPr>
            <a:spLocks noGrp="1"/>
          </p:cNvSpPr>
          <p:nvPr/>
        </p:nvSpPr>
        <p:spPr>
          <a:xfrm>
            <a:off x="6019800" y="1428750"/>
            <a:ext cx="4953000" cy="4000500"/>
          </a:xfrm>
          <a:prstGeom prst="roundRect">
            <a:avLst>
              <a:gd name="adj" fmla="val 1905"/>
            </a:avLst>
          </a:prstGeom>
          <a:solidFill>
            <a:srgbClr val="F8FAFC"/>
          </a:solidFill>
          <a:ln w="9525">
            <a:solidFill>
              <a:srgbClr val="D8DE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6FA83E-9014-4F98-8CB7-BEFBD921C2DE}"/>
              </a:ext>
            </a:extLst>
          </p:cNvPr>
          <p:cNvSpPr>
            <a:spLocks noGrp="1"/>
          </p:cNvSpPr>
          <p:nvPr/>
        </p:nvSpPr>
        <p:spPr>
          <a:xfrm>
            <a:off x="6324600" y="1695450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273" lnSpcReduction="10000"/>
          </a:bodyPr>
          <a:lstStyle/>
          <a:p>
            <a:pPr algn="l">
              <a:defRPr sz="16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買家取書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5E6B7FB-2118-4440-9BA3-74F150B03F22}"/>
              </a:ext>
            </a:extLst>
          </p:cNvPr>
          <p:cNvSpPr>
            <a:spLocks noGrp="1"/>
          </p:cNvSpPr>
          <p:nvPr/>
        </p:nvSpPr>
        <p:spPr>
          <a:xfrm>
            <a:off x="6343650" y="223837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A30343B-D9DD-475F-A7EA-D04FA3A49D91}"/>
              </a:ext>
            </a:extLst>
          </p:cNvPr>
          <p:cNvSpPr>
            <a:spLocks noGrp="1"/>
          </p:cNvSpPr>
          <p:nvPr/>
        </p:nvSpPr>
        <p:spPr>
          <a:xfrm>
            <a:off x="6553200" y="2152650"/>
            <a:ext cx="38862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買家到指定書櫃掃碼，系統列出待取訂單</a:t>
            </a: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9BD07D9D-9CBC-4C78-A249-19AE53FC1B90}"/>
              </a:ext>
            </a:extLst>
          </p:cNvPr>
          <p:cNvSpPr>
            <a:spLocks noGrp="1"/>
          </p:cNvSpPr>
          <p:nvPr/>
        </p:nvSpPr>
        <p:spPr>
          <a:xfrm>
            <a:off x="6343650" y="275272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2EC26A2-A541-4B65-B84C-6D0199F1D15D}"/>
              </a:ext>
            </a:extLst>
          </p:cNvPr>
          <p:cNvSpPr>
            <a:spLocks noGrp="1"/>
          </p:cNvSpPr>
          <p:nvPr/>
        </p:nvSpPr>
        <p:spPr>
          <a:xfrm>
            <a:off x="6553200" y="2667000"/>
            <a:ext cx="38862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輸入書櫃螢幕兩位數，比對成功後開啟存放櫃門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BDFB945B-84BF-4047-A594-7DBA1088DB84}"/>
              </a:ext>
            </a:extLst>
          </p:cNvPr>
          <p:cNvSpPr>
            <a:spLocks noGrp="1"/>
          </p:cNvSpPr>
          <p:nvPr/>
        </p:nvSpPr>
        <p:spPr>
          <a:xfrm>
            <a:off x="6343650" y="326707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8AF4CB4-EB00-4DB8-A0FD-8E42CBB5EA07}"/>
              </a:ext>
            </a:extLst>
          </p:cNvPr>
          <p:cNvSpPr>
            <a:spLocks noGrp="1"/>
          </p:cNvSpPr>
          <p:nvPr/>
        </p:nvSpPr>
        <p:spPr>
          <a:xfrm>
            <a:off x="6553200" y="3181350"/>
            <a:ext cx="38862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取出書籍並關門後，訂單進入待完成，暫不撥款</a:t>
            </a: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90138830-FCAE-4534-87B4-375A272FB842}"/>
              </a:ext>
            </a:extLst>
          </p:cNvPr>
          <p:cNvSpPr>
            <a:spLocks noGrp="1"/>
          </p:cNvSpPr>
          <p:nvPr/>
        </p:nvSpPr>
        <p:spPr>
          <a:xfrm>
            <a:off x="6343650" y="378142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3898440-46D8-4887-90B0-030354FCF935}"/>
              </a:ext>
            </a:extLst>
          </p:cNvPr>
          <p:cNvSpPr>
            <a:spLocks noGrp="1"/>
          </p:cNvSpPr>
          <p:nvPr/>
        </p:nvSpPr>
        <p:spPr>
          <a:xfrm>
            <a:off x="6553200" y="3695700"/>
            <a:ext cx="38862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8309" lnSpcReduction="10000"/>
          </a:bodyPr>
          <a:lstStyle/>
          <a:p>
            <a:pPr algn="l">
              <a:defRPr sz="127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買家完成訂單，或 24 小時內未申請爭議，款項撥入賣家錢包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5F62AF-FCE7-42C6-9761-0AE4259FE53E}"/>
              </a:ext>
            </a:extLst>
          </p:cNvPr>
          <p:cNvSpPr>
            <a:spLocks noGrp="1"/>
          </p:cNvSpPr>
          <p:nvPr/>
        </p:nvSpPr>
        <p:spPr>
          <a:xfrm>
            <a:off x="914400" y="5715000"/>
            <a:ext cx="9334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重點：存取驗證確保人在櫃旁、開的是指定櫃門；書況不符仍透過 24 小時爭議期與人工仲裁處理。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92E1EEF-DAFB-4A38-9BE3-C40C859C0AD3}"/>
              </a:ext>
            </a:extLst>
          </p:cNvPr>
          <p:cNvSpPr>
            <a:spLocks noGrp="1"/>
          </p:cNvSpPr>
          <p:nvPr/>
        </p:nvSpPr>
        <p:spPr>
          <a:xfrm>
            <a:off x="11010900" y="62103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2500" lnSpcReduction="10000"/>
          </a:bodyPr>
          <a:lstStyle/>
          <a:p>
            <a:pPr algn="r">
              <a:defRPr sz="120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649157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AEB2D4E2-476B-48B0-BC8B-304A260C5287}"/>
              </a:ext>
            </a:extLst>
          </p:cNvPr>
          <p:cNvSpPr>
            <a:spLocks noGrp="1"/>
          </p:cNvSpPr>
          <p:nvPr/>
        </p:nvSpPr>
        <p:spPr>
          <a:xfrm>
            <a:off x="647700" y="381000"/>
            <a:ext cx="7048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2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維運、例外處理與落地限制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D932B33-FAE0-435F-AE9D-4F4E7C72623E}"/>
              </a:ext>
            </a:extLst>
          </p:cNvPr>
          <p:cNvSpPr>
            <a:spLocks noGrp="1"/>
          </p:cNvSpPr>
          <p:nvPr/>
        </p:nvSpPr>
        <p:spPr>
          <a:xfrm>
            <a:off x="647700" y="81915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500" lnSpcReduction="10000"/>
          </a:bodyPr>
          <a:lstStyle/>
          <a:p>
            <a:pPr algn="l">
              <a:defRPr sz="11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04  智慧實體書櫃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74057A-3249-454C-8059-383C52742EF0}"/>
              </a:ext>
            </a:extLst>
          </p:cNvPr>
          <p:cNvSpPr>
            <a:spLocks noGrp="1"/>
          </p:cNvSpPr>
          <p:nvPr/>
        </p:nvSpPr>
        <p:spPr>
          <a:xfrm>
            <a:off x="647700" y="1123950"/>
            <a:ext cx="10287000" cy="19050"/>
          </a:xfrm>
          <a:prstGeom prst="rect">
            <a:avLst/>
          </a:prstGeom>
          <a:solidFill>
            <a:srgbClr val="1D3557"/>
          </a:solidFill>
          <a:ln w="0">
            <a:solidFill>
              <a:srgbClr val="1D355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22DC204-1D30-4947-91B9-64EA1775F0B0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3190875" cy="365760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5C35C9-553D-4EC9-9FA5-1906396A5535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952" lnSpcReduction="10000"/>
          </a:bodyPr>
          <a:lstStyle/>
          <a:p>
            <a:pPr algn="l">
              <a:defRPr sz="1575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逾期與取回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1191D57B-B1D9-447C-91B2-0D37EF12C851}"/>
              </a:ext>
            </a:extLst>
          </p:cNvPr>
          <p:cNvSpPr>
            <a:spLocks noGrp="1"/>
          </p:cNvSpPr>
          <p:nvPr/>
        </p:nvSpPr>
        <p:spPr>
          <a:xfrm>
            <a:off x="952500" y="225742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771D966-E1B9-4813-B5EC-AA5D7740A7EE}"/>
              </a:ext>
            </a:extLst>
          </p:cNvPr>
          <p:cNvSpPr>
            <a:spLocks noGrp="1"/>
          </p:cNvSpPr>
          <p:nvPr/>
        </p:nvSpPr>
        <p:spPr>
          <a:xfrm>
            <a:off x="1162050" y="2171700"/>
            <a:ext cx="23622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734" lnSpcReduction="10000"/>
          </a:bodyPr>
          <a:lstStyle/>
          <a:p>
            <a:pPr algn="l">
              <a:def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 dirty="0" err="1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訂單成立後</a:t>
            </a:r>
            <a:r>
              <a:rPr sz="1200" b="0" dirty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 7 </a:t>
            </a:r>
            <a:r>
              <a:rPr sz="1200" b="0" dirty="0" err="1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天內未存書，系統取消訂單並退款</a:t>
            </a:r>
            <a:endParaRPr sz="1200" b="0" dirty="0">
              <a:solidFill>
                <a:srgbClr val="1D2433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14DF40AE-D97D-4CC8-8A26-12A565FAD135}"/>
              </a:ext>
            </a:extLst>
          </p:cNvPr>
          <p:cNvSpPr>
            <a:spLocks noGrp="1"/>
          </p:cNvSpPr>
          <p:nvPr/>
        </p:nvSpPr>
        <p:spPr>
          <a:xfrm>
            <a:off x="952500" y="280987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DB35B4-718D-4ED9-95C6-4B57BA373666}"/>
              </a:ext>
            </a:extLst>
          </p:cNvPr>
          <p:cNvSpPr>
            <a:spLocks noGrp="1"/>
          </p:cNvSpPr>
          <p:nvPr/>
        </p:nvSpPr>
        <p:spPr>
          <a:xfrm>
            <a:off x="1162050" y="2724150"/>
            <a:ext cx="23622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453" lnSpcReduction="10000"/>
          </a:bodyPr>
          <a:lstStyle/>
          <a:p>
            <a:pPr algn="l">
              <a:def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已存書後 7 天未取書，訂單取消並退款，賣家須取回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B5A2870F-BD10-44C2-A5B2-DD0A0509EFFE}"/>
              </a:ext>
            </a:extLst>
          </p:cNvPr>
          <p:cNvSpPr>
            <a:spLocks noGrp="1"/>
          </p:cNvSpPr>
          <p:nvPr/>
        </p:nvSpPr>
        <p:spPr>
          <a:xfrm>
            <a:off x="952500" y="336232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F59C7AF-8117-43E8-BAA3-E70BBD4D8343}"/>
              </a:ext>
            </a:extLst>
          </p:cNvPr>
          <p:cNvSpPr>
            <a:spLocks noGrp="1"/>
          </p:cNvSpPr>
          <p:nvPr/>
        </p:nvSpPr>
        <p:spPr>
          <a:xfrm>
            <a:off x="1162050" y="3276600"/>
            <a:ext cx="23622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859" lnSpcReduction="20000"/>
          </a:bodyPr>
          <a:lstStyle/>
          <a:p>
            <a:pPr algn="l">
              <a:def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先行存書滿 7 天未售出會暫停販售並提醒取回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39887921-1A6C-4B49-AF1E-AC2B6133249F}"/>
              </a:ext>
            </a:extLst>
          </p:cNvPr>
          <p:cNvSpPr>
            <a:spLocks noGrp="1"/>
          </p:cNvSpPr>
          <p:nvPr/>
        </p:nvSpPr>
        <p:spPr>
          <a:xfrm>
            <a:off x="4305300" y="1447800"/>
            <a:ext cx="3190875" cy="3657600"/>
          </a:xfrm>
          <a:prstGeom prst="roundRect">
            <a:avLst>
              <a:gd name="adj" fmla="val 2388"/>
            </a:avLst>
          </a:prstGeom>
          <a:solidFill>
            <a:srgbClr val="F8FAFC"/>
          </a:solidFill>
          <a:ln w="9525">
            <a:solidFill>
              <a:srgbClr val="D8DE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AFBC1DD-8CAB-4797-B1BE-586E1BB8B58C}"/>
              </a:ext>
            </a:extLst>
          </p:cNvPr>
          <p:cNvSpPr>
            <a:spLocks noGrp="1"/>
          </p:cNvSpPr>
          <p:nvPr/>
        </p:nvSpPr>
        <p:spPr>
          <a:xfrm>
            <a:off x="4572000" y="17145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952" lnSpcReduction="10000"/>
          </a:bodyPr>
          <a:lstStyle/>
          <a:p>
            <a:pPr algn="l">
              <a:defRPr sz="1575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故障備援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6B075060-A556-44D8-B5AB-85C28968529B}"/>
              </a:ext>
            </a:extLst>
          </p:cNvPr>
          <p:cNvSpPr>
            <a:spLocks noGrp="1"/>
          </p:cNvSpPr>
          <p:nvPr/>
        </p:nvSpPr>
        <p:spPr>
          <a:xfrm>
            <a:off x="4572000" y="225742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B23F658-C041-4498-A7F6-D313FEF3EE0F}"/>
              </a:ext>
            </a:extLst>
          </p:cNvPr>
          <p:cNvSpPr>
            <a:spLocks noGrp="1"/>
          </p:cNvSpPr>
          <p:nvPr/>
        </p:nvSpPr>
        <p:spPr>
          <a:xfrm>
            <a:off x="4781550" y="2171700"/>
            <a:ext cx="23622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8422" lnSpcReduction="10000"/>
          </a:bodyPr>
          <a:lstStyle/>
          <a:p>
            <a:pPr algn="l">
              <a:def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裝置離線或故障持續 2 分鐘以上，App 改為手動回報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450A02A3-36B0-46C1-B43F-566D1B713B97}"/>
              </a:ext>
            </a:extLst>
          </p:cNvPr>
          <p:cNvSpPr>
            <a:spLocks noGrp="1"/>
          </p:cNvSpPr>
          <p:nvPr/>
        </p:nvSpPr>
        <p:spPr>
          <a:xfrm>
            <a:off x="4572000" y="280987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22A848F-2200-44CC-831F-9438C743A789}"/>
              </a:ext>
            </a:extLst>
          </p:cNvPr>
          <p:cNvSpPr>
            <a:spLocks noGrp="1"/>
          </p:cNvSpPr>
          <p:nvPr/>
        </p:nvSpPr>
        <p:spPr>
          <a:xfrm>
            <a:off x="4781550" y="2724150"/>
            <a:ext cx="23622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016" lnSpcReduction="10000"/>
          </a:bodyPr>
          <a:lstStyle/>
          <a:p>
            <a:pPr algn="l">
              <a:def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管理員確認後才變更訂單、存書或取回狀態</a:t>
            </a: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3156093D-F188-421E-883F-320968275006}"/>
              </a:ext>
            </a:extLst>
          </p:cNvPr>
          <p:cNvSpPr>
            <a:spLocks noGrp="1"/>
          </p:cNvSpPr>
          <p:nvPr/>
        </p:nvSpPr>
        <p:spPr>
          <a:xfrm>
            <a:off x="4572000" y="336232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F35F058-3877-4729-9218-8650A306D0CC}"/>
              </a:ext>
            </a:extLst>
          </p:cNvPr>
          <p:cNvSpPr>
            <a:spLocks noGrp="1"/>
          </p:cNvSpPr>
          <p:nvPr/>
        </p:nvSpPr>
        <p:spPr>
          <a:xfrm>
            <a:off x="4781550" y="3276600"/>
            <a:ext cx="23622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453" lnSpcReduction="10000"/>
          </a:bodyPr>
          <a:lstStyle/>
          <a:p>
            <a:pPr algn="l">
              <a:def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作業若未回報開門或關門，轉為待確認由管理員處理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12946302-86AC-4530-9A84-5EB858DDA0F5}"/>
              </a:ext>
            </a:extLst>
          </p:cNvPr>
          <p:cNvSpPr>
            <a:spLocks noGrp="1"/>
          </p:cNvSpPr>
          <p:nvPr/>
        </p:nvSpPr>
        <p:spPr>
          <a:xfrm>
            <a:off x="7924800" y="1447800"/>
            <a:ext cx="3190875" cy="365760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C753BBE-B1AF-4D35-977E-F18A61F40B29}"/>
              </a:ext>
            </a:extLst>
          </p:cNvPr>
          <p:cNvSpPr>
            <a:spLocks noGrp="1"/>
          </p:cNvSpPr>
          <p:nvPr/>
        </p:nvSpPr>
        <p:spPr>
          <a:xfrm>
            <a:off x="8191500" y="17145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952" lnSpcReduction="10000"/>
          </a:bodyPr>
          <a:lstStyle/>
          <a:p>
            <a:pPr algn="l">
              <a:defRPr sz="1575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場域限制</a:t>
            </a: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677D5399-A003-447F-B933-63B8BF385FE5}"/>
              </a:ext>
            </a:extLst>
          </p:cNvPr>
          <p:cNvSpPr>
            <a:spLocks noGrp="1"/>
          </p:cNvSpPr>
          <p:nvPr/>
        </p:nvSpPr>
        <p:spPr>
          <a:xfrm>
            <a:off x="8191500" y="225742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12124A1-032B-4289-9F45-1BDFBD44F801}"/>
              </a:ext>
            </a:extLst>
          </p:cNvPr>
          <p:cNvSpPr>
            <a:spLocks noGrp="1"/>
          </p:cNvSpPr>
          <p:nvPr/>
        </p:nvSpPr>
        <p:spPr>
          <a:xfrm>
            <a:off x="8401050" y="2171700"/>
            <a:ext cx="23622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766" lnSpcReduction="10000"/>
          </a:bodyPr>
          <a:lstStyle/>
          <a:p>
            <a:pPr algn="l">
              <a:def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需要穩定電源、Wi-Fi、室內放置點與巡檢分工</a:t>
            </a: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E1B95B23-8DD6-4873-8063-BEFAB4A2AA8D}"/>
              </a:ext>
            </a:extLst>
          </p:cNvPr>
          <p:cNvSpPr>
            <a:spLocks noGrp="1"/>
          </p:cNvSpPr>
          <p:nvPr/>
        </p:nvSpPr>
        <p:spPr>
          <a:xfrm>
            <a:off x="8191500" y="280987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27596CF-0222-412E-9244-4BF22D073955}"/>
              </a:ext>
            </a:extLst>
          </p:cNvPr>
          <p:cNvSpPr>
            <a:spLocks noGrp="1"/>
          </p:cNvSpPr>
          <p:nvPr/>
        </p:nvSpPr>
        <p:spPr>
          <a:xfrm>
            <a:off x="8401050" y="2724150"/>
            <a:ext cx="23622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266"/>
          </a:bodyPr>
          <a:lstStyle/>
          <a:p>
            <a:pPr algn="l">
              <a:def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目前仍需場域試點驗證長期耐用性</a:t>
            </a: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BAD84C97-7EAF-4311-9A7B-A76EE840D1DD}"/>
              </a:ext>
            </a:extLst>
          </p:cNvPr>
          <p:cNvSpPr>
            <a:spLocks noGrp="1"/>
          </p:cNvSpPr>
          <p:nvPr/>
        </p:nvSpPr>
        <p:spPr>
          <a:xfrm>
            <a:off x="8191500" y="3362325"/>
            <a:ext cx="76200" cy="7620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949B39B-25F8-4870-A426-89C8D6CFD170}"/>
              </a:ext>
            </a:extLst>
          </p:cNvPr>
          <p:cNvSpPr>
            <a:spLocks noGrp="1"/>
          </p:cNvSpPr>
          <p:nvPr/>
        </p:nvSpPr>
        <p:spPr>
          <a:xfrm>
            <a:off x="8401050" y="3276600"/>
            <a:ext cx="23622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453" lnSpcReduction="10000"/>
          </a:bodyPr>
          <a:lstStyle/>
          <a:p>
            <a:pPr algn="l">
              <a:def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D2433"/>
                </a:solidFill>
                <a:latin typeface="Microsoft JhengHei"/>
                <a:ea typeface="Microsoft JhengHei"/>
                <a:cs typeface="Microsoft JhengHei"/>
              </a:rPr>
              <a:t>第三方支付與提領尚未完成，現階段以站內代幣展示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EF22070-0922-4CD4-91AD-0CCC3B68E81A}"/>
              </a:ext>
            </a:extLst>
          </p:cNvPr>
          <p:cNvSpPr>
            <a:spLocks noGrp="1"/>
          </p:cNvSpPr>
          <p:nvPr/>
        </p:nvSpPr>
        <p:spPr>
          <a:xfrm>
            <a:off x="876300" y="5619750"/>
            <a:ext cx="914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這頁可作為評審問到維運、風險或落地時的備用回答，也可後續視時間刪減。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3ADFD0F-2E35-4173-A1F8-B68F8B640D41}"/>
              </a:ext>
            </a:extLst>
          </p:cNvPr>
          <p:cNvSpPr>
            <a:spLocks noGrp="1"/>
          </p:cNvSpPr>
          <p:nvPr/>
        </p:nvSpPr>
        <p:spPr>
          <a:xfrm>
            <a:off x="11010900" y="62103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2500" lnSpcReduction="10000"/>
          </a:bodyPr>
          <a:lstStyle/>
          <a:p>
            <a:pPr algn="r">
              <a:defRPr sz="120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D3557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245877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30950"/>
            <a:ext cx="12192001" cy="6888950"/>
          </a:xfrm>
          <a:prstGeom prst="rect">
            <a:avLst/>
          </a:prstGeom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720E227B-1A4E-F45F-9E96-C2D6758E936A}"/>
              </a:ext>
            </a:extLst>
          </p:cNvPr>
          <p:cNvSpPr>
            <a:spLocks noGrp="1"/>
          </p:cNvSpPr>
          <p:nvPr/>
        </p:nvSpPr>
        <p:spPr>
          <a:xfrm>
            <a:off x="981143" y="1814922"/>
            <a:ext cx="46939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0" b="1" spc="100">
                <a:gradFill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05</a:t>
            </a:r>
            <a:endParaRPr sz="20000" b="1" spc="10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C83FEE4C-3AD2-4586-8D48-BB55B5428763}"/>
              </a:ext>
            </a:extLst>
          </p:cNvPr>
          <p:cNvSpPr>
            <a:spLocks noGrp="1"/>
          </p:cNvSpPr>
          <p:nvPr/>
        </p:nvSpPr>
        <p:spPr>
          <a:xfrm>
            <a:off x="1132113" y="4028981"/>
            <a:ext cx="1089055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21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sz="6000" b="1">
                <a:solidFill>
                  <a:schemeClr val="bg1">
                    <a:lumMod val="95000"/>
                  </a:schemeClr>
                </a:solidFill>
                <a:latin typeface="Noto Sans TC"/>
                <a:ea typeface="Noto Sans TC"/>
                <a:cs typeface="Noto Sans TC"/>
              </a:rPr>
              <a:t>未來展望與成果總結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4050C12-D07A-D25A-6C61-F4D3875722E4}"/>
              </a:ext>
            </a:extLst>
          </p:cNvPr>
          <p:cNvSpPr>
            <a:spLocks noGrp="1"/>
          </p:cNvSpPr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sz="2800" spc="100">
                <a:solidFill>
                  <a:srgbClr val="F8FAFB"/>
                </a:solidFill>
                <a:latin typeface="Noto Sans TC Medium"/>
                <a:ea typeface="Noto Sans TC Medium"/>
                <a:cs typeface="Noto Sans TC Medium"/>
              </a:rPr>
              <a:t>報告人</a:t>
            </a:r>
            <a:r>
              <a:rPr sz="2800" b="1" spc="100">
                <a:solidFill>
                  <a:srgbClr val="F8FAFB"/>
                </a:solidFill>
                <a:latin typeface="+mj-ea"/>
                <a:ea typeface="+mj-ea"/>
                <a:cs typeface="+mj-ea"/>
              </a:rPr>
              <a:t>｜</a:t>
            </a:r>
            <a:endParaRPr sz="2800" spc="100">
              <a:solidFill>
                <a:srgbClr val="F8FAFB"/>
              </a:solidFill>
              <a:latin typeface="Noto Sans TC Medium"/>
              <a:ea typeface="Noto Sans TC Medium"/>
              <a:cs typeface="Noto Sans TC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940485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55">
            <a:extLst>
              <a:ext uri="{FF2B5EF4-FFF2-40B4-BE49-F238E27FC236}">
                <a16:creationId xmlns:a16="http://schemas.microsoft.com/office/drawing/2014/main" id="{9B8F81C4-C940-514C-EB40-7CF6931D9045}"/>
              </a:ext>
            </a:extLst>
          </p:cNvPr>
          <p:cNvSpPr>
            <a:spLocks noGrp="1"/>
          </p:cNvSpPr>
          <p:nvPr/>
        </p:nvSpPr>
        <p:spPr>
          <a:xfrm>
            <a:off x="5389687" y="4946559"/>
            <a:ext cx="19621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sz="2000" b="1" spc="50">
                <a:solidFill>
                  <a:schemeClr val="accent6"/>
                </a:solidFill>
              </a:rPr>
              <a:t>應用延伸</a:t>
            </a:r>
          </a:p>
        </p:txBody>
      </p:sp>
      <p:sp>
        <p:nvSpPr>
          <p:cNvPr id="23" name="TextBox 56">
            <a:extLst>
              <a:ext uri="{FF2B5EF4-FFF2-40B4-BE49-F238E27FC236}">
                <a16:creationId xmlns:a16="http://schemas.microsoft.com/office/drawing/2014/main" id="{07D7FF1B-B220-CEF4-7EF6-37DAB4000CA2}"/>
              </a:ext>
            </a:extLst>
          </p:cNvPr>
          <p:cNvSpPr>
            <a:spLocks noGrp="1"/>
          </p:cNvSpPr>
          <p:nvPr/>
        </p:nvSpPr>
        <p:spPr>
          <a:xfrm>
            <a:off x="5402136" y="5356830"/>
            <a:ext cx="20938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600" spc="50">
                <a:solidFill>
                  <a:schemeClr val="tx2"/>
                </a:solidFill>
              </a:rPr>
              <a:t>延伸至其他二手物品</a:t>
            </a:r>
          </a:p>
        </p:txBody>
      </p:sp>
      <p:sp>
        <p:nvSpPr>
          <p:cNvPr id="83" name="手繪多邊形: 圖案 82">
            <a:extLst>
              <a:ext uri="{FF2B5EF4-FFF2-40B4-BE49-F238E27FC236}">
                <a16:creationId xmlns:a16="http://schemas.microsoft.com/office/drawing/2014/main" id="{D271EDB8-E70A-4DB9-6E58-C8D37517A8ED}"/>
              </a:ext>
            </a:extLst>
          </p:cNvPr>
          <p:cNvSpPr>
            <a:spLocks noGrp="1"/>
          </p:cNvSpPr>
          <p:nvPr/>
        </p:nvSpPr>
        <p:spPr>
          <a:xfrm>
            <a:off x="0" y="2312307"/>
            <a:ext cx="12431950" cy="2538971"/>
          </a:xfrm>
          <a:custGeom>
            <a:avLst/>
            <a:gdLst>
              <a:gd name="csX0" fmla="*/ 0 w 12363856"/>
              <a:gd name="csY0" fmla="*/ 2049041 h 2410566"/>
              <a:gd name="csX1" fmla="*/ 2548647 w 12363856"/>
              <a:gd name="csY1" fmla="*/ 2408965 h 2410566"/>
              <a:gd name="csX2" fmla="*/ 6196519 w 12363856"/>
              <a:gd name="csY2" fmla="*/ 1922582 h 2410566"/>
              <a:gd name="csX3" fmla="*/ 9153728 w 12363856"/>
              <a:gd name="csY3" fmla="*/ 84054 h 2410566"/>
              <a:gd name="csX4" fmla="*/ 11128443 w 12363856"/>
              <a:gd name="csY4" fmla="*/ 298062 h 2410566"/>
              <a:gd name="csX5" fmla="*/ 12363856 w 12363856"/>
              <a:gd name="csY5" fmla="*/ 181331 h 2410566"/>
              <a:gd name="csX0" fmla="*/ 0 w 12363856"/>
              <a:gd name="csY0" fmla="*/ 2049041 h 2409709"/>
              <a:gd name="csX1" fmla="*/ 2548647 w 12363856"/>
              <a:gd name="csY1" fmla="*/ 2408965 h 2409709"/>
              <a:gd name="csX2" fmla="*/ 6196519 w 12363856"/>
              <a:gd name="csY2" fmla="*/ 1922582 h 2409709"/>
              <a:gd name="csX3" fmla="*/ 9153728 w 12363856"/>
              <a:gd name="csY3" fmla="*/ 84054 h 2409709"/>
              <a:gd name="csX4" fmla="*/ 11128443 w 12363856"/>
              <a:gd name="csY4" fmla="*/ 298062 h 2409709"/>
              <a:gd name="csX5" fmla="*/ 12363856 w 12363856"/>
              <a:gd name="csY5" fmla="*/ 181331 h 2409709"/>
              <a:gd name="csX0" fmla="*/ 0 w 12363856"/>
              <a:gd name="csY0" fmla="*/ 2049041 h 2514030"/>
              <a:gd name="csX1" fmla="*/ 2548647 w 12363856"/>
              <a:gd name="csY1" fmla="*/ 2408965 h 2514030"/>
              <a:gd name="csX2" fmla="*/ 6196519 w 12363856"/>
              <a:gd name="csY2" fmla="*/ 1922582 h 2514030"/>
              <a:gd name="csX3" fmla="*/ 9153728 w 12363856"/>
              <a:gd name="csY3" fmla="*/ 84054 h 2514030"/>
              <a:gd name="csX4" fmla="*/ 11128443 w 12363856"/>
              <a:gd name="csY4" fmla="*/ 298062 h 2514030"/>
              <a:gd name="csX5" fmla="*/ 12363856 w 12363856"/>
              <a:gd name="csY5" fmla="*/ 181331 h 2514030"/>
              <a:gd name="csX0" fmla="*/ 0 w 12363856"/>
              <a:gd name="csY0" fmla="*/ 2049041 h 2514030"/>
              <a:gd name="csX1" fmla="*/ 2548647 w 12363856"/>
              <a:gd name="csY1" fmla="*/ 2408965 h 2514030"/>
              <a:gd name="csX2" fmla="*/ 6196519 w 12363856"/>
              <a:gd name="csY2" fmla="*/ 1922582 h 2514030"/>
              <a:gd name="csX3" fmla="*/ 9153728 w 12363856"/>
              <a:gd name="csY3" fmla="*/ 84054 h 2514030"/>
              <a:gd name="csX4" fmla="*/ 11128443 w 12363856"/>
              <a:gd name="csY4" fmla="*/ 298062 h 2514030"/>
              <a:gd name="csX5" fmla="*/ 12363856 w 12363856"/>
              <a:gd name="csY5" fmla="*/ 181331 h 2514030"/>
              <a:gd name="csX0" fmla="*/ 0 w 12363856"/>
              <a:gd name="csY0" fmla="*/ 2049041 h 2584009"/>
              <a:gd name="csX1" fmla="*/ 2548647 w 12363856"/>
              <a:gd name="csY1" fmla="*/ 2408965 h 2584009"/>
              <a:gd name="csX2" fmla="*/ 6196519 w 12363856"/>
              <a:gd name="csY2" fmla="*/ 1922582 h 2584009"/>
              <a:gd name="csX3" fmla="*/ 9153728 w 12363856"/>
              <a:gd name="csY3" fmla="*/ 84054 h 2584009"/>
              <a:gd name="csX4" fmla="*/ 11128443 w 12363856"/>
              <a:gd name="csY4" fmla="*/ 298062 h 2584009"/>
              <a:gd name="csX5" fmla="*/ 12363856 w 12363856"/>
              <a:gd name="csY5" fmla="*/ 181331 h 2584009"/>
              <a:gd name="csX0" fmla="*/ 0 w 12363856"/>
              <a:gd name="csY0" fmla="*/ 2049041 h 2609762"/>
              <a:gd name="csX1" fmla="*/ 2548647 w 12363856"/>
              <a:gd name="csY1" fmla="*/ 2408965 h 2609762"/>
              <a:gd name="csX2" fmla="*/ 6196519 w 12363856"/>
              <a:gd name="csY2" fmla="*/ 1922582 h 2609762"/>
              <a:gd name="csX3" fmla="*/ 9153728 w 12363856"/>
              <a:gd name="csY3" fmla="*/ 84054 h 2609762"/>
              <a:gd name="csX4" fmla="*/ 11128443 w 12363856"/>
              <a:gd name="csY4" fmla="*/ 298062 h 2609762"/>
              <a:gd name="csX5" fmla="*/ 12363856 w 12363856"/>
              <a:gd name="csY5" fmla="*/ 181331 h 2609762"/>
              <a:gd name="csX0" fmla="*/ 0 w 12363856"/>
              <a:gd name="csY0" fmla="*/ 2109620 h 2670341"/>
              <a:gd name="csX1" fmla="*/ 2548647 w 12363856"/>
              <a:gd name="csY1" fmla="*/ 2469544 h 2670341"/>
              <a:gd name="csX2" fmla="*/ 6196519 w 12363856"/>
              <a:gd name="csY2" fmla="*/ 1983161 h 2670341"/>
              <a:gd name="csX3" fmla="*/ 9153728 w 12363856"/>
              <a:gd name="csY3" fmla="*/ 144633 h 2670341"/>
              <a:gd name="csX4" fmla="*/ 11128443 w 12363856"/>
              <a:gd name="csY4" fmla="*/ 358641 h 2670341"/>
              <a:gd name="csX5" fmla="*/ 12363856 w 12363856"/>
              <a:gd name="csY5" fmla="*/ 241910 h 2670341"/>
              <a:gd name="csX0" fmla="*/ 0 w 12363856"/>
              <a:gd name="csY0" fmla="*/ 2117868 h 2678589"/>
              <a:gd name="csX1" fmla="*/ 2548647 w 12363856"/>
              <a:gd name="csY1" fmla="*/ 2477792 h 2678589"/>
              <a:gd name="csX2" fmla="*/ 6196519 w 12363856"/>
              <a:gd name="csY2" fmla="*/ 1991409 h 2678589"/>
              <a:gd name="csX3" fmla="*/ 9153728 w 12363856"/>
              <a:gd name="csY3" fmla="*/ 152881 h 2678589"/>
              <a:gd name="csX4" fmla="*/ 11128443 w 12363856"/>
              <a:gd name="csY4" fmla="*/ 366889 h 2678589"/>
              <a:gd name="csX5" fmla="*/ 12363856 w 12363856"/>
              <a:gd name="csY5" fmla="*/ 250158 h 2678589"/>
              <a:gd name="csX0" fmla="*/ 0 w 12363856"/>
              <a:gd name="csY0" fmla="*/ 2041817 h 2602538"/>
              <a:gd name="csX1" fmla="*/ 2548647 w 12363856"/>
              <a:gd name="csY1" fmla="*/ 2401741 h 2602538"/>
              <a:gd name="csX2" fmla="*/ 6196519 w 12363856"/>
              <a:gd name="csY2" fmla="*/ 1915358 h 2602538"/>
              <a:gd name="csX3" fmla="*/ 9153728 w 12363856"/>
              <a:gd name="csY3" fmla="*/ 76830 h 2602538"/>
              <a:gd name="csX4" fmla="*/ 11400817 w 12363856"/>
              <a:gd name="csY4" fmla="*/ 329749 h 2602538"/>
              <a:gd name="csX5" fmla="*/ 12363856 w 12363856"/>
              <a:gd name="csY5" fmla="*/ 174107 h 2602538"/>
              <a:gd name="csX0" fmla="*/ 0 w 12363856"/>
              <a:gd name="csY0" fmla="*/ 2045636 h 2606357"/>
              <a:gd name="csX1" fmla="*/ 2548647 w 12363856"/>
              <a:gd name="csY1" fmla="*/ 2405560 h 2606357"/>
              <a:gd name="csX2" fmla="*/ 6196519 w 12363856"/>
              <a:gd name="csY2" fmla="*/ 1919177 h 2606357"/>
              <a:gd name="csX3" fmla="*/ 9153728 w 12363856"/>
              <a:gd name="csY3" fmla="*/ 80649 h 2606357"/>
              <a:gd name="csX4" fmla="*/ 11400817 w 12363856"/>
              <a:gd name="csY4" fmla="*/ 333568 h 2606357"/>
              <a:gd name="csX5" fmla="*/ 12363856 w 12363856"/>
              <a:gd name="csY5" fmla="*/ 177926 h 2606357"/>
              <a:gd name="csX0" fmla="*/ 0 w 12363856"/>
              <a:gd name="csY0" fmla="*/ 2045636 h 2606357"/>
              <a:gd name="csX1" fmla="*/ 2548647 w 12363856"/>
              <a:gd name="csY1" fmla="*/ 2405560 h 2606357"/>
              <a:gd name="csX2" fmla="*/ 6196519 w 12363856"/>
              <a:gd name="csY2" fmla="*/ 1919177 h 2606357"/>
              <a:gd name="csX3" fmla="*/ 9153728 w 12363856"/>
              <a:gd name="csY3" fmla="*/ 80649 h 2606357"/>
              <a:gd name="csX4" fmla="*/ 11400817 w 12363856"/>
              <a:gd name="csY4" fmla="*/ 333568 h 2606357"/>
              <a:gd name="csX5" fmla="*/ 12363856 w 12363856"/>
              <a:gd name="csY5" fmla="*/ 177926 h 2606357"/>
              <a:gd name="csX0" fmla="*/ 0 w 12363856"/>
              <a:gd name="csY0" fmla="*/ 2045636 h 2594393"/>
              <a:gd name="csX1" fmla="*/ 2548647 w 12363856"/>
              <a:gd name="csY1" fmla="*/ 2405560 h 2594393"/>
              <a:gd name="csX2" fmla="*/ 6196519 w 12363856"/>
              <a:gd name="csY2" fmla="*/ 1919177 h 2594393"/>
              <a:gd name="csX3" fmla="*/ 9153728 w 12363856"/>
              <a:gd name="csY3" fmla="*/ 80649 h 2594393"/>
              <a:gd name="csX4" fmla="*/ 11400817 w 12363856"/>
              <a:gd name="csY4" fmla="*/ 333568 h 2594393"/>
              <a:gd name="csX5" fmla="*/ 12363856 w 12363856"/>
              <a:gd name="csY5" fmla="*/ 177926 h 2594393"/>
              <a:gd name="csX0" fmla="*/ 0 w 12363856"/>
              <a:gd name="csY0" fmla="*/ 2045636 h 2692321"/>
              <a:gd name="csX1" fmla="*/ 2548647 w 12363856"/>
              <a:gd name="csY1" fmla="*/ 2405560 h 2692321"/>
              <a:gd name="csX2" fmla="*/ 6196519 w 12363856"/>
              <a:gd name="csY2" fmla="*/ 1919177 h 2692321"/>
              <a:gd name="csX3" fmla="*/ 9153728 w 12363856"/>
              <a:gd name="csY3" fmla="*/ 80649 h 2692321"/>
              <a:gd name="csX4" fmla="*/ 11400817 w 12363856"/>
              <a:gd name="csY4" fmla="*/ 333568 h 2692321"/>
              <a:gd name="csX5" fmla="*/ 12363856 w 12363856"/>
              <a:gd name="csY5" fmla="*/ 177926 h 2692321"/>
              <a:gd name="csX0" fmla="*/ 0 w 12363856"/>
              <a:gd name="csY0" fmla="*/ 2045636 h 2594393"/>
              <a:gd name="csX1" fmla="*/ 2548647 w 12363856"/>
              <a:gd name="csY1" fmla="*/ 2405560 h 2594393"/>
              <a:gd name="csX2" fmla="*/ 6196519 w 12363856"/>
              <a:gd name="csY2" fmla="*/ 1919177 h 2594393"/>
              <a:gd name="csX3" fmla="*/ 9153728 w 12363856"/>
              <a:gd name="csY3" fmla="*/ 80649 h 2594393"/>
              <a:gd name="csX4" fmla="*/ 11400817 w 12363856"/>
              <a:gd name="csY4" fmla="*/ 333568 h 2594393"/>
              <a:gd name="csX5" fmla="*/ 12363856 w 12363856"/>
              <a:gd name="csY5" fmla="*/ 177926 h 2594393"/>
              <a:gd name="csX0" fmla="*/ 0 w 12363856"/>
              <a:gd name="csY0" fmla="*/ 1968747 h 2447380"/>
              <a:gd name="csX1" fmla="*/ 2548647 w 12363856"/>
              <a:gd name="csY1" fmla="*/ 2328671 h 2447380"/>
              <a:gd name="csX2" fmla="*/ 6196519 w 12363856"/>
              <a:gd name="csY2" fmla="*/ 1842288 h 2447380"/>
              <a:gd name="csX3" fmla="*/ 7859949 w 12363856"/>
              <a:gd name="csY3" fmla="*/ 490143 h 2447380"/>
              <a:gd name="csX4" fmla="*/ 9153728 w 12363856"/>
              <a:gd name="csY4" fmla="*/ 3760 h 2447380"/>
              <a:gd name="csX5" fmla="*/ 11400817 w 12363856"/>
              <a:gd name="csY5" fmla="*/ 256679 h 2447380"/>
              <a:gd name="csX6" fmla="*/ 12363856 w 12363856"/>
              <a:gd name="csY6" fmla="*/ 101037 h 2447380"/>
              <a:gd name="csX0" fmla="*/ 0 w 12363856"/>
              <a:gd name="csY0" fmla="*/ 1968747 h 2447380"/>
              <a:gd name="csX1" fmla="*/ 2548647 w 12363856"/>
              <a:gd name="csY1" fmla="*/ 2328671 h 2447380"/>
              <a:gd name="csX2" fmla="*/ 6196519 w 12363856"/>
              <a:gd name="csY2" fmla="*/ 1842288 h 2447380"/>
              <a:gd name="csX3" fmla="*/ 7859949 w 12363856"/>
              <a:gd name="csY3" fmla="*/ 490143 h 2447380"/>
              <a:gd name="csX4" fmla="*/ 9153728 w 12363856"/>
              <a:gd name="csY4" fmla="*/ 3760 h 2447380"/>
              <a:gd name="csX5" fmla="*/ 11400817 w 12363856"/>
              <a:gd name="csY5" fmla="*/ 256679 h 2447380"/>
              <a:gd name="csX6" fmla="*/ 12363856 w 12363856"/>
              <a:gd name="csY6" fmla="*/ 101037 h 2447380"/>
              <a:gd name="csX0" fmla="*/ 0 w 12363856"/>
              <a:gd name="csY0" fmla="*/ 1968747 h 2531119"/>
              <a:gd name="csX1" fmla="*/ 2548647 w 12363856"/>
              <a:gd name="csY1" fmla="*/ 2328671 h 2531119"/>
              <a:gd name="csX2" fmla="*/ 6196519 w 12363856"/>
              <a:gd name="csY2" fmla="*/ 1842288 h 2531119"/>
              <a:gd name="csX3" fmla="*/ 7859949 w 12363856"/>
              <a:gd name="csY3" fmla="*/ 490143 h 2531119"/>
              <a:gd name="csX4" fmla="*/ 9153728 w 12363856"/>
              <a:gd name="csY4" fmla="*/ 3760 h 2531119"/>
              <a:gd name="csX5" fmla="*/ 11400817 w 12363856"/>
              <a:gd name="csY5" fmla="*/ 256679 h 2531119"/>
              <a:gd name="csX6" fmla="*/ 12363856 w 12363856"/>
              <a:gd name="csY6" fmla="*/ 101037 h 2531119"/>
              <a:gd name="csX0" fmla="*/ 0 w 12363856"/>
              <a:gd name="csY0" fmla="*/ 1968747 h 2538710"/>
              <a:gd name="csX1" fmla="*/ 2548647 w 12363856"/>
              <a:gd name="csY1" fmla="*/ 2328671 h 2538710"/>
              <a:gd name="csX2" fmla="*/ 6196519 w 12363856"/>
              <a:gd name="csY2" fmla="*/ 1842288 h 2538710"/>
              <a:gd name="csX3" fmla="*/ 7859949 w 12363856"/>
              <a:gd name="csY3" fmla="*/ 490143 h 2538710"/>
              <a:gd name="csX4" fmla="*/ 9153728 w 12363856"/>
              <a:gd name="csY4" fmla="*/ 3760 h 2538710"/>
              <a:gd name="csX5" fmla="*/ 11400817 w 12363856"/>
              <a:gd name="csY5" fmla="*/ 256679 h 2538710"/>
              <a:gd name="csX6" fmla="*/ 12363856 w 12363856"/>
              <a:gd name="csY6" fmla="*/ 101037 h 2538710"/>
              <a:gd name="csX0" fmla="*/ 0 w 12363856"/>
              <a:gd name="csY0" fmla="*/ 1968747 h 2538710"/>
              <a:gd name="csX1" fmla="*/ 2548647 w 12363856"/>
              <a:gd name="csY1" fmla="*/ 2328671 h 2538710"/>
              <a:gd name="csX2" fmla="*/ 6196519 w 12363856"/>
              <a:gd name="csY2" fmla="*/ 1842288 h 2538710"/>
              <a:gd name="csX3" fmla="*/ 7859949 w 12363856"/>
              <a:gd name="csY3" fmla="*/ 490143 h 2538710"/>
              <a:gd name="csX4" fmla="*/ 9153728 w 12363856"/>
              <a:gd name="csY4" fmla="*/ 3760 h 2538710"/>
              <a:gd name="csX5" fmla="*/ 11400817 w 12363856"/>
              <a:gd name="csY5" fmla="*/ 256679 h 2538710"/>
              <a:gd name="csX6" fmla="*/ 12363856 w 12363856"/>
              <a:gd name="csY6" fmla="*/ 101037 h 2538710"/>
              <a:gd name="csX0" fmla="*/ 0 w 12363856"/>
              <a:gd name="csY0" fmla="*/ 1968747 h 2546558"/>
              <a:gd name="csX1" fmla="*/ 2548647 w 12363856"/>
              <a:gd name="csY1" fmla="*/ 2328671 h 2546558"/>
              <a:gd name="csX2" fmla="*/ 6196519 w 12363856"/>
              <a:gd name="csY2" fmla="*/ 1842288 h 2546558"/>
              <a:gd name="csX3" fmla="*/ 7859949 w 12363856"/>
              <a:gd name="csY3" fmla="*/ 490143 h 2546558"/>
              <a:gd name="csX4" fmla="*/ 9153728 w 12363856"/>
              <a:gd name="csY4" fmla="*/ 3760 h 2546558"/>
              <a:gd name="csX5" fmla="*/ 11400817 w 12363856"/>
              <a:gd name="csY5" fmla="*/ 256679 h 2546558"/>
              <a:gd name="csX6" fmla="*/ 12363856 w 12363856"/>
              <a:gd name="csY6" fmla="*/ 101037 h 2546558"/>
              <a:gd name="csX0" fmla="*/ 0 w 12363856"/>
              <a:gd name="csY0" fmla="*/ 1968747 h 2538710"/>
              <a:gd name="csX1" fmla="*/ 2548647 w 12363856"/>
              <a:gd name="csY1" fmla="*/ 2328671 h 2538710"/>
              <a:gd name="csX2" fmla="*/ 6196519 w 12363856"/>
              <a:gd name="csY2" fmla="*/ 1842288 h 2538710"/>
              <a:gd name="csX3" fmla="*/ 7859949 w 12363856"/>
              <a:gd name="csY3" fmla="*/ 490143 h 2538710"/>
              <a:gd name="csX4" fmla="*/ 9153728 w 12363856"/>
              <a:gd name="csY4" fmla="*/ 3760 h 2538710"/>
              <a:gd name="csX5" fmla="*/ 11400817 w 12363856"/>
              <a:gd name="csY5" fmla="*/ 256679 h 2538710"/>
              <a:gd name="csX6" fmla="*/ 12363856 w 12363856"/>
              <a:gd name="csY6" fmla="*/ 101037 h 2538710"/>
              <a:gd name="csX0" fmla="*/ 0 w 12363856"/>
              <a:gd name="csY0" fmla="*/ 1972618 h 2542581"/>
              <a:gd name="csX1" fmla="*/ 2548647 w 12363856"/>
              <a:gd name="csY1" fmla="*/ 2332542 h 2542581"/>
              <a:gd name="csX2" fmla="*/ 6196519 w 12363856"/>
              <a:gd name="csY2" fmla="*/ 1846159 h 2542581"/>
              <a:gd name="csX3" fmla="*/ 7859949 w 12363856"/>
              <a:gd name="csY3" fmla="*/ 494014 h 2542581"/>
              <a:gd name="csX4" fmla="*/ 9153728 w 12363856"/>
              <a:gd name="csY4" fmla="*/ 7631 h 2542581"/>
              <a:gd name="csX5" fmla="*/ 11400817 w 12363856"/>
              <a:gd name="csY5" fmla="*/ 260550 h 2542581"/>
              <a:gd name="csX6" fmla="*/ 12363856 w 12363856"/>
              <a:gd name="csY6" fmla="*/ 104908 h 2542581"/>
              <a:gd name="csX0" fmla="*/ 0 w 12363856"/>
              <a:gd name="csY0" fmla="*/ 1867710 h 2437673"/>
              <a:gd name="csX1" fmla="*/ 2548647 w 12363856"/>
              <a:gd name="csY1" fmla="*/ 2227634 h 2437673"/>
              <a:gd name="csX2" fmla="*/ 6196519 w 12363856"/>
              <a:gd name="csY2" fmla="*/ 1741251 h 2437673"/>
              <a:gd name="csX3" fmla="*/ 7859949 w 12363856"/>
              <a:gd name="csY3" fmla="*/ 389106 h 2437673"/>
              <a:gd name="csX4" fmla="*/ 11400817 w 12363856"/>
              <a:gd name="csY4" fmla="*/ 155642 h 2437673"/>
              <a:gd name="csX5" fmla="*/ 12363856 w 12363856"/>
              <a:gd name="csY5" fmla="*/ 0 h 2437673"/>
              <a:gd name="csX0" fmla="*/ 0 w 12363856"/>
              <a:gd name="csY0" fmla="*/ 1980025 h 2549988"/>
              <a:gd name="csX1" fmla="*/ 2548647 w 12363856"/>
              <a:gd name="csY1" fmla="*/ 2339949 h 2549988"/>
              <a:gd name="csX2" fmla="*/ 6196519 w 12363856"/>
              <a:gd name="csY2" fmla="*/ 1853566 h 2549988"/>
              <a:gd name="csX3" fmla="*/ 7859949 w 12363856"/>
              <a:gd name="csY3" fmla="*/ 501421 h 2549988"/>
              <a:gd name="csX4" fmla="*/ 11400817 w 12363856"/>
              <a:gd name="csY4" fmla="*/ 267957 h 2549988"/>
              <a:gd name="csX5" fmla="*/ 12363856 w 12363856"/>
              <a:gd name="csY5" fmla="*/ 112315 h 2549988"/>
              <a:gd name="csX0" fmla="*/ 0 w 12363856"/>
              <a:gd name="csY0" fmla="*/ 1964318 h 2534281"/>
              <a:gd name="csX1" fmla="*/ 2548647 w 12363856"/>
              <a:gd name="csY1" fmla="*/ 2324242 h 2534281"/>
              <a:gd name="csX2" fmla="*/ 6196519 w 12363856"/>
              <a:gd name="csY2" fmla="*/ 1837859 h 2534281"/>
              <a:gd name="csX3" fmla="*/ 7859949 w 12363856"/>
              <a:gd name="csY3" fmla="*/ 485714 h 2534281"/>
              <a:gd name="csX4" fmla="*/ 11400817 w 12363856"/>
              <a:gd name="csY4" fmla="*/ 252250 h 2534281"/>
              <a:gd name="csX5" fmla="*/ 12363856 w 12363856"/>
              <a:gd name="csY5" fmla="*/ 96608 h 2534281"/>
              <a:gd name="csX0" fmla="*/ 0 w 12363856"/>
              <a:gd name="csY0" fmla="*/ 1977213 h 2547176"/>
              <a:gd name="csX1" fmla="*/ 2548647 w 12363856"/>
              <a:gd name="csY1" fmla="*/ 2337137 h 2547176"/>
              <a:gd name="csX2" fmla="*/ 6196519 w 12363856"/>
              <a:gd name="csY2" fmla="*/ 1850754 h 2547176"/>
              <a:gd name="csX3" fmla="*/ 7859949 w 12363856"/>
              <a:gd name="csY3" fmla="*/ 498609 h 2547176"/>
              <a:gd name="csX4" fmla="*/ 11400817 w 12363856"/>
              <a:gd name="csY4" fmla="*/ 265145 h 2547176"/>
              <a:gd name="csX5" fmla="*/ 12363856 w 12363856"/>
              <a:gd name="csY5" fmla="*/ 109503 h 2547176"/>
              <a:gd name="csX0" fmla="*/ 0 w 12431950"/>
              <a:gd name="csY0" fmla="*/ 1977213 h 2547176"/>
              <a:gd name="csX1" fmla="*/ 2548647 w 12431950"/>
              <a:gd name="csY1" fmla="*/ 2337137 h 2547176"/>
              <a:gd name="csX2" fmla="*/ 6196519 w 12431950"/>
              <a:gd name="csY2" fmla="*/ 1850754 h 2547176"/>
              <a:gd name="csX3" fmla="*/ 7859949 w 12431950"/>
              <a:gd name="csY3" fmla="*/ 498609 h 2547176"/>
              <a:gd name="csX4" fmla="*/ 11400817 w 12431950"/>
              <a:gd name="csY4" fmla="*/ 265145 h 2547176"/>
              <a:gd name="csX5" fmla="*/ 12431950 w 12431950"/>
              <a:gd name="csY5" fmla="*/ 148414 h 2547176"/>
              <a:gd name="csX0" fmla="*/ 0 w 12431950"/>
              <a:gd name="csY0" fmla="*/ 1981513 h 2551476"/>
              <a:gd name="csX1" fmla="*/ 2548647 w 12431950"/>
              <a:gd name="csY1" fmla="*/ 2341437 h 2551476"/>
              <a:gd name="csX2" fmla="*/ 6196519 w 12431950"/>
              <a:gd name="csY2" fmla="*/ 1855054 h 2551476"/>
              <a:gd name="csX3" fmla="*/ 7859949 w 12431950"/>
              <a:gd name="csY3" fmla="*/ 502909 h 2551476"/>
              <a:gd name="csX4" fmla="*/ 11400817 w 12431950"/>
              <a:gd name="csY4" fmla="*/ 269445 h 2551476"/>
              <a:gd name="csX5" fmla="*/ 12431950 w 12431950"/>
              <a:gd name="csY5" fmla="*/ 152714 h 2551476"/>
              <a:gd name="csX0" fmla="*/ 0 w 12431950"/>
              <a:gd name="csY0" fmla="*/ 1981513 h 2551476"/>
              <a:gd name="csX1" fmla="*/ 2548647 w 12431950"/>
              <a:gd name="csY1" fmla="*/ 2341437 h 2551476"/>
              <a:gd name="csX2" fmla="*/ 6196519 w 12431950"/>
              <a:gd name="csY2" fmla="*/ 1855054 h 2551476"/>
              <a:gd name="csX3" fmla="*/ 7859949 w 12431950"/>
              <a:gd name="csY3" fmla="*/ 502909 h 2551476"/>
              <a:gd name="csX4" fmla="*/ 11400817 w 12431950"/>
              <a:gd name="csY4" fmla="*/ 269445 h 2551476"/>
              <a:gd name="csX5" fmla="*/ 12431950 w 12431950"/>
              <a:gd name="csY5" fmla="*/ 152714 h 2551476"/>
              <a:gd name="csX0" fmla="*/ 0 w 12431950"/>
              <a:gd name="csY0" fmla="*/ 1981513 h 2551476"/>
              <a:gd name="csX1" fmla="*/ 2548647 w 12431950"/>
              <a:gd name="csY1" fmla="*/ 2341437 h 2551476"/>
              <a:gd name="csX2" fmla="*/ 6196519 w 12431950"/>
              <a:gd name="csY2" fmla="*/ 1855054 h 2551476"/>
              <a:gd name="csX3" fmla="*/ 7859949 w 12431950"/>
              <a:gd name="csY3" fmla="*/ 502909 h 2551476"/>
              <a:gd name="csX4" fmla="*/ 11400817 w 12431950"/>
              <a:gd name="csY4" fmla="*/ 269445 h 2551476"/>
              <a:gd name="csX5" fmla="*/ 12431950 w 12431950"/>
              <a:gd name="csY5" fmla="*/ 152714 h 2551476"/>
              <a:gd name="csX0" fmla="*/ 0 w 12431950"/>
              <a:gd name="csY0" fmla="*/ 1981513 h 2559324"/>
              <a:gd name="csX1" fmla="*/ 2548647 w 12431950"/>
              <a:gd name="csY1" fmla="*/ 2341437 h 2559324"/>
              <a:gd name="csX2" fmla="*/ 6196519 w 12431950"/>
              <a:gd name="csY2" fmla="*/ 1855054 h 2559324"/>
              <a:gd name="csX3" fmla="*/ 7859949 w 12431950"/>
              <a:gd name="csY3" fmla="*/ 502909 h 2559324"/>
              <a:gd name="csX4" fmla="*/ 11400817 w 12431950"/>
              <a:gd name="csY4" fmla="*/ 269445 h 2559324"/>
              <a:gd name="csX5" fmla="*/ 12431950 w 12431950"/>
              <a:gd name="csY5" fmla="*/ 152714 h 2559324"/>
              <a:gd name="csX0" fmla="*/ 0 w 12431950"/>
              <a:gd name="csY0" fmla="*/ 1981513 h 2554064"/>
              <a:gd name="csX1" fmla="*/ 2548647 w 12431950"/>
              <a:gd name="csY1" fmla="*/ 2341437 h 2554064"/>
              <a:gd name="csX2" fmla="*/ 6196519 w 12431950"/>
              <a:gd name="csY2" fmla="*/ 1855054 h 2554064"/>
              <a:gd name="csX3" fmla="*/ 7859949 w 12431950"/>
              <a:gd name="csY3" fmla="*/ 502909 h 2554064"/>
              <a:gd name="csX4" fmla="*/ 11400817 w 12431950"/>
              <a:gd name="csY4" fmla="*/ 269445 h 2554064"/>
              <a:gd name="csX5" fmla="*/ 12431950 w 12431950"/>
              <a:gd name="csY5" fmla="*/ 152714 h 2554064"/>
              <a:gd name="csX0" fmla="*/ 0 w 12431950"/>
              <a:gd name="csY0" fmla="*/ 1981513 h 2561996"/>
              <a:gd name="csX1" fmla="*/ 2548647 w 12431950"/>
              <a:gd name="csY1" fmla="*/ 2341437 h 2561996"/>
              <a:gd name="csX2" fmla="*/ 6196519 w 12431950"/>
              <a:gd name="csY2" fmla="*/ 1855054 h 2561996"/>
              <a:gd name="csX3" fmla="*/ 7859949 w 12431950"/>
              <a:gd name="csY3" fmla="*/ 502909 h 2561996"/>
              <a:gd name="csX4" fmla="*/ 11400817 w 12431950"/>
              <a:gd name="csY4" fmla="*/ 269445 h 2561996"/>
              <a:gd name="csX5" fmla="*/ 12431950 w 12431950"/>
              <a:gd name="csY5" fmla="*/ 152714 h 2561996"/>
              <a:gd name="csX0" fmla="*/ 0 w 12431950"/>
              <a:gd name="csY0" fmla="*/ 1981513 h 2561996"/>
              <a:gd name="csX1" fmla="*/ 2548647 w 12431950"/>
              <a:gd name="csY1" fmla="*/ 2341437 h 2561996"/>
              <a:gd name="csX2" fmla="*/ 6196519 w 12431950"/>
              <a:gd name="csY2" fmla="*/ 1855054 h 2561996"/>
              <a:gd name="csX3" fmla="*/ 7859949 w 12431950"/>
              <a:gd name="csY3" fmla="*/ 502909 h 2561996"/>
              <a:gd name="csX4" fmla="*/ 11400817 w 12431950"/>
              <a:gd name="csY4" fmla="*/ 269445 h 2561996"/>
              <a:gd name="csX5" fmla="*/ 12431950 w 12431950"/>
              <a:gd name="csY5" fmla="*/ 152714 h 2561996"/>
              <a:gd name="csX0" fmla="*/ 0 w 12431950"/>
              <a:gd name="csY0" fmla="*/ 1981513 h 2572956"/>
              <a:gd name="csX1" fmla="*/ 2548647 w 12431950"/>
              <a:gd name="csY1" fmla="*/ 2341437 h 2572956"/>
              <a:gd name="csX2" fmla="*/ 6196519 w 12431950"/>
              <a:gd name="csY2" fmla="*/ 1855054 h 2572956"/>
              <a:gd name="csX3" fmla="*/ 7859949 w 12431950"/>
              <a:gd name="csY3" fmla="*/ 502909 h 2572956"/>
              <a:gd name="csX4" fmla="*/ 11400817 w 12431950"/>
              <a:gd name="csY4" fmla="*/ 269445 h 2572956"/>
              <a:gd name="csX5" fmla="*/ 12431950 w 12431950"/>
              <a:gd name="csY5" fmla="*/ 152714 h 2572956"/>
              <a:gd name="csX0" fmla="*/ 0 w 12431950"/>
              <a:gd name="csY0" fmla="*/ 1981513 h 2572956"/>
              <a:gd name="csX1" fmla="*/ 2548647 w 12431950"/>
              <a:gd name="csY1" fmla="*/ 2341437 h 2572956"/>
              <a:gd name="csX2" fmla="*/ 6196519 w 12431950"/>
              <a:gd name="csY2" fmla="*/ 1855054 h 2572956"/>
              <a:gd name="csX3" fmla="*/ 7859949 w 12431950"/>
              <a:gd name="csY3" fmla="*/ 502909 h 2572956"/>
              <a:gd name="csX4" fmla="*/ 11400817 w 12431950"/>
              <a:gd name="csY4" fmla="*/ 269445 h 2572956"/>
              <a:gd name="csX5" fmla="*/ 12431950 w 12431950"/>
              <a:gd name="csY5" fmla="*/ 152714 h 2572956"/>
              <a:gd name="csX0" fmla="*/ 0 w 12431950"/>
              <a:gd name="csY0" fmla="*/ 1981513 h 2534174"/>
              <a:gd name="csX1" fmla="*/ 2548647 w 12431950"/>
              <a:gd name="csY1" fmla="*/ 2341437 h 2534174"/>
              <a:gd name="csX2" fmla="*/ 6196519 w 12431950"/>
              <a:gd name="csY2" fmla="*/ 1855054 h 2534174"/>
              <a:gd name="csX3" fmla="*/ 7859949 w 12431950"/>
              <a:gd name="csY3" fmla="*/ 502909 h 2534174"/>
              <a:gd name="csX4" fmla="*/ 11400817 w 12431950"/>
              <a:gd name="csY4" fmla="*/ 269445 h 2534174"/>
              <a:gd name="csX5" fmla="*/ 12431950 w 12431950"/>
              <a:gd name="csY5" fmla="*/ 152714 h 2534174"/>
              <a:gd name="csX0" fmla="*/ 0 w 12431950"/>
              <a:gd name="csY0" fmla="*/ 1981513 h 2546386"/>
              <a:gd name="csX1" fmla="*/ 2548647 w 12431950"/>
              <a:gd name="csY1" fmla="*/ 2341437 h 2546386"/>
              <a:gd name="csX2" fmla="*/ 6196519 w 12431950"/>
              <a:gd name="csY2" fmla="*/ 1855054 h 2546386"/>
              <a:gd name="csX3" fmla="*/ 7859949 w 12431950"/>
              <a:gd name="csY3" fmla="*/ 502909 h 2546386"/>
              <a:gd name="csX4" fmla="*/ 11400817 w 12431950"/>
              <a:gd name="csY4" fmla="*/ 269445 h 2546386"/>
              <a:gd name="csX5" fmla="*/ 12431950 w 12431950"/>
              <a:gd name="csY5" fmla="*/ 152714 h 2546386"/>
              <a:gd name="csX0" fmla="*/ 0 w 12431950"/>
              <a:gd name="csY0" fmla="*/ 1981513 h 2546386"/>
              <a:gd name="csX1" fmla="*/ 2548647 w 12431950"/>
              <a:gd name="csY1" fmla="*/ 2341437 h 2546386"/>
              <a:gd name="csX2" fmla="*/ 6196519 w 12431950"/>
              <a:gd name="csY2" fmla="*/ 1855054 h 2546386"/>
              <a:gd name="csX3" fmla="*/ 7859949 w 12431950"/>
              <a:gd name="csY3" fmla="*/ 502909 h 2546386"/>
              <a:gd name="csX4" fmla="*/ 11400817 w 12431950"/>
              <a:gd name="csY4" fmla="*/ 269445 h 2546386"/>
              <a:gd name="csX5" fmla="*/ 12431950 w 12431950"/>
              <a:gd name="csY5" fmla="*/ 152714 h 2546386"/>
              <a:gd name="csX0" fmla="*/ 0 w 12431950"/>
              <a:gd name="csY0" fmla="*/ 1981513 h 2546386"/>
              <a:gd name="csX1" fmla="*/ 2548647 w 12431950"/>
              <a:gd name="csY1" fmla="*/ 2341437 h 2546386"/>
              <a:gd name="csX2" fmla="*/ 6196519 w 12431950"/>
              <a:gd name="csY2" fmla="*/ 1855054 h 2546386"/>
              <a:gd name="csX3" fmla="*/ 7859949 w 12431950"/>
              <a:gd name="csY3" fmla="*/ 502909 h 2546386"/>
              <a:gd name="csX4" fmla="*/ 11400817 w 12431950"/>
              <a:gd name="csY4" fmla="*/ 269445 h 2546386"/>
              <a:gd name="csX5" fmla="*/ 12431950 w 12431950"/>
              <a:gd name="csY5" fmla="*/ 152714 h 2546386"/>
              <a:gd name="csX0" fmla="*/ 0 w 12431950"/>
              <a:gd name="csY0" fmla="*/ 1981513 h 2546386"/>
              <a:gd name="csX1" fmla="*/ 2548647 w 12431950"/>
              <a:gd name="csY1" fmla="*/ 2341437 h 2546386"/>
              <a:gd name="csX2" fmla="*/ 6196519 w 12431950"/>
              <a:gd name="csY2" fmla="*/ 1855054 h 2546386"/>
              <a:gd name="csX3" fmla="*/ 7859949 w 12431950"/>
              <a:gd name="csY3" fmla="*/ 502909 h 2546386"/>
              <a:gd name="csX4" fmla="*/ 11400817 w 12431950"/>
              <a:gd name="csY4" fmla="*/ 269445 h 2546386"/>
              <a:gd name="csX5" fmla="*/ 12431950 w 12431950"/>
              <a:gd name="csY5" fmla="*/ 152714 h 2546386"/>
              <a:gd name="csX0" fmla="*/ 0 w 12431950"/>
              <a:gd name="csY0" fmla="*/ 1981513 h 2572956"/>
              <a:gd name="csX1" fmla="*/ 2548647 w 12431950"/>
              <a:gd name="csY1" fmla="*/ 2341437 h 2572956"/>
              <a:gd name="csX2" fmla="*/ 6196519 w 12431950"/>
              <a:gd name="csY2" fmla="*/ 1855054 h 2572956"/>
              <a:gd name="csX3" fmla="*/ 7859949 w 12431950"/>
              <a:gd name="csY3" fmla="*/ 502909 h 2572956"/>
              <a:gd name="csX4" fmla="*/ 11400817 w 12431950"/>
              <a:gd name="csY4" fmla="*/ 269445 h 2572956"/>
              <a:gd name="csX5" fmla="*/ 12431950 w 12431950"/>
              <a:gd name="csY5" fmla="*/ 152714 h 2572956"/>
              <a:gd name="csX0" fmla="*/ 0 w 12431950"/>
              <a:gd name="csY0" fmla="*/ 1981513 h 2556680"/>
              <a:gd name="csX1" fmla="*/ 2548647 w 12431950"/>
              <a:gd name="csY1" fmla="*/ 2341437 h 2556680"/>
              <a:gd name="csX2" fmla="*/ 6196519 w 12431950"/>
              <a:gd name="csY2" fmla="*/ 1855054 h 2556680"/>
              <a:gd name="csX3" fmla="*/ 7859949 w 12431950"/>
              <a:gd name="csY3" fmla="*/ 502909 h 2556680"/>
              <a:gd name="csX4" fmla="*/ 11400817 w 12431950"/>
              <a:gd name="csY4" fmla="*/ 269445 h 2556680"/>
              <a:gd name="csX5" fmla="*/ 12431950 w 12431950"/>
              <a:gd name="csY5" fmla="*/ 152714 h 2556680"/>
              <a:gd name="csX0" fmla="*/ 0 w 12431950"/>
              <a:gd name="csY0" fmla="*/ 1981513 h 2512003"/>
              <a:gd name="csX1" fmla="*/ 2548647 w 12431950"/>
              <a:gd name="csY1" fmla="*/ 2341437 h 2512003"/>
              <a:gd name="csX2" fmla="*/ 6196519 w 12431950"/>
              <a:gd name="csY2" fmla="*/ 1855054 h 2512003"/>
              <a:gd name="csX3" fmla="*/ 7859949 w 12431950"/>
              <a:gd name="csY3" fmla="*/ 502909 h 2512003"/>
              <a:gd name="csX4" fmla="*/ 11400817 w 12431950"/>
              <a:gd name="csY4" fmla="*/ 269445 h 2512003"/>
              <a:gd name="csX5" fmla="*/ 12431950 w 12431950"/>
              <a:gd name="csY5" fmla="*/ 152714 h 2512003"/>
              <a:gd name="csX0" fmla="*/ 0 w 12431950"/>
              <a:gd name="csY0" fmla="*/ 1981513 h 2543885"/>
              <a:gd name="csX1" fmla="*/ 2548647 w 12431950"/>
              <a:gd name="csY1" fmla="*/ 2341437 h 2543885"/>
              <a:gd name="csX2" fmla="*/ 6196519 w 12431950"/>
              <a:gd name="csY2" fmla="*/ 1855054 h 2543885"/>
              <a:gd name="csX3" fmla="*/ 7859949 w 12431950"/>
              <a:gd name="csY3" fmla="*/ 502909 h 2543885"/>
              <a:gd name="csX4" fmla="*/ 11400817 w 12431950"/>
              <a:gd name="csY4" fmla="*/ 269445 h 2543885"/>
              <a:gd name="csX5" fmla="*/ 12431950 w 12431950"/>
              <a:gd name="csY5" fmla="*/ 152714 h 2543885"/>
              <a:gd name="csX0" fmla="*/ 0 w 12431950"/>
              <a:gd name="csY0" fmla="*/ 1981513 h 2556680"/>
              <a:gd name="csX1" fmla="*/ 2548647 w 12431950"/>
              <a:gd name="csY1" fmla="*/ 2341437 h 2556680"/>
              <a:gd name="csX2" fmla="*/ 6196519 w 12431950"/>
              <a:gd name="csY2" fmla="*/ 1855054 h 2556680"/>
              <a:gd name="csX3" fmla="*/ 7859949 w 12431950"/>
              <a:gd name="csY3" fmla="*/ 502909 h 2556680"/>
              <a:gd name="csX4" fmla="*/ 11400817 w 12431950"/>
              <a:gd name="csY4" fmla="*/ 269445 h 2556680"/>
              <a:gd name="csX5" fmla="*/ 12431950 w 12431950"/>
              <a:gd name="csY5" fmla="*/ 152714 h 2556680"/>
              <a:gd name="csX0" fmla="*/ 0 w 12431950"/>
              <a:gd name="csY0" fmla="*/ 1981513 h 2556680"/>
              <a:gd name="csX1" fmla="*/ 2548647 w 12431950"/>
              <a:gd name="csY1" fmla="*/ 2341437 h 2556680"/>
              <a:gd name="csX2" fmla="*/ 6196519 w 12431950"/>
              <a:gd name="csY2" fmla="*/ 1855054 h 2556680"/>
              <a:gd name="csX3" fmla="*/ 7859949 w 12431950"/>
              <a:gd name="csY3" fmla="*/ 502909 h 2556680"/>
              <a:gd name="csX4" fmla="*/ 11400817 w 12431950"/>
              <a:gd name="csY4" fmla="*/ 269445 h 2556680"/>
              <a:gd name="csX5" fmla="*/ 12431950 w 12431950"/>
              <a:gd name="csY5" fmla="*/ 152714 h 2556680"/>
              <a:gd name="csX0" fmla="*/ 0 w 12431950"/>
              <a:gd name="csY0" fmla="*/ 1981513 h 2538971"/>
              <a:gd name="csX1" fmla="*/ 2548647 w 12431950"/>
              <a:gd name="csY1" fmla="*/ 2341437 h 2538971"/>
              <a:gd name="csX2" fmla="*/ 6196519 w 12431950"/>
              <a:gd name="csY2" fmla="*/ 1855054 h 2538971"/>
              <a:gd name="csX3" fmla="*/ 7859949 w 12431950"/>
              <a:gd name="csY3" fmla="*/ 502909 h 2538971"/>
              <a:gd name="csX4" fmla="*/ 11400817 w 12431950"/>
              <a:gd name="csY4" fmla="*/ 269445 h 2538971"/>
              <a:gd name="csX5" fmla="*/ 12431950 w 12431950"/>
              <a:gd name="csY5" fmla="*/ 152714 h 2538971"/>
            </a:gdLst>
            <a:ahLst/>
            <a:cxnLst/>
            <a:rect l="l" t="t" r="r" b="b"/>
            <a:pathLst>
              <a:path w="12431950" h="2538971">
                <a:moveTo>
                  <a:pt x="0" y="1981513"/>
                </a:moveTo>
                <a:cubicBezTo>
                  <a:pt x="942773" y="1977459"/>
                  <a:pt x="1253247" y="1983134"/>
                  <a:pt x="2548647" y="2341437"/>
                </a:cubicBezTo>
                <a:cubicBezTo>
                  <a:pt x="3844047" y="2699740"/>
                  <a:pt x="5145932" y="2589493"/>
                  <a:pt x="6196519" y="1855054"/>
                </a:cubicBezTo>
                <a:cubicBezTo>
                  <a:pt x="7247106" y="1120615"/>
                  <a:pt x="6637506" y="1480539"/>
                  <a:pt x="7859949" y="502909"/>
                </a:cubicBezTo>
                <a:cubicBezTo>
                  <a:pt x="8192310" y="316462"/>
                  <a:pt x="8938098" y="-375823"/>
                  <a:pt x="11400817" y="269445"/>
                </a:cubicBezTo>
                <a:cubicBezTo>
                  <a:pt x="12081752" y="382935"/>
                  <a:pt x="12235776" y="159199"/>
                  <a:pt x="12431950" y="152714"/>
                </a:cubicBezTo>
              </a:path>
            </a:pathLst>
          </a:custGeom>
          <a:noFill/>
          <a:ln w="101600">
            <a:gradFill rotWithShape="1">
              <a:gsLst>
                <a:gs pos="0">
                  <a:schemeClr val="accent3">
                    <a:alpha val="0"/>
                  </a:schemeClr>
                </a:gs>
                <a:gs pos="50000">
                  <a:schemeClr val="tx2"/>
                </a:gs>
                <a:gs pos="85000">
                  <a:schemeClr val="accent1"/>
                </a:gs>
                <a:gs pos="15000">
                  <a:schemeClr val="accent1"/>
                </a:gs>
                <a:gs pos="100000">
                  <a:schemeClr val="accent3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直線接點 4">
            <a:extLst>
              <a:ext uri="{FF2B5EF4-FFF2-40B4-BE49-F238E27FC236}">
                <a16:creationId xmlns:a16="http://schemas.microsoft.com/office/drawing/2014/main" id="{D6F596A4-BF5B-4C1B-BFE8-179479646AB1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B64B28E-1BE4-678D-6378-E25BB8D0BC6B}"/>
              </a:ext>
            </a:extLst>
          </p:cNvPr>
          <p:cNvSpPr>
            <a:spLocks noGrp="1"/>
          </p:cNvSpPr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spc="150">
                <a:latin typeface="+mn-ea"/>
                <a:ea typeface="+mn-ea"/>
                <a:cs typeface="+mn-ea"/>
              </a:rPr>
              <a:t>後續規劃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2A3246C-9A43-F387-168B-71534A1DDA8D}"/>
              </a:ext>
            </a:extLst>
          </p:cNvPr>
          <p:cNvSpPr>
            <a:spLocks noGrp="1"/>
          </p:cNvSpPr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400" spc="200">
                <a:solidFill>
                  <a:srgbClr val="7E8A90"/>
                </a:solidFill>
              </a:rPr>
              <a:t>ROADMAP</a:t>
            </a:r>
          </a:p>
        </p:txBody>
      </p:sp>
      <p:sp>
        <p:nvSpPr>
          <p:cNvPr id="2" name="Freeform 3">
            <a:extLst>
              <a:ext uri="{FF2B5EF4-FFF2-40B4-BE49-F238E27FC236}">
                <a16:creationId xmlns:a16="http://schemas.microsoft.com/office/drawing/2014/main" id="{C61E057B-1392-711A-CB06-F00A7844A818}"/>
              </a:ext>
            </a:extLst>
          </p:cNvPr>
          <p:cNvSpPr>
            <a:spLocks noGrp="1"/>
          </p:cNvSpPr>
          <p:nvPr/>
        </p:nvSpPr>
        <p:spPr>
          <a:xfrm>
            <a:off x="2505680" y="3595253"/>
            <a:ext cx="4371971" cy="1241434"/>
          </a:xfrm>
          <a:custGeom>
            <a:avLst/>
            <a:gdLst/>
            <a:ahLst/>
            <a:cxnLst/>
            <a:rect l="l" t="t" r="r" b="b"/>
            <a:pathLst>
              <a:path w="6664269" h="1892339">
                <a:moveTo>
                  <a:pt x="0" y="1586627"/>
                </a:moveTo>
                <a:quadBezTo>
                  <a:pt x="3774874" y="2652938"/>
                  <a:pt x="6664270" y="0"/>
                </a:quadBezTo>
              </a:path>
            </a:pathLst>
          </a:custGeom>
          <a:ln w="101600">
            <a:gradFill>
              <a:gsLst>
                <a:gs pos="0">
                  <a:srgbClr val="62818F">
                    <a:alpha val="100000"/>
                  </a:srgbClr>
                </a:gs>
                <a:gs pos="50000">
                  <a:srgbClr val="597684">
                    <a:alpha val="100000"/>
                  </a:srgbClr>
                </a:gs>
                <a:gs pos="100000">
                  <a:srgbClr val="4A6572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BD9FE36E-F9F7-B439-2F82-3D5927291DDA}"/>
              </a:ext>
            </a:extLst>
          </p:cNvPr>
          <p:cNvSpPr>
            <a:spLocks noGrp="1"/>
          </p:cNvSpPr>
          <p:nvPr/>
        </p:nvSpPr>
        <p:spPr>
          <a:xfrm>
            <a:off x="10875366" y="1493035"/>
            <a:ext cx="2444849" cy="1090578"/>
          </a:xfrm>
          <a:custGeom>
            <a:avLst/>
            <a:gdLst/>
            <a:ahLst/>
            <a:cxnLst/>
            <a:rect l="l" t="t" r="r" b="b"/>
            <a:pathLst>
              <a:path w="3726725" h="1662386">
                <a:moveTo>
                  <a:pt x="0" y="1513728"/>
                </a:moveTo>
                <a:quadBezTo>
                  <a:pt x="2585912" y="2159503"/>
                  <a:pt x="3726725" y="0"/>
                </a:quadBezTo>
              </a:path>
            </a:pathLst>
          </a:custGeom>
          <a:ln w="101600">
            <a:gradFill>
              <a:gsLst>
                <a:gs pos="0">
                  <a:srgbClr val="4A6572">
                    <a:alpha val="100000"/>
                  </a:srgbClr>
                </a:gs>
                <a:gs pos="50000">
                  <a:srgbClr val="4A6572">
                    <a:alpha val="0"/>
                  </a:srgbClr>
                </a:gs>
                <a:gs pos="100000">
                  <a:srgbClr val="4A6572">
                    <a:alpha val="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3E228345-2486-FC0E-0257-3AE5592C01B3}"/>
              </a:ext>
            </a:extLst>
          </p:cNvPr>
          <p:cNvSpPr>
            <a:spLocks noGrp="1"/>
          </p:cNvSpPr>
          <p:nvPr/>
        </p:nvSpPr>
        <p:spPr>
          <a:xfrm>
            <a:off x="-2314406" y="4282622"/>
            <a:ext cx="4826491" cy="697386"/>
          </a:xfrm>
          <a:custGeom>
            <a:avLst/>
            <a:gdLst/>
            <a:ahLst/>
            <a:cxnLst/>
            <a:rect l="l" t="t" r="r" b="b"/>
            <a:pathLst>
              <a:path w="7357101" h="1063037">
                <a:moveTo>
                  <a:pt x="7357100" y="540033"/>
                </a:moveTo>
                <a:quadBezTo>
                  <a:pt x="3044193" y="-757678"/>
                  <a:pt x="0" y="1063037"/>
                </a:quadBezTo>
              </a:path>
            </a:pathLst>
          </a:custGeom>
          <a:ln w="101600">
            <a:gradFill>
              <a:gsLst>
                <a:gs pos="100000">
                  <a:srgbClr val="607D8B">
                    <a:alpha val="100000"/>
                  </a:srgbClr>
                </a:gs>
                <a:gs pos="50000">
                  <a:srgbClr val="607D8B">
                    <a:alpha val="0"/>
                  </a:srgbClr>
                </a:gs>
                <a:gs pos="0">
                  <a:srgbClr val="607D8B">
                    <a:alpha val="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B8B47B86-C67F-5EE1-CA28-26553C26AC32}"/>
              </a:ext>
            </a:extLst>
          </p:cNvPr>
          <p:cNvSpPr>
            <a:spLocks noGrp="1"/>
          </p:cNvSpPr>
          <p:nvPr/>
        </p:nvSpPr>
        <p:spPr>
          <a:xfrm>
            <a:off x="6873157" y="2300243"/>
            <a:ext cx="4004561" cy="1302933"/>
          </a:xfrm>
          <a:custGeom>
            <a:avLst/>
            <a:gdLst/>
            <a:ahLst/>
            <a:cxnLst/>
            <a:rect l="l" t="t" r="r" b="b"/>
            <a:pathLst>
              <a:path w="6104220" h="1986082">
                <a:moveTo>
                  <a:pt x="6104221" y="280044"/>
                </a:moveTo>
                <a:quadBezTo>
                  <a:pt x="2527002" y="-745781"/>
                  <a:pt x="0" y="1986082"/>
                </a:quadBezTo>
              </a:path>
            </a:pathLst>
          </a:custGeom>
          <a:ln w="101600">
            <a:solidFill>
              <a:srgbClr val="4A657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9" name="TextBox 55">
            <a:extLst>
              <a:ext uri="{FF2B5EF4-FFF2-40B4-BE49-F238E27FC236}">
                <a16:creationId xmlns:a16="http://schemas.microsoft.com/office/drawing/2014/main" id="{E7C06FCA-E506-B355-52D0-004C63832BF0}"/>
              </a:ext>
            </a:extLst>
          </p:cNvPr>
          <p:cNvSpPr>
            <a:spLocks noGrp="1"/>
          </p:cNvSpPr>
          <p:nvPr/>
        </p:nvSpPr>
        <p:spPr>
          <a:xfrm>
            <a:off x="758890" y="2656954"/>
            <a:ext cx="19621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sz="2000" b="1" spc="50">
                <a:solidFill>
                  <a:schemeClr val="accent6"/>
                </a:solidFill>
              </a:rPr>
              <a:t>專利申請</a:t>
            </a:r>
          </a:p>
        </p:txBody>
      </p:sp>
      <p:sp>
        <p:nvSpPr>
          <p:cNvPr id="40" name="TextBox 56">
            <a:extLst>
              <a:ext uri="{FF2B5EF4-FFF2-40B4-BE49-F238E27FC236}">
                <a16:creationId xmlns:a16="http://schemas.microsoft.com/office/drawing/2014/main" id="{6DA111D4-CD70-BFB7-E069-522A81E3CFBA}"/>
              </a:ext>
            </a:extLst>
          </p:cNvPr>
          <p:cNvSpPr>
            <a:spLocks noGrp="1"/>
          </p:cNvSpPr>
          <p:nvPr/>
        </p:nvSpPr>
        <p:spPr>
          <a:xfrm>
            <a:off x="771339" y="3067225"/>
            <a:ext cx="2060900" cy="705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sz="1600" spc="50">
                <a:solidFill>
                  <a:schemeClr val="tx2"/>
                </a:solidFill>
              </a:rPr>
              <a:t>就書櫃結構機構</a:t>
            </a:r>
          </a:p>
          <a:p>
            <a:pPr>
              <a:lnSpc>
                <a:spcPct val="130000"/>
              </a:lnSpc>
              <a:buNone/>
            </a:pPr>
            <a:r>
              <a:rPr sz="1600" spc="50">
                <a:solidFill>
                  <a:schemeClr val="tx2"/>
                </a:solidFill>
              </a:rPr>
              <a:t>申請新型專利</a:t>
            </a:r>
          </a:p>
        </p:txBody>
      </p:sp>
      <p:sp>
        <p:nvSpPr>
          <p:cNvPr id="41" name="TextBox 55">
            <a:extLst>
              <a:ext uri="{FF2B5EF4-FFF2-40B4-BE49-F238E27FC236}">
                <a16:creationId xmlns:a16="http://schemas.microsoft.com/office/drawing/2014/main" id="{9CB6AE69-0E4E-1469-A12D-8BC6E75A7A45}"/>
              </a:ext>
            </a:extLst>
          </p:cNvPr>
          <p:cNvSpPr>
            <a:spLocks noGrp="1"/>
          </p:cNvSpPr>
          <p:nvPr/>
        </p:nvSpPr>
        <p:spPr>
          <a:xfrm>
            <a:off x="3074521" y="3543313"/>
            <a:ext cx="19621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sz="2000" b="1" spc="50">
                <a:solidFill>
                  <a:schemeClr val="accent6"/>
                </a:solidFill>
              </a:rPr>
              <a:t>第三方支付</a:t>
            </a:r>
          </a:p>
        </p:txBody>
      </p:sp>
      <p:sp>
        <p:nvSpPr>
          <p:cNvPr id="42" name="TextBox 56">
            <a:extLst>
              <a:ext uri="{FF2B5EF4-FFF2-40B4-BE49-F238E27FC236}">
                <a16:creationId xmlns:a16="http://schemas.microsoft.com/office/drawing/2014/main" id="{5B1E5746-18C5-ED73-01D5-936CD0E1E793}"/>
              </a:ext>
            </a:extLst>
          </p:cNvPr>
          <p:cNvSpPr>
            <a:spLocks noGrp="1"/>
          </p:cNvSpPr>
          <p:nvPr/>
        </p:nvSpPr>
        <p:spPr>
          <a:xfrm>
            <a:off x="3086969" y="3953584"/>
            <a:ext cx="34078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600" spc="50">
                <a:solidFill>
                  <a:schemeClr val="tx2"/>
                </a:solidFill>
              </a:rPr>
              <a:t>串接合法第三方</a:t>
            </a:r>
          </a:p>
        </p:txBody>
      </p:sp>
      <p:sp>
        <p:nvSpPr>
          <p:cNvPr id="59" name="TextBox 55">
            <a:extLst>
              <a:ext uri="{FF2B5EF4-FFF2-40B4-BE49-F238E27FC236}">
                <a16:creationId xmlns:a16="http://schemas.microsoft.com/office/drawing/2014/main" id="{39E6B790-2AA1-D6C0-6295-8D00F0835E85}"/>
              </a:ext>
            </a:extLst>
          </p:cNvPr>
          <p:cNvSpPr>
            <a:spLocks noGrp="1"/>
          </p:cNvSpPr>
          <p:nvPr/>
        </p:nvSpPr>
        <p:spPr>
          <a:xfrm>
            <a:off x="10016301" y="3000832"/>
            <a:ext cx="19621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sz="2000" b="1" spc="50">
                <a:solidFill>
                  <a:schemeClr val="accent6"/>
                </a:solidFill>
              </a:rPr>
              <a:t>盈利模式</a:t>
            </a:r>
          </a:p>
        </p:txBody>
      </p:sp>
      <p:sp>
        <p:nvSpPr>
          <p:cNvPr id="63" name="TextBox 56">
            <a:extLst>
              <a:ext uri="{FF2B5EF4-FFF2-40B4-BE49-F238E27FC236}">
                <a16:creationId xmlns:a16="http://schemas.microsoft.com/office/drawing/2014/main" id="{F5C850CE-C4E1-2677-019F-A5AEBE2176DD}"/>
              </a:ext>
            </a:extLst>
          </p:cNvPr>
          <p:cNvSpPr>
            <a:spLocks noGrp="1"/>
          </p:cNvSpPr>
          <p:nvPr/>
        </p:nvSpPr>
        <p:spPr>
          <a:xfrm>
            <a:off x="10028750" y="3411103"/>
            <a:ext cx="1521874" cy="705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sz="1600" spc="50">
                <a:solidFill>
                  <a:schemeClr val="tx2"/>
                </a:solidFill>
              </a:rPr>
              <a:t>廣告置入與</a:t>
            </a:r>
          </a:p>
          <a:p>
            <a:pPr>
              <a:lnSpc>
                <a:spcPct val="130000"/>
              </a:lnSpc>
              <a:buNone/>
            </a:pPr>
            <a:r>
              <a:rPr sz="1600" spc="50">
                <a:solidFill>
                  <a:schemeClr val="tx2"/>
                </a:solidFill>
              </a:rPr>
              <a:t>交易手續費等</a:t>
            </a:r>
          </a:p>
        </p:txBody>
      </p:sp>
      <p:sp>
        <p:nvSpPr>
          <p:cNvPr id="34" name="Graphic 18">
            <a:extLst>
              <a:ext uri="{FF2B5EF4-FFF2-40B4-BE49-F238E27FC236}">
                <a16:creationId xmlns:a16="http://schemas.microsoft.com/office/drawing/2014/main" id="{BE89CB4B-CD5C-5687-E3BE-DEC0A1FD9ED7}"/>
              </a:ext>
            </a:extLst>
          </p:cNvPr>
          <p:cNvSpPr>
            <a:spLocks noGrp="1"/>
          </p:cNvSpPr>
          <p:nvPr/>
        </p:nvSpPr>
        <p:spPr>
          <a:xfrm>
            <a:off x="865220" y="4040692"/>
            <a:ext cx="602076" cy="655695"/>
          </a:xfrm>
          <a:custGeom>
            <a:avLst/>
            <a:gdLst>
              <a:gd name="connsiteX0" fmla="*/ 1238039 w 3142829"/>
              <a:gd name="connsiteY0" fmla="*/ 89328 h 3422732"/>
              <a:gd name="connsiteX1" fmla="*/ 1904789 w 3142829"/>
              <a:gd name="connsiteY1" fmla="*/ 89328 h 3422732"/>
              <a:gd name="connsiteX2" fmla="*/ 2809455 w 3142829"/>
              <a:gd name="connsiteY2" fmla="*/ 611635 h 3422732"/>
              <a:gd name="connsiteX3" fmla="*/ 3142830 w 3142829"/>
              <a:gd name="connsiteY3" fmla="*/ 1189063 h 3422732"/>
              <a:gd name="connsiteX4" fmla="*/ 3142830 w 3142829"/>
              <a:gd name="connsiteY4" fmla="*/ 2233669 h 3422732"/>
              <a:gd name="connsiteX5" fmla="*/ 2809455 w 3142829"/>
              <a:gd name="connsiteY5" fmla="*/ 2811094 h 3422732"/>
              <a:gd name="connsiteX6" fmla="*/ 1904789 w 3142829"/>
              <a:gd name="connsiteY6" fmla="*/ 3333407 h 3422732"/>
              <a:gd name="connsiteX7" fmla="*/ 1238039 w 3142829"/>
              <a:gd name="connsiteY7" fmla="*/ 3333407 h 3422732"/>
              <a:gd name="connsiteX8" fmla="*/ 333375 w 3142829"/>
              <a:gd name="connsiteY8" fmla="*/ 2811094 h 3422732"/>
              <a:gd name="connsiteX9" fmla="*/ 0 w 3142829"/>
              <a:gd name="connsiteY9" fmla="*/ 2233669 h 3422732"/>
              <a:gd name="connsiteX10" fmla="*/ 0 w 3142829"/>
              <a:gd name="connsiteY10" fmla="*/ 1189063 h 3422732"/>
              <a:gd name="connsiteX11" fmla="*/ 333375 w 3142829"/>
              <a:gd name="connsiteY11" fmla="*/ 611635 h 3422732"/>
              <a:gd name="connsiteX12" fmla="*/ 1238039 w 3142829"/>
              <a:gd name="connsiteY12" fmla="*/ 89328 h 3422732"/>
            </a:gdLst>
            <a:ahLst/>
            <a:cxnLst/>
            <a:rect l="l" t="t" r="r" b="b"/>
            <a:pathLst>
              <a:path w="3142829" h="3422732">
                <a:moveTo>
                  <a:pt x="1238039" y="89328"/>
                </a:moveTo>
                <a:cubicBezTo>
                  <a:pt x="1444332" y="-29776"/>
                  <a:pt x="1698497" y="-29776"/>
                  <a:pt x="1904789" y="89328"/>
                </a:cubicBezTo>
                <a:lnTo>
                  <a:pt x="2809455" y="611635"/>
                </a:lnTo>
                <a:cubicBezTo>
                  <a:pt x="3015747" y="730738"/>
                  <a:pt x="3142830" y="950852"/>
                  <a:pt x="3142830" y="1189063"/>
                </a:cubicBezTo>
                <a:lnTo>
                  <a:pt x="3142830" y="2233669"/>
                </a:lnTo>
                <a:cubicBezTo>
                  <a:pt x="3142830" y="2471880"/>
                  <a:pt x="3015747" y="2691993"/>
                  <a:pt x="2809455" y="2811094"/>
                </a:cubicBezTo>
                <a:lnTo>
                  <a:pt x="1904789" y="3333407"/>
                </a:lnTo>
                <a:cubicBezTo>
                  <a:pt x="1698497" y="3452507"/>
                  <a:pt x="1444332" y="3452507"/>
                  <a:pt x="1238039" y="3333407"/>
                </a:cubicBezTo>
                <a:lnTo>
                  <a:pt x="333375" y="2811094"/>
                </a:lnTo>
                <a:cubicBezTo>
                  <a:pt x="127082" y="2691993"/>
                  <a:pt x="0" y="2471880"/>
                  <a:pt x="0" y="2233669"/>
                </a:cubicBezTo>
                <a:lnTo>
                  <a:pt x="0" y="1189063"/>
                </a:lnTo>
                <a:cubicBezTo>
                  <a:pt x="0" y="950852"/>
                  <a:pt x="127082" y="730738"/>
                  <a:pt x="333375" y="611635"/>
                </a:cubicBezTo>
                <a:lnTo>
                  <a:pt x="1238039" y="8932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prstDash val="solid"/>
          </a:ln>
          <a:effectLst>
            <a:outerShdw blurRad="571500" dist="381000" dir="5400000" sx="85000" sy="85000" algn="t" rotWithShape="0">
              <a:schemeClr val="accent1">
                <a:alpha val="30000"/>
              </a:schemeClr>
            </a:outerShdw>
          </a:effectLst>
        </p:spPr>
        <p:txBody>
          <a:bodyPr anchor="ctr"/>
          <a:lstStyle/>
          <a:p>
            <a:endParaRPr/>
          </a:p>
        </p:txBody>
      </p:sp>
      <p:pic>
        <p:nvPicPr>
          <p:cNvPr id="106" name="圖形 6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258" y="4152539"/>
            <a:ext cx="432000" cy="432000"/>
          </a:xfrm>
          <a:prstGeom prst="rect">
            <a:avLst/>
          </a:prstGeom>
        </p:spPr>
      </p:pic>
      <p:sp>
        <p:nvSpPr>
          <p:cNvPr id="36" name="Graphic 18">
            <a:extLst>
              <a:ext uri="{FF2B5EF4-FFF2-40B4-BE49-F238E27FC236}">
                <a16:creationId xmlns:a16="http://schemas.microsoft.com/office/drawing/2014/main" id="{50258AC8-8B38-DBDF-1030-E311A6A3C001}"/>
              </a:ext>
            </a:extLst>
          </p:cNvPr>
          <p:cNvSpPr>
            <a:spLocks noGrp="1"/>
          </p:cNvSpPr>
          <p:nvPr/>
        </p:nvSpPr>
        <p:spPr>
          <a:xfrm>
            <a:off x="3180459" y="4465161"/>
            <a:ext cx="602076" cy="655695"/>
          </a:xfrm>
          <a:custGeom>
            <a:avLst/>
            <a:gdLst>
              <a:gd name="connsiteX0" fmla="*/ 1238039 w 3142829"/>
              <a:gd name="connsiteY0" fmla="*/ 89328 h 3422732"/>
              <a:gd name="connsiteX1" fmla="*/ 1904789 w 3142829"/>
              <a:gd name="connsiteY1" fmla="*/ 89328 h 3422732"/>
              <a:gd name="connsiteX2" fmla="*/ 2809455 w 3142829"/>
              <a:gd name="connsiteY2" fmla="*/ 611635 h 3422732"/>
              <a:gd name="connsiteX3" fmla="*/ 3142830 w 3142829"/>
              <a:gd name="connsiteY3" fmla="*/ 1189063 h 3422732"/>
              <a:gd name="connsiteX4" fmla="*/ 3142830 w 3142829"/>
              <a:gd name="connsiteY4" fmla="*/ 2233669 h 3422732"/>
              <a:gd name="connsiteX5" fmla="*/ 2809455 w 3142829"/>
              <a:gd name="connsiteY5" fmla="*/ 2811094 h 3422732"/>
              <a:gd name="connsiteX6" fmla="*/ 1904789 w 3142829"/>
              <a:gd name="connsiteY6" fmla="*/ 3333407 h 3422732"/>
              <a:gd name="connsiteX7" fmla="*/ 1238039 w 3142829"/>
              <a:gd name="connsiteY7" fmla="*/ 3333407 h 3422732"/>
              <a:gd name="connsiteX8" fmla="*/ 333375 w 3142829"/>
              <a:gd name="connsiteY8" fmla="*/ 2811094 h 3422732"/>
              <a:gd name="connsiteX9" fmla="*/ 0 w 3142829"/>
              <a:gd name="connsiteY9" fmla="*/ 2233669 h 3422732"/>
              <a:gd name="connsiteX10" fmla="*/ 0 w 3142829"/>
              <a:gd name="connsiteY10" fmla="*/ 1189063 h 3422732"/>
              <a:gd name="connsiteX11" fmla="*/ 333375 w 3142829"/>
              <a:gd name="connsiteY11" fmla="*/ 611635 h 3422732"/>
              <a:gd name="connsiteX12" fmla="*/ 1238039 w 3142829"/>
              <a:gd name="connsiteY12" fmla="*/ 89328 h 3422732"/>
            </a:gdLst>
            <a:ahLst/>
            <a:cxnLst/>
            <a:rect l="l" t="t" r="r" b="b"/>
            <a:pathLst>
              <a:path w="3142829" h="3422732">
                <a:moveTo>
                  <a:pt x="1238039" y="89328"/>
                </a:moveTo>
                <a:cubicBezTo>
                  <a:pt x="1444332" y="-29776"/>
                  <a:pt x="1698497" y="-29776"/>
                  <a:pt x="1904789" y="89328"/>
                </a:cubicBezTo>
                <a:lnTo>
                  <a:pt x="2809455" y="611635"/>
                </a:lnTo>
                <a:cubicBezTo>
                  <a:pt x="3015747" y="730738"/>
                  <a:pt x="3142830" y="950852"/>
                  <a:pt x="3142830" y="1189063"/>
                </a:cubicBezTo>
                <a:lnTo>
                  <a:pt x="3142830" y="2233669"/>
                </a:lnTo>
                <a:cubicBezTo>
                  <a:pt x="3142830" y="2471880"/>
                  <a:pt x="3015747" y="2691993"/>
                  <a:pt x="2809455" y="2811094"/>
                </a:cubicBezTo>
                <a:lnTo>
                  <a:pt x="1904789" y="3333407"/>
                </a:lnTo>
                <a:cubicBezTo>
                  <a:pt x="1698497" y="3452507"/>
                  <a:pt x="1444332" y="3452507"/>
                  <a:pt x="1238039" y="3333407"/>
                </a:cubicBezTo>
                <a:lnTo>
                  <a:pt x="333375" y="2811094"/>
                </a:lnTo>
                <a:cubicBezTo>
                  <a:pt x="127082" y="2691993"/>
                  <a:pt x="0" y="2471880"/>
                  <a:pt x="0" y="2233669"/>
                </a:cubicBezTo>
                <a:lnTo>
                  <a:pt x="0" y="1189063"/>
                </a:lnTo>
                <a:cubicBezTo>
                  <a:pt x="0" y="950852"/>
                  <a:pt x="127082" y="730738"/>
                  <a:pt x="333375" y="611635"/>
                </a:cubicBezTo>
                <a:lnTo>
                  <a:pt x="1238039" y="8932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prstDash val="solid"/>
          </a:ln>
          <a:effectLst>
            <a:outerShdw blurRad="571500" dist="381000" dir="5400000" sx="85000" sy="85000" algn="t" rotWithShape="0">
              <a:schemeClr val="accent1">
                <a:alpha val="30000"/>
              </a:schemeClr>
            </a:outerShdw>
          </a:effectLst>
        </p:spPr>
        <p:txBody>
          <a:bodyPr anchor="ctr"/>
          <a:lstStyle/>
          <a:p>
            <a:endParaRPr/>
          </a:p>
        </p:txBody>
      </p:sp>
      <p:pic>
        <p:nvPicPr>
          <p:cNvPr id="108" name="圖形 7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5497" y="4577008"/>
            <a:ext cx="432000" cy="432000"/>
          </a:xfrm>
          <a:prstGeom prst="rect">
            <a:avLst/>
          </a:prstGeom>
        </p:spPr>
      </p:pic>
      <p:sp>
        <p:nvSpPr>
          <p:cNvPr id="37" name="Graphic 18">
            <a:extLst>
              <a:ext uri="{FF2B5EF4-FFF2-40B4-BE49-F238E27FC236}">
                <a16:creationId xmlns:a16="http://schemas.microsoft.com/office/drawing/2014/main" id="{17D55A0B-5D6F-8CC0-DF28-03C3B5EFB889}"/>
              </a:ext>
            </a:extLst>
          </p:cNvPr>
          <p:cNvSpPr>
            <a:spLocks noGrp="1"/>
          </p:cNvSpPr>
          <p:nvPr/>
        </p:nvSpPr>
        <p:spPr>
          <a:xfrm>
            <a:off x="5495698" y="3983257"/>
            <a:ext cx="602076" cy="655695"/>
          </a:xfrm>
          <a:custGeom>
            <a:avLst/>
            <a:gdLst>
              <a:gd name="connsiteX0" fmla="*/ 1238039 w 3142829"/>
              <a:gd name="connsiteY0" fmla="*/ 89328 h 3422732"/>
              <a:gd name="connsiteX1" fmla="*/ 1904789 w 3142829"/>
              <a:gd name="connsiteY1" fmla="*/ 89328 h 3422732"/>
              <a:gd name="connsiteX2" fmla="*/ 2809455 w 3142829"/>
              <a:gd name="connsiteY2" fmla="*/ 611635 h 3422732"/>
              <a:gd name="connsiteX3" fmla="*/ 3142830 w 3142829"/>
              <a:gd name="connsiteY3" fmla="*/ 1189063 h 3422732"/>
              <a:gd name="connsiteX4" fmla="*/ 3142830 w 3142829"/>
              <a:gd name="connsiteY4" fmla="*/ 2233669 h 3422732"/>
              <a:gd name="connsiteX5" fmla="*/ 2809455 w 3142829"/>
              <a:gd name="connsiteY5" fmla="*/ 2811094 h 3422732"/>
              <a:gd name="connsiteX6" fmla="*/ 1904789 w 3142829"/>
              <a:gd name="connsiteY6" fmla="*/ 3333407 h 3422732"/>
              <a:gd name="connsiteX7" fmla="*/ 1238039 w 3142829"/>
              <a:gd name="connsiteY7" fmla="*/ 3333407 h 3422732"/>
              <a:gd name="connsiteX8" fmla="*/ 333375 w 3142829"/>
              <a:gd name="connsiteY8" fmla="*/ 2811094 h 3422732"/>
              <a:gd name="connsiteX9" fmla="*/ 0 w 3142829"/>
              <a:gd name="connsiteY9" fmla="*/ 2233669 h 3422732"/>
              <a:gd name="connsiteX10" fmla="*/ 0 w 3142829"/>
              <a:gd name="connsiteY10" fmla="*/ 1189063 h 3422732"/>
              <a:gd name="connsiteX11" fmla="*/ 333375 w 3142829"/>
              <a:gd name="connsiteY11" fmla="*/ 611635 h 3422732"/>
              <a:gd name="connsiteX12" fmla="*/ 1238039 w 3142829"/>
              <a:gd name="connsiteY12" fmla="*/ 89328 h 3422732"/>
            </a:gdLst>
            <a:ahLst/>
            <a:cxnLst/>
            <a:rect l="l" t="t" r="r" b="b"/>
            <a:pathLst>
              <a:path w="3142829" h="3422732">
                <a:moveTo>
                  <a:pt x="1238039" y="89328"/>
                </a:moveTo>
                <a:cubicBezTo>
                  <a:pt x="1444332" y="-29776"/>
                  <a:pt x="1698497" y="-29776"/>
                  <a:pt x="1904789" y="89328"/>
                </a:cubicBezTo>
                <a:lnTo>
                  <a:pt x="2809455" y="611635"/>
                </a:lnTo>
                <a:cubicBezTo>
                  <a:pt x="3015747" y="730738"/>
                  <a:pt x="3142830" y="950852"/>
                  <a:pt x="3142830" y="1189063"/>
                </a:cubicBezTo>
                <a:lnTo>
                  <a:pt x="3142830" y="2233669"/>
                </a:lnTo>
                <a:cubicBezTo>
                  <a:pt x="3142830" y="2471880"/>
                  <a:pt x="3015747" y="2691993"/>
                  <a:pt x="2809455" y="2811094"/>
                </a:cubicBezTo>
                <a:lnTo>
                  <a:pt x="1904789" y="3333407"/>
                </a:lnTo>
                <a:cubicBezTo>
                  <a:pt x="1698497" y="3452507"/>
                  <a:pt x="1444332" y="3452507"/>
                  <a:pt x="1238039" y="3333407"/>
                </a:cubicBezTo>
                <a:lnTo>
                  <a:pt x="333375" y="2811094"/>
                </a:lnTo>
                <a:cubicBezTo>
                  <a:pt x="127082" y="2691993"/>
                  <a:pt x="0" y="2471880"/>
                  <a:pt x="0" y="2233669"/>
                </a:cubicBezTo>
                <a:lnTo>
                  <a:pt x="0" y="1189063"/>
                </a:lnTo>
                <a:cubicBezTo>
                  <a:pt x="0" y="950852"/>
                  <a:pt x="127082" y="730738"/>
                  <a:pt x="333375" y="611635"/>
                </a:cubicBezTo>
                <a:lnTo>
                  <a:pt x="1238039" y="8932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prstDash val="solid"/>
          </a:ln>
          <a:effectLst>
            <a:outerShdw blurRad="571500" dist="381000" dir="5400000" sx="85000" sy="85000" algn="t" rotWithShape="0">
              <a:schemeClr val="accent1">
                <a:alpha val="30000"/>
              </a:schemeClr>
            </a:outerShdw>
          </a:effectLst>
        </p:spPr>
        <p:txBody>
          <a:bodyPr anchor="ctr"/>
          <a:lstStyle/>
          <a:p>
            <a:endParaRPr/>
          </a:p>
        </p:txBody>
      </p:sp>
      <p:pic>
        <p:nvPicPr>
          <p:cNvPr id="110" name="圖形 7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0736" y="4095104"/>
            <a:ext cx="432000" cy="432000"/>
          </a:xfrm>
          <a:prstGeom prst="rect">
            <a:avLst/>
          </a:prstGeom>
        </p:spPr>
      </p:pic>
      <p:sp>
        <p:nvSpPr>
          <p:cNvPr id="35" name="Graphic 18">
            <a:extLst>
              <a:ext uri="{FF2B5EF4-FFF2-40B4-BE49-F238E27FC236}">
                <a16:creationId xmlns:a16="http://schemas.microsoft.com/office/drawing/2014/main" id="{0F1B1684-C90E-B40D-3C11-B976CB374966}"/>
              </a:ext>
            </a:extLst>
          </p:cNvPr>
          <p:cNvSpPr>
            <a:spLocks noGrp="1"/>
          </p:cNvSpPr>
          <p:nvPr/>
        </p:nvSpPr>
        <p:spPr>
          <a:xfrm>
            <a:off x="10126175" y="2032562"/>
            <a:ext cx="602076" cy="655695"/>
          </a:xfrm>
          <a:custGeom>
            <a:avLst/>
            <a:gdLst>
              <a:gd name="connsiteX0" fmla="*/ 1238039 w 3142829"/>
              <a:gd name="connsiteY0" fmla="*/ 89328 h 3422732"/>
              <a:gd name="connsiteX1" fmla="*/ 1904789 w 3142829"/>
              <a:gd name="connsiteY1" fmla="*/ 89328 h 3422732"/>
              <a:gd name="connsiteX2" fmla="*/ 2809455 w 3142829"/>
              <a:gd name="connsiteY2" fmla="*/ 611635 h 3422732"/>
              <a:gd name="connsiteX3" fmla="*/ 3142830 w 3142829"/>
              <a:gd name="connsiteY3" fmla="*/ 1189063 h 3422732"/>
              <a:gd name="connsiteX4" fmla="*/ 3142830 w 3142829"/>
              <a:gd name="connsiteY4" fmla="*/ 2233669 h 3422732"/>
              <a:gd name="connsiteX5" fmla="*/ 2809455 w 3142829"/>
              <a:gd name="connsiteY5" fmla="*/ 2811094 h 3422732"/>
              <a:gd name="connsiteX6" fmla="*/ 1904789 w 3142829"/>
              <a:gd name="connsiteY6" fmla="*/ 3333407 h 3422732"/>
              <a:gd name="connsiteX7" fmla="*/ 1238039 w 3142829"/>
              <a:gd name="connsiteY7" fmla="*/ 3333407 h 3422732"/>
              <a:gd name="connsiteX8" fmla="*/ 333375 w 3142829"/>
              <a:gd name="connsiteY8" fmla="*/ 2811094 h 3422732"/>
              <a:gd name="connsiteX9" fmla="*/ 0 w 3142829"/>
              <a:gd name="connsiteY9" fmla="*/ 2233669 h 3422732"/>
              <a:gd name="connsiteX10" fmla="*/ 0 w 3142829"/>
              <a:gd name="connsiteY10" fmla="*/ 1189063 h 3422732"/>
              <a:gd name="connsiteX11" fmla="*/ 333375 w 3142829"/>
              <a:gd name="connsiteY11" fmla="*/ 611635 h 3422732"/>
              <a:gd name="connsiteX12" fmla="*/ 1238039 w 3142829"/>
              <a:gd name="connsiteY12" fmla="*/ 89328 h 3422732"/>
            </a:gdLst>
            <a:ahLst/>
            <a:cxnLst/>
            <a:rect l="l" t="t" r="r" b="b"/>
            <a:pathLst>
              <a:path w="3142829" h="3422732">
                <a:moveTo>
                  <a:pt x="1238039" y="89328"/>
                </a:moveTo>
                <a:cubicBezTo>
                  <a:pt x="1444332" y="-29776"/>
                  <a:pt x="1698497" y="-29776"/>
                  <a:pt x="1904789" y="89328"/>
                </a:cubicBezTo>
                <a:lnTo>
                  <a:pt x="2809455" y="611635"/>
                </a:lnTo>
                <a:cubicBezTo>
                  <a:pt x="3015747" y="730738"/>
                  <a:pt x="3142830" y="950852"/>
                  <a:pt x="3142830" y="1189063"/>
                </a:cubicBezTo>
                <a:lnTo>
                  <a:pt x="3142830" y="2233669"/>
                </a:lnTo>
                <a:cubicBezTo>
                  <a:pt x="3142830" y="2471880"/>
                  <a:pt x="3015747" y="2691993"/>
                  <a:pt x="2809455" y="2811094"/>
                </a:cubicBezTo>
                <a:lnTo>
                  <a:pt x="1904789" y="3333407"/>
                </a:lnTo>
                <a:cubicBezTo>
                  <a:pt x="1698497" y="3452507"/>
                  <a:pt x="1444332" y="3452507"/>
                  <a:pt x="1238039" y="3333407"/>
                </a:cubicBezTo>
                <a:lnTo>
                  <a:pt x="333375" y="2811094"/>
                </a:lnTo>
                <a:cubicBezTo>
                  <a:pt x="127082" y="2691993"/>
                  <a:pt x="0" y="2471880"/>
                  <a:pt x="0" y="2233669"/>
                </a:cubicBezTo>
                <a:lnTo>
                  <a:pt x="0" y="1189063"/>
                </a:lnTo>
                <a:cubicBezTo>
                  <a:pt x="0" y="950852"/>
                  <a:pt x="127082" y="730738"/>
                  <a:pt x="333375" y="611635"/>
                </a:cubicBezTo>
                <a:lnTo>
                  <a:pt x="1238039" y="8932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prstDash val="solid"/>
          </a:ln>
          <a:effectLst>
            <a:outerShdw blurRad="571500" dist="381000" dir="5400000" sx="85000" sy="85000" algn="t" rotWithShape="0">
              <a:schemeClr val="accent1">
                <a:alpha val="30000"/>
              </a:schemeClr>
            </a:outerShdw>
          </a:effectLst>
        </p:spPr>
        <p:txBody>
          <a:bodyPr anchor="ctr"/>
          <a:lstStyle/>
          <a:p>
            <a:endParaRPr/>
          </a:p>
        </p:txBody>
      </p:sp>
      <p:pic>
        <p:nvPicPr>
          <p:cNvPr id="112" name="圖形 7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11213" y="2144409"/>
            <a:ext cx="432000" cy="432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4DDC4E61-A6ED-8F1E-9D68-5CC376123418}"/>
              </a:ext>
            </a:extLst>
          </p:cNvPr>
          <p:cNvSpPr>
            <a:spLocks noGrp="1"/>
          </p:cNvSpPr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fld id="{66BE055D-626C-4FC3-B4D1-83BFD1070C6E}" type="slidenum">
              <a:rPr sz="1400" spc="200">
                <a:solidFill>
                  <a:schemeClr val="accent5">
                    <a:lumMod val="75000"/>
                  </a:schemeClr>
                </a:solidFill>
              </a:rPr>
              <a:t>34</a:t>
            </a:fld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5" name="TextBox 55">
            <a:extLst>
              <a:ext uri="{FF2B5EF4-FFF2-40B4-BE49-F238E27FC236}">
                <a16:creationId xmlns:a16="http://schemas.microsoft.com/office/drawing/2014/main" id="{8F2CBF57-37D8-A6CD-C46C-88E9797C354E}"/>
              </a:ext>
            </a:extLst>
          </p:cNvPr>
          <p:cNvSpPr>
            <a:spLocks noGrp="1"/>
          </p:cNvSpPr>
          <p:nvPr/>
        </p:nvSpPr>
        <p:spPr>
          <a:xfrm>
            <a:off x="7521106" y="3389304"/>
            <a:ext cx="19621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sz="2000" b="1" spc="50">
                <a:solidFill>
                  <a:schemeClr val="accent6"/>
                </a:solidFill>
              </a:rPr>
              <a:t>場域擴充</a:t>
            </a:r>
          </a:p>
        </p:txBody>
      </p:sp>
      <p:sp>
        <p:nvSpPr>
          <p:cNvPr id="26" name="TextBox 56">
            <a:extLst>
              <a:ext uri="{FF2B5EF4-FFF2-40B4-BE49-F238E27FC236}">
                <a16:creationId xmlns:a16="http://schemas.microsoft.com/office/drawing/2014/main" id="{72957A41-DED1-A065-5F36-3F3A5ECA04E8}"/>
              </a:ext>
            </a:extLst>
          </p:cNvPr>
          <p:cNvSpPr>
            <a:spLocks noGrp="1"/>
          </p:cNvSpPr>
          <p:nvPr/>
        </p:nvSpPr>
        <p:spPr>
          <a:xfrm>
            <a:off x="7533555" y="3799575"/>
            <a:ext cx="1751304" cy="705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sz="1600" spc="50">
                <a:solidFill>
                  <a:schemeClr val="tx2"/>
                </a:solidFill>
              </a:rPr>
              <a:t>與更多學校及</a:t>
            </a:r>
          </a:p>
          <a:p>
            <a:pPr>
              <a:lnSpc>
                <a:spcPct val="130000"/>
              </a:lnSpc>
              <a:buNone/>
            </a:pPr>
            <a:r>
              <a:rPr sz="1600" spc="50">
                <a:solidFill>
                  <a:schemeClr val="tx2"/>
                </a:solidFill>
              </a:rPr>
              <a:t>公共場域合作</a:t>
            </a:r>
          </a:p>
        </p:txBody>
      </p:sp>
      <p:sp>
        <p:nvSpPr>
          <p:cNvPr id="38" name="Graphic 18">
            <a:extLst>
              <a:ext uri="{FF2B5EF4-FFF2-40B4-BE49-F238E27FC236}">
                <a16:creationId xmlns:a16="http://schemas.microsoft.com/office/drawing/2014/main" id="{F240D038-620A-C6B6-66ED-4E8072B6449C}"/>
              </a:ext>
            </a:extLst>
          </p:cNvPr>
          <p:cNvSpPr>
            <a:spLocks noGrp="1"/>
          </p:cNvSpPr>
          <p:nvPr/>
        </p:nvSpPr>
        <p:spPr>
          <a:xfrm>
            <a:off x="7624123" y="2425611"/>
            <a:ext cx="602076" cy="655695"/>
          </a:xfrm>
          <a:custGeom>
            <a:avLst/>
            <a:gdLst>
              <a:gd name="connsiteX0" fmla="*/ 1238039 w 3142829"/>
              <a:gd name="connsiteY0" fmla="*/ 89328 h 3422732"/>
              <a:gd name="connsiteX1" fmla="*/ 1904789 w 3142829"/>
              <a:gd name="connsiteY1" fmla="*/ 89328 h 3422732"/>
              <a:gd name="connsiteX2" fmla="*/ 2809455 w 3142829"/>
              <a:gd name="connsiteY2" fmla="*/ 611635 h 3422732"/>
              <a:gd name="connsiteX3" fmla="*/ 3142830 w 3142829"/>
              <a:gd name="connsiteY3" fmla="*/ 1189063 h 3422732"/>
              <a:gd name="connsiteX4" fmla="*/ 3142830 w 3142829"/>
              <a:gd name="connsiteY4" fmla="*/ 2233669 h 3422732"/>
              <a:gd name="connsiteX5" fmla="*/ 2809455 w 3142829"/>
              <a:gd name="connsiteY5" fmla="*/ 2811094 h 3422732"/>
              <a:gd name="connsiteX6" fmla="*/ 1904789 w 3142829"/>
              <a:gd name="connsiteY6" fmla="*/ 3333407 h 3422732"/>
              <a:gd name="connsiteX7" fmla="*/ 1238039 w 3142829"/>
              <a:gd name="connsiteY7" fmla="*/ 3333407 h 3422732"/>
              <a:gd name="connsiteX8" fmla="*/ 333375 w 3142829"/>
              <a:gd name="connsiteY8" fmla="*/ 2811094 h 3422732"/>
              <a:gd name="connsiteX9" fmla="*/ 0 w 3142829"/>
              <a:gd name="connsiteY9" fmla="*/ 2233669 h 3422732"/>
              <a:gd name="connsiteX10" fmla="*/ 0 w 3142829"/>
              <a:gd name="connsiteY10" fmla="*/ 1189063 h 3422732"/>
              <a:gd name="connsiteX11" fmla="*/ 333375 w 3142829"/>
              <a:gd name="connsiteY11" fmla="*/ 611635 h 3422732"/>
              <a:gd name="connsiteX12" fmla="*/ 1238039 w 3142829"/>
              <a:gd name="connsiteY12" fmla="*/ 89328 h 3422732"/>
            </a:gdLst>
            <a:ahLst/>
            <a:cxnLst/>
            <a:rect l="l" t="t" r="r" b="b"/>
            <a:pathLst>
              <a:path w="3142829" h="3422732">
                <a:moveTo>
                  <a:pt x="1238039" y="89328"/>
                </a:moveTo>
                <a:cubicBezTo>
                  <a:pt x="1444332" y="-29776"/>
                  <a:pt x="1698497" y="-29776"/>
                  <a:pt x="1904789" y="89328"/>
                </a:cubicBezTo>
                <a:lnTo>
                  <a:pt x="2809455" y="611635"/>
                </a:lnTo>
                <a:cubicBezTo>
                  <a:pt x="3015747" y="730738"/>
                  <a:pt x="3142830" y="950852"/>
                  <a:pt x="3142830" y="1189063"/>
                </a:cubicBezTo>
                <a:lnTo>
                  <a:pt x="3142830" y="2233669"/>
                </a:lnTo>
                <a:cubicBezTo>
                  <a:pt x="3142830" y="2471880"/>
                  <a:pt x="3015747" y="2691993"/>
                  <a:pt x="2809455" y="2811094"/>
                </a:cubicBezTo>
                <a:lnTo>
                  <a:pt x="1904789" y="3333407"/>
                </a:lnTo>
                <a:cubicBezTo>
                  <a:pt x="1698497" y="3452507"/>
                  <a:pt x="1444332" y="3452507"/>
                  <a:pt x="1238039" y="3333407"/>
                </a:cubicBezTo>
                <a:lnTo>
                  <a:pt x="333375" y="2811094"/>
                </a:lnTo>
                <a:cubicBezTo>
                  <a:pt x="127082" y="2691993"/>
                  <a:pt x="0" y="2471880"/>
                  <a:pt x="0" y="2233669"/>
                </a:cubicBezTo>
                <a:lnTo>
                  <a:pt x="0" y="1189063"/>
                </a:lnTo>
                <a:cubicBezTo>
                  <a:pt x="0" y="950852"/>
                  <a:pt x="127082" y="730738"/>
                  <a:pt x="333375" y="611635"/>
                </a:cubicBezTo>
                <a:lnTo>
                  <a:pt x="1238039" y="8932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prstDash val="solid"/>
          </a:ln>
          <a:effectLst>
            <a:outerShdw blurRad="571500" dist="381000" dir="5400000" sx="85000" sy="85000" algn="t" rotWithShape="0">
              <a:schemeClr val="accent1">
                <a:alpha val="30000"/>
              </a:schemeClr>
            </a:outerShdw>
          </a:effectLst>
        </p:spPr>
        <p:txBody>
          <a:bodyPr anchor="ctr"/>
          <a:lstStyle/>
          <a:p>
            <a:endParaRPr/>
          </a:p>
        </p:txBody>
      </p:sp>
      <p:pic>
        <p:nvPicPr>
          <p:cNvPr id="117" name="圖形 7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9161" y="2537458"/>
            <a:ext cx="432000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3662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>
            <a:extLst>
              <a:ext uri="{FF2B5EF4-FFF2-40B4-BE49-F238E27FC236}">
                <a16:creationId xmlns:a16="http://schemas.microsoft.com/office/drawing/2014/main" id="{80A3D3EE-EC30-4C49-BE14-E0B6593C0E6B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37FB920-3C04-075D-4319-89C10689B982}"/>
              </a:ext>
            </a:extLst>
          </p:cNvPr>
          <p:cNvSpPr>
            <a:spLocks noGrp="1"/>
          </p:cNvSpPr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spc="100">
                <a:latin typeface="+mn-ea"/>
                <a:ea typeface="+mn-ea"/>
                <a:cs typeface="+mn-ea"/>
              </a:rPr>
              <a:t>GitHub</a:t>
            </a:r>
            <a:r>
              <a:rPr sz="1400" b="1" spc="150">
                <a:latin typeface="+mn-ea"/>
                <a:ea typeface="+mn-ea"/>
                <a:cs typeface="+mn-ea"/>
              </a:rPr>
              <a:t> </a:t>
            </a:r>
            <a:r>
              <a:rPr sz="3600" b="1" spc="150">
                <a:latin typeface="+mn-ea"/>
                <a:ea typeface="+mn-ea"/>
                <a:cs typeface="+mn-ea"/>
              </a:rPr>
              <a:t>開發貢獻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B0EEC6F-05BD-B373-6420-82B4D78A5DA0}"/>
              </a:ext>
            </a:extLst>
          </p:cNvPr>
          <p:cNvSpPr>
            <a:spLocks noGrp="1"/>
          </p:cNvSpPr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400" spc="200">
                <a:solidFill>
                  <a:srgbClr val="7E8A90"/>
                </a:solidFill>
              </a:rPr>
              <a:t>CONTRIBUTIONS</a:t>
            </a:r>
          </a:p>
        </p:txBody>
      </p:sp>
      <p:sp>
        <p:nvSpPr>
          <p:cNvPr id="2" name="Freeform 3">
            <a:extLst>
              <a:ext uri="{FF2B5EF4-FFF2-40B4-BE49-F238E27FC236}">
                <a16:creationId xmlns:a16="http://schemas.microsoft.com/office/drawing/2014/main" id="{2E2DAE00-4106-4AD4-7478-34F6FF0B6D4F}"/>
              </a:ext>
            </a:extLst>
          </p:cNvPr>
          <p:cNvSpPr>
            <a:spLocks noGrp="1"/>
          </p:cNvSpPr>
          <p:nvPr/>
        </p:nvSpPr>
        <p:spPr>
          <a:xfrm>
            <a:off x="2505680" y="3595253"/>
            <a:ext cx="4371971" cy="1241434"/>
          </a:xfrm>
          <a:custGeom>
            <a:avLst/>
            <a:gdLst/>
            <a:ahLst/>
            <a:cxnLst/>
            <a:rect l="l" t="t" r="r" b="b"/>
            <a:pathLst>
              <a:path w="6664269" h="1892339">
                <a:moveTo>
                  <a:pt x="0" y="1586627"/>
                </a:moveTo>
                <a:quadBezTo>
                  <a:pt x="3774874" y="2652938"/>
                  <a:pt x="6664270" y="0"/>
                </a:quadBezTo>
              </a:path>
            </a:pathLst>
          </a:custGeom>
          <a:ln w="101600">
            <a:gradFill>
              <a:gsLst>
                <a:gs pos="0">
                  <a:srgbClr val="62818F">
                    <a:alpha val="100000"/>
                  </a:srgbClr>
                </a:gs>
                <a:gs pos="50000">
                  <a:srgbClr val="597684">
                    <a:alpha val="100000"/>
                  </a:srgbClr>
                </a:gs>
                <a:gs pos="100000">
                  <a:srgbClr val="4A6572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105D120E-5EBE-AD88-2AC6-31D48C7145F6}"/>
              </a:ext>
            </a:extLst>
          </p:cNvPr>
          <p:cNvSpPr>
            <a:spLocks noGrp="1"/>
          </p:cNvSpPr>
          <p:nvPr/>
        </p:nvSpPr>
        <p:spPr>
          <a:xfrm>
            <a:off x="10875366" y="1493035"/>
            <a:ext cx="2444849" cy="1090578"/>
          </a:xfrm>
          <a:custGeom>
            <a:avLst/>
            <a:gdLst/>
            <a:ahLst/>
            <a:cxnLst/>
            <a:rect l="l" t="t" r="r" b="b"/>
            <a:pathLst>
              <a:path w="3726725" h="1662386">
                <a:moveTo>
                  <a:pt x="0" y="1513728"/>
                </a:moveTo>
                <a:quadBezTo>
                  <a:pt x="2585912" y="2159503"/>
                  <a:pt x="3726725" y="0"/>
                </a:quadBezTo>
              </a:path>
            </a:pathLst>
          </a:custGeom>
          <a:ln w="101600">
            <a:gradFill>
              <a:gsLst>
                <a:gs pos="0">
                  <a:srgbClr val="4A6572">
                    <a:alpha val="100000"/>
                  </a:srgbClr>
                </a:gs>
                <a:gs pos="50000">
                  <a:srgbClr val="4A6572">
                    <a:alpha val="0"/>
                  </a:srgbClr>
                </a:gs>
                <a:gs pos="100000">
                  <a:srgbClr val="4A6572">
                    <a:alpha val="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B89C11AB-23CD-1154-CF54-03EA4C5D1401}"/>
              </a:ext>
            </a:extLst>
          </p:cNvPr>
          <p:cNvSpPr>
            <a:spLocks noGrp="1"/>
          </p:cNvSpPr>
          <p:nvPr/>
        </p:nvSpPr>
        <p:spPr>
          <a:xfrm>
            <a:off x="-2314406" y="4282622"/>
            <a:ext cx="4826491" cy="697386"/>
          </a:xfrm>
          <a:custGeom>
            <a:avLst/>
            <a:gdLst/>
            <a:ahLst/>
            <a:cxnLst/>
            <a:rect l="l" t="t" r="r" b="b"/>
            <a:pathLst>
              <a:path w="7357101" h="1063037">
                <a:moveTo>
                  <a:pt x="7357100" y="540033"/>
                </a:moveTo>
                <a:quadBezTo>
                  <a:pt x="3044193" y="-757678"/>
                  <a:pt x="0" y="1063037"/>
                </a:quadBezTo>
              </a:path>
            </a:pathLst>
          </a:custGeom>
          <a:ln w="101600">
            <a:gradFill>
              <a:gsLst>
                <a:gs pos="100000">
                  <a:srgbClr val="607D8B">
                    <a:alpha val="100000"/>
                  </a:srgbClr>
                </a:gs>
                <a:gs pos="50000">
                  <a:srgbClr val="607D8B">
                    <a:alpha val="0"/>
                  </a:srgbClr>
                </a:gs>
                <a:gs pos="0">
                  <a:srgbClr val="607D8B">
                    <a:alpha val="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CB58AA30-BB20-1C6F-4755-8DB671064EC3}"/>
              </a:ext>
            </a:extLst>
          </p:cNvPr>
          <p:cNvSpPr>
            <a:spLocks noGrp="1"/>
          </p:cNvSpPr>
          <p:nvPr/>
        </p:nvSpPr>
        <p:spPr>
          <a:xfrm>
            <a:off x="6873157" y="2300243"/>
            <a:ext cx="4004561" cy="1302933"/>
          </a:xfrm>
          <a:custGeom>
            <a:avLst/>
            <a:gdLst/>
            <a:ahLst/>
            <a:cxnLst/>
            <a:rect l="l" t="t" r="r" b="b"/>
            <a:pathLst>
              <a:path w="6104220" h="1986082">
                <a:moveTo>
                  <a:pt x="6104221" y="280044"/>
                </a:moveTo>
                <a:quadBezTo>
                  <a:pt x="2527002" y="-745781"/>
                  <a:pt x="0" y="1986082"/>
                </a:quadBezTo>
              </a:path>
            </a:pathLst>
          </a:custGeom>
          <a:ln w="101600">
            <a:solidFill>
              <a:srgbClr val="4A657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24D192C-F84E-8093-E10C-B10ED9FB6332}"/>
              </a:ext>
            </a:extLst>
          </p:cNvPr>
          <p:cNvSpPr>
            <a:spLocks noGrp="1"/>
          </p:cNvSpPr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fld id="{66BE055D-626C-4FC3-B4D1-83BFD1070C6E}" type="slidenum">
              <a:rPr sz="1400" spc="200">
                <a:solidFill>
                  <a:schemeClr val="accent5">
                    <a:lumMod val="75000"/>
                  </a:schemeClr>
                </a:solidFill>
              </a:rPr>
              <a:t>35</a:t>
            </a:fld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Rectangle: Rounded Corners 122">
            <a:extLst>
              <a:ext uri="{FF2B5EF4-FFF2-40B4-BE49-F238E27FC236}">
                <a16:creationId xmlns:a16="http://schemas.microsoft.com/office/drawing/2014/main" id="{9FB0C70B-EF1B-7390-FE79-0CB7D8C6D280}"/>
              </a:ext>
            </a:extLst>
          </p:cNvPr>
          <p:cNvSpPr>
            <a:spLocks noGrp="1"/>
          </p:cNvSpPr>
          <p:nvPr/>
        </p:nvSpPr>
        <p:spPr>
          <a:xfrm>
            <a:off x="1453552" y="2374209"/>
            <a:ext cx="9284896" cy="2989554"/>
          </a:xfrm>
          <a:prstGeom prst="roundRect">
            <a:avLst>
              <a:gd name="adj" fmla="val 10322"/>
            </a:avLst>
          </a:prstGeom>
          <a:solidFill>
            <a:schemeClr val="bg1"/>
          </a:solidFill>
          <a:ln>
            <a:noFill/>
          </a:ln>
          <a:effectLst>
            <a:outerShdw blurRad="1168400" dist="927100" dir="2700000" sx="90000" sy="9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2" name="圖片 12"/>
          <p:cNvPicPr>
            <a:picLocks noChangeAspect="1"/>
          </p:cNvPicPr>
          <p:nvPr/>
        </p:nvPicPr>
        <p:blipFill>
          <a:blip r:embed="rId3"/>
          <a:srcRect l="893" t="3592" r="1378" b="1976"/>
          <a:stretch>
            <a:fillRect/>
          </a:stretch>
        </p:blipFill>
        <p:spPr>
          <a:xfrm>
            <a:off x="1672437" y="2543327"/>
            <a:ext cx="8847128" cy="265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2309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>
            <a:extLst>
              <a:ext uri="{FF2B5EF4-FFF2-40B4-BE49-F238E27FC236}">
                <a16:creationId xmlns:a16="http://schemas.microsoft.com/office/drawing/2014/main" id="{2CDB4A10-0CFF-45FC-B126-A31148A687C0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14E8DB2-4C87-8B8B-BBBA-B5EFC09C0E45}"/>
              </a:ext>
            </a:extLst>
          </p:cNvPr>
          <p:cNvSpPr>
            <a:spLocks noGrp="1"/>
          </p:cNvSpPr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spc="100">
                <a:latin typeface="+mn-ea"/>
                <a:ea typeface="+mn-ea"/>
                <a:cs typeface="+mn-ea"/>
              </a:rPr>
              <a:t>GitHub</a:t>
            </a:r>
            <a:r>
              <a:rPr sz="1400" b="1" spc="150">
                <a:latin typeface="+mn-ea"/>
                <a:ea typeface="+mn-ea"/>
                <a:cs typeface="+mn-ea"/>
              </a:rPr>
              <a:t> </a:t>
            </a:r>
            <a:r>
              <a:rPr sz="3600" b="1" spc="150">
                <a:latin typeface="+mn-ea"/>
                <a:ea typeface="+mn-ea"/>
                <a:cs typeface="+mn-ea"/>
              </a:rPr>
              <a:t>開發貢獻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2CC7909-3E8F-F556-5FE1-63988AC50EB4}"/>
              </a:ext>
            </a:extLst>
          </p:cNvPr>
          <p:cNvSpPr>
            <a:spLocks noGrp="1"/>
          </p:cNvSpPr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400" spc="200">
                <a:solidFill>
                  <a:srgbClr val="7E8A90"/>
                </a:solidFill>
              </a:rPr>
              <a:t>CONTRIBUTIONS</a:t>
            </a:r>
          </a:p>
        </p:txBody>
      </p:sp>
      <p:sp>
        <p:nvSpPr>
          <p:cNvPr id="2" name="Freeform 3">
            <a:extLst>
              <a:ext uri="{FF2B5EF4-FFF2-40B4-BE49-F238E27FC236}">
                <a16:creationId xmlns:a16="http://schemas.microsoft.com/office/drawing/2014/main" id="{C1CA78C4-FA6C-7BCB-1DD5-C6863DE0E589}"/>
              </a:ext>
            </a:extLst>
          </p:cNvPr>
          <p:cNvSpPr>
            <a:spLocks noGrp="1"/>
          </p:cNvSpPr>
          <p:nvPr/>
        </p:nvSpPr>
        <p:spPr>
          <a:xfrm>
            <a:off x="2505680" y="3595253"/>
            <a:ext cx="4371971" cy="1241434"/>
          </a:xfrm>
          <a:custGeom>
            <a:avLst/>
            <a:gdLst/>
            <a:ahLst/>
            <a:cxnLst/>
            <a:rect l="l" t="t" r="r" b="b"/>
            <a:pathLst>
              <a:path w="6664269" h="1892339">
                <a:moveTo>
                  <a:pt x="0" y="1586627"/>
                </a:moveTo>
                <a:quadBezTo>
                  <a:pt x="3774874" y="2652938"/>
                  <a:pt x="6664270" y="0"/>
                </a:quadBezTo>
              </a:path>
            </a:pathLst>
          </a:custGeom>
          <a:ln w="101600">
            <a:gradFill>
              <a:gsLst>
                <a:gs pos="0">
                  <a:srgbClr val="62818F">
                    <a:alpha val="100000"/>
                  </a:srgbClr>
                </a:gs>
                <a:gs pos="50000">
                  <a:srgbClr val="597684">
                    <a:alpha val="100000"/>
                  </a:srgbClr>
                </a:gs>
                <a:gs pos="100000">
                  <a:srgbClr val="4A6572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D2BFE771-329A-7EC9-BBA8-DB6F7E9F3B77}"/>
              </a:ext>
            </a:extLst>
          </p:cNvPr>
          <p:cNvSpPr>
            <a:spLocks noGrp="1"/>
          </p:cNvSpPr>
          <p:nvPr/>
        </p:nvSpPr>
        <p:spPr>
          <a:xfrm>
            <a:off x="10875366" y="1493035"/>
            <a:ext cx="2444849" cy="1090578"/>
          </a:xfrm>
          <a:custGeom>
            <a:avLst/>
            <a:gdLst/>
            <a:ahLst/>
            <a:cxnLst/>
            <a:rect l="l" t="t" r="r" b="b"/>
            <a:pathLst>
              <a:path w="3726725" h="1662386">
                <a:moveTo>
                  <a:pt x="0" y="1513728"/>
                </a:moveTo>
                <a:quadBezTo>
                  <a:pt x="2585912" y="2159503"/>
                  <a:pt x="3726725" y="0"/>
                </a:quadBezTo>
              </a:path>
            </a:pathLst>
          </a:custGeom>
          <a:ln w="101600">
            <a:gradFill>
              <a:gsLst>
                <a:gs pos="0">
                  <a:srgbClr val="4A6572">
                    <a:alpha val="100000"/>
                  </a:srgbClr>
                </a:gs>
                <a:gs pos="50000">
                  <a:srgbClr val="4A6572">
                    <a:alpha val="0"/>
                  </a:srgbClr>
                </a:gs>
                <a:gs pos="100000">
                  <a:srgbClr val="4A6572">
                    <a:alpha val="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337DA053-7D49-DA8E-4D5F-6A3483C54303}"/>
              </a:ext>
            </a:extLst>
          </p:cNvPr>
          <p:cNvSpPr>
            <a:spLocks noGrp="1"/>
          </p:cNvSpPr>
          <p:nvPr/>
        </p:nvSpPr>
        <p:spPr>
          <a:xfrm>
            <a:off x="-2314406" y="4282622"/>
            <a:ext cx="4826491" cy="697386"/>
          </a:xfrm>
          <a:custGeom>
            <a:avLst/>
            <a:gdLst/>
            <a:ahLst/>
            <a:cxnLst/>
            <a:rect l="l" t="t" r="r" b="b"/>
            <a:pathLst>
              <a:path w="7357101" h="1063037">
                <a:moveTo>
                  <a:pt x="7357100" y="540033"/>
                </a:moveTo>
                <a:quadBezTo>
                  <a:pt x="3044193" y="-757678"/>
                  <a:pt x="0" y="1063037"/>
                </a:quadBezTo>
              </a:path>
            </a:pathLst>
          </a:custGeom>
          <a:ln w="101600">
            <a:gradFill>
              <a:gsLst>
                <a:gs pos="100000">
                  <a:srgbClr val="607D8B">
                    <a:alpha val="100000"/>
                  </a:srgbClr>
                </a:gs>
                <a:gs pos="50000">
                  <a:srgbClr val="607D8B">
                    <a:alpha val="0"/>
                  </a:srgbClr>
                </a:gs>
                <a:gs pos="0">
                  <a:srgbClr val="607D8B">
                    <a:alpha val="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F43C4AA1-3C65-518A-9C47-482E8D23697F}"/>
              </a:ext>
            </a:extLst>
          </p:cNvPr>
          <p:cNvSpPr>
            <a:spLocks noGrp="1"/>
          </p:cNvSpPr>
          <p:nvPr/>
        </p:nvSpPr>
        <p:spPr>
          <a:xfrm>
            <a:off x="6873157" y="2300243"/>
            <a:ext cx="4004561" cy="1302933"/>
          </a:xfrm>
          <a:custGeom>
            <a:avLst/>
            <a:gdLst/>
            <a:ahLst/>
            <a:cxnLst/>
            <a:rect l="l" t="t" r="r" b="b"/>
            <a:pathLst>
              <a:path w="6104220" h="1986082">
                <a:moveTo>
                  <a:pt x="6104221" y="280044"/>
                </a:moveTo>
                <a:quadBezTo>
                  <a:pt x="2527002" y="-745781"/>
                  <a:pt x="0" y="1986082"/>
                </a:quadBezTo>
              </a:path>
            </a:pathLst>
          </a:custGeom>
          <a:ln w="101600">
            <a:solidFill>
              <a:srgbClr val="4A657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8A0E496-C7EA-6CAF-16D0-77844ED011AC}"/>
              </a:ext>
            </a:extLst>
          </p:cNvPr>
          <p:cNvSpPr>
            <a:spLocks noGrp="1"/>
          </p:cNvSpPr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fld id="{66BE055D-626C-4FC3-B4D1-83BFD1070C6E}" type="slidenum">
              <a:rPr sz="1400" spc="200">
                <a:solidFill>
                  <a:schemeClr val="accent5">
                    <a:lumMod val="75000"/>
                  </a:schemeClr>
                </a:solidFill>
              </a:rPr>
              <a:t>36</a:t>
            </a:fld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Rectangle: Rounded Corners 122">
            <a:extLst>
              <a:ext uri="{FF2B5EF4-FFF2-40B4-BE49-F238E27FC236}">
                <a16:creationId xmlns:a16="http://schemas.microsoft.com/office/drawing/2014/main" id="{407FF89A-8B18-439D-27E6-9AFC51F83872}"/>
              </a:ext>
            </a:extLst>
          </p:cNvPr>
          <p:cNvSpPr>
            <a:spLocks noGrp="1"/>
          </p:cNvSpPr>
          <p:nvPr/>
        </p:nvSpPr>
        <p:spPr>
          <a:xfrm>
            <a:off x="1735685" y="1757193"/>
            <a:ext cx="4216564" cy="1948873"/>
          </a:xfrm>
          <a:prstGeom prst="roundRect">
            <a:avLst>
              <a:gd name="adj" fmla="val 10322"/>
            </a:avLst>
          </a:prstGeom>
          <a:solidFill>
            <a:schemeClr val="bg1"/>
          </a:solidFill>
          <a:ln>
            <a:noFill/>
          </a:ln>
          <a:effectLst>
            <a:outerShdw blurRad="1168400" dist="927100" dir="2700000" sx="90000" sy="9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3" name="圖片 11"/>
          <p:cNvPicPr>
            <a:picLocks noChangeAspect="1"/>
          </p:cNvPicPr>
          <p:nvPr/>
        </p:nvPicPr>
        <p:blipFill>
          <a:blip r:embed="rId3"/>
          <a:srcRect l="1091" t="2575" r="51589" b="55251"/>
          <a:stretch>
            <a:fillRect/>
          </a:stretch>
        </p:blipFill>
        <p:spPr>
          <a:xfrm>
            <a:off x="1938121" y="1852402"/>
            <a:ext cx="3860028" cy="1738790"/>
          </a:xfrm>
          <a:prstGeom prst="rect">
            <a:avLst/>
          </a:prstGeom>
        </p:spPr>
      </p:pic>
      <p:sp>
        <p:nvSpPr>
          <p:cNvPr id="25" name="Rectangle: Rounded Corners 122">
            <a:extLst>
              <a:ext uri="{FF2B5EF4-FFF2-40B4-BE49-F238E27FC236}">
                <a16:creationId xmlns:a16="http://schemas.microsoft.com/office/drawing/2014/main" id="{D3E03073-DD43-2299-0F0A-E215FC821FB7}"/>
              </a:ext>
            </a:extLst>
          </p:cNvPr>
          <p:cNvSpPr>
            <a:spLocks noGrp="1"/>
          </p:cNvSpPr>
          <p:nvPr/>
        </p:nvSpPr>
        <p:spPr>
          <a:xfrm>
            <a:off x="6239751" y="1757193"/>
            <a:ext cx="4216564" cy="1948873"/>
          </a:xfrm>
          <a:prstGeom prst="roundRect">
            <a:avLst>
              <a:gd name="adj" fmla="val 10322"/>
            </a:avLst>
          </a:prstGeom>
          <a:solidFill>
            <a:schemeClr val="bg1"/>
          </a:solidFill>
          <a:ln>
            <a:noFill/>
          </a:ln>
          <a:effectLst>
            <a:outerShdw blurRad="1168400" dist="927100" dir="2700000" sx="90000" sy="9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5" name="圖片 25"/>
          <p:cNvPicPr>
            <a:picLocks noChangeAspect="1"/>
          </p:cNvPicPr>
          <p:nvPr/>
        </p:nvPicPr>
        <p:blipFill>
          <a:blip r:embed="rId3"/>
          <a:srcRect l="51152" t="2575" r="1528" b="55251"/>
          <a:stretch>
            <a:fillRect/>
          </a:stretch>
        </p:blipFill>
        <p:spPr>
          <a:xfrm>
            <a:off x="6393026" y="1872066"/>
            <a:ext cx="3860028" cy="1738790"/>
          </a:xfrm>
          <a:prstGeom prst="rect">
            <a:avLst/>
          </a:prstGeom>
        </p:spPr>
      </p:pic>
      <p:sp>
        <p:nvSpPr>
          <p:cNvPr id="27" name="Rectangle: Rounded Corners 122">
            <a:extLst>
              <a:ext uri="{FF2B5EF4-FFF2-40B4-BE49-F238E27FC236}">
                <a16:creationId xmlns:a16="http://schemas.microsoft.com/office/drawing/2014/main" id="{5BA9A2DD-CE0F-2480-1763-D1E21020C2A1}"/>
              </a:ext>
            </a:extLst>
          </p:cNvPr>
          <p:cNvSpPr>
            <a:spLocks noGrp="1"/>
          </p:cNvSpPr>
          <p:nvPr/>
        </p:nvSpPr>
        <p:spPr>
          <a:xfrm>
            <a:off x="1735685" y="3962527"/>
            <a:ext cx="4216564" cy="1948873"/>
          </a:xfrm>
          <a:prstGeom prst="roundRect">
            <a:avLst>
              <a:gd name="adj" fmla="val 10322"/>
            </a:avLst>
          </a:prstGeom>
          <a:solidFill>
            <a:schemeClr val="bg1"/>
          </a:solidFill>
          <a:ln>
            <a:noFill/>
          </a:ln>
          <a:effectLst>
            <a:outerShdw blurRad="1168400" dist="927100" dir="2700000" sx="90000" sy="9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7" name="圖片 27"/>
          <p:cNvPicPr>
            <a:picLocks noChangeAspect="1"/>
          </p:cNvPicPr>
          <p:nvPr/>
        </p:nvPicPr>
        <p:blipFill>
          <a:blip r:embed="rId3"/>
          <a:srcRect l="1091" t="55278" r="51589" b="2548"/>
          <a:stretch>
            <a:fillRect/>
          </a:stretch>
        </p:blipFill>
        <p:spPr>
          <a:xfrm>
            <a:off x="1938121" y="4106897"/>
            <a:ext cx="3860028" cy="1738790"/>
          </a:xfrm>
          <a:prstGeom prst="rect">
            <a:avLst/>
          </a:prstGeom>
        </p:spPr>
      </p:pic>
      <p:sp>
        <p:nvSpPr>
          <p:cNvPr id="29" name="Rectangle: Rounded Corners 122">
            <a:extLst>
              <a:ext uri="{FF2B5EF4-FFF2-40B4-BE49-F238E27FC236}">
                <a16:creationId xmlns:a16="http://schemas.microsoft.com/office/drawing/2014/main" id="{E0F16239-B956-D0E2-7AAA-55E1C5190CDF}"/>
              </a:ext>
            </a:extLst>
          </p:cNvPr>
          <p:cNvSpPr>
            <a:spLocks noGrp="1"/>
          </p:cNvSpPr>
          <p:nvPr/>
        </p:nvSpPr>
        <p:spPr>
          <a:xfrm>
            <a:off x="6239751" y="3962527"/>
            <a:ext cx="4216564" cy="1948873"/>
          </a:xfrm>
          <a:prstGeom prst="roundRect">
            <a:avLst>
              <a:gd name="adj" fmla="val 10322"/>
            </a:avLst>
          </a:prstGeom>
          <a:solidFill>
            <a:schemeClr val="bg1"/>
          </a:solidFill>
          <a:ln>
            <a:noFill/>
          </a:ln>
          <a:effectLst>
            <a:outerShdw blurRad="1168400" dist="927100" dir="2700000" sx="90000" sy="9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9" name="圖片 29"/>
          <p:cNvPicPr>
            <a:picLocks noChangeAspect="1"/>
          </p:cNvPicPr>
          <p:nvPr/>
        </p:nvPicPr>
        <p:blipFill>
          <a:blip r:embed="rId3"/>
          <a:srcRect l="51143" t="53729" r="1537" b="4097"/>
          <a:stretch>
            <a:fillRect/>
          </a:stretch>
        </p:blipFill>
        <p:spPr>
          <a:xfrm>
            <a:off x="6412691" y="4047904"/>
            <a:ext cx="3860028" cy="173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3527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8">
            <a:extLst>
              <a:ext uri="{FF2B5EF4-FFF2-40B4-BE49-F238E27FC236}">
                <a16:creationId xmlns:a16="http://schemas.microsoft.com/office/drawing/2014/main" id="{663D3380-3B68-2991-FECC-EDCFEAC9FBD4}"/>
              </a:ext>
            </a:extLst>
          </p:cNvPr>
          <p:cNvSpPr>
            <a:spLocks noGrp="1"/>
          </p:cNvSpPr>
          <p:nvPr/>
        </p:nvSpPr>
        <p:spPr>
          <a:xfrm>
            <a:off x="3134678" y="0"/>
            <a:ext cx="5922645" cy="3200400"/>
          </a:xfrm>
          <a:prstGeom prst="rect">
            <a:avLst/>
          </a:prstGeom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 kern="0">
              <a:solidFill>
                <a:prstClr val="white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6" name="Oval 11">
            <a:extLst>
              <a:ext uri="{FF2B5EF4-FFF2-40B4-BE49-F238E27FC236}">
                <a16:creationId xmlns:a16="http://schemas.microsoft.com/office/drawing/2014/main" id="{963AF71F-6ED2-7CCD-1715-A85D69909E94}"/>
              </a:ext>
            </a:extLst>
          </p:cNvPr>
          <p:cNvSpPr>
            <a:spLocks noGrp="1"/>
          </p:cNvSpPr>
          <p:nvPr/>
        </p:nvSpPr>
        <p:spPr>
          <a:xfrm>
            <a:off x="-1047666" y="-925805"/>
            <a:ext cx="2493008" cy="2493006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mpd="sng">
            <a:noFill/>
            <a:prstDash val="solid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anchor="ctr"/>
          <a:lstStyle/>
          <a:p>
            <a:pPr algn="ctr">
              <a:buNone/>
            </a:pPr>
            <a:endParaRPr kern="0">
              <a:solidFill>
                <a:prstClr val="white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8" name="Oval 13">
            <a:extLst>
              <a:ext uri="{FF2B5EF4-FFF2-40B4-BE49-F238E27FC236}">
                <a16:creationId xmlns:a16="http://schemas.microsoft.com/office/drawing/2014/main" id="{633360C0-B41F-147E-9EE9-5A6EF7537B6D}"/>
              </a:ext>
            </a:extLst>
          </p:cNvPr>
          <p:cNvSpPr>
            <a:spLocks noGrp="1"/>
          </p:cNvSpPr>
          <p:nvPr/>
        </p:nvSpPr>
        <p:spPr>
          <a:xfrm>
            <a:off x="6698064" y="-2017352"/>
            <a:ext cx="3278956" cy="3278954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mpd="sng">
            <a:noFill/>
            <a:prstDash val="solid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anchor="ctr"/>
          <a:lstStyle/>
          <a:p>
            <a:pPr algn="ctr">
              <a:buNone/>
            </a:pPr>
            <a:endParaRPr kern="0">
              <a:solidFill>
                <a:prstClr val="white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9" name="Oval 14">
            <a:extLst>
              <a:ext uri="{FF2B5EF4-FFF2-40B4-BE49-F238E27FC236}">
                <a16:creationId xmlns:a16="http://schemas.microsoft.com/office/drawing/2014/main" id="{05ABAA79-9A86-56CB-C5FF-5BC890095B2D}"/>
              </a:ext>
            </a:extLst>
          </p:cNvPr>
          <p:cNvSpPr>
            <a:spLocks noGrp="1"/>
          </p:cNvSpPr>
          <p:nvPr/>
        </p:nvSpPr>
        <p:spPr>
          <a:xfrm>
            <a:off x="10058483" y="3728128"/>
            <a:ext cx="4871045" cy="4871042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mpd="sng">
            <a:noFill/>
            <a:prstDash val="solid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anchor="ctr"/>
          <a:lstStyle/>
          <a:p>
            <a:pPr algn="ctr">
              <a:buNone/>
            </a:pPr>
            <a:endParaRPr kern="0">
              <a:solidFill>
                <a:prstClr val="white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8F5C2317-19C2-95FB-07C2-014365E5BE50}"/>
              </a:ext>
            </a:extLst>
          </p:cNvPr>
          <p:cNvSpPr>
            <a:spLocks noGrp="1"/>
          </p:cNvSpPr>
          <p:nvPr/>
        </p:nvSpPr>
        <p:spPr>
          <a:xfrm>
            <a:off x="4233954" y="2490014"/>
            <a:ext cx="3724096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6600" b="1" spc="3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感謝聆聽</a:t>
            </a:r>
            <a:endParaRPr sz="6600" b="1" i="0" u="none" kern="0" cap="none" spc="300" baseline="0">
              <a:ln>
                <a:noFill/>
              </a:ln>
              <a:solidFill>
                <a:schemeClr val="tx2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8166AC6F-9EF8-C51B-5E87-353065D072A4}"/>
              </a:ext>
            </a:extLst>
          </p:cNvPr>
          <p:cNvSpPr>
            <a:spLocks noGrp="1"/>
          </p:cNvSpPr>
          <p:nvPr/>
        </p:nvSpPr>
        <p:spPr>
          <a:xfrm>
            <a:off x="4522492" y="3598546"/>
            <a:ext cx="314701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4400" b="1" spc="150">
                <a:solidFill>
                  <a:schemeClr val="accent1"/>
                </a:solidFill>
              </a:rPr>
              <a:t>Thank You</a:t>
            </a:r>
          </a:p>
        </p:txBody>
      </p:sp>
      <p:sp useBgFill="1">
        <p:nvSpPr>
          <p:cNvPr id="5" name="Rectangle 10">
            <a:extLst>
              <a:ext uri="{FF2B5EF4-FFF2-40B4-BE49-F238E27FC236}">
                <a16:creationId xmlns:a16="http://schemas.microsoft.com/office/drawing/2014/main" id="{937AFA16-0C0B-EA77-3D5B-5E45DA6F1692}"/>
              </a:ext>
            </a:extLst>
          </p:cNvPr>
          <p:cNvSpPr>
            <a:spLocks noGrp="1"/>
          </p:cNvSpPr>
          <p:nvPr/>
        </p:nvSpPr>
        <p:spPr>
          <a:xfrm>
            <a:off x="3034604" y="3579046"/>
            <a:ext cx="6240780" cy="3278954"/>
          </a:xfrm>
          <a:prstGeom prst="rect">
            <a:avLst/>
          </a:prstGeom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 kern="0">
              <a:solidFill>
                <a:prstClr val="white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7" name="Oval 12">
            <a:extLst>
              <a:ext uri="{FF2B5EF4-FFF2-40B4-BE49-F238E27FC236}">
                <a16:creationId xmlns:a16="http://schemas.microsoft.com/office/drawing/2014/main" id="{E94B765B-7FA4-1C5D-CF06-9B1FB4BA442B}"/>
              </a:ext>
            </a:extLst>
          </p:cNvPr>
          <p:cNvSpPr>
            <a:spLocks noGrp="1"/>
          </p:cNvSpPr>
          <p:nvPr/>
        </p:nvSpPr>
        <p:spPr>
          <a:xfrm>
            <a:off x="-1523915" y="5036845"/>
            <a:ext cx="3352716" cy="3352713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mpd="sng">
            <a:noFill/>
            <a:prstDash val="solid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anchor="ctr"/>
          <a:lstStyle/>
          <a:p>
            <a:pPr algn="ctr">
              <a:buNone/>
            </a:pPr>
            <a:endParaRPr kern="0">
              <a:solidFill>
                <a:prstClr val="white"/>
              </a:solidFill>
              <a:latin typeface="Manrope"/>
              <a:ea typeface="Manrope"/>
              <a:cs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27167844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C322E33-72CD-7340-4AFD-07A4DBFBA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>
            <a:extLst>
              <a:ext uri="{FF2B5EF4-FFF2-40B4-BE49-F238E27FC236}">
                <a16:creationId xmlns:a16="http://schemas.microsoft.com/office/drawing/2014/main" id="{B72C542B-D861-597D-0763-5D1A7C6A8844}"/>
              </a:ext>
            </a:extLst>
          </p:cNvPr>
          <p:cNvSpPr>
            <a:spLocks noGrp="1"/>
          </p:cNvSpPr>
          <p:nvPr/>
        </p:nv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03085FC-DBD3-6AA4-3D9C-D3D4F7838442}"/>
              </a:ext>
            </a:extLst>
          </p:cNvPr>
          <p:cNvSpPr>
            <a:spLocks noGrp="1"/>
          </p:cNvSpPr>
          <p:nvPr/>
        </p:nvSpPr>
        <p:spPr>
          <a:xfrm>
            <a:off x="762000" y="523875"/>
            <a:ext cx="10477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1F2A30"/>
                </a:solidFill>
                <a:latin typeface="Noto Sans TC"/>
                <a:ea typeface="Noto Sans TC"/>
                <a:cs typeface="Noto Sans TC"/>
              </a:defRPr>
            </a:pPr>
            <a:r>
              <a:rPr lang="en-US" altLang="zh-TW" sz="3300" b="1" spc="150" dirty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AI</a:t>
            </a:r>
            <a:r>
              <a:rPr lang="zh-TW" altLang="en-US" sz="3300" b="1" spc="150" dirty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功能整合</a:t>
            </a:r>
            <a:r>
              <a:rPr lang="en-US" altLang="zh-TW" sz="3300" b="1" spc="150" dirty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(</a:t>
            </a:r>
            <a:r>
              <a:rPr lang="zh-TW" altLang="en-US" sz="3300" b="1" spc="150" dirty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草</a:t>
            </a:r>
            <a:r>
              <a:rPr lang="en-US" altLang="zh-TW" sz="3300" b="1" spc="150" dirty="0">
                <a:solidFill>
                  <a:srgbClr val="1F2A30"/>
                </a:solidFill>
                <a:latin typeface="Noto Sans TC"/>
                <a:ea typeface="Noto Sans TC"/>
                <a:cs typeface="Noto Sans TC"/>
              </a:rPr>
              <a:t>)</a:t>
            </a:r>
            <a:endParaRPr sz="3300" b="1" spc="150" dirty="0">
              <a:solidFill>
                <a:srgbClr val="1F2A30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FB12E4A-C579-D9AA-93A7-9BBDEFD499D0}"/>
              </a:ext>
            </a:extLst>
          </p:cNvPr>
          <p:cNvSpPr>
            <a:spLocks noGrp="1"/>
          </p:cNvSpPr>
          <p:nvPr/>
        </p:nvSpPr>
        <p:spPr>
          <a:xfrm>
            <a:off x="10829925" y="631507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0">
                <a:solidFill>
                  <a:srgbClr val="7E8A9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 spc="200">
                <a:solidFill>
                  <a:srgbClr val="7E8A90"/>
                </a:solidFill>
                <a:latin typeface="Noto Sans TC"/>
                <a:ea typeface="Noto Sans TC"/>
                <a:cs typeface="Noto Sans TC"/>
              </a:rPr>
              <a:t>7</a:t>
            </a:r>
            <a:endParaRPr sz="1400" spc="20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C0E5E03-245C-ACDF-DDE0-B48D6F9FC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096" y="2977824"/>
            <a:ext cx="9893808" cy="137802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23D3C4B-AF9E-3B07-9E86-3B8F945EEC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466" t="-1" r="11139" b="44218"/>
          <a:stretch>
            <a:fillRect/>
          </a:stretch>
        </p:blipFill>
        <p:spPr>
          <a:xfrm>
            <a:off x="1863484" y="4558840"/>
            <a:ext cx="3272511" cy="1310068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B95E6DA1-72EE-F710-1529-CC30EDED55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14" y="1506109"/>
            <a:ext cx="1274171" cy="1488817"/>
          </a:xfrm>
          <a:prstGeom prst="rect">
            <a:avLst/>
          </a:prstGeom>
        </p:spPr>
      </p:pic>
      <p:pic>
        <p:nvPicPr>
          <p:cNvPr id="37" name="圖片 36">
            <a:extLst>
              <a:ext uri="{FF2B5EF4-FFF2-40B4-BE49-F238E27FC236}">
                <a16:creationId xmlns:a16="http://schemas.microsoft.com/office/drawing/2014/main" id="{DB604437-A0E2-30EC-33F9-F843198E6D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8358" y="2558491"/>
            <a:ext cx="3266012" cy="1741018"/>
          </a:xfrm>
          <a:prstGeom prst="rect">
            <a:avLst/>
          </a:prstGeom>
        </p:spPr>
      </p:pic>
      <p:pic>
        <p:nvPicPr>
          <p:cNvPr id="39" name="圖片 38">
            <a:extLst>
              <a:ext uri="{FF2B5EF4-FFF2-40B4-BE49-F238E27FC236}">
                <a16:creationId xmlns:a16="http://schemas.microsoft.com/office/drawing/2014/main" id="{0A1279D1-A8BA-EFF2-0BE0-B5458DB932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3405" y="1466850"/>
            <a:ext cx="2701200" cy="1491636"/>
          </a:xfrm>
          <a:prstGeom prst="rect">
            <a:avLst/>
          </a:prstGeom>
        </p:spPr>
      </p:pic>
      <p:pic>
        <p:nvPicPr>
          <p:cNvPr id="41" name="圖片 40">
            <a:extLst>
              <a:ext uri="{FF2B5EF4-FFF2-40B4-BE49-F238E27FC236}">
                <a16:creationId xmlns:a16="http://schemas.microsoft.com/office/drawing/2014/main" id="{DF40F818-DB02-E6EB-AFDA-0807361C32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7151" y="4412046"/>
            <a:ext cx="2015844" cy="2207829"/>
          </a:xfrm>
          <a:prstGeom prst="rect">
            <a:avLst/>
          </a:prstGeom>
        </p:spPr>
      </p:pic>
      <p:pic>
        <p:nvPicPr>
          <p:cNvPr id="45" name="圖片 44">
            <a:extLst>
              <a:ext uri="{FF2B5EF4-FFF2-40B4-BE49-F238E27FC236}">
                <a16:creationId xmlns:a16="http://schemas.microsoft.com/office/drawing/2014/main" id="{D4A10C7A-4F27-C3FB-D4C5-02776F2C8E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7169" y="1317482"/>
            <a:ext cx="1783591" cy="1686465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FA0FA64E-87E3-5BF9-1F95-928827DAC2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8736" y="4760568"/>
            <a:ext cx="2720928" cy="122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852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NTUB Project">
      <a:dk1>
        <a:srgbClr val="1F2A30"/>
      </a:dk1>
      <a:lt1>
        <a:srgbClr val="FFFFFF"/>
      </a:lt1>
      <a:dk2>
        <a:srgbClr val="3F5560"/>
      </a:dk2>
      <a:lt2>
        <a:srgbClr val="E7ECEE"/>
      </a:lt2>
      <a:accent1>
        <a:srgbClr val="607D8B"/>
      </a:accent1>
      <a:accent2>
        <a:srgbClr val="8AA1AC"/>
      </a:accent2>
      <a:accent3>
        <a:srgbClr val="CFD9DD"/>
      </a:accent3>
      <a:accent4>
        <a:srgbClr val="B48A4A"/>
      </a:accent4>
      <a:accent5>
        <a:srgbClr val="7E8A90"/>
      </a:accent5>
      <a:accent6>
        <a:srgbClr val="46555C"/>
      </a:accent6>
      <a:hlink>
        <a:srgbClr val="3F7A92"/>
      </a:hlink>
      <a:folHlink>
        <a:srgbClr val="6E5A8A"/>
      </a:folHlink>
    </a:clrScheme>
    <a:fontScheme name="自訂 15">
      <a:majorFont>
        <a:latin typeface="Manrope"/>
        <a:ea typeface="Noto Sans TC"/>
        <a:cs typeface=""/>
      </a:majorFont>
      <a:minorFont>
        <a:latin typeface="Manrope"/>
        <a:ea typeface="Noto Sans TC"/>
        <a:cs typeface=""/>
      </a:minorFont>
    </a:fontScheme>
    <a:fmtScheme name="NTUB Projec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NTUB Project">
      <a:dk1>
        <a:srgbClr val="1F2A30"/>
      </a:dk1>
      <a:lt1>
        <a:srgbClr val="FFFFFF"/>
      </a:lt1>
      <a:dk2>
        <a:srgbClr val="3F5560"/>
      </a:dk2>
      <a:lt2>
        <a:srgbClr val="E7ECEE"/>
      </a:lt2>
      <a:accent1>
        <a:srgbClr val="607D8B"/>
      </a:accent1>
      <a:accent2>
        <a:srgbClr val="8AA1AC"/>
      </a:accent2>
      <a:accent3>
        <a:srgbClr val="CFD9DD"/>
      </a:accent3>
      <a:accent4>
        <a:srgbClr val="B48A4A"/>
      </a:accent4>
      <a:accent5>
        <a:srgbClr val="7E8A90"/>
      </a:accent5>
      <a:accent6>
        <a:srgbClr val="46555C"/>
      </a:accent6>
      <a:hlink>
        <a:srgbClr val="3F7A92"/>
      </a:hlink>
      <a:folHlink>
        <a:srgbClr val="6E5A8A"/>
      </a:folHlink>
    </a:clrScheme>
    <a:fontScheme name="自訂 15">
      <a:majorFont>
        <a:latin typeface="Manrope"/>
        <a:ea typeface="Noto Sans TC"/>
        <a:cs typeface=""/>
      </a:majorFont>
      <a:minorFont>
        <a:latin typeface="Manrope"/>
        <a:ea typeface="Noto Sans TC"/>
        <a:cs typeface=""/>
      </a:minorFont>
    </a:fontScheme>
    <a:fmtScheme name="NTUB Projec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4196</Words>
  <Application>Microsoft Office PowerPoint</Application>
  <DocSecurity>0</DocSecurity>
  <PresentationFormat>寬螢幕</PresentationFormat>
  <Paragraphs>908</Paragraphs>
  <Slides>38</Slides>
  <Notes>38</Notes>
  <HiddenSlides>1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38</vt:i4>
      </vt:variant>
    </vt:vector>
  </HeadingPairs>
  <TitlesOfParts>
    <vt:vector size="44" baseType="lpstr">
      <vt:lpstr>Manrope</vt:lpstr>
      <vt:lpstr>Noto Sans TC</vt:lpstr>
      <vt:lpstr>Noto Sans TC Medium</vt:lpstr>
      <vt:lpstr>Microsoft JhengHei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11246074_江芸萱</cp:lastModifiedBy>
  <cp:revision>6</cp:revision>
  <dcterms:created xsi:type="dcterms:W3CDTF">2026-10-07T15:43:52Z</dcterms:created>
  <dcterms:modified xsi:type="dcterms:W3CDTF">2026-10-07T17:41:39Z</dcterms:modified>
</cp:coreProperties>
</file>