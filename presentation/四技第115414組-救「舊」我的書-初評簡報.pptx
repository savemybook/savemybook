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64" r:id="rId2"/>
    <p:sldId id="268" r:id="rId3"/>
    <p:sldId id="269" r:id="rId4"/>
    <p:sldId id="259" r:id="rId5"/>
    <p:sldId id="275" r:id="rId6"/>
    <p:sldId id="278" r:id="rId7"/>
    <p:sldId id="279" r:id="rId8"/>
    <p:sldId id="280" r:id="rId9"/>
    <p:sldId id="281" r:id="rId10"/>
    <p:sldId id="270" r:id="rId11"/>
    <p:sldId id="288" r:id="rId12"/>
    <p:sldId id="292" r:id="rId13"/>
    <p:sldId id="289" r:id="rId14"/>
    <p:sldId id="290" r:id="rId15"/>
    <p:sldId id="271" r:id="rId16"/>
    <p:sldId id="291" r:id="rId17"/>
    <p:sldId id="272" r:id="rId18"/>
    <p:sldId id="285" r:id="rId19"/>
    <p:sldId id="273" r:id="rId20"/>
    <p:sldId id="293" r:id="rId21"/>
    <p:sldId id="283" r:id="rId22"/>
    <p:sldId id="274" r:id="rId23"/>
    <p:sldId id="287" r:id="rId24"/>
    <p:sldId id="260" r:id="rId25"/>
    <p:sldId id="276" r:id="rId26"/>
    <p:sldId id="282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268"/>
          </p14:sldIdLst>
        </p14:section>
        <p14:section name="PART 01" id="{48535043-E1AB-450B-AC79-1E981107FA1B}">
          <p14:sldIdLst>
            <p14:sldId id="269"/>
            <p14:sldId id="259"/>
            <p14:sldId id="275"/>
            <p14:sldId id="278"/>
            <p14:sldId id="279"/>
            <p14:sldId id="280"/>
            <p14:sldId id="281"/>
          </p14:sldIdLst>
        </p14:section>
        <p14:section name="PART 02" id="{648C1DE4-AEF1-4B08-893E-77229EBA6A68}">
          <p14:sldIdLst>
            <p14:sldId id="270"/>
            <p14:sldId id="288"/>
            <p14:sldId id="292"/>
            <p14:sldId id="289"/>
            <p14:sldId id="290"/>
          </p14:sldIdLst>
        </p14:section>
        <p14:section name="PART 03" id="{61FD4BCB-CB30-4051-8730-F97053A269F8}">
          <p14:sldIdLst>
            <p14:sldId id="271"/>
            <p14:sldId id="291"/>
          </p14:sldIdLst>
        </p14:section>
        <p14:section name="PART 04" id="{556472CD-A55E-43C6-A72A-503EBF591716}">
          <p14:sldIdLst>
            <p14:sldId id="272"/>
            <p14:sldId id="285"/>
          </p14:sldIdLst>
        </p14:section>
        <p14:section name="PART 05" id="{19A67D96-CFEF-4872-93BB-B0FBB1496B5D}">
          <p14:sldIdLst>
            <p14:sldId id="273"/>
            <p14:sldId id="293"/>
            <p14:sldId id="283"/>
          </p14:sldIdLst>
        </p14:section>
        <p14:section name="PART 06" id="{EF70FA29-C9CF-4D10-938F-1A4E2BB670A7}">
          <p14:sldIdLst>
            <p14:sldId id="274"/>
            <p14:sldId id="287"/>
          </p14:sldIdLst>
        </p14:section>
        <p14:section name="封底" id="{B605022F-1F1E-49E0-BEB5-F57E3D39B5C9}">
          <p14:sldIdLst>
            <p14:sldId id="260"/>
            <p14:sldId id="276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8A90"/>
    <a:srgbClr val="727E84"/>
    <a:srgbClr val="F8FAFB"/>
    <a:srgbClr val="607D8B"/>
    <a:srgbClr val="8AA1AC"/>
    <a:srgbClr val="E7ECEE"/>
    <a:srgbClr val="D5DEE2"/>
    <a:srgbClr val="768F9B"/>
    <a:srgbClr val="7C94A0"/>
    <a:srgbClr val="F1F5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5" autoAdjust="0"/>
    <p:restoredTop sz="93063" autoAdjust="0"/>
  </p:normalViewPr>
  <p:slideViewPr>
    <p:cSldViewPr snapToGrid="0">
      <p:cViewPr varScale="1">
        <p:scale>
          <a:sx n="76" d="100"/>
          <a:sy n="76" d="100"/>
        </p:scale>
        <p:origin x="9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4853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22</a:t>
            </a:r>
            <a:r>
              <a:rPr lang="zh-TW" altLang="en-US" dirty="0"/>
              <a:t>、</a:t>
            </a:r>
            <a:r>
              <a:rPr lang="en-US" altLang="zh-TW" dirty="0"/>
              <a:t>39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大學生每學期需購買大量昂貴教科書，學期結束後書籍往往閒置，造成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資源浪費與空間佔用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。本系統聚焦三大現況痛點：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BB1EC-B44B-F9A5-FA4A-515F12AC4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B9CB73A-E97C-1BC9-AB5C-F1DA6E93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B0750A-E389-2E10-AFAF-4EE043716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FC6DD9-3B43-3806-3639-A21421A5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35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E52B-036D-05EC-B755-BD218FEB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B341CD-AB6F-16B4-8AD4-4CE3FCD25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0B24DE-4938-88DB-BAF2-DD7FF33CA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191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1BC1E-CB51-4030-D511-6AB17C210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42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CB65-F3BD-009D-6D7B-2A94CB51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461B15D-5011-B4F5-5DFA-5A567D98B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2B6E85-C760-9BBA-F553-752E28FA3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192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869AFE-36B9-3517-04E1-051EEFCC6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53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B3E-50AC-720C-F34A-CBB3A38CD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B73099-512F-C90D-ECFB-41511B082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D66CCA-B3FD-FF9D-20F3-E0ED9D054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262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EACB0A-7A16-96B9-6BC9-13BC993D0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1455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4C23-41D3-D20C-9CA2-B8CC6A6F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9A6FC1-8BD0-EC7F-241D-044315652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FFE1E0-BA41-738A-1973-8386EC334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187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非同步交易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賣家隨時將書投入智慧書櫃，買家於空檔時段取書；雙方完全不必碰面，亦無需協調時間。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流程自動化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透過 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ISBN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掃描、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 Code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取書、自動推播通知等技術，把繁瑣的二手交易步驟壓縮到最少。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金流與書況託管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平台代收金流並託管於開櫃驗收前；強制拍照建檔，把書況糾紛由「主觀爭議」轉為「客觀比對」。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3895D-E203-F2E3-83B8-509A502AE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920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C682F-C8C5-ADE2-9BBA-205A9D98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E3BD60-2A57-B6CB-DE50-5F342851A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71326A1-A369-D7D5-1FC8-9C417A9D7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309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8F33ED-B630-BF0F-0BBA-CFF7BBB7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17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27C30-73D8-4BF3-9439-33324EAA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76545-715E-AC5F-052D-050712417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E915CA7-0915-A6E7-2738-07BE72D46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203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F21F2C-17AD-AE15-8199-38F19D959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813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92F7-E2AB-B7AC-3AB4-23D43AFE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2B76E4-3915-E9BA-049F-936A2221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DF6BF1-E435-EC2A-B2EA-D6420002E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EA2B0A-BBF4-338C-734C-D2BB8C0DD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5161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908B-93C2-73B3-81A6-B3E89E38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F4F8370-8290-B96C-0B81-55BDD47E0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DFF24-53B6-9E52-6E60-B8030C32F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66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E069BC-ACAF-8E72-D5A5-497F1002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37478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673C-1727-A580-BEE3-3893E3CA0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4CEEC5-88BB-587C-0F6A-A6DEE0A1B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E00FF5-B7C9-2012-9BAA-7EB7D883B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4D3C0-0AF5-4504-BF19-A0F5F5CAE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692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4A1C-5AFC-7067-1940-7E022718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FCD3B3-2739-3263-B7E5-9D767084A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191FDFB-5EBE-4A22-3A59-CB322691B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為解決二手書最常見的「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書況不符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」問題， 系統設計三道防線，將糾紛從「主觀爭議」轉為「客觀比對」，確保交易公平。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025BAF-B33C-456F-5C11-05EC96545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0591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B00C5-5522-78F3-510B-E527EB39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AE7C4D-07E7-461F-17FD-E858E02B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7752C6-2050-B2A1-4AB6-3A2BF1EF2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59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15B20E-657A-5F7B-1942-9A9D34B77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76644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54829-20CA-C597-B2EE-D598ED50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0AFF220-B886-580D-9F7D-AE4B60FD8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9A05FF4-C06A-1733-6632-4C8A05D5B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en-US" altLang="zh-TW" dirty="0"/>
              <a:t>3D</a:t>
            </a:r>
            <a:r>
              <a:rPr lang="zh-TW" altLang="en-US" dirty="0"/>
              <a:t>模型</a:t>
            </a:r>
            <a:r>
              <a:rPr lang="en-US" altLang="zh-TW" dirty="0"/>
              <a:t>11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29F64B-AF10-8F19-E93F-886C8BBAB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8701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46EE-9A59-62AD-DE6B-96AE1256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6E4D06E-B9F1-5EE4-8A83-BF4579CB5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D3CFF70-41E0-AB4A-FBB3-E377DE75C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381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系統將朝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技術深化、場域擴張、商業化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三個方向持續推進。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1E37A9-BFCB-C791-E40B-5A695F749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0357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參考：動態排版</a:t>
            </a:r>
            <a:r>
              <a:rPr lang="en-US" altLang="zh-TW" dirty="0"/>
              <a:t>8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2379F-7BA4-5E97-3C74-4AAACF533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047BB0-627D-AD0E-FC4F-357CC4E0F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41FCD8C-B182-C937-93EA-284EB89E4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520E0A-6EE8-36D1-65F8-263BED955B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7949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71CF1-6CF0-53B7-462B-FCAC1C878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CFE5F8-3281-4244-2853-1857475CA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D8DC1BE-00EE-43C1-4795-05284380D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305</a:t>
            </a:r>
            <a:r>
              <a:rPr lang="zh-TW" altLang="en-US" dirty="0"/>
              <a:t>、</a:t>
            </a:r>
            <a:r>
              <a:rPr lang="en-US" altLang="zh-TW" dirty="0"/>
              <a:t>304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63D838-7226-4634-3A34-8B7B5F2BD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9292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sv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10" Type="http://schemas.microsoft.com/office/2007/relationships/hdphoto" Target="../media/hdphoto3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17/06/relationships/model3d" Target="../media/model3d6.glb"/><Relationship Id="rId3" Type="http://schemas.microsoft.com/office/2017/06/relationships/model3d" Target="../media/model3d1.glb"/><Relationship Id="rId7" Type="http://schemas.microsoft.com/office/2017/06/relationships/model3d" Target="../media/model3d3.glb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microsoft.com/office/2017/06/relationships/model3d" Target="../media/model3d5.glb"/><Relationship Id="rId5" Type="http://schemas.microsoft.com/office/2017/06/relationships/model3d" Target="../media/model3d2.glb"/><Relationship Id="rId15" Type="http://schemas.microsoft.com/office/2017/06/relationships/model3d" Target="../media/model3d7.glb"/><Relationship Id="rId10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microsoft.com/office/2017/06/relationships/model3d" Target="../media/model3d4.glb"/><Relationship Id="rId1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A348579-313E-8E09-6699-96ED2776B5BE}"/>
              </a:ext>
            </a:extLst>
          </p:cNvPr>
          <p:cNvSpPr txBox="1"/>
          <p:nvPr/>
        </p:nvSpPr>
        <p:spPr>
          <a:xfrm>
            <a:off x="967526" y="1661776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8F283BB-5562-FE4D-8A09-AF8E67F36418}"/>
              </a:ext>
            </a:extLst>
          </p:cNvPr>
          <p:cNvSpPr txBox="1"/>
          <p:nvPr/>
        </p:nvSpPr>
        <p:spPr>
          <a:xfrm>
            <a:off x="967526" y="2859942"/>
            <a:ext cx="5544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spc="200" dirty="0"/>
              <a:t>APP </a:t>
            </a:r>
            <a:r>
              <a:rPr lang="zh-TW" altLang="en-US" sz="2400" spc="200" dirty="0"/>
              <a:t>媒合 </a:t>
            </a:r>
            <a:r>
              <a:rPr lang="en-US" altLang="zh-TW" sz="2400" spc="200" dirty="0"/>
              <a:t>× IoT </a:t>
            </a:r>
            <a:r>
              <a:rPr lang="zh-TW" altLang="en-US" sz="2400" spc="200" dirty="0"/>
              <a:t>智慧書櫃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組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FE5436B-E09D-E14C-4DED-869AADD7F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128" y="900656"/>
            <a:ext cx="3112655" cy="311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5630C435-6BD0-4CAD-73C7-EED432411646}"/>
              </a:ext>
            </a:extLst>
          </p:cNvPr>
          <p:cNvSpPr/>
          <p:nvPr/>
        </p:nvSpPr>
        <p:spPr>
          <a:xfrm>
            <a:off x="7934038" y="4122625"/>
            <a:ext cx="4796496" cy="4796496"/>
          </a:xfrm>
          <a:prstGeom prst="ellipse">
            <a:avLst/>
          </a:prstGeom>
          <a:gradFill>
            <a:gsLst>
              <a:gs pos="40000">
                <a:schemeClr val="accent2">
                  <a:alpha val="0"/>
                </a:schemeClr>
              </a:gs>
              <a:gs pos="19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!!直角三角形 7">
            <a:extLst>
              <a:ext uri="{FF2B5EF4-FFF2-40B4-BE49-F238E27FC236}">
                <a16:creationId xmlns:a16="http://schemas.microsoft.com/office/drawing/2014/main" id="{9CC581E5-1FB2-E1E3-DAE7-B3F08BCE868C}"/>
              </a:ext>
            </a:extLst>
          </p:cNvPr>
          <p:cNvSpPr/>
          <p:nvPr/>
        </p:nvSpPr>
        <p:spPr>
          <a:xfrm rot="5400000">
            <a:off x="4994759" y="-4994759"/>
            <a:ext cx="2202482" cy="12192000"/>
          </a:xfrm>
          <a:custGeom>
            <a:avLst/>
            <a:gdLst>
              <a:gd name="connsiteX0" fmla="*/ 0 w 2198044"/>
              <a:gd name="connsiteY0" fmla="*/ 12192000 h 12192000"/>
              <a:gd name="connsiteX1" fmla="*/ 0 w 2198044"/>
              <a:gd name="connsiteY1" fmla="*/ 0 h 12192000"/>
              <a:gd name="connsiteX2" fmla="*/ 1062338 w 2198044"/>
              <a:gd name="connsiteY2" fmla="*/ 0 h 12192000"/>
              <a:gd name="connsiteX3" fmla="*/ 1093993 w 2198044"/>
              <a:gd name="connsiteY3" fmla="*/ 45340 h 12192000"/>
              <a:gd name="connsiteX4" fmla="*/ 2198044 w 2198044"/>
              <a:gd name="connsiteY4" fmla="*/ 6096000 h 12192000"/>
              <a:gd name="connsiteX5" fmla="*/ 1093993 w 2198044"/>
              <a:gd name="connsiteY5" fmla="*/ 12146660 h 12192000"/>
              <a:gd name="connsiteX6" fmla="*/ 1062338 w 2198044"/>
              <a:gd name="connsiteY6" fmla="*/ 12192000 h 12192000"/>
              <a:gd name="connsiteX7" fmla="*/ 0 w 2198044"/>
              <a:gd name="connsiteY7" fmla="*/ 12192000 h 12192000"/>
              <a:gd name="connsiteX0" fmla="*/ 0 w 2202940"/>
              <a:gd name="connsiteY0" fmla="*/ 12192000 h 12192000"/>
              <a:gd name="connsiteX1" fmla="*/ 0 w 2202940"/>
              <a:gd name="connsiteY1" fmla="*/ 0 h 12192000"/>
              <a:gd name="connsiteX2" fmla="*/ 1062338 w 2202940"/>
              <a:gd name="connsiteY2" fmla="*/ 0 h 12192000"/>
              <a:gd name="connsiteX3" fmla="*/ 1093993 w 2202940"/>
              <a:gd name="connsiteY3" fmla="*/ 45340 h 12192000"/>
              <a:gd name="connsiteX4" fmla="*/ 2198044 w 2202940"/>
              <a:gd name="connsiteY4" fmla="*/ 6096000 h 12192000"/>
              <a:gd name="connsiteX5" fmla="*/ 1093993 w 2202940"/>
              <a:gd name="connsiteY5" fmla="*/ 12146660 h 12192000"/>
              <a:gd name="connsiteX6" fmla="*/ 1062338 w 2202940"/>
              <a:gd name="connsiteY6" fmla="*/ 12192000 h 12192000"/>
              <a:gd name="connsiteX7" fmla="*/ 0 w 2202940"/>
              <a:gd name="connsiteY7" fmla="*/ 12192000 h 12192000"/>
              <a:gd name="connsiteX0" fmla="*/ 0 w 2202482"/>
              <a:gd name="connsiteY0" fmla="*/ 12192000 h 12192000"/>
              <a:gd name="connsiteX1" fmla="*/ 0 w 2202482"/>
              <a:gd name="connsiteY1" fmla="*/ 0 h 12192000"/>
              <a:gd name="connsiteX2" fmla="*/ 1062338 w 2202482"/>
              <a:gd name="connsiteY2" fmla="*/ 0 h 12192000"/>
              <a:gd name="connsiteX3" fmla="*/ 1093993 w 2202482"/>
              <a:gd name="connsiteY3" fmla="*/ 45340 h 12192000"/>
              <a:gd name="connsiteX4" fmla="*/ 2198044 w 2202482"/>
              <a:gd name="connsiteY4" fmla="*/ 6096000 h 12192000"/>
              <a:gd name="connsiteX5" fmla="*/ 1093993 w 2202482"/>
              <a:gd name="connsiteY5" fmla="*/ 12146660 h 12192000"/>
              <a:gd name="connsiteX6" fmla="*/ 1062338 w 2202482"/>
              <a:gd name="connsiteY6" fmla="*/ 12192000 h 12192000"/>
              <a:gd name="connsiteX7" fmla="*/ 0 w 2202482"/>
              <a:gd name="connsiteY7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02482" h="12192000">
                <a:moveTo>
                  <a:pt x="0" y="12192000"/>
                </a:moveTo>
                <a:lnTo>
                  <a:pt x="0" y="0"/>
                </a:lnTo>
                <a:lnTo>
                  <a:pt x="1062338" y="0"/>
                </a:lnTo>
                <a:lnTo>
                  <a:pt x="1093993" y="45340"/>
                </a:lnTo>
                <a:cubicBezTo>
                  <a:pt x="1681838" y="1148900"/>
                  <a:pt x="2259004" y="3299782"/>
                  <a:pt x="2198044" y="6096000"/>
                </a:cubicBezTo>
                <a:cubicBezTo>
                  <a:pt x="2137084" y="8892218"/>
                  <a:pt x="1742797" y="11149780"/>
                  <a:pt x="1093993" y="12146660"/>
                </a:cubicBezTo>
                <a:lnTo>
                  <a:pt x="1062338" y="1219200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3C49EC3-0511-2CB7-FAD1-6BA781A96356}"/>
              </a:ext>
            </a:extLst>
          </p:cNvPr>
          <p:cNvSpPr txBox="1"/>
          <p:nvPr/>
        </p:nvSpPr>
        <p:spPr>
          <a:xfrm>
            <a:off x="2979868" y="335695"/>
            <a:ext cx="6232264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7200" b="1" spc="100" dirty="0">
                <a:gradFill flip="none" rotWithShape="1">
                  <a:gsLst>
                    <a:gs pos="18000">
                      <a:schemeClr val="bg1">
                        <a:alpha val="80000"/>
                      </a:schemeClr>
                    </a:gs>
                    <a:gs pos="8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j-lt"/>
                <a:ea typeface="等线" panose="02010600030101010101" pitchFamily="2" charset="-122"/>
                <a:cs typeface="Arial" panose="020B0604020202020204" pitchFamily="34" charset="0"/>
              </a:rPr>
              <a:t>CONTENTS</a:t>
            </a:r>
            <a:endParaRPr lang="zh-CN" altLang="en-US" sz="7200" b="1" spc="100" dirty="0">
              <a:gradFill flip="none" rotWithShape="1">
                <a:gsLst>
                  <a:gs pos="18000">
                    <a:schemeClr val="bg1">
                      <a:alpha val="80000"/>
                    </a:schemeClr>
                  </a:gs>
                  <a:gs pos="8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atin typeface="+mj-lt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E050534-B0C0-63A0-10CD-BBBF88DB4815}"/>
              </a:ext>
            </a:extLst>
          </p:cNvPr>
          <p:cNvSpPr txBox="1"/>
          <p:nvPr/>
        </p:nvSpPr>
        <p:spPr>
          <a:xfrm>
            <a:off x="5190945" y="853633"/>
            <a:ext cx="18101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4800" b="1" spc="300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目  </a:t>
            </a:r>
            <a:r>
              <a:rPr lang="zh-TW" altLang="en-US" sz="4800" b="1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錄</a:t>
            </a:r>
            <a:endParaRPr lang="zh-CN" altLang="en-US" sz="4800" b="1" dirty="0">
              <a:solidFill>
                <a:prstClr val="white"/>
              </a:solidFill>
              <a:latin typeface="+mj-ea"/>
              <a:ea typeface="+mj-ea"/>
              <a:sym typeface="庞门正道标题体3.0" panose="02010600030101010101" pitchFamily="2" charset="-122"/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53496BD-DD2E-5B25-E7BC-29CB6913857A}"/>
              </a:ext>
            </a:extLst>
          </p:cNvPr>
          <p:cNvSpPr/>
          <p:nvPr/>
        </p:nvSpPr>
        <p:spPr>
          <a:xfrm rot="6412382">
            <a:off x="-1159979" y="3114856"/>
            <a:ext cx="2230568" cy="2230568"/>
          </a:xfrm>
          <a:prstGeom prst="ellipse">
            <a:avLst/>
          </a:prstGeom>
          <a:gradFill>
            <a:gsLst>
              <a:gs pos="49000">
                <a:schemeClr val="accent2">
                  <a:alpha val="0"/>
                </a:schemeClr>
              </a:gs>
              <a:gs pos="26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B735F18-C698-A254-98E6-094D213C1CEF}"/>
              </a:ext>
            </a:extLst>
          </p:cNvPr>
          <p:cNvSpPr txBox="1"/>
          <p:nvPr/>
        </p:nvSpPr>
        <p:spPr>
          <a:xfrm>
            <a:off x="981144" y="3490774"/>
            <a:ext cx="31468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背景與動機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EADCE66-D1F4-C978-57E0-6443A67047A4}"/>
              </a:ext>
            </a:extLst>
          </p:cNvPr>
          <p:cNvSpPr txBox="1"/>
          <p:nvPr/>
        </p:nvSpPr>
        <p:spPr>
          <a:xfrm>
            <a:off x="981144" y="2858961"/>
            <a:ext cx="7460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01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98E0265-DD0C-B6CD-6AF5-682B492C7CE3}"/>
              </a:ext>
            </a:extLst>
          </p:cNvPr>
          <p:cNvSpPr txBox="1"/>
          <p:nvPr/>
        </p:nvSpPr>
        <p:spPr>
          <a:xfrm>
            <a:off x="4685310" y="3490774"/>
            <a:ext cx="3590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5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系統架構與技術使用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D94BEEB-8077-5784-C8AA-F7DCDD842C1E}"/>
              </a:ext>
            </a:extLst>
          </p:cNvPr>
          <p:cNvSpPr txBox="1"/>
          <p:nvPr/>
        </p:nvSpPr>
        <p:spPr>
          <a:xfrm>
            <a:off x="4685309" y="2858961"/>
            <a:ext cx="12153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02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414B0E3-4A8F-F671-B282-094BF172BAEF}"/>
              </a:ext>
            </a:extLst>
          </p:cNvPr>
          <p:cNvSpPr txBox="1"/>
          <p:nvPr/>
        </p:nvSpPr>
        <p:spPr>
          <a:xfrm>
            <a:off x="8833483" y="3490774"/>
            <a:ext cx="23838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APP</a:t>
            </a:r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畫面展示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30891F-EB2E-65FB-53E4-EBF22BDFD66C}"/>
              </a:ext>
            </a:extLst>
          </p:cNvPr>
          <p:cNvSpPr txBox="1"/>
          <p:nvPr/>
        </p:nvSpPr>
        <p:spPr>
          <a:xfrm>
            <a:off x="8833483" y="2858961"/>
            <a:ext cx="1086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03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0BB332F-0DE0-B098-8DCE-28F12942EF6F}"/>
              </a:ext>
            </a:extLst>
          </p:cNvPr>
          <p:cNvSpPr txBox="1"/>
          <p:nvPr/>
        </p:nvSpPr>
        <p:spPr>
          <a:xfrm>
            <a:off x="981144" y="5236446"/>
            <a:ext cx="32768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交易爭議處理機制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81E2AD7-75A4-ED57-2035-4E8285A5D653}"/>
              </a:ext>
            </a:extLst>
          </p:cNvPr>
          <p:cNvSpPr txBox="1"/>
          <p:nvPr/>
        </p:nvSpPr>
        <p:spPr>
          <a:xfrm>
            <a:off x="981143" y="4604633"/>
            <a:ext cx="11170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04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004ADB0-D436-46DB-7F20-E180989867E7}"/>
              </a:ext>
            </a:extLst>
          </p:cNvPr>
          <p:cNvSpPr txBox="1"/>
          <p:nvPr/>
        </p:nvSpPr>
        <p:spPr>
          <a:xfrm>
            <a:off x="4685310" y="5236446"/>
            <a:ext cx="3590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5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硬體架構與實體展示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0D57659-E846-52E0-2325-D4BA905B950D}"/>
              </a:ext>
            </a:extLst>
          </p:cNvPr>
          <p:cNvSpPr txBox="1"/>
          <p:nvPr/>
        </p:nvSpPr>
        <p:spPr>
          <a:xfrm>
            <a:off x="4685309" y="4604633"/>
            <a:ext cx="12153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05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43D69847-6C64-46C4-8E0E-FB26B88F8DB4}"/>
              </a:ext>
            </a:extLst>
          </p:cNvPr>
          <p:cNvSpPr txBox="1"/>
          <p:nvPr/>
        </p:nvSpPr>
        <p:spPr>
          <a:xfrm>
            <a:off x="8833483" y="5236446"/>
            <a:ext cx="2364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後續規劃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9EC75C82-F747-0F1B-D5B4-82EEAEA17E62}"/>
              </a:ext>
            </a:extLst>
          </p:cNvPr>
          <p:cNvSpPr txBox="1"/>
          <p:nvPr/>
        </p:nvSpPr>
        <p:spPr>
          <a:xfrm>
            <a:off x="8833483" y="4604633"/>
            <a:ext cx="1086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06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007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背景與動機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09B61D-87A6-AE5C-4B6E-609981A4ABE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現況問題與痛點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PAIN POINTS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Group 14">
            <a:extLst>
              <a:ext uri="{FF2B5EF4-FFF2-40B4-BE49-F238E27FC236}">
                <a16:creationId xmlns:a16="http://schemas.microsoft.com/office/drawing/2014/main" id="{00319A45-C82E-BBEC-7D16-AC37B25E1D10}"/>
              </a:ext>
            </a:extLst>
          </p:cNvPr>
          <p:cNvGrpSpPr/>
          <p:nvPr/>
        </p:nvGrpSpPr>
        <p:grpSpPr>
          <a:xfrm>
            <a:off x="758890" y="3005792"/>
            <a:ext cx="3309257" cy="2256674"/>
            <a:chOff x="1682570" y="2841474"/>
            <a:chExt cx="3309257" cy="2256674"/>
          </a:xfrm>
        </p:grpSpPr>
        <p:sp>
          <p:nvSpPr>
            <p:cNvPr id="11" name="Rectangle: Rounded Corners 15">
              <a:extLst>
                <a:ext uri="{FF2B5EF4-FFF2-40B4-BE49-F238E27FC236}">
                  <a16:creationId xmlns:a16="http://schemas.microsoft.com/office/drawing/2014/main" id="{EE6723E5-1B8B-3168-F2BF-F5C81797C8AB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DCB64258-0AC5-A27C-10FC-D9085849D996}"/>
                </a:ext>
              </a:extLst>
            </p:cNvPr>
            <p:cNvSpPr/>
            <p:nvPr/>
          </p:nvSpPr>
          <p:spPr>
            <a:xfrm>
              <a:off x="1929881" y="3067807"/>
              <a:ext cx="142909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面交困難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B137FF88-F52D-25ED-0236-34D02E99E769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雙方時間難以媒合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存在安全與隱私顧慮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4DDF8DA-95C3-960A-9C8D-5091EE5EE534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大學生每學期需購買大量昂貴教科書，學期結束後書籍往往閒置，造成資源浪費與空間佔用。</a:t>
            </a:r>
          </a:p>
        </p:txBody>
      </p:sp>
      <p:grpSp>
        <p:nvGrpSpPr>
          <p:cNvPr id="24" name="Group 14">
            <a:extLst>
              <a:ext uri="{FF2B5EF4-FFF2-40B4-BE49-F238E27FC236}">
                <a16:creationId xmlns:a16="http://schemas.microsoft.com/office/drawing/2014/main" id="{FF0C5E1C-0518-15BF-F0D7-0A63EDC894A7}"/>
              </a:ext>
            </a:extLst>
          </p:cNvPr>
          <p:cNvGrpSpPr/>
          <p:nvPr/>
        </p:nvGrpSpPr>
        <p:grpSpPr>
          <a:xfrm>
            <a:off x="4441371" y="3005792"/>
            <a:ext cx="3309257" cy="2256674"/>
            <a:chOff x="1682570" y="2841474"/>
            <a:chExt cx="3309257" cy="2256674"/>
          </a:xfrm>
        </p:grpSpPr>
        <p:sp>
          <p:nvSpPr>
            <p:cNvPr id="25" name="Rectangle: Rounded Corners 15">
              <a:extLst>
                <a:ext uri="{FF2B5EF4-FFF2-40B4-BE49-F238E27FC236}">
                  <a16:creationId xmlns:a16="http://schemas.microsoft.com/office/drawing/2014/main" id="{C1CF914E-3AAC-B0BD-262E-1D7DD5B5CF57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79A393B8-48B7-AACC-C4C9-551F136910D0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包裝程序繁瑣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物流運費過高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  <p:sp>
          <p:nvSpPr>
            <p:cNvPr id="27" name="Rectangle: Rounded Corners 17">
              <a:extLst>
                <a:ext uri="{FF2B5EF4-FFF2-40B4-BE49-F238E27FC236}">
                  <a16:creationId xmlns:a16="http://schemas.microsoft.com/office/drawing/2014/main" id="{B904AC7C-0E6A-274C-E6FA-70D703704D9F}"/>
                </a:ext>
              </a:extLst>
            </p:cNvPr>
            <p:cNvSpPr/>
            <p:nvPr/>
          </p:nvSpPr>
          <p:spPr>
            <a:xfrm>
              <a:off x="1929881" y="3067807"/>
              <a:ext cx="141665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寄送成本</a:t>
              </a:r>
            </a:p>
          </p:txBody>
        </p:sp>
      </p:grpSp>
      <p:grpSp>
        <p:nvGrpSpPr>
          <p:cNvPr id="28" name="Group 14">
            <a:extLst>
              <a:ext uri="{FF2B5EF4-FFF2-40B4-BE49-F238E27FC236}">
                <a16:creationId xmlns:a16="http://schemas.microsoft.com/office/drawing/2014/main" id="{B02483BF-F98E-79E7-C637-F4BD80A820F0}"/>
              </a:ext>
            </a:extLst>
          </p:cNvPr>
          <p:cNvGrpSpPr/>
          <p:nvPr/>
        </p:nvGrpSpPr>
        <p:grpSpPr>
          <a:xfrm>
            <a:off x="8123853" y="3005792"/>
            <a:ext cx="3309257" cy="2256674"/>
            <a:chOff x="1682570" y="2841474"/>
            <a:chExt cx="3309257" cy="2256674"/>
          </a:xfrm>
        </p:grpSpPr>
        <p:sp>
          <p:nvSpPr>
            <p:cNvPr id="29" name="Rectangle: Rounded Corners 15">
              <a:extLst>
                <a:ext uri="{FF2B5EF4-FFF2-40B4-BE49-F238E27FC236}">
                  <a16:creationId xmlns:a16="http://schemas.microsoft.com/office/drawing/2014/main" id="{D786DBEB-72F9-985B-1271-26567C2050E0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30" name="Rectangle 16">
              <a:extLst>
                <a:ext uri="{FF2B5EF4-FFF2-40B4-BE49-F238E27FC236}">
                  <a16:creationId xmlns:a16="http://schemas.microsoft.com/office/drawing/2014/main" id="{9490D8CB-EA55-5710-BB03-D37C2204ECF8}"/>
                </a:ext>
              </a:extLst>
            </p:cNvPr>
            <p:cNvSpPr/>
            <p:nvPr/>
          </p:nvSpPr>
          <p:spPr>
            <a:xfrm>
              <a:off x="1900886" y="3654294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cs typeface="Segoe UI Light" panose="020B0502040204020203" pitchFamily="34" charset="0"/>
                </a:rPr>
                <a:t>買家難以確認真實書況</a:t>
              </a:r>
              <a:endParaRPr lang="en-US" altLang="zh-TW" spc="100" dirty="0"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50" dirty="0">
                  <a:cs typeface="Segoe UI Light" panose="020B0502040204020203" pitchFamily="34" charset="0"/>
                </a:rPr>
                <a:t>筆記與破損程度無從得知</a:t>
              </a:r>
              <a:endParaRPr lang="en-US" altLang="zh-TW" spc="50" dirty="0">
                <a:cs typeface="Segoe UI Light" panose="020B0502040204020203" pitchFamily="34" charset="0"/>
              </a:endParaRPr>
            </a:p>
          </p:txBody>
        </p:sp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B74DDFCF-F487-08AB-2DCD-E47808A8B3DE}"/>
                </a:ext>
              </a:extLst>
            </p:cNvPr>
            <p:cNvSpPr/>
            <p:nvPr/>
          </p:nvSpPr>
          <p:spPr>
            <a:xfrm>
              <a:off x="1929880" y="3067807"/>
              <a:ext cx="1715229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資訊不對稱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1188-1559-372F-82AB-D3A3B166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7779850-4928-6004-7C48-F5840AECF3C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72DB83-6AFF-A740-DF70-2EEFD6408217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樣本概況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6D5175-A687-EE95-A7EB-C626E2B00616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SURVEY</a:t>
            </a:r>
            <a:r>
              <a:rPr lang="zh-TW" altLang="en-US" sz="1400" spc="200" dirty="0">
                <a:solidFill>
                  <a:srgbClr val="7E8A90"/>
                </a:solidFill>
              </a:rPr>
              <a:t> </a:t>
            </a:r>
            <a:r>
              <a:rPr lang="pt-PT" altLang="zh-TW" sz="1400" spc="200" dirty="0">
                <a:solidFill>
                  <a:srgbClr val="7E8A90"/>
                </a:solidFill>
              </a:rPr>
              <a:t>SAMPLE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7444D4D1-77A5-1BB4-CC2C-37810CD77C29}"/>
              </a:ext>
            </a:extLst>
          </p:cNvPr>
          <p:cNvGrpSpPr/>
          <p:nvPr/>
        </p:nvGrpSpPr>
        <p:grpSpPr>
          <a:xfrm>
            <a:off x="1204506" y="1732752"/>
            <a:ext cx="2400116" cy="2253254"/>
            <a:chOff x="1204506" y="1732752"/>
            <a:chExt cx="2400116" cy="2253254"/>
          </a:xfrm>
        </p:grpSpPr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C7B5F8B1-9D51-BA9F-16D7-17A848551196}"/>
                </a:ext>
              </a:extLst>
            </p:cNvPr>
            <p:cNvSpPr txBox="1"/>
            <p:nvPr/>
          </p:nvSpPr>
          <p:spPr>
            <a:xfrm>
              <a:off x="1204506" y="3393215"/>
              <a:ext cx="2400116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總問卷數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7338583B-3886-A0AE-0C7D-6100836A6DDB}"/>
                </a:ext>
              </a:extLst>
            </p:cNvPr>
            <p:cNvGrpSpPr/>
            <p:nvPr/>
          </p:nvGrpSpPr>
          <p:grpSpPr>
            <a:xfrm>
              <a:off x="1350347" y="1732752"/>
              <a:ext cx="2108435" cy="1819421"/>
              <a:chOff x="885232" y="2074258"/>
              <a:chExt cx="2108435" cy="1819421"/>
            </a:xfrm>
          </p:grpSpPr>
          <p:sp>
            <p:nvSpPr>
              <p:cNvPr id="23" name="TextBox 7">
                <a:extLst>
                  <a:ext uri="{FF2B5EF4-FFF2-40B4-BE49-F238E27FC236}">
                    <a16:creationId xmlns:a16="http://schemas.microsoft.com/office/drawing/2014/main" id="{BBC6DBDE-A845-6D45-ED5A-7F578908C12A}"/>
                  </a:ext>
                </a:extLst>
              </p:cNvPr>
              <p:cNvSpPr txBox="1"/>
              <p:nvPr/>
            </p:nvSpPr>
            <p:spPr>
              <a:xfrm>
                <a:off x="924229" y="2113255"/>
                <a:ext cx="2069438" cy="178042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  <p:sp>
            <p:nvSpPr>
              <p:cNvPr id="40" name="TextBox 7">
                <a:extLst>
                  <a:ext uri="{FF2B5EF4-FFF2-40B4-BE49-F238E27FC236}">
                    <a16:creationId xmlns:a16="http://schemas.microsoft.com/office/drawing/2014/main" id="{0CECD64E-4A62-5FD2-57C8-912579869FA6}"/>
                  </a:ext>
                </a:extLst>
              </p:cNvPr>
              <p:cNvSpPr txBox="1"/>
              <p:nvPr/>
            </p:nvSpPr>
            <p:spPr>
              <a:xfrm>
                <a:off x="885232" y="2074258"/>
                <a:ext cx="2069438" cy="17804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</p:grpSp>
      </p:grp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B3428E9-B402-C3CD-7FB8-53C3BE83027D}"/>
              </a:ext>
            </a:extLst>
          </p:cNvPr>
          <p:cNvSpPr txBox="1"/>
          <p:nvPr/>
        </p:nvSpPr>
        <p:spPr>
          <a:xfrm>
            <a:off x="865239" y="4596539"/>
            <a:ext cx="10490118" cy="136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pc="100" dirty="0">
                <a:latin typeface="+mn-ea"/>
              </a:rPr>
              <a:t>* 主要調查對象為 </a:t>
            </a:r>
            <a:r>
              <a:rPr lang="en-US" altLang="zh-TW" spc="100" dirty="0">
                <a:latin typeface="+mn-ea"/>
              </a:rPr>
              <a:t>18~24</a:t>
            </a:r>
            <a:r>
              <a:rPr lang="zh-TW" altLang="en-US" spc="100" dirty="0">
                <a:latin typeface="+mn-ea"/>
              </a:rPr>
              <a:t> 歲在校大學生。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問卷共計 </a:t>
            </a:r>
            <a:r>
              <a:rPr lang="en-US" altLang="zh-TW" spc="100" dirty="0">
                <a:latin typeface="+mn-ea"/>
              </a:rPr>
              <a:t>18 </a:t>
            </a:r>
            <a:r>
              <a:rPr lang="zh-TW" altLang="en-US" spc="100" dirty="0">
                <a:latin typeface="+mn-ea"/>
              </a:rPr>
              <a:t>題，預估作答時間 </a:t>
            </a:r>
            <a:r>
              <a:rPr lang="en-US" altLang="zh-TW" spc="100" dirty="0">
                <a:latin typeface="+mn-ea"/>
              </a:rPr>
              <a:t>3 ~ 5 </a:t>
            </a:r>
            <a:r>
              <a:rPr lang="zh-TW" altLang="en-US" spc="100" dirty="0">
                <a:latin typeface="+mn-ea"/>
              </a:rPr>
              <a:t>分鐘。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共 </a:t>
            </a:r>
            <a:r>
              <a:rPr lang="en-US" altLang="zh-TW" spc="100" dirty="0">
                <a:latin typeface="+mn-ea"/>
              </a:rPr>
              <a:t>2 </a:t>
            </a:r>
            <a:r>
              <a:rPr lang="zh-TW" altLang="en-US" spc="100" dirty="0">
                <a:latin typeface="+mn-ea"/>
              </a:rPr>
              <a:t>筆問卷因重複填答，認定為無效問卷予以排除。</a:t>
            </a:r>
            <a:endParaRPr lang="en-US" altLang="zh-TW" spc="100" dirty="0">
              <a:latin typeface="+mn-ea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B90D371E-913D-3EFA-4E1F-959057B6E594}"/>
              </a:ext>
            </a:extLst>
          </p:cNvPr>
          <p:cNvGrpSpPr/>
          <p:nvPr/>
        </p:nvGrpSpPr>
        <p:grpSpPr>
          <a:xfrm>
            <a:off x="4733387" y="1715977"/>
            <a:ext cx="3086100" cy="2278162"/>
            <a:chOff x="4619087" y="1715977"/>
            <a:chExt cx="3086100" cy="2278162"/>
          </a:xfrm>
        </p:grpSpPr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30A496-B970-F5FD-D0E8-D4AC4AC196F3}"/>
                </a:ext>
              </a:extLst>
            </p:cNvPr>
            <p:cNvSpPr txBox="1"/>
            <p:nvPr/>
          </p:nvSpPr>
          <p:spPr>
            <a:xfrm>
              <a:off x="4619087" y="3401348"/>
              <a:ext cx="3086100" cy="592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有效問卷數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6C852317-1B57-3837-4DA4-20EBE9EB7DD2}"/>
                </a:ext>
              </a:extLst>
            </p:cNvPr>
            <p:cNvGrpSpPr>
              <a:grpSpLocks/>
            </p:cNvGrpSpPr>
            <p:nvPr/>
          </p:nvGrpSpPr>
          <p:grpSpPr>
            <a:xfrm>
              <a:off x="5006901" y="1715977"/>
              <a:ext cx="2310473" cy="1846414"/>
              <a:chOff x="4896479" y="2056179"/>
              <a:chExt cx="1930415" cy="3576129"/>
            </a:xfrm>
          </p:grpSpPr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2144DB08-9BBA-36F2-3169-20A5BD2799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9062" y="2131704"/>
                <a:ext cx="1897832" cy="350060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498</a:t>
                </a:r>
              </a:p>
            </p:txBody>
          </p:sp>
          <p:sp>
            <p:nvSpPr>
              <p:cNvPr id="41" name="TextBox 9">
                <a:extLst>
                  <a:ext uri="{FF2B5EF4-FFF2-40B4-BE49-F238E27FC236}">
                    <a16:creationId xmlns:a16="http://schemas.microsoft.com/office/drawing/2014/main" id="{9612DD91-D0E6-5263-65DA-D860F6430F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6479" y="2056179"/>
                <a:ext cx="1897832" cy="350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498</a:t>
                </a:r>
              </a:p>
            </p:txBody>
          </p:sp>
        </p:grp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D8BCCD2F-514D-155F-7095-A06AF60BAC76}"/>
              </a:ext>
            </a:extLst>
          </p:cNvPr>
          <p:cNvGrpSpPr/>
          <p:nvPr/>
        </p:nvGrpSpPr>
        <p:grpSpPr>
          <a:xfrm>
            <a:off x="8948252" y="1719686"/>
            <a:ext cx="2267842" cy="2255205"/>
            <a:chOff x="8948252" y="1719686"/>
            <a:chExt cx="2267842" cy="2255205"/>
          </a:xfrm>
        </p:grpSpPr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529CAE1A-14AA-4460-A239-06A10DC74661}"/>
                </a:ext>
              </a:extLst>
            </p:cNvPr>
            <p:cNvSpPr txBox="1"/>
            <p:nvPr/>
          </p:nvSpPr>
          <p:spPr>
            <a:xfrm>
              <a:off x="8948252" y="3382100"/>
              <a:ext cx="2267842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無效問卷數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3F7078F8-56B5-D08B-1A0B-1763B0925D52}"/>
                </a:ext>
              </a:extLst>
            </p:cNvPr>
            <p:cNvGrpSpPr/>
            <p:nvPr/>
          </p:nvGrpSpPr>
          <p:grpSpPr>
            <a:xfrm>
              <a:off x="9464244" y="1719686"/>
              <a:ext cx="1235858" cy="1846415"/>
              <a:chOff x="9377603" y="2074258"/>
              <a:chExt cx="1235858" cy="1846415"/>
            </a:xfrm>
          </p:grpSpPr>
          <p:sp>
            <p:nvSpPr>
              <p:cNvPr id="35" name="TextBox 11">
                <a:extLst>
                  <a:ext uri="{FF2B5EF4-FFF2-40B4-BE49-F238E27FC236}">
                    <a16:creationId xmlns:a16="http://schemas.microsoft.com/office/drawing/2014/main" id="{0F4F5B5B-70F3-8937-134A-B792E3203AC7}"/>
                  </a:ext>
                </a:extLst>
              </p:cNvPr>
              <p:cNvSpPr txBox="1"/>
              <p:nvPr/>
            </p:nvSpPr>
            <p:spPr>
              <a:xfrm>
                <a:off x="9416600" y="2113255"/>
                <a:ext cx="1196861" cy="180741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2</a:t>
                </a:r>
              </a:p>
            </p:txBody>
          </p:sp>
          <p:sp>
            <p:nvSpPr>
              <p:cNvPr id="42" name="TextBox 11">
                <a:extLst>
                  <a:ext uri="{FF2B5EF4-FFF2-40B4-BE49-F238E27FC236}">
                    <a16:creationId xmlns:a16="http://schemas.microsoft.com/office/drawing/2014/main" id="{2FBD9CE2-A6CD-0BA7-DB2F-F4A5C608C304}"/>
                  </a:ext>
                </a:extLst>
              </p:cNvPr>
              <p:cNvSpPr txBox="1"/>
              <p:nvPr/>
            </p:nvSpPr>
            <p:spPr>
              <a:xfrm>
                <a:off x="9377603" y="2074258"/>
                <a:ext cx="1196861" cy="18074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2</a:t>
                </a:r>
              </a:p>
            </p:txBody>
          </p:sp>
        </p:grp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70569-2DF8-31D5-9CA4-71B46F8B56C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880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0617B-DA99-3C02-E364-F7528DB1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726649F-1990-B6B1-086A-DEE59E00A0E1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3FA622-9680-F129-354F-2BF0039316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705F20-DCB2-C1D5-38B7-51E9B27C38B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B51E3CA-6D8F-4A19-35C8-8220DBA3E910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Q7.</a:t>
            </a:r>
            <a:r>
              <a:rPr lang="zh-TW" altLang="en-US" sz="2000" spc="100" dirty="0"/>
              <a:t> 處理書籍時最常遇到的困擾？</a:t>
            </a:r>
          </a:p>
        </p:txBody>
      </p:sp>
      <p:grpSp>
        <p:nvGrpSpPr>
          <p:cNvPr id="12" name="Group 1">
            <a:extLst>
              <a:ext uri="{FF2B5EF4-FFF2-40B4-BE49-F238E27FC236}">
                <a16:creationId xmlns:a16="http://schemas.microsoft.com/office/drawing/2014/main" id="{8D4212D4-89DE-4C8D-94EC-E192EC02991A}"/>
              </a:ext>
            </a:extLst>
          </p:cNvPr>
          <p:cNvGrpSpPr/>
          <p:nvPr/>
        </p:nvGrpSpPr>
        <p:grpSpPr>
          <a:xfrm>
            <a:off x="4061407" y="2360991"/>
            <a:ext cx="4069185" cy="3604731"/>
            <a:chOff x="4071515" y="1928636"/>
            <a:chExt cx="4069185" cy="3604731"/>
          </a:xfrm>
        </p:grpSpPr>
        <p:sp>
          <p:nvSpPr>
            <p:cNvPr id="13" name="Freeform: Shape 6">
              <a:extLst>
                <a:ext uri="{FF2B5EF4-FFF2-40B4-BE49-F238E27FC236}">
                  <a16:creationId xmlns:a16="http://schemas.microsoft.com/office/drawing/2014/main" id="{4B993C0E-9557-BDBE-80E0-6B18E63AE2E6}"/>
                </a:ext>
              </a:extLst>
            </p:cNvPr>
            <p:cNvSpPr/>
            <p:nvPr/>
          </p:nvSpPr>
          <p:spPr>
            <a:xfrm>
              <a:off x="5534176" y="2292756"/>
              <a:ext cx="314136" cy="1129523"/>
            </a:xfrm>
            <a:custGeom>
              <a:avLst/>
              <a:gdLst>
                <a:gd name="connsiteX0" fmla="*/ 374098 w 374098"/>
                <a:gd name="connsiteY0" fmla="*/ 911725 h 1345125"/>
                <a:gd name="connsiteX1" fmla="*/ 358269 w 374098"/>
                <a:gd name="connsiteY1" fmla="*/ 1345126 h 1345125"/>
                <a:gd name="connsiteX2" fmla="*/ 0 w 374098"/>
                <a:gd name="connsiteY2" fmla="*/ 433401 h 1345125"/>
                <a:gd name="connsiteX3" fmla="*/ 15829 w 374098"/>
                <a:gd name="connsiteY3" fmla="*/ 0 h 1345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098" h="1345125">
                  <a:moveTo>
                    <a:pt x="374098" y="911725"/>
                  </a:moveTo>
                  <a:lnTo>
                    <a:pt x="358269" y="1345126"/>
                  </a:lnTo>
                  <a:lnTo>
                    <a:pt x="0" y="433401"/>
                  </a:lnTo>
                  <a:lnTo>
                    <a:pt x="15829" y="0"/>
                  </a:lnTo>
                  <a:close/>
                </a:path>
              </a:pathLst>
            </a:custGeom>
            <a:solidFill>
              <a:srgbClr val="303D89"/>
            </a:solidFill>
            <a:ln w="111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7">
              <a:extLst>
                <a:ext uri="{FF2B5EF4-FFF2-40B4-BE49-F238E27FC236}">
                  <a16:creationId xmlns:a16="http://schemas.microsoft.com/office/drawing/2014/main" id="{207F7B42-244C-E22F-FB4A-E27F9B91D6A0}"/>
                </a:ext>
              </a:extLst>
            </p:cNvPr>
            <p:cNvSpPr/>
            <p:nvPr/>
          </p:nvSpPr>
          <p:spPr>
            <a:xfrm>
              <a:off x="5835020" y="3037076"/>
              <a:ext cx="1046403" cy="673692"/>
            </a:xfrm>
            <a:custGeom>
              <a:avLst/>
              <a:gdLst>
                <a:gd name="connsiteX0" fmla="*/ 1246139 w 1246139"/>
                <a:gd name="connsiteY0" fmla="*/ 368886 h 802286"/>
                <a:gd name="connsiteX1" fmla="*/ 1230310 w 1246139"/>
                <a:gd name="connsiteY1" fmla="*/ 802287 h 802286"/>
                <a:gd name="connsiteX2" fmla="*/ 0 w 1246139"/>
                <a:gd name="connsiteY2" fmla="*/ 458732 h 802286"/>
                <a:gd name="connsiteX3" fmla="*/ 15829 w 1246139"/>
                <a:gd name="connsiteY3" fmla="*/ 25331 h 802286"/>
                <a:gd name="connsiteX4" fmla="*/ 1246139 w 1246139"/>
                <a:gd name="connsiteY4" fmla="*/ 368886 h 802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6139" h="802286">
                  <a:moveTo>
                    <a:pt x="1246139" y="368886"/>
                  </a:moveTo>
                  <a:lnTo>
                    <a:pt x="1230310" y="802287"/>
                  </a:lnTo>
                  <a:cubicBezTo>
                    <a:pt x="967572" y="519261"/>
                    <a:pt x="476206" y="370669"/>
                    <a:pt x="0" y="458732"/>
                  </a:cubicBezTo>
                  <a:lnTo>
                    <a:pt x="15829" y="25331"/>
                  </a:lnTo>
                  <a:cubicBezTo>
                    <a:pt x="492035" y="-62843"/>
                    <a:pt x="983401" y="85748"/>
                    <a:pt x="1246139" y="36888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80000"/>
                    <a:lumOff val="20000"/>
                  </a:schemeClr>
                </a:gs>
                <a:gs pos="75000">
                  <a:schemeClr val="accent5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8">
              <a:extLst>
                <a:ext uri="{FF2B5EF4-FFF2-40B4-BE49-F238E27FC236}">
                  <a16:creationId xmlns:a16="http://schemas.microsoft.com/office/drawing/2014/main" id="{A65D2557-2653-A02B-2B18-673027CA34DB}"/>
                </a:ext>
              </a:extLst>
            </p:cNvPr>
            <p:cNvSpPr/>
            <p:nvPr/>
          </p:nvSpPr>
          <p:spPr>
            <a:xfrm>
              <a:off x="6868131" y="2924492"/>
              <a:ext cx="927993" cy="786277"/>
            </a:xfrm>
            <a:custGeom>
              <a:avLst/>
              <a:gdLst>
                <a:gd name="connsiteX0" fmla="*/ 1105128 w 1105127"/>
                <a:gd name="connsiteY0" fmla="*/ 0 h 936360"/>
                <a:gd name="connsiteX1" fmla="*/ 1089299 w 1105127"/>
                <a:gd name="connsiteY1" fmla="*/ 433512 h 936360"/>
                <a:gd name="connsiteX2" fmla="*/ 0 w 1105127"/>
                <a:gd name="connsiteY2" fmla="*/ 936360 h 936360"/>
                <a:gd name="connsiteX3" fmla="*/ 15829 w 1105127"/>
                <a:gd name="connsiteY3" fmla="*/ 502959 h 9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5127" h="936360">
                  <a:moveTo>
                    <a:pt x="1105128" y="0"/>
                  </a:moveTo>
                  <a:lnTo>
                    <a:pt x="1089299" y="433512"/>
                  </a:lnTo>
                  <a:lnTo>
                    <a:pt x="0" y="936360"/>
                  </a:lnTo>
                  <a:lnTo>
                    <a:pt x="15829" y="502959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70000"/>
                    <a:lumOff val="30000"/>
                  </a:schemeClr>
                </a:gs>
                <a:gs pos="75000">
                  <a:schemeClr val="accent5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9">
              <a:extLst>
                <a:ext uri="{FF2B5EF4-FFF2-40B4-BE49-F238E27FC236}">
                  <a16:creationId xmlns:a16="http://schemas.microsoft.com/office/drawing/2014/main" id="{37FFC844-0EAA-3F4A-5386-2A3B8C03DF81}"/>
                </a:ext>
              </a:extLst>
            </p:cNvPr>
            <p:cNvSpPr/>
            <p:nvPr/>
          </p:nvSpPr>
          <p:spPr>
            <a:xfrm>
              <a:off x="5547468" y="2244654"/>
              <a:ext cx="2248657" cy="1102180"/>
            </a:xfrm>
            <a:custGeom>
              <a:avLst/>
              <a:gdLst>
                <a:gd name="connsiteX0" fmla="*/ 0 w 2677878"/>
                <a:gd name="connsiteY0" fmla="*/ 57284 h 1312563"/>
                <a:gd name="connsiteX1" fmla="*/ 2677878 w 2677878"/>
                <a:gd name="connsiteY1" fmla="*/ 809716 h 1312563"/>
                <a:gd name="connsiteX2" fmla="*/ 1588579 w 2677878"/>
                <a:gd name="connsiteY2" fmla="*/ 1312564 h 1312563"/>
                <a:gd name="connsiteX3" fmla="*/ 358269 w 2677878"/>
                <a:gd name="connsiteY3" fmla="*/ 969009 h 1312563"/>
                <a:gd name="connsiteX4" fmla="*/ 0 w 2677878"/>
                <a:gd name="connsiteY4" fmla="*/ 57284 h 1312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7878" h="1312563">
                  <a:moveTo>
                    <a:pt x="0" y="57284"/>
                  </a:moveTo>
                  <a:cubicBezTo>
                    <a:pt x="1031779" y="-133555"/>
                    <a:pt x="2081172" y="161287"/>
                    <a:pt x="2677878" y="809716"/>
                  </a:cubicBezTo>
                  <a:lnTo>
                    <a:pt x="1588579" y="1312564"/>
                  </a:lnTo>
                  <a:cubicBezTo>
                    <a:pt x="1325841" y="1029538"/>
                    <a:pt x="834475" y="880946"/>
                    <a:pt x="358269" y="969009"/>
                  </a:cubicBezTo>
                  <a:lnTo>
                    <a:pt x="0" y="57284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60000"/>
                    <a:lumOff val="40000"/>
                  </a:schemeClr>
                </a:gs>
                <a:gs pos="75000">
                  <a:schemeClr val="accent5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09505CF7-6B8B-93EE-38D0-9FD280864F5E}"/>
                </a:ext>
              </a:extLst>
            </p:cNvPr>
            <p:cNvGrpSpPr/>
            <p:nvPr/>
          </p:nvGrpSpPr>
          <p:grpSpPr>
            <a:xfrm>
              <a:off x="4071517" y="1928636"/>
              <a:ext cx="1796725" cy="2896997"/>
              <a:chOff x="1167080" y="970913"/>
              <a:chExt cx="2139682" cy="3449972"/>
            </a:xfrm>
          </p:grpSpPr>
          <p:sp>
            <p:nvSpPr>
              <p:cNvPr id="43" name="Freeform: Shape 11">
                <a:extLst>
                  <a:ext uri="{FF2B5EF4-FFF2-40B4-BE49-F238E27FC236}">
                    <a16:creationId xmlns:a16="http://schemas.microsoft.com/office/drawing/2014/main" id="{81E78D2D-9AC9-5741-9C28-1833344CD62D}"/>
                  </a:ext>
                </a:extLst>
              </p:cNvPr>
              <p:cNvSpPr/>
              <p:nvPr/>
            </p:nvSpPr>
            <p:spPr>
              <a:xfrm>
                <a:off x="2455241" y="1882637"/>
                <a:ext cx="843391" cy="1588133"/>
              </a:xfrm>
              <a:custGeom>
                <a:avLst/>
                <a:gdLst>
                  <a:gd name="connsiteX0" fmla="*/ 843393 w 843392"/>
                  <a:gd name="connsiteY0" fmla="*/ 0 h 1588133"/>
                  <a:gd name="connsiteX1" fmla="*/ 811735 w 843392"/>
                  <a:gd name="connsiteY1" fmla="*/ 866913 h 1588133"/>
                  <a:gd name="connsiteX2" fmla="*/ 0 w 843392"/>
                  <a:gd name="connsiteY2" fmla="*/ 1588133 h 1588133"/>
                  <a:gd name="connsiteX3" fmla="*/ 31658 w 843392"/>
                  <a:gd name="connsiteY3" fmla="*/ 721220 h 1588133"/>
                  <a:gd name="connsiteX4" fmla="*/ 843393 w 843392"/>
                  <a:gd name="connsiteY4" fmla="*/ 0 h 15881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3392" h="1588133">
                    <a:moveTo>
                      <a:pt x="843393" y="0"/>
                    </a:moveTo>
                    <a:lnTo>
                      <a:pt x="811735" y="866913"/>
                    </a:lnTo>
                    <a:cubicBezTo>
                      <a:pt x="335640" y="954976"/>
                      <a:pt x="19619" y="1252827"/>
                      <a:pt x="0" y="1588133"/>
                    </a:cubicBezTo>
                    <a:lnTo>
                      <a:pt x="31658" y="721220"/>
                    </a:lnTo>
                    <a:cubicBezTo>
                      <a:pt x="51277" y="385914"/>
                      <a:pt x="367298" y="88062"/>
                      <a:pt x="843393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80000"/>
                      <a:lumOff val="20000"/>
                    </a:schemeClr>
                  </a:gs>
                  <a:gs pos="75000">
                    <a:schemeClr val="accent1">
                      <a:lumMod val="8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13">
                <a:extLst>
                  <a:ext uri="{FF2B5EF4-FFF2-40B4-BE49-F238E27FC236}">
                    <a16:creationId xmlns:a16="http://schemas.microsoft.com/office/drawing/2014/main" id="{725DF863-FFD6-CD81-03A8-683C2B9E7743}"/>
                  </a:ext>
                </a:extLst>
              </p:cNvPr>
              <p:cNvSpPr/>
              <p:nvPr/>
            </p:nvSpPr>
            <p:spPr>
              <a:xfrm>
                <a:off x="1167080" y="970913"/>
                <a:ext cx="2139682" cy="3449972"/>
              </a:xfrm>
              <a:custGeom>
                <a:avLst/>
                <a:gdLst>
                  <a:gd name="connsiteX0" fmla="*/ 1763812 w 2122081"/>
                  <a:gd name="connsiteY0" fmla="*/ 0 h 1632945"/>
                  <a:gd name="connsiteX1" fmla="*/ 2122082 w 2122081"/>
                  <a:gd name="connsiteY1" fmla="*/ 911725 h 1632945"/>
                  <a:gd name="connsiteX2" fmla="*/ 1310235 w 2122081"/>
                  <a:gd name="connsiteY2" fmla="*/ 1632945 h 1632945"/>
                  <a:gd name="connsiteX3" fmla="*/ 0 w 2122081"/>
                  <a:gd name="connsiteY3" fmla="*/ 1573865 h 1632945"/>
                  <a:gd name="connsiteX4" fmla="*/ 1763812 w 2122081"/>
                  <a:gd name="connsiteY4" fmla="*/ 0 h 1632945"/>
                  <a:gd name="csX0" fmla="*/ 1763812 w 2122082"/>
                  <a:gd name="csY0" fmla="*/ 0 h 1632945"/>
                  <a:gd name="csX1" fmla="*/ 2122082 w 2122082"/>
                  <a:gd name="csY1" fmla="*/ 911725 h 1632945"/>
                  <a:gd name="csX2" fmla="*/ 1310235 w 2122082"/>
                  <a:gd name="csY2" fmla="*/ 1632945 h 1632945"/>
                  <a:gd name="csX3" fmla="*/ 1155602 w 2122082"/>
                  <a:gd name="csY3" fmla="*/ 1613968 h 1632945"/>
                  <a:gd name="csX4" fmla="*/ 0 w 2122082"/>
                  <a:gd name="csY4" fmla="*/ 1573865 h 1632945"/>
                  <a:gd name="csX5" fmla="*/ 1763812 w 2122082"/>
                  <a:gd name="csY5" fmla="*/ 0 h 1632945"/>
                  <a:gd name="csX0" fmla="*/ 1763812 w 2122082"/>
                  <a:gd name="csY0" fmla="*/ 0 h 2424341"/>
                  <a:gd name="csX1" fmla="*/ 2122082 w 2122082"/>
                  <a:gd name="csY1" fmla="*/ 911725 h 2424341"/>
                  <a:gd name="csX2" fmla="*/ 1310235 w 2122082"/>
                  <a:gd name="csY2" fmla="*/ 1632945 h 2424341"/>
                  <a:gd name="csX3" fmla="*/ 2022101 w 2122082"/>
                  <a:gd name="csY3" fmla="*/ 2424341 h 2424341"/>
                  <a:gd name="csX4" fmla="*/ 0 w 2122082"/>
                  <a:gd name="csY4" fmla="*/ 1573865 h 2424341"/>
                  <a:gd name="csX5" fmla="*/ 1763812 w 2122082"/>
                  <a:gd name="csY5" fmla="*/ 0 h 2424341"/>
                  <a:gd name="csX0" fmla="*/ 1763812 w 2122082"/>
                  <a:gd name="csY0" fmla="*/ 0 h 2424341"/>
                  <a:gd name="csX1" fmla="*/ 2122082 w 2122082"/>
                  <a:gd name="csY1" fmla="*/ 911725 h 2424341"/>
                  <a:gd name="csX2" fmla="*/ 1310235 w 2122082"/>
                  <a:gd name="csY2" fmla="*/ 1632945 h 2424341"/>
                  <a:gd name="csX3" fmla="*/ 2022101 w 2122082"/>
                  <a:gd name="csY3" fmla="*/ 2424341 h 2424341"/>
                  <a:gd name="csX4" fmla="*/ 0 w 2122082"/>
                  <a:gd name="csY4" fmla="*/ 1573865 h 2424341"/>
                  <a:gd name="csX5" fmla="*/ 1763812 w 2122082"/>
                  <a:gd name="csY5" fmla="*/ 0 h 2424341"/>
                  <a:gd name="csX0" fmla="*/ 1763812 w 2122082"/>
                  <a:gd name="csY0" fmla="*/ 0 h 2424341"/>
                  <a:gd name="csX1" fmla="*/ 2122082 w 2122082"/>
                  <a:gd name="csY1" fmla="*/ 911725 h 2424341"/>
                  <a:gd name="csX2" fmla="*/ 1310235 w 2122082"/>
                  <a:gd name="csY2" fmla="*/ 1632945 h 2424341"/>
                  <a:gd name="csX3" fmla="*/ 2022101 w 2122082"/>
                  <a:gd name="csY3" fmla="*/ 2424341 h 2424341"/>
                  <a:gd name="csX4" fmla="*/ 0 w 2122082"/>
                  <a:gd name="csY4" fmla="*/ 1573865 h 2424341"/>
                  <a:gd name="csX5" fmla="*/ 1763812 w 2122082"/>
                  <a:gd name="csY5" fmla="*/ 0 h 2424341"/>
                  <a:gd name="csX0" fmla="*/ 1763812 w 2122082"/>
                  <a:gd name="csY0" fmla="*/ 0 h 2424341"/>
                  <a:gd name="csX1" fmla="*/ 2122082 w 2122082"/>
                  <a:gd name="csY1" fmla="*/ 911725 h 2424341"/>
                  <a:gd name="csX2" fmla="*/ 1310235 w 2122082"/>
                  <a:gd name="csY2" fmla="*/ 1632945 h 2424341"/>
                  <a:gd name="csX3" fmla="*/ 2022101 w 2122082"/>
                  <a:gd name="csY3" fmla="*/ 2424341 h 2424341"/>
                  <a:gd name="csX4" fmla="*/ 0 w 2122082"/>
                  <a:gd name="csY4" fmla="*/ 1573865 h 2424341"/>
                  <a:gd name="csX5" fmla="*/ 1763812 w 2122082"/>
                  <a:gd name="csY5" fmla="*/ 0 h 2424341"/>
                  <a:gd name="csX0" fmla="*/ 1763812 w 2122082"/>
                  <a:gd name="csY0" fmla="*/ 0 h 2424341"/>
                  <a:gd name="csX1" fmla="*/ 2122082 w 2122082"/>
                  <a:gd name="csY1" fmla="*/ 911725 h 2424341"/>
                  <a:gd name="csX2" fmla="*/ 1310235 w 2122082"/>
                  <a:gd name="csY2" fmla="*/ 1632945 h 2424341"/>
                  <a:gd name="csX3" fmla="*/ 2022101 w 2122082"/>
                  <a:gd name="csY3" fmla="*/ 2424341 h 2424341"/>
                  <a:gd name="csX4" fmla="*/ 1212111 w 2122082"/>
                  <a:gd name="csY4" fmla="*/ 2069804 h 2424341"/>
                  <a:gd name="csX5" fmla="*/ 0 w 2122082"/>
                  <a:gd name="csY5" fmla="*/ 1573865 h 2424341"/>
                  <a:gd name="csX6" fmla="*/ 1763812 w 2122082"/>
                  <a:gd name="csY6" fmla="*/ 0 h 2424341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  <a:gd name="csX0" fmla="*/ 1763812 w 2122082"/>
                  <a:gd name="csY0" fmla="*/ 0 h 3449972"/>
                  <a:gd name="csX1" fmla="*/ 2122082 w 2122082"/>
                  <a:gd name="csY1" fmla="*/ 911725 h 3449972"/>
                  <a:gd name="csX2" fmla="*/ 1310235 w 2122082"/>
                  <a:gd name="csY2" fmla="*/ 1632945 h 3449972"/>
                  <a:gd name="csX3" fmla="*/ 2022101 w 2122082"/>
                  <a:gd name="csY3" fmla="*/ 2424341 h 3449972"/>
                  <a:gd name="csX4" fmla="*/ 1526060 w 2122082"/>
                  <a:gd name="csY4" fmla="*/ 3449972 h 3449972"/>
                  <a:gd name="csX5" fmla="*/ 0 w 2122082"/>
                  <a:gd name="csY5" fmla="*/ 1573865 h 3449972"/>
                  <a:gd name="csX6" fmla="*/ 1763812 w 2122082"/>
                  <a:gd name="csY6" fmla="*/ 0 h 3449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22082" h="3449972">
                    <a:moveTo>
                      <a:pt x="1763812" y="0"/>
                    </a:moveTo>
                    <a:lnTo>
                      <a:pt x="2122082" y="911725"/>
                    </a:lnTo>
                    <a:cubicBezTo>
                      <a:pt x="1645987" y="999787"/>
                      <a:pt x="1355082" y="1265984"/>
                      <a:pt x="1310235" y="1632945"/>
                    </a:cubicBezTo>
                    <a:cubicBezTo>
                      <a:pt x="1302644" y="1922067"/>
                      <a:pt x="1489700" y="2236516"/>
                      <a:pt x="2022101" y="2424341"/>
                    </a:cubicBezTo>
                    <a:lnTo>
                      <a:pt x="1526060" y="3449972"/>
                    </a:lnTo>
                    <a:cubicBezTo>
                      <a:pt x="182268" y="2963887"/>
                      <a:pt x="90" y="2142253"/>
                      <a:pt x="0" y="1573865"/>
                    </a:cubicBezTo>
                    <a:cubicBezTo>
                      <a:pt x="41021" y="807499"/>
                      <a:pt x="732256" y="190839"/>
                      <a:pt x="1763812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8" name="Graphic 3">
              <a:extLst>
                <a:ext uri="{FF2B5EF4-FFF2-40B4-BE49-F238E27FC236}">
                  <a16:creationId xmlns:a16="http://schemas.microsoft.com/office/drawing/2014/main" id="{7637D691-37FF-D481-D4BF-13F4A3011DE9}"/>
                </a:ext>
              </a:extLst>
            </p:cNvPr>
            <p:cNvGrpSpPr/>
            <p:nvPr/>
          </p:nvGrpSpPr>
          <p:grpSpPr>
            <a:xfrm>
              <a:off x="4071515" y="3253277"/>
              <a:ext cx="1711745" cy="2179684"/>
              <a:chOff x="1167076" y="2548401"/>
              <a:chExt cx="2038482" cy="2595738"/>
            </a:xfrm>
          </p:grpSpPr>
          <p:sp>
            <p:nvSpPr>
              <p:cNvPr id="41" name="Freeform: Shape 17">
                <a:extLst>
                  <a:ext uri="{FF2B5EF4-FFF2-40B4-BE49-F238E27FC236}">
                    <a16:creationId xmlns:a16="http://schemas.microsoft.com/office/drawing/2014/main" id="{8E65EC8C-6DCD-64BC-C503-B115F8A4588F}"/>
                  </a:ext>
                </a:extLst>
              </p:cNvPr>
              <p:cNvSpPr/>
              <p:nvPr/>
            </p:nvSpPr>
            <p:spPr>
              <a:xfrm>
                <a:off x="1167076" y="2548401"/>
                <a:ext cx="1566465" cy="2588981"/>
              </a:xfrm>
              <a:custGeom>
                <a:avLst/>
                <a:gdLst>
                  <a:gd name="connsiteX0" fmla="*/ 1611762 w 1611761"/>
                  <a:gd name="connsiteY0" fmla="*/ 1725020 h 2331870"/>
                  <a:gd name="connsiteX1" fmla="*/ 1589579 w 1611761"/>
                  <a:gd name="connsiteY1" fmla="*/ 2331871 h 2331870"/>
                  <a:gd name="connsiteX2" fmla="*/ 1891 w 1611761"/>
                  <a:gd name="connsiteY2" fmla="*/ 606851 h 2331870"/>
                  <a:gd name="connsiteX3" fmla="*/ 24074 w 1611761"/>
                  <a:gd name="connsiteY3" fmla="*/ 0 h 2331870"/>
                  <a:gd name="connsiteX4" fmla="*/ 1611762 w 1611761"/>
                  <a:gd name="connsiteY4" fmla="*/ 1725020 h 2331870"/>
                  <a:gd name="csX0" fmla="*/ 1566390 w 1590540"/>
                  <a:gd name="csY0" fmla="*/ 1626713 h 2331871"/>
                  <a:gd name="csX1" fmla="*/ 1589579 w 1590540"/>
                  <a:gd name="csY1" fmla="*/ 2331871 h 2331871"/>
                  <a:gd name="csX2" fmla="*/ 1891 w 1590540"/>
                  <a:gd name="csY2" fmla="*/ 606851 h 2331871"/>
                  <a:gd name="csX3" fmla="*/ 24074 w 1590540"/>
                  <a:gd name="csY3" fmla="*/ 0 h 2331871"/>
                  <a:gd name="csX4" fmla="*/ 1566390 w 1590540"/>
                  <a:gd name="csY4" fmla="*/ 1626713 h 2331871"/>
                  <a:gd name="csX0" fmla="*/ 1566390 w 1590539"/>
                  <a:gd name="csY0" fmla="*/ 1626713 h 2331871"/>
                  <a:gd name="csX1" fmla="*/ 1589579 w 1590539"/>
                  <a:gd name="csY1" fmla="*/ 2331871 h 2331871"/>
                  <a:gd name="csX2" fmla="*/ 1891 w 1590539"/>
                  <a:gd name="csY2" fmla="*/ 606851 h 2331871"/>
                  <a:gd name="csX3" fmla="*/ 24074 w 1590539"/>
                  <a:gd name="csY3" fmla="*/ 0 h 2331871"/>
                  <a:gd name="csX4" fmla="*/ 1566390 w 1590539"/>
                  <a:gd name="csY4" fmla="*/ 1626713 h 2331871"/>
                  <a:gd name="csX0" fmla="*/ 1566390 w 1590539"/>
                  <a:gd name="csY0" fmla="*/ 1626713 h 2331871"/>
                  <a:gd name="csX1" fmla="*/ 1589579 w 1590539"/>
                  <a:gd name="csY1" fmla="*/ 2331871 h 2331871"/>
                  <a:gd name="csX2" fmla="*/ 1891 w 1590539"/>
                  <a:gd name="csY2" fmla="*/ 606851 h 2331871"/>
                  <a:gd name="csX3" fmla="*/ 24074 w 1590539"/>
                  <a:gd name="csY3" fmla="*/ 0 h 2331871"/>
                  <a:gd name="csX4" fmla="*/ 1566390 w 1590539"/>
                  <a:gd name="csY4" fmla="*/ 1626713 h 2331871"/>
                  <a:gd name="csX0" fmla="*/ 1564499 w 1588648"/>
                  <a:gd name="csY0" fmla="*/ 1626713 h 2331871"/>
                  <a:gd name="csX1" fmla="*/ 1587688 w 1588648"/>
                  <a:gd name="csY1" fmla="*/ 2331871 h 2331871"/>
                  <a:gd name="csX2" fmla="*/ 0 w 1588648"/>
                  <a:gd name="csY2" fmla="*/ 606851 h 2331871"/>
                  <a:gd name="csX3" fmla="*/ 22183 w 1588648"/>
                  <a:gd name="csY3" fmla="*/ 0 h 2331871"/>
                  <a:gd name="csX4" fmla="*/ 1564499 w 1588648"/>
                  <a:gd name="csY4" fmla="*/ 1626713 h 2331871"/>
                  <a:gd name="csX0" fmla="*/ 1564499 w 1588648"/>
                  <a:gd name="csY0" fmla="*/ 1626713 h 2331871"/>
                  <a:gd name="csX1" fmla="*/ 1587688 w 1588648"/>
                  <a:gd name="csY1" fmla="*/ 2331871 h 2331871"/>
                  <a:gd name="csX2" fmla="*/ 0 w 1588648"/>
                  <a:gd name="csY2" fmla="*/ 606851 h 2331871"/>
                  <a:gd name="csX3" fmla="*/ 22183 w 1588648"/>
                  <a:gd name="csY3" fmla="*/ 0 h 2331871"/>
                  <a:gd name="csX4" fmla="*/ 1564499 w 1588648"/>
                  <a:gd name="csY4" fmla="*/ 1626713 h 2331871"/>
                  <a:gd name="csX0" fmla="*/ 1564499 w 1588648"/>
                  <a:gd name="csY0" fmla="*/ 1626713 h 2331871"/>
                  <a:gd name="csX1" fmla="*/ 1587688 w 1588648"/>
                  <a:gd name="csY1" fmla="*/ 2331871 h 2331871"/>
                  <a:gd name="csX2" fmla="*/ 0 w 1588648"/>
                  <a:gd name="csY2" fmla="*/ 606851 h 2331871"/>
                  <a:gd name="csX3" fmla="*/ 22183 w 1588648"/>
                  <a:gd name="csY3" fmla="*/ 0 h 2331871"/>
                  <a:gd name="csX4" fmla="*/ 1564499 w 1588648"/>
                  <a:gd name="csY4" fmla="*/ 1626713 h 2331871"/>
                  <a:gd name="csX0" fmla="*/ 1564499 w 1588648"/>
                  <a:gd name="csY0" fmla="*/ 1626713 h 2331871"/>
                  <a:gd name="csX1" fmla="*/ 1587688 w 1588648"/>
                  <a:gd name="csY1" fmla="*/ 2331871 h 2331871"/>
                  <a:gd name="csX2" fmla="*/ 0 w 1588648"/>
                  <a:gd name="csY2" fmla="*/ 606851 h 2331871"/>
                  <a:gd name="csX3" fmla="*/ 22183 w 1588648"/>
                  <a:gd name="csY3" fmla="*/ 0 h 2331871"/>
                  <a:gd name="csX4" fmla="*/ 1564499 w 1588648"/>
                  <a:gd name="csY4" fmla="*/ 1626713 h 2331871"/>
                  <a:gd name="csX0" fmla="*/ 1542316 w 1566465"/>
                  <a:gd name="csY0" fmla="*/ 1626713 h 2331871"/>
                  <a:gd name="csX1" fmla="*/ 1565505 w 1566465"/>
                  <a:gd name="csY1" fmla="*/ 2331871 h 2331871"/>
                  <a:gd name="csX2" fmla="*/ 503 w 1566465"/>
                  <a:gd name="csY2" fmla="*/ 621976 h 2331871"/>
                  <a:gd name="csX3" fmla="*/ 0 w 1566465"/>
                  <a:gd name="csY3" fmla="*/ 0 h 2331871"/>
                  <a:gd name="csX4" fmla="*/ 1542316 w 1566465"/>
                  <a:gd name="csY4" fmla="*/ 1626713 h 2331871"/>
                  <a:gd name="csX0" fmla="*/ 1542316 w 1566465"/>
                  <a:gd name="csY0" fmla="*/ 1626713 h 2331871"/>
                  <a:gd name="csX1" fmla="*/ 1565505 w 1566465"/>
                  <a:gd name="csY1" fmla="*/ 2331871 h 2331871"/>
                  <a:gd name="csX2" fmla="*/ 503 w 1566465"/>
                  <a:gd name="csY2" fmla="*/ 621976 h 2331871"/>
                  <a:gd name="csX3" fmla="*/ 0 w 1566465"/>
                  <a:gd name="csY3" fmla="*/ 0 h 2331871"/>
                  <a:gd name="csX4" fmla="*/ 1542316 w 1566465"/>
                  <a:gd name="csY4" fmla="*/ 1626713 h 2331871"/>
                  <a:gd name="csX0" fmla="*/ 1542316 w 1566465"/>
                  <a:gd name="csY0" fmla="*/ 188382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83824 h 2588982"/>
                  <a:gd name="csX0" fmla="*/ 1542316 w 1566465"/>
                  <a:gd name="csY0" fmla="*/ 188382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83824 h 2588982"/>
                  <a:gd name="csX0" fmla="*/ 1542316 w 1566465"/>
                  <a:gd name="csY0" fmla="*/ 188382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83824 h 2588982"/>
                  <a:gd name="csX0" fmla="*/ 1542316 w 1566465"/>
                  <a:gd name="csY0" fmla="*/ 188382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83824 h 2588982"/>
                  <a:gd name="csX0" fmla="*/ 1542316 w 1566465"/>
                  <a:gd name="csY0" fmla="*/ 188382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83824 h 2588982"/>
                  <a:gd name="csX0" fmla="*/ 1542316 w 1566465"/>
                  <a:gd name="csY0" fmla="*/ 1877494 h 2588982"/>
                  <a:gd name="csX1" fmla="*/ 1565505 w 1566465"/>
                  <a:gd name="csY1" fmla="*/ 2588982 h 2588982"/>
                  <a:gd name="csX2" fmla="*/ 503 w 1566465"/>
                  <a:gd name="csY2" fmla="*/ 879087 h 2588982"/>
                  <a:gd name="csX3" fmla="*/ 0 w 1566465"/>
                  <a:gd name="csY3" fmla="*/ 0 h 2588982"/>
                  <a:gd name="csX4" fmla="*/ 1542316 w 1566465"/>
                  <a:gd name="csY4" fmla="*/ 1877494 h 25889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66465" h="2588982">
                    <a:moveTo>
                      <a:pt x="1542316" y="1877494"/>
                    </a:moveTo>
                    <a:cubicBezTo>
                      <a:pt x="1534922" y="2079778"/>
                      <a:pt x="1572899" y="2386698"/>
                      <a:pt x="1565505" y="2588982"/>
                    </a:cubicBezTo>
                    <a:cubicBezTo>
                      <a:pt x="559141" y="2306179"/>
                      <a:pt x="-17610" y="1501662"/>
                      <a:pt x="503" y="879087"/>
                    </a:cubicBezTo>
                    <a:cubicBezTo>
                      <a:pt x="335" y="671762"/>
                      <a:pt x="168" y="207325"/>
                      <a:pt x="0" y="0"/>
                    </a:cubicBezTo>
                    <a:cubicBezTo>
                      <a:pt x="24687" y="973421"/>
                      <a:pt x="556879" y="1469476"/>
                      <a:pt x="1542316" y="1877494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>
                      <a:lumMod val="90000"/>
                    </a:schemeClr>
                  </a:gs>
                  <a:gs pos="100000">
                    <a:schemeClr val="accent2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16">
                <a:extLst>
                  <a:ext uri="{FF2B5EF4-FFF2-40B4-BE49-F238E27FC236}">
                    <a16:creationId xmlns:a16="http://schemas.microsoft.com/office/drawing/2014/main" id="{4D161873-5D11-31FE-88E6-DC60306A1F70}"/>
                  </a:ext>
                </a:extLst>
              </p:cNvPr>
              <p:cNvSpPr/>
              <p:nvPr/>
            </p:nvSpPr>
            <p:spPr>
              <a:xfrm>
                <a:off x="2674333" y="3383827"/>
                <a:ext cx="531225" cy="1760312"/>
              </a:xfrm>
              <a:custGeom>
                <a:avLst/>
                <a:gdLst>
                  <a:gd name="connsiteX0" fmla="*/ 472862 w 472861"/>
                  <a:gd name="connsiteY0" fmla="*/ 0 h 1476438"/>
                  <a:gd name="connsiteX1" fmla="*/ 450679 w 472861"/>
                  <a:gd name="connsiteY1" fmla="*/ 606851 h 1476438"/>
                  <a:gd name="connsiteX2" fmla="*/ 0 w 472861"/>
                  <a:gd name="connsiteY2" fmla="*/ 1476439 h 1476438"/>
                  <a:gd name="connsiteX3" fmla="*/ 22071 w 472861"/>
                  <a:gd name="connsiteY3" fmla="*/ 869588 h 1476438"/>
                  <a:gd name="csX0" fmla="*/ 472862 w 472862"/>
                  <a:gd name="csY0" fmla="*/ 0 h 1476439"/>
                  <a:gd name="csX1" fmla="*/ 450679 w 472862"/>
                  <a:gd name="csY1" fmla="*/ 606851 h 1476439"/>
                  <a:gd name="csX2" fmla="*/ 69606 w 472862"/>
                  <a:gd name="csY2" fmla="*/ 1358250 h 1476439"/>
                  <a:gd name="csX3" fmla="*/ 0 w 472862"/>
                  <a:gd name="csY3" fmla="*/ 1476439 h 1476439"/>
                  <a:gd name="csX4" fmla="*/ 22071 w 472862"/>
                  <a:gd name="csY4" fmla="*/ 869588 h 1476439"/>
                  <a:gd name="csX5" fmla="*/ 472862 w 472862"/>
                  <a:gd name="csY5" fmla="*/ 0 h 1476439"/>
                  <a:gd name="csX0" fmla="*/ 472862 w 472862"/>
                  <a:gd name="csY0" fmla="*/ 0 h 1476439"/>
                  <a:gd name="csX1" fmla="*/ 450679 w 472862"/>
                  <a:gd name="csY1" fmla="*/ 606851 h 1476439"/>
                  <a:gd name="csX2" fmla="*/ 75211 w 472862"/>
                  <a:gd name="csY2" fmla="*/ 1470191 h 1476439"/>
                  <a:gd name="csX3" fmla="*/ 0 w 472862"/>
                  <a:gd name="csY3" fmla="*/ 1476439 h 1476439"/>
                  <a:gd name="csX4" fmla="*/ 22071 w 472862"/>
                  <a:gd name="csY4" fmla="*/ 869588 h 1476439"/>
                  <a:gd name="csX5" fmla="*/ 472862 w 472862"/>
                  <a:gd name="csY5" fmla="*/ 0 h 1476439"/>
                  <a:gd name="csX0" fmla="*/ 470351 w 470351"/>
                  <a:gd name="csY0" fmla="*/ 0 h 1470191"/>
                  <a:gd name="csX1" fmla="*/ 448168 w 470351"/>
                  <a:gd name="csY1" fmla="*/ 606851 h 1470191"/>
                  <a:gd name="csX2" fmla="*/ 72700 w 470351"/>
                  <a:gd name="csY2" fmla="*/ 1470191 h 1470191"/>
                  <a:gd name="csX3" fmla="*/ 0 w 470351"/>
                  <a:gd name="csY3" fmla="*/ 1462113 h 1470191"/>
                  <a:gd name="csX4" fmla="*/ 19560 w 470351"/>
                  <a:gd name="csY4" fmla="*/ 869588 h 1470191"/>
                  <a:gd name="csX5" fmla="*/ 470351 w 470351"/>
                  <a:gd name="csY5" fmla="*/ 0 h 1470191"/>
                  <a:gd name="csX0" fmla="*/ 470351 w 470351"/>
                  <a:gd name="csY0" fmla="*/ 0 h 1482129"/>
                  <a:gd name="csX1" fmla="*/ 448168 w 470351"/>
                  <a:gd name="csY1" fmla="*/ 606851 h 1482129"/>
                  <a:gd name="csX2" fmla="*/ 85254 w 470351"/>
                  <a:gd name="csY2" fmla="*/ 1482129 h 1482129"/>
                  <a:gd name="csX3" fmla="*/ 0 w 470351"/>
                  <a:gd name="csY3" fmla="*/ 1462113 h 1482129"/>
                  <a:gd name="csX4" fmla="*/ 19560 w 470351"/>
                  <a:gd name="csY4" fmla="*/ 869588 h 1482129"/>
                  <a:gd name="csX5" fmla="*/ 470351 w 470351"/>
                  <a:gd name="csY5" fmla="*/ 0 h 1482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70351" h="1482129">
                    <a:moveTo>
                      <a:pt x="470351" y="0"/>
                    </a:moveTo>
                    <a:lnTo>
                      <a:pt x="448168" y="606851"/>
                    </a:lnTo>
                    <a:lnTo>
                      <a:pt x="85254" y="1482129"/>
                    </a:lnTo>
                    <a:lnTo>
                      <a:pt x="0" y="1462113"/>
                    </a:lnTo>
                    <a:lnTo>
                      <a:pt x="19560" y="869588"/>
                    </a:lnTo>
                    <a:lnTo>
                      <a:pt x="470351" y="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80000"/>
                    </a:schemeClr>
                  </a:gs>
                  <a:gs pos="75000">
                    <a:schemeClr val="accent2">
                      <a:lumMod val="8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2EC0259A-5EF8-F0D1-94EF-F092B38CBA43}"/>
                </a:ext>
              </a:extLst>
            </p:cNvPr>
            <p:cNvSpPr/>
            <p:nvPr/>
          </p:nvSpPr>
          <p:spPr>
            <a:xfrm>
              <a:off x="6868319" y="3565964"/>
              <a:ext cx="166001" cy="542063"/>
            </a:xfrm>
            <a:custGeom>
              <a:avLst/>
              <a:gdLst>
                <a:gd name="connsiteX0" fmla="*/ 197304 w 197687"/>
                <a:gd name="connsiteY0" fmla="*/ 472193 h 645531"/>
                <a:gd name="connsiteX1" fmla="*/ 190950 w 197687"/>
                <a:gd name="connsiteY1" fmla="*/ 645531 h 645531"/>
                <a:gd name="connsiteX2" fmla="*/ 148814 w 197687"/>
                <a:gd name="connsiteY2" fmla="*/ 405756 h 645531"/>
                <a:gd name="connsiteX3" fmla="*/ 0 w 197687"/>
                <a:gd name="connsiteY3" fmla="*/ 173338 h 645531"/>
                <a:gd name="connsiteX4" fmla="*/ 6354 w 197687"/>
                <a:gd name="connsiteY4" fmla="*/ 0 h 645531"/>
                <a:gd name="connsiteX5" fmla="*/ 155168 w 197687"/>
                <a:gd name="connsiteY5" fmla="*/ 232418 h 645531"/>
                <a:gd name="connsiteX6" fmla="*/ 197304 w 197687"/>
                <a:gd name="connsiteY6" fmla="*/ 472193 h 645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7687" h="645531">
                  <a:moveTo>
                    <a:pt x="197304" y="472193"/>
                  </a:moveTo>
                  <a:cubicBezTo>
                    <a:pt x="195186" y="530047"/>
                    <a:pt x="193068" y="587789"/>
                    <a:pt x="190950" y="645531"/>
                  </a:cubicBezTo>
                  <a:cubicBezTo>
                    <a:pt x="193849" y="566832"/>
                    <a:pt x="180361" y="486127"/>
                    <a:pt x="148814" y="405756"/>
                  </a:cubicBezTo>
                  <a:cubicBezTo>
                    <a:pt x="115596" y="321149"/>
                    <a:pt x="64653" y="243119"/>
                    <a:pt x="0" y="173338"/>
                  </a:cubicBezTo>
                  <a:lnTo>
                    <a:pt x="6354" y="0"/>
                  </a:lnTo>
                  <a:cubicBezTo>
                    <a:pt x="71007" y="69781"/>
                    <a:pt x="121950" y="147811"/>
                    <a:pt x="155168" y="232418"/>
                  </a:cubicBezTo>
                  <a:cubicBezTo>
                    <a:pt x="186715" y="312789"/>
                    <a:pt x="200203" y="393383"/>
                    <a:pt x="197304" y="472193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80000"/>
                  </a:schemeClr>
                </a:gs>
                <a:gs pos="75000">
                  <a:schemeClr val="accent2">
                    <a:lumMod val="8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81E35571-14F4-97EA-D4AA-F763F54EBA4C}"/>
                </a:ext>
              </a:extLst>
            </p:cNvPr>
            <p:cNvSpPr/>
            <p:nvPr/>
          </p:nvSpPr>
          <p:spPr>
            <a:xfrm>
              <a:off x="6829567" y="4354954"/>
              <a:ext cx="867431" cy="646338"/>
            </a:xfrm>
            <a:custGeom>
              <a:avLst/>
              <a:gdLst>
                <a:gd name="connsiteX0" fmla="*/ 1033006 w 1033005"/>
                <a:gd name="connsiteY0" fmla="*/ 596372 h 769710"/>
                <a:gd name="connsiteX1" fmla="*/ 1026652 w 1033005"/>
                <a:gd name="connsiteY1" fmla="*/ 769710 h 769710"/>
                <a:gd name="connsiteX2" fmla="*/ 0 w 1033005"/>
                <a:gd name="connsiteY2" fmla="*/ 173338 h 769710"/>
                <a:gd name="connsiteX3" fmla="*/ 6242 w 1033005"/>
                <a:gd name="connsiteY3" fmla="*/ 0 h 76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3005" h="769710">
                  <a:moveTo>
                    <a:pt x="1033006" y="596372"/>
                  </a:moveTo>
                  <a:lnTo>
                    <a:pt x="1026652" y="769710"/>
                  </a:lnTo>
                  <a:lnTo>
                    <a:pt x="0" y="173338"/>
                  </a:lnTo>
                  <a:lnTo>
                    <a:pt x="6242" y="0"/>
                  </a:lnTo>
                  <a:close/>
                </a:path>
              </a:pathLst>
            </a:custGeom>
            <a:solidFill>
              <a:srgbClr val="6DBA13"/>
            </a:solidFill>
            <a:ln w="111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22">
              <a:extLst>
                <a:ext uri="{FF2B5EF4-FFF2-40B4-BE49-F238E27FC236}">
                  <a16:creationId xmlns:a16="http://schemas.microsoft.com/office/drawing/2014/main" id="{98BD345A-D618-ACE9-2AFD-0EF876DE3E1A}"/>
                </a:ext>
              </a:extLst>
            </p:cNvPr>
            <p:cNvSpPr/>
            <p:nvPr/>
          </p:nvSpPr>
          <p:spPr>
            <a:xfrm>
              <a:off x="7691569" y="4000569"/>
              <a:ext cx="448458" cy="1000724"/>
            </a:xfrm>
            <a:custGeom>
              <a:avLst/>
              <a:gdLst>
                <a:gd name="connsiteX0" fmla="*/ 534060 w 534059"/>
                <a:gd name="connsiteY0" fmla="*/ 0 h 1191741"/>
                <a:gd name="connsiteX1" fmla="*/ 527706 w 534059"/>
                <a:gd name="connsiteY1" fmla="*/ 173450 h 1191741"/>
                <a:gd name="connsiteX2" fmla="*/ 0 w 534059"/>
                <a:gd name="connsiteY2" fmla="*/ 1191741 h 1191741"/>
                <a:gd name="connsiteX3" fmla="*/ 6354 w 534059"/>
                <a:gd name="connsiteY3" fmla="*/ 1018403 h 1191741"/>
                <a:gd name="connsiteX4" fmla="*/ 534060 w 534059"/>
                <a:gd name="connsiteY4" fmla="*/ 0 h 119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4059" h="1191741">
                  <a:moveTo>
                    <a:pt x="534060" y="0"/>
                  </a:moveTo>
                  <a:cubicBezTo>
                    <a:pt x="531942" y="57854"/>
                    <a:pt x="529824" y="115596"/>
                    <a:pt x="527706" y="173450"/>
                  </a:cubicBezTo>
                  <a:cubicBezTo>
                    <a:pt x="514552" y="535174"/>
                    <a:pt x="337759" y="890434"/>
                    <a:pt x="0" y="1191741"/>
                  </a:cubicBezTo>
                  <a:lnTo>
                    <a:pt x="6354" y="1018403"/>
                  </a:lnTo>
                  <a:cubicBezTo>
                    <a:pt x="344112" y="716984"/>
                    <a:pt x="520906" y="361725"/>
                    <a:pt x="534060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90000"/>
                  </a:schemeClr>
                </a:gs>
                <a:gs pos="75000">
                  <a:schemeClr val="accent2">
                    <a:lumMod val="9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23">
              <a:extLst>
                <a:ext uri="{FF2B5EF4-FFF2-40B4-BE49-F238E27FC236}">
                  <a16:creationId xmlns:a16="http://schemas.microsoft.com/office/drawing/2014/main" id="{55F9AF32-F9C6-8DB2-FCD2-61DEE863F982}"/>
                </a:ext>
              </a:extLst>
            </p:cNvPr>
            <p:cNvSpPr/>
            <p:nvPr/>
          </p:nvSpPr>
          <p:spPr>
            <a:xfrm>
              <a:off x="6834809" y="3143621"/>
              <a:ext cx="1305891" cy="1712116"/>
            </a:xfrm>
            <a:custGeom>
              <a:avLst/>
              <a:gdLst>
                <a:gd name="connsiteX0" fmla="*/ 1135448 w 1555159"/>
                <a:gd name="connsiteY0" fmla="*/ 0 h 2038923"/>
                <a:gd name="connsiteX1" fmla="*/ 1026652 w 1555159"/>
                <a:gd name="connsiteY1" fmla="*/ 2038924 h 2038923"/>
                <a:gd name="connsiteX2" fmla="*/ 0 w 1555159"/>
                <a:gd name="connsiteY2" fmla="*/ 1442552 h 2038923"/>
                <a:gd name="connsiteX3" fmla="*/ 194963 w 1555159"/>
                <a:gd name="connsiteY3" fmla="*/ 735377 h 2038923"/>
                <a:gd name="connsiteX4" fmla="*/ 46149 w 1555159"/>
                <a:gd name="connsiteY4" fmla="*/ 502959 h 2038923"/>
                <a:gd name="connsiteX5" fmla="*/ 1135448 w 1555159"/>
                <a:gd name="connsiteY5" fmla="*/ 0 h 2038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55159" h="2038923">
                  <a:moveTo>
                    <a:pt x="1135448" y="0"/>
                  </a:moveTo>
                  <a:cubicBezTo>
                    <a:pt x="1732266" y="648318"/>
                    <a:pt x="1689572" y="1447345"/>
                    <a:pt x="1026652" y="2038924"/>
                  </a:cubicBezTo>
                  <a:lnTo>
                    <a:pt x="0" y="1442552"/>
                  </a:lnTo>
                  <a:cubicBezTo>
                    <a:pt x="211907" y="1252159"/>
                    <a:pt x="295957" y="992319"/>
                    <a:pt x="194963" y="735377"/>
                  </a:cubicBezTo>
                  <a:cubicBezTo>
                    <a:pt x="161745" y="650770"/>
                    <a:pt x="110803" y="572740"/>
                    <a:pt x="46149" y="502959"/>
                  </a:cubicBezTo>
                  <a:lnTo>
                    <a:pt x="1135448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25">
              <a:extLst>
                <a:ext uri="{FF2B5EF4-FFF2-40B4-BE49-F238E27FC236}">
                  <a16:creationId xmlns:a16="http://schemas.microsoft.com/office/drawing/2014/main" id="{616DFA9D-78E4-0104-DD74-05A5D03ECCBC}"/>
                </a:ext>
              </a:extLst>
            </p:cNvPr>
            <p:cNvSpPr/>
            <p:nvPr/>
          </p:nvSpPr>
          <p:spPr>
            <a:xfrm>
              <a:off x="5386657" y="4676243"/>
              <a:ext cx="2349432" cy="857124"/>
            </a:xfrm>
            <a:custGeom>
              <a:avLst/>
              <a:gdLst>
                <a:gd name="connsiteX0" fmla="*/ 2757803 w 2757802"/>
                <a:gd name="connsiteY0" fmla="*/ 0 h 981275"/>
                <a:gd name="connsiteX1" fmla="*/ 2745095 w 2757802"/>
                <a:gd name="connsiteY1" fmla="*/ 346787 h 981275"/>
                <a:gd name="connsiteX2" fmla="*/ 1501409 w 2757802"/>
                <a:gd name="connsiteY2" fmla="*/ 928446 h 981275"/>
                <a:gd name="connsiteX3" fmla="*/ 0 w 2757802"/>
                <a:gd name="connsiteY3" fmla="*/ 854428 h 981275"/>
                <a:gd name="connsiteX4" fmla="*/ 12596 w 2757802"/>
                <a:gd name="connsiteY4" fmla="*/ 507641 h 981275"/>
                <a:gd name="connsiteX5" fmla="*/ 1514005 w 2757802"/>
                <a:gd name="connsiteY5" fmla="*/ 581658 h 981275"/>
                <a:gd name="connsiteX6" fmla="*/ 2757803 w 2757802"/>
                <a:gd name="connsiteY6" fmla="*/ 0 h 981275"/>
                <a:gd name="csX0" fmla="*/ 2797887 w 2797887"/>
                <a:gd name="csY0" fmla="*/ 0 h 1001316"/>
                <a:gd name="csX1" fmla="*/ 2745095 w 2797887"/>
                <a:gd name="csY1" fmla="*/ 366828 h 1001316"/>
                <a:gd name="csX2" fmla="*/ 1501409 w 2797887"/>
                <a:gd name="csY2" fmla="*/ 948487 h 1001316"/>
                <a:gd name="csX3" fmla="*/ 0 w 2797887"/>
                <a:gd name="csY3" fmla="*/ 874469 h 1001316"/>
                <a:gd name="csX4" fmla="*/ 12596 w 2797887"/>
                <a:gd name="csY4" fmla="*/ 527682 h 1001316"/>
                <a:gd name="csX5" fmla="*/ 1514005 w 2797887"/>
                <a:gd name="csY5" fmla="*/ 601699 h 1001316"/>
                <a:gd name="csX6" fmla="*/ 2797887 w 2797887"/>
                <a:gd name="csY6" fmla="*/ 0 h 1001316"/>
                <a:gd name="csX0" fmla="*/ 2797887 w 2799692"/>
                <a:gd name="csY0" fmla="*/ 0 h 1002135"/>
                <a:gd name="csX1" fmla="*/ 2798540 w 2799692"/>
                <a:gd name="csY1" fmla="*/ 333425 h 1002135"/>
                <a:gd name="csX2" fmla="*/ 1501409 w 2799692"/>
                <a:gd name="csY2" fmla="*/ 948487 h 1002135"/>
                <a:gd name="csX3" fmla="*/ 0 w 2799692"/>
                <a:gd name="csY3" fmla="*/ 874469 h 1002135"/>
                <a:gd name="csX4" fmla="*/ 12596 w 2799692"/>
                <a:gd name="csY4" fmla="*/ 527682 h 1002135"/>
                <a:gd name="csX5" fmla="*/ 1514005 w 2799692"/>
                <a:gd name="csY5" fmla="*/ 601699 h 1002135"/>
                <a:gd name="csX6" fmla="*/ 2797887 w 2799692"/>
                <a:gd name="csY6" fmla="*/ 0 h 1002135"/>
                <a:gd name="csX0" fmla="*/ 2784526 w 2799074"/>
                <a:gd name="csY0" fmla="*/ 0 h 1022177"/>
                <a:gd name="csX1" fmla="*/ 2798540 w 2799074"/>
                <a:gd name="csY1" fmla="*/ 353467 h 1022177"/>
                <a:gd name="csX2" fmla="*/ 1501409 w 2799074"/>
                <a:gd name="csY2" fmla="*/ 968529 h 1022177"/>
                <a:gd name="csX3" fmla="*/ 0 w 2799074"/>
                <a:gd name="csY3" fmla="*/ 894511 h 1022177"/>
                <a:gd name="csX4" fmla="*/ 12596 w 2799074"/>
                <a:gd name="csY4" fmla="*/ 547724 h 1022177"/>
                <a:gd name="csX5" fmla="*/ 1514005 w 2799074"/>
                <a:gd name="csY5" fmla="*/ 621741 h 1022177"/>
                <a:gd name="csX6" fmla="*/ 2784526 w 2799074"/>
                <a:gd name="csY6" fmla="*/ 0 h 1022177"/>
                <a:gd name="csX0" fmla="*/ 2784526 w 2792588"/>
                <a:gd name="csY0" fmla="*/ 0 h 1020729"/>
                <a:gd name="csX1" fmla="*/ 2791860 w 2792588"/>
                <a:gd name="csY1" fmla="*/ 373508 h 1020729"/>
                <a:gd name="csX2" fmla="*/ 1501409 w 2792588"/>
                <a:gd name="csY2" fmla="*/ 968529 h 1020729"/>
                <a:gd name="csX3" fmla="*/ 0 w 2792588"/>
                <a:gd name="csY3" fmla="*/ 894511 h 1020729"/>
                <a:gd name="csX4" fmla="*/ 12596 w 2792588"/>
                <a:gd name="csY4" fmla="*/ 547724 h 1020729"/>
                <a:gd name="csX5" fmla="*/ 1514005 w 2792588"/>
                <a:gd name="csY5" fmla="*/ 621741 h 1020729"/>
                <a:gd name="csX6" fmla="*/ 2784526 w 2792588"/>
                <a:gd name="csY6" fmla="*/ 0 h 1020729"/>
                <a:gd name="csX0" fmla="*/ 2791207 w 2793012"/>
                <a:gd name="csY0" fmla="*/ 0 h 907159"/>
                <a:gd name="csX1" fmla="*/ 2791860 w 2793012"/>
                <a:gd name="csY1" fmla="*/ 259938 h 907159"/>
                <a:gd name="csX2" fmla="*/ 1501409 w 2793012"/>
                <a:gd name="csY2" fmla="*/ 854959 h 907159"/>
                <a:gd name="csX3" fmla="*/ 0 w 2793012"/>
                <a:gd name="csY3" fmla="*/ 780941 h 907159"/>
                <a:gd name="csX4" fmla="*/ 12596 w 2793012"/>
                <a:gd name="csY4" fmla="*/ 434154 h 907159"/>
                <a:gd name="csX5" fmla="*/ 1514005 w 2793012"/>
                <a:gd name="csY5" fmla="*/ 508171 h 907159"/>
                <a:gd name="csX6" fmla="*/ 2791207 w 2793012"/>
                <a:gd name="csY6" fmla="*/ 0 h 907159"/>
                <a:gd name="csX0" fmla="*/ 2784527 w 2792588"/>
                <a:gd name="csY0" fmla="*/ 0 h 1014049"/>
                <a:gd name="csX1" fmla="*/ 2791860 w 2792588"/>
                <a:gd name="csY1" fmla="*/ 366828 h 1014049"/>
                <a:gd name="csX2" fmla="*/ 1501409 w 2792588"/>
                <a:gd name="csY2" fmla="*/ 961849 h 1014049"/>
                <a:gd name="csX3" fmla="*/ 0 w 2792588"/>
                <a:gd name="csY3" fmla="*/ 887831 h 1014049"/>
                <a:gd name="csX4" fmla="*/ 12596 w 2792588"/>
                <a:gd name="csY4" fmla="*/ 541044 h 1014049"/>
                <a:gd name="csX5" fmla="*/ 1514005 w 2792588"/>
                <a:gd name="csY5" fmla="*/ 615061 h 1014049"/>
                <a:gd name="csX6" fmla="*/ 2784527 w 2792588"/>
                <a:gd name="csY6" fmla="*/ 0 h 1014049"/>
                <a:gd name="csX0" fmla="*/ 2797889 w 2797889"/>
                <a:gd name="csY0" fmla="*/ 0 h 1020730"/>
                <a:gd name="csX1" fmla="*/ 2791860 w 2797889"/>
                <a:gd name="csY1" fmla="*/ 373509 h 1020730"/>
                <a:gd name="csX2" fmla="*/ 1501409 w 2797889"/>
                <a:gd name="csY2" fmla="*/ 968530 h 1020730"/>
                <a:gd name="csX3" fmla="*/ 0 w 2797889"/>
                <a:gd name="csY3" fmla="*/ 894512 h 1020730"/>
                <a:gd name="csX4" fmla="*/ 12596 w 2797889"/>
                <a:gd name="csY4" fmla="*/ 547725 h 1020730"/>
                <a:gd name="csX5" fmla="*/ 1514005 w 2797889"/>
                <a:gd name="csY5" fmla="*/ 621742 h 1020730"/>
                <a:gd name="csX6" fmla="*/ 2797889 w 2797889"/>
                <a:gd name="csY6" fmla="*/ 0 h 1020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97889" h="1020730">
                  <a:moveTo>
                    <a:pt x="2797889" y="0"/>
                  </a:moveTo>
                  <a:cubicBezTo>
                    <a:pt x="2793653" y="115596"/>
                    <a:pt x="2796096" y="257913"/>
                    <a:pt x="2791860" y="373509"/>
                  </a:cubicBezTo>
                  <a:cubicBezTo>
                    <a:pt x="2460456" y="669243"/>
                    <a:pt x="1966719" y="881696"/>
                    <a:pt x="1501409" y="968530"/>
                  </a:cubicBezTo>
                  <a:cubicBezTo>
                    <a:pt x="1036099" y="1055364"/>
                    <a:pt x="503293" y="1035970"/>
                    <a:pt x="0" y="894512"/>
                  </a:cubicBezTo>
                  <a:lnTo>
                    <a:pt x="12596" y="547725"/>
                  </a:lnTo>
                  <a:cubicBezTo>
                    <a:pt x="515890" y="689071"/>
                    <a:pt x="1036350" y="710027"/>
                    <a:pt x="1514005" y="621742"/>
                  </a:cubicBezTo>
                  <a:cubicBezTo>
                    <a:pt x="1991771" y="533457"/>
                    <a:pt x="2466484" y="295734"/>
                    <a:pt x="2797889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70000"/>
                    <a:lumOff val="30000"/>
                  </a:schemeClr>
                </a:gs>
                <a:gs pos="75000">
                  <a:schemeClr val="accent3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26">
              <a:extLst>
                <a:ext uri="{FF2B5EF4-FFF2-40B4-BE49-F238E27FC236}">
                  <a16:creationId xmlns:a16="http://schemas.microsoft.com/office/drawing/2014/main" id="{65885C9A-8286-4FA2-4B59-D9D82934C075}"/>
                </a:ext>
              </a:extLst>
            </p:cNvPr>
            <p:cNvSpPr/>
            <p:nvPr/>
          </p:nvSpPr>
          <p:spPr>
            <a:xfrm>
              <a:off x="5397328" y="4186680"/>
              <a:ext cx="2338759" cy="1056699"/>
            </a:xfrm>
            <a:custGeom>
              <a:avLst/>
              <a:gdLst>
                <a:gd name="connsiteX0" fmla="*/ 1718443 w 2745095"/>
                <a:gd name="connsiteY0" fmla="*/ 0 h 1230859"/>
                <a:gd name="connsiteX1" fmla="*/ 2745095 w 2745095"/>
                <a:gd name="connsiteY1" fmla="*/ 596372 h 1230859"/>
                <a:gd name="connsiteX2" fmla="*/ 1501408 w 2745095"/>
                <a:gd name="connsiteY2" fmla="*/ 1178030 h 1230859"/>
                <a:gd name="connsiteX3" fmla="*/ 0 w 2745095"/>
                <a:gd name="connsiteY3" fmla="*/ 1104013 h 1230859"/>
                <a:gd name="connsiteX4" fmla="*/ 450790 w 2745095"/>
                <a:gd name="connsiteY4" fmla="*/ 234424 h 1230859"/>
                <a:gd name="connsiteX5" fmla="*/ 1143139 w 2745095"/>
                <a:gd name="connsiteY5" fmla="*/ 266305 h 1230859"/>
                <a:gd name="connsiteX6" fmla="*/ 1718443 w 2745095"/>
                <a:gd name="connsiteY6" fmla="*/ 0 h 1230859"/>
                <a:gd name="csX0" fmla="*/ 1751846 w 2745095"/>
                <a:gd name="csY0" fmla="*/ 0 h 1257582"/>
                <a:gd name="csX1" fmla="*/ 2745095 w 2745095"/>
                <a:gd name="csY1" fmla="*/ 623094 h 1257582"/>
                <a:gd name="csX2" fmla="*/ 1501408 w 2745095"/>
                <a:gd name="csY2" fmla="*/ 1204752 h 1257582"/>
                <a:gd name="csX3" fmla="*/ 0 w 2745095"/>
                <a:gd name="csY3" fmla="*/ 1130735 h 1257582"/>
                <a:gd name="csX4" fmla="*/ 450790 w 2745095"/>
                <a:gd name="csY4" fmla="*/ 261146 h 1257582"/>
                <a:gd name="csX5" fmla="*/ 1143139 w 2745095"/>
                <a:gd name="csY5" fmla="*/ 293027 h 1257582"/>
                <a:gd name="csX6" fmla="*/ 1751846 w 2745095"/>
                <a:gd name="csY6" fmla="*/ 0 h 1257582"/>
                <a:gd name="csX0" fmla="*/ 1751846 w 2785179"/>
                <a:gd name="csY0" fmla="*/ 0 h 1258400"/>
                <a:gd name="csX1" fmla="*/ 2785179 w 2785179"/>
                <a:gd name="csY1" fmla="*/ 589691 h 1258400"/>
                <a:gd name="csX2" fmla="*/ 1501408 w 2785179"/>
                <a:gd name="csY2" fmla="*/ 1204752 h 1258400"/>
                <a:gd name="csX3" fmla="*/ 0 w 2785179"/>
                <a:gd name="csY3" fmla="*/ 1130735 h 1258400"/>
                <a:gd name="csX4" fmla="*/ 450790 w 2785179"/>
                <a:gd name="csY4" fmla="*/ 261146 h 1258400"/>
                <a:gd name="csX5" fmla="*/ 1143139 w 2785179"/>
                <a:gd name="csY5" fmla="*/ 293027 h 1258400"/>
                <a:gd name="csX6" fmla="*/ 1751846 w 2785179"/>
                <a:gd name="csY6" fmla="*/ 0 h 1258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85179" h="1258400">
                  <a:moveTo>
                    <a:pt x="1751846" y="0"/>
                  </a:moveTo>
                  <a:cubicBezTo>
                    <a:pt x="2094063" y="198791"/>
                    <a:pt x="2442962" y="390900"/>
                    <a:pt x="2785179" y="589691"/>
                  </a:cubicBezTo>
                  <a:cubicBezTo>
                    <a:pt x="2453775" y="885425"/>
                    <a:pt x="1965604" y="1114578"/>
                    <a:pt x="1501408" y="1204752"/>
                  </a:cubicBezTo>
                  <a:cubicBezTo>
                    <a:pt x="1037212" y="1294926"/>
                    <a:pt x="503293" y="1272192"/>
                    <a:pt x="0" y="1130735"/>
                  </a:cubicBezTo>
                  <a:lnTo>
                    <a:pt x="450790" y="261146"/>
                  </a:lnTo>
                  <a:cubicBezTo>
                    <a:pt x="665261" y="322010"/>
                    <a:pt x="906151" y="336836"/>
                    <a:pt x="1143139" y="293027"/>
                  </a:cubicBezTo>
                  <a:cubicBezTo>
                    <a:pt x="1380239" y="249219"/>
                    <a:pt x="1610947" y="126632"/>
                    <a:pt x="1751846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5" name="TextBox 75">
            <a:extLst>
              <a:ext uri="{FF2B5EF4-FFF2-40B4-BE49-F238E27FC236}">
                <a16:creationId xmlns:a16="http://schemas.microsoft.com/office/drawing/2014/main" id="{4777B424-89B1-DAC6-2F9B-36793EE7FFF4}"/>
              </a:ext>
            </a:extLst>
          </p:cNvPr>
          <p:cNvSpPr txBox="1"/>
          <p:nvPr/>
        </p:nvSpPr>
        <p:spPr>
          <a:xfrm>
            <a:off x="3981374" y="3525530"/>
            <a:ext cx="132278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spc="-5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35%</a:t>
            </a:r>
          </a:p>
        </p:txBody>
      </p:sp>
      <p:sp>
        <p:nvSpPr>
          <p:cNvPr id="66" name="TextBox 75">
            <a:extLst>
              <a:ext uri="{FF2B5EF4-FFF2-40B4-BE49-F238E27FC236}">
                <a16:creationId xmlns:a16="http://schemas.microsoft.com/office/drawing/2014/main" id="{6FF5E368-07EF-F920-C988-D4CBCBAC0B4B}"/>
              </a:ext>
            </a:extLst>
          </p:cNvPr>
          <p:cNvSpPr txBox="1"/>
          <p:nvPr/>
        </p:nvSpPr>
        <p:spPr>
          <a:xfrm>
            <a:off x="5973734" y="2922783"/>
            <a:ext cx="132278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spc="-5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26.9</a:t>
            </a:r>
            <a:r>
              <a:rPr lang="en-US" sz="2400" b="1" spc="-5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67" name="TextBox 75">
            <a:extLst>
              <a:ext uri="{FF2B5EF4-FFF2-40B4-BE49-F238E27FC236}">
                <a16:creationId xmlns:a16="http://schemas.microsoft.com/office/drawing/2014/main" id="{882181AF-F0FD-6774-5B1A-27F872C7C6E3}"/>
              </a:ext>
            </a:extLst>
          </p:cNvPr>
          <p:cNvSpPr txBox="1"/>
          <p:nvPr/>
        </p:nvSpPr>
        <p:spPr>
          <a:xfrm>
            <a:off x="5829760" y="4967978"/>
            <a:ext cx="132278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spc="-5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21.9</a:t>
            </a:r>
            <a:r>
              <a:rPr lang="en-US" sz="2400" b="1" spc="-5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68" name="TextBox 75">
            <a:extLst>
              <a:ext uri="{FF2B5EF4-FFF2-40B4-BE49-F238E27FC236}">
                <a16:creationId xmlns:a16="http://schemas.microsoft.com/office/drawing/2014/main" id="{0507EFD8-9E84-EF2E-7097-E4705144DB79}"/>
              </a:ext>
            </a:extLst>
          </p:cNvPr>
          <p:cNvSpPr txBox="1"/>
          <p:nvPr/>
        </p:nvSpPr>
        <p:spPr>
          <a:xfrm>
            <a:off x="6912664" y="4127221"/>
            <a:ext cx="132278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spc="-5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16.2</a:t>
            </a:r>
            <a:r>
              <a:rPr lang="en-US" sz="2400" b="1" spc="-5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r="2000400" sy="-30000" kx="-800400" algn="bl" rotWithShape="0">
                    <a:prstClr val="black">
                      <a:alpha val="8000"/>
                    </a:prstClr>
                  </a:outerShdw>
                </a:effectLst>
                <a:latin typeface="+mj-lt"/>
              </a:rPr>
              <a:t>%</a:t>
            </a:r>
          </a:p>
        </p:txBody>
      </p:sp>
      <p:grpSp>
        <p:nvGrpSpPr>
          <p:cNvPr id="69" name="Group 52">
            <a:extLst>
              <a:ext uri="{FF2B5EF4-FFF2-40B4-BE49-F238E27FC236}">
                <a16:creationId xmlns:a16="http://schemas.microsoft.com/office/drawing/2014/main" id="{7B0A871A-D7C7-B3B1-B9B6-2CEBD262CB1E}"/>
              </a:ext>
            </a:extLst>
          </p:cNvPr>
          <p:cNvGrpSpPr/>
          <p:nvPr/>
        </p:nvGrpSpPr>
        <p:grpSpPr>
          <a:xfrm>
            <a:off x="7005212" y="2350717"/>
            <a:ext cx="806670" cy="275514"/>
            <a:chOff x="5212074" y="2149193"/>
            <a:chExt cx="481242" cy="226171"/>
          </a:xfrm>
        </p:grpSpPr>
        <p:cxnSp>
          <p:nvCxnSpPr>
            <p:cNvPr id="70" name="Straight Arrow Connector 53">
              <a:extLst>
                <a:ext uri="{FF2B5EF4-FFF2-40B4-BE49-F238E27FC236}">
                  <a16:creationId xmlns:a16="http://schemas.microsoft.com/office/drawing/2014/main" id="{628EB1CF-187C-6718-D27C-AC82C769A5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54">
              <a:extLst>
                <a:ext uri="{FF2B5EF4-FFF2-40B4-BE49-F238E27FC236}">
                  <a16:creationId xmlns:a16="http://schemas.microsoft.com/office/drawing/2014/main" id="{BA9894E6-A595-1D98-D4F3-3C10F82ED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8">
            <a:extLst>
              <a:ext uri="{FF2B5EF4-FFF2-40B4-BE49-F238E27FC236}">
                <a16:creationId xmlns:a16="http://schemas.microsoft.com/office/drawing/2014/main" id="{C5BDE2EC-7B71-CE88-E946-8E85CC69D992}"/>
              </a:ext>
            </a:extLst>
          </p:cNvPr>
          <p:cNvSpPr txBox="1"/>
          <p:nvPr/>
        </p:nvSpPr>
        <p:spPr>
          <a:xfrm>
            <a:off x="899943" y="3295876"/>
            <a:ext cx="2196139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家裡空間不足，</a:t>
            </a:r>
            <a:endParaRPr lang="en-US" altLang="zh-TW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想清空但懶得處理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3" name="TextBox 8">
            <a:extLst>
              <a:ext uri="{FF2B5EF4-FFF2-40B4-BE49-F238E27FC236}">
                <a16:creationId xmlns:a16="http://schemas.microsoft.com/office/drawing/2014/main" id="{45E34A51-5D7C-E17E-CCFB-3F29427A3FAB}"/>
              </a:ext>
            </a:extLst>
          </p:cNvPr>
          <p:cNvSpPr txBox="1"/>
          <p:nvPr/>
        </p:nvSpPr>
        <p:spPr>
          <a:xfrm>
            <a:off x="8037870" y="2212217"/>
            <a:ext cx="3635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寄送流程繁瑣（需包裝、去超商）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4" name="TextBox 8">
            <a:extLst>
              <a:ext uri="{FF2B5EF4-FFF2-40B4-BE49-F238E27FC236}">
                <a16:creationId xmlns:a16="http://schemas.microsoft.com/office/drawing/2014/main" id="{15ABB079-91D7-32AC-69AB-6D1852BDD227}"/>
              </a:ext>
            </a:extLst>
          </p:cNvPr>
          <p:cNvSpPr txBox="1"/>
          <p:nvPr/>
        </p:nvSpPr>
        <p:spPr>
          <a:xfrm>
            <a:off x="8309112" y="5814859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實體二手店收購價太低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5" name="TextBox 8">
            <a:extLst>
              <a:ext uri="{FF2B5EF4-FFF2-40B4-BE49-F238E27FC236}">
                <a16:creationId xmlns:a16="http://schemas.microsoft.com/office/drawing/2014/main" id="{0291CFF2-B834-285C-AEFB-DE0E07818F2C}"/>
              </a:ext>
            </a:extLst>
          </p:cNvPr>
          <p:cNvSpPr txBox="1"/>
          <p:nvPr/>
        </p:nvSpPr>
        <p:spPr>
          <a:xfrm>
            <a:off x="9040586" y="3561920"/>
            <a:ext cx="2392525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在電商平台與買家溝通太耗時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77" name="Group 27">
            <a:extLst>
              <a:ext uri="{FF2B5EF4-FFF2-40B4-BE49-F238E27FC236}">
                <a16:creationId xmlns:a16="http://schemas.microsoft.com/office/drawing/2014/main" id="{E352F79E-3B58-15FF-F44D-E394F45520E2}"/>
              </a:ext>
            </a:extLst>
          </p:cNvPr>
          <p:cNvGrpSpPr/>
          <p:nvPr/>
        </p:nvGrpSpPr>
        <p:grpSpPr>
          <a:xfrm flipV="1">
            <a:off x="7562850" y="5807803"/>
            <a:ext cx="520274" cy="146040"/>
            <a:chOff x="5212074" y="2149193"/>
            <a:chExt cx="593495" cy="226171"/>
          </a:xfrm>
        </p:grpSpPr>
        <p:cxnSp>
          <p:nvCxnSpPr>
            <p:cNvPr id="78" name="Straight Arrow Connector 28">
              <a:extLst>
                <a:ext uri="{FF2B5EF4-FFF2-40B4-BE49-F238E27FC236}">
                  <a16:creationId xmlns:a16="http://schemas.microsoft.com/office/drawing/2014/main" id="{611F763F-AE70-15FF-31AB-15235D15E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29">
              <a:extLst>
                <a:ext uri="{FF2B5EF4-FFF2-40B4-BE49-F238E27FC236}">
                  <a16:creationId xmlns:a16="http://schemas.microsoft.com/office/drawing/2014/main" id="{09741DC8-FD20-54B7-0E62-456C64F50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52">
            <a:extLst>
              <a:ext uri="{FF2B5EF4-FFF2-40B4-BE49-F238E27FC236}">
                <a16:creationId xmlns:a16="http://schemas.microsoft.com/office/drawing/2014/main" id="{70382234-AC7C-BD92-1340-6447CF49E7F1}"/>
              </a:ext>
            </a:extLst>
          </p:cNvPr>
          <p:cNvGrpSpPr/>
          <p:nvPr/>
        </p:nvGrpSpPr>
        <p:grpSpPr>
          <a:xfrm>
            <a:off x="8309112" y="3879969"/>
            <a:ext cx="473153" cy="165495"/>
            <a:chOff x="5212074" y="2149193"/>
            <a:chExt cx="481242" cy="226171"/>
          </a:xfrm>
        </p:grpSpPr>
        <p:cxnSp>
          <p:nvCxnSpPr>
            <p:cNvPr id="82" name="Straight Arrow Connector 53">
              <a:extLst>
                <a:ext uri="{FF2B5EF4-FFF2-40B4-BE49-F238E27FC236}">
                  <a16:creationId xmlns:a16="http://schemas.microsoft.com/office/drawing/2014/main" id="{269792DC-F929-9984-9F78-DCA28E2BBF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54">
              <a:extLst>
                <a:ext uri="{FF2B5EF4-FFF2-40B4-BE49-F238E27FC236}">
                  <a16:creationId xmlns:a16="http://schemas.microsoft.com/office/drawing/2014/main" id="{D07FCE95-CC19-9252-ED98-A76D7F179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52">
            <a:extLst>
              <a:ext uri="{FF2B5EF4-FFF2-40B4-BE49-F238E27FC236}">
                <a16:creationId xmlns:a16="http://schemas.microsoft.com/office/drawing/2014/main" id="{502CA093-BD83-65B6-9709-A89E46A39069}"/>
              </a:ext>
            </a:extLst>
          </p:cNvPr>
          <p:cNvGrpSpPr/>
          <p:nvPr/>
        </p:nvGrpSpPr>
        <p:grpSpPr>
          <a:xfrm flipH="1">
            <a:off x="3092968" y="3606314"/>
            <a:ext cx="690221" cy="275514"/>
            <a:chOff x="5212074" y="2149193"/>
            <a:chExt cx="481242" cy="226171"/>
          </a:xfrm>
        </p:grpSpPr>
        <p:cxnSp>
          <p:nvCxnSpPr>
            <p:cNvPr id="86" name="Straight Arrow Connector 53">
              <a:extLst>
                <a:ext uri="{FF2B5EF4-FFF2-40B4-BE49-F238E27FC236}">
                  <a16:creationId xmlns:a16="http://schemas.microsoft.com/office/drawing/2014/main" id="{44E50A01-01D3-66A7-6AB9-7080C4A2D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54">
              <a:extLst>
                <a:ext uri="{FF2B5EF4-FFF2-40B4-BE49-F238E27FC236}">
                  <a16:creationId xmlns:a16="http://schemas.microsoft.com/office/drawing/2014/main" id="{2154434A-BBB9-AB2B-2AC7-154EC1312E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3070D-E835-45F5-6505-EF4D78E462D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6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3AFB1A-83A9-1FEF-A7C5-A4689E85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ED53669-C3CD-E31A-107C-7DFDD44E5E5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A50D893-FE5F-69CF-BAC8-5B0D6C71E2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5BD857-FBF3-8AB0-9C86-60118C5AE4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9403423-A44D-6964-CF0F-D04A1017E3DB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Q10.</a:t>
            </a:r>
            <a:r>
              <a:rPr lang="zh-TW" altLang="en-US" sz="2000" spc="100" dirty="0"/>
              <a:t> 若能改良寄送不便之處，您更傾向哪個方案</a:t>
            </a:r>
            <a:r>
              <a:rPr lang="en-US" altLang="zh-TW" sz="2000" spc="100" dirty="0"/>
              <a:t>?</a:t>
            </a:r>
            <a:endParaRPr lang="zh-TW" altLang="en-US" sz="2000" spc="100" dirty="0"/>
          </a:p>
        </p:txBody>
      </p:sp>
      <p:grpSp>
        <p:nvGrpSpPr>
          <p:cNvPr id="3" name="Group 80">
            <a:extLst>
              <a:ext uri="{FF2B5EF4-FFF2-40B4-BE49-F238E27FC236}">
                <a16:creationId xmlns:a16="http://schemas.microsoft.com/office/drawing/2014/main" id="{348AB912-C3CA-7435-D6EE-0B9D380941B2}"/>
              </a:ext>
            </a:extLst>
          </p:cNvPr>
          <p:cNvGrpSpPr/>
          <p:nvPr/>
        </p:nvGrpSpPr>
        <p:grpSpPr>
          <a:xfrm>
            <a:off x="3683745" y="2509800"/>
            <a:ext cx="4792761" cy="3279120"/>
            <a:chOff x="2795648" y="1605561"/>
            <a:chExt cx="5320793" cy="3640391"/>
          </a:xfrm>
        </p:grpSpPr>
        <p:sp>
          <p:nvSpPr>
            <p:cNvPr id="4" name="Freeform: Shape 9">
              <a:extLst>
                <a:ext uri="{FF2B5EF4-FFF2-40B4-BE49-F238E27FC236}">
                  <a16:creationId xmlns:a16="http://schemas.microsoft.com/office/drawing/2014/main" id="{E759FAB7-ECC9-B5E8-358F-9EE543BDE417}"/>
                </a:ext>
              </a:extLst>
            </p:cNvPr>
            <p:cNvSpPr/>
            <p:nvPr/>
          </p:nvSpPr>
          <p:spPr>
            <a:xfrm>
              <a:off x="5475693" y="2830507"/>
              <a:ext cx="1897589" cy="1004105"/>
            </a:xfrm>
            <a:custGeom>
              <a:avLst/>
              <a:gdLst>
                <a:gd name="connsiteX0" fmla="*/ 0 w 1897589"/>
                <a:gd name="connsiteY0" fmla="*/ 0 h 1004105"/>
                <a:gd name="connsiteX1" fmla="*/ 40521 w 1897589"/>
                <a:gd name="connsiteY1" fmla="*/ 1004105 h 1004105"/>
                <a:gd name="connsiteX2" fmla="*/ 1897590 w 1897589"/>
                <a:gd name="connsiteY2" fmla="*/ 354557 h 1004105"/>
                <a:gd name="connsiteX3" fmla="*/ 0 w 1897589"/>
                <a:gd name="connsiteY3" fmla="*/ 0 h 100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7589" h="1004105">
                  <a:moveTo>
                    <a:pt x="0" y="0"/>
                  </a:moveTo>
                  <a:lnTo>
                    <a:pt x="40521" y="1004105"/>
                  </a:lnTo>
                  <a:lnTo>
                    <a:pt x="1897590" y="354557"/>
                  </a:lnTo>
                  <a:cubicBezTo>
                    <a:pt x="1414177" y="139392"/>
                    <a:pt x="731806" y="2026"/>
                    <a:pt x="0" y="0"/>
                  </a:cubicBezTo>
                  <a:close/>
                </a:path>
              </a:pathLst>
            </a:custGeom>
            <a:solidFill>
              <a:srgbClr val="6AA587"/>
            </a:solidFill>
            <a:ln w="404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10">
              <a:extLst>
                <a:ext uri="{FF2B5EF4-FFF2-40B4-BE49-F238E27FC236}">
                  <a16:creationId xmlns:a16="http://schemas.microsoft.com/office/drawing/2014/main" id="{295520C7-2677-5889-C211-6F21544A54B3}"/>
                </a:ext>
              </a:extLst>
            </p:cNvPr>
            <p:cNvSpPr/>
            <p:nvPr/>
          </p:nvSpPr>
          <p:spPr>
            <a:xfrm>
              <a:off x="2800367" y="2807113"/>
              <a:ext cx="2720567" cy="1650006"/>
            </a:xfrm>
            <a:custGeom>
              <a:avLst/>
              <a:gdLst>
                <a:gd name="connsiteX0" fmla="*/ 0 w 2720567"/>
                <a:gd name="connsiteY0" fmla="*/ 0 h 1650006"/>
                <a:gd name="connsiteX1" fmla="*/ 175860 w 2720567"/>
                <a:gd name="connsiteY1" fmla="*/ 140607 h 1650006"/>
                <a:gd name="connsiteX2" fmla="*/ 175860 w 2720567"/>
                <a:gd name="connsiteY2" fmla="*/ 792992 h 1650006"/>
                <a:gd name="connsiteX3" fmla="*/ 2680047 w 2720567"/>
                <a:gd name="connsiteY3" fmla="*/ 10130 h 1650006"/>
                <a:gd name="connsiteX4" fmla="*/ 2720568 w 2720567"/>
                <a:gd name="connsiteY4" fmla="*/ 1014236 h 1650006"/>
                <a:gd name="connsiteX5" fmla="*/ 175860 w 2720567"/>
                <a:gd name="connsiteY5" fmla="*/ 1649602 h 1650006"/>
                <a:gd name="connsiteX6" fmla="*/ 175860 w 2720567"/>
                <a:gd name="connsiteY6" fmla="*/ 1650007 h 1650006"/>
                <a:gd name="connsiteX7" fmla="*/ 175860 w 2720567"/>
                <a:gd name="connsiteY7" fmla="*/ 1649602 h 1650006"/>
                <a:gd name="connsiteX8" fmla="*/ 173429 w 2720567"/>
                <a:gd name="connsiteY8" fmla="*/ 1650007 h 1650006"/>
                <a:gd name="connsiteX9" fmla="*/ 0 w 2720567"/>
                <a:gd name="connsiteY9" fmla="*/ 1224944 h 1650006"/>
                <a:gd name="connsiteX10" fmla="*/ 0 w 2720567"/>
                <a:gd name="connsiteY10" fmla="*/ 0 h 165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20567" h="1650006">
                  <a:moveTo>
                    <a:pt x="0" y="0"/>
                  </a:moveTo>
                  <a:lnTo>
                    <a:pt x="175860" y="140607"/>
                  </a:lnTo>
                  <a:lnTo>
                    <a:pt x="175860" y="792992"/>
                  </a:lnTo>
                  <a:cubicBezTo>
                    <a:pt x="560808" y="337538"/>
                    <a:pt x="1536144" y="13372"/>
                    <a:pt x="2680047" y="10130"/>
                  </a:cubicBezTo>
                  <a:lnTo>
                    <a:pt x="2720568" y="1014236"/>
                  </a:lnTo>
                  <a:lnTo>
                    <a:pt x="175860" y="1649602"/>
                  </a:lnTo>
                  <a:lnTo>
                    <a:pt x="175860" y="1650007"/>
                  </a:lnTo>
                  <a:lnTo>
                    <a:pt x="175860" y="1649602"/>
                  </a:lnTo>
                  <a:lnTo>
                    <a:pt x="173429" y="1650007"/>
                  </a:lnTo>
                  <a:cubicBezTo>
                    <a:pt x="63212" y="1517909"/>
                    <a:pt x="0" y="1374871"/>
                    <a:pt x="0" y="1224944"/>
                  </a:cubicBez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80000"/>
                    <a:lumOff val="20000"/>
                  </a:schemeClr>
                </a:gs>
                <a:gs pos="75000">
                  <a:schemeClr val="accent1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4">
              <a:extLst>
                <a:ext uri="{FF2B5EF4-FFF2-40B4-BE49-F238E27FC236}">
                  <a16:creationId xmlns:a16="http://schemas.microsoft.com/office/drawing/2014/main" id="{FCAB0EA3-1FF2-FD13-3149-390A750F0D87}"/>
                </a:ext>
              </a:extLst>
            </p:cNvPr>
            <p:cNvSpPr/>
            <p:nvPr/>
          </p:nvSpPr>
          <p:spPr>
            <a:xfrm>
              <a:off x="2968670" y="2137346"/>
              <a:ext cx="4408636" cy="2333444"/>
            </a:xfrm>
            <a:custGeom>
              <a:avLst/>
              <a:gdLst>
                <a:gd name="connsiteX0" fmla="*/ 0 w 2547543"/>
                <a:gd name="connsiteY0" fmla="*/ 636177 h 1861120"/>
                <a:gd name="connsiteX1" fmla="*/ 2547544 w 2547543"/>
                <a:gd name="connsiteY1" fmla="*/ 0 h 1861120"/>
                <a:gd name="connsiteX2" fmla="*/ 2547544 w 2547543"/>
                <a:gd name="connsiteY2" fmla="*/ 1224944 h 1861120"/>
                <a:gd name="connsiteX3" fmla="*/ 0 w 2547543"/>
                <a:gd name="connsiteY3" fmla="*/ 1861120 h 1861120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2547544 w 4366341"/>
                <a:gd name="csY2" fmla="*/ 1676118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4352242 w 4366341"/>
                <a:gd name="csY2" fmla="*/ 724423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408639"/>
                <a:gd name="csY0" fmla="*/ 1087351 h 2312294"/>
                <a:gd name="csX1" fmla="*/ 4366341 w 4408639"/>
                <a:gd name="csY1" fmla="*/ 0 h 2312294"/>
                <a:gd name="csX2" fmla="*/ 4408639 w 4408639"/>
                <a:gd name="csY2" fmla="*/ 682126 h 2312294"/>
                <a:gd name="csX3" fmla="*/ 0 w 4408639"/>
                <a:gd name="csY3" fmla="*/ 2312294 h 2312294"/>
                <a:gd name="csX4" fmla="*/ 0 w 4408639"/>
                <a:gd name="csY4" fmla="*/ 1087351 h 2312294"/>
                <a:gd name="csX0" fmla="*/ 0 w 4408639"/>
                <a:gd name="csY0" fmla="*/ 1094401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94401 h 2319344"/>
                <a:gd name="csX0" fmla="*/ 0 w 4408639"/>
                <a:gd name="csY0" fmla="*/ 1073252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73252 h 2319344"/>
                <a:gd name="csX0" fmla="*/ 0 w 4408639"/>
                <a:gd name="csY0" fmla="*/ 1087351 h 2333443"/>
                <a:gd name="csX1" fmla="*/ 4401589 w 4408639"/>
                <a:gd name="csY1" fmla="*/ 0 h 2333443"/>
                <a:gd name="csX2" fmla="*/ 4408639 w 4408639"/>
                <a:gd name="csY2" fmla="*/ 703275 h 2333443"/>
                <a:gd name="csX3" fmla="*/ 0 w 4408639"/>
                <a:gd name="csY3" fmla="*/ 2333443 h 2333443"/>
                <a:gd name="csX4" fmla="*/ 0 w 4408639"/>
                <a:gd name="csY4" fmla="*/ 1087351 h 2333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8639" h="2333443">
                  <a:moveTo>
                    <a:pt x="0" y="1087351"/>
                  </a:moveTo>
                  <a:lnTo>
                    <a:pt x="4401589" y="0"/>
                  </a:lnTo>
                  <a:lnTo>
                    <a:pt x="4408639" y="703275"/>
                  </a:lnTo>
                  <a:lnTo>
                    <a:pt x="0" y="2333443"/>
                  </a:lnTo>
                  <a:lnTo>
                    <a:pt x="0" y="10873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70000"/>
                    <a:lumOff val="30000"/>
                  </a:schemeClr>
                </a:gs>
                <a:gs pos="75000">
                  <a:schemeClr val="accent1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5">
              <a:extLst>
                <a:ext uri="{FF2B5EF4-FFF2-40B4-BE49-F238E27FC236}">
                  <a16:creationId xmlns:a16="http://schemas.microsoft.com/office/drawing/2014/main" id="{BE5B68C0-9B06-255C-19F5-7C36A5D4881C}"/>
                </a:ext>
              </a:extLst>
            </p:cNvPr>
            <p:cNvSpPr/>
            <p:nvPr/>
          </p:nvSpPr>
          <p:spPr>
            <a:xfrm>
              <a:off x="2795648" y="1605561"/>
              <a:ext cx="4581662" cy="1640282"/>
            </a:xfrm>
            <a:custGeom>
              <a:avLst/>
              <a:gdLst>
                <a:gd name="connsiteX0" fmla="*/ 2720568 w 2720567"/>
                <a:gd name="connsiteY0" fmla="*/ 1004105 h 1640281"/>
                <a:gd name="connsiteX1" fmla="*/ 2680047 w 2720567"/>
                <a:gd name="connsiteY1" fmla="*/ 0 h 1640281"/>
                <a:gd name="connsiteX2" fmla="*/ 0 w 2720567"/>
                <a:gd name="connsiteY2" fmla="*/ 1214814 h 1640281"/>
                <a:gd name="connsiteX3" fmla="*/ 173024 w 2720567"/>
                <a:gd name="connsiteY3" fmla="*/ 1640282 h 1640281"/>
                <a:gd name="connsiteX4" fmla="*/ 2720568 w 2720567"/>
                <a:gd name="connsiteY4" fmla="*/ 1004105 h 1640281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6582 h 1640983"/>
                <a:gd name="csX1" fmla="*/ 2680047 w 4567562"/>
                <a:gd name="csY1" fmla="*/ 701 h 1640983"/>
                <a:gd name="csX2" fmla="*/ 0 w 4567562"/>
                <a:gd name="csY2" fmla="*/ 1215515 h 1640983"/>
                <a:gd name="csX3" fmla="*/ 173024 w 4567562"/>
                <a:gd name="csY3" fmla="*/ 1640983 h 1640983"/>
                <a:gd name="csX4" fmla="*/ 4567562 w 4567562"/>
                <a:gd name="csY4" fmla="*/ 546582 h 1640983"/>
                <a:gd name="csX0" fmla="*/ 4581661 w 4581661"/>
                <a:gd name="csY0" fmla="*/ 532568 h 1641068"/>
                <a:gd name="csX1" fmla="*/ 2680047 w 4581661"/>
                <a:gd name="csY1" fmla="*/ 786 h 1641068"/>
                <a:gd name="csX2" fmla="*/ 0 w 4581661"/>
                <a:gd name="csY2" fmla="*/ 1215600 h 1641068"/>
                <a:gd name="csX3" fmla="*/ 173024 w 4581661"/>
                <a:gd name="csY3" fmla="*/ 1641068 h 1641068"/>
                <a:gd name="csX4" fmla="*/ 4581661 w 4581661"/>
                <a:gd name="csY4" fmla="*/ 532568 h 1641068"/>
                <a:gd name="csX0" fmla="*/ 4581661 w 4581661"/>
                <a:gd name="csY0" fmla="*/ 532450 h 1640950"/>
                <a:gd name="csX1" fmla="*/ 2680047 w 4581661"/>
                <a:gd name="csY1" fmla="*/ 668 h 1640950"/>
                <a:gd name="csX2" fmla="*/ 0 w 4581661"/>
                <a:gd name="csY2" fmla="*/ 1215482 h 1640950"/>
                <a:gd name="csX3" fmla="*/ 173024 w 4581661"/>
                <a:gd name="csY3" fmla="*/ 1640950 h 1640950"/>
                <a:gd name="csX4" fmla="*/ 4581661 w 4581661"/>
                <a:gd name="csY4" fmla="*/ 532450 h 1640950"/>
                <a:gd name="csX0" fmla="*/ 4581661 w 4581661"/>
                <a:gd name="csY0" fmla="*/ 531782 h 1640282"/>
                <a:gd name="csX1" fmla="*/ 2680047 w 4581661"/>
                <a:gd name="csY1" fmla="*/ 0 h 1640282"/>
                <a:gd name="csX2" fmla="*/ 0 w 4581661"/>
                <a:gd name="csY2" fmla="*/ 1214814 h 1640282"/>
                <a:gd name="csX3" fmla="*/ 173024 w 4581661"/>
                <a:gd name="csY3" fmla="*/ 1640282 h 1640282"/>
                <a:gd name="csX4" fmla="*/ 4581661 w 4581661"/>
                <a:gd name="csY4" fmla="*/ 531782 h 16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81661" h="1640282">
                  <a:moveTo>
                    <a:pt x="4581661" y="531782"/>
                  </a:moveTo>
                  <a:cubicBezTo>
                    <a:pt x="3975989" y="105435"/>
                    <a:pt x="2940290" y="3370"/>
                    <a:pt x="2680047" y="0"/>
                  </a:cubicBezTo>
                  <a:cubicBezTo>
                    <a:pt x="1198606" y="4052"/>
                    <a:pt x="0" y="546220"/>
                    <a:pt x="0" y="1214814"/>
                  </a:cubicBezTo>
                  <a:cubicBezTo>
                    <a:pt x="0" y="1364741"/>
                    <a:pt x="63212" y="1507779"/>
                    <a:pt x="173024" y="1640282"/>
                  </a:cubicBezTo>
                  <a:lnTo>
                    <a:pt x="4581661" y="53178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16">
              <a:extLst>
                <a:ext uri="{FF2B5EF4-FFF2-40B4-BE49-F238E27FC236}">
                  <a16:creationId xmlns:a16="http://schemas.microsoft.com/office/drawing/2014/main" id="{00356B88-0982-0A4F-FDE6-1D2CD102B686}"/>
                </a:ext>
              </a:extLst>
            </p:cNvPr>
            <p:cNvSpPr/>
            <p:nvPr/>
          </p:nvSpPr>
          <p:spPr>
            <a:xfrm>
              <a:off x="5516214" y="3185470"/>
              <a:ext cx="2600227" cy="1917849"/>
            </a:xfrm>
            <a:custGeom>
              <a:avLst/>
              <a:gdLst>
                <a:gd name="connsiteX0" fmla="*/ 2635474 w 2635473"/>
                <a:gd name="connsiteY0" fmla="*/ 351315 h 1917849"/>
                <a:gd name="connsiteX1" fmla="*/ 2635474 w 2635473"/>
                <a:gd name="connsiteY1" fmla="*/ 853368 h 1917849"/>
                <a:gd name="connsiteX2" fmla="*/ 1239937 w 2635473"/>
                <a:gd name="connsiteY2" fmla="*/ 1917849 h 1917849"/>
                <a:gd name="connsiteX3" fmla="*/ 0 w 2635473"/>
                <a:gd name="connsiteY3" fmla="*/ 649548 h 1917849"/>
                <a:gd name="connsiteX4" fmla="*/ 1857069 w 2635473"/>
                <a:gd name="connsiteY4" fmla="*/ 0 h 1917849"/>
                <a:gd name="connsiteX5" fmla="*/ 2492841 w 2635473"/>
                <a:gd name="connsiteY5" fmla="*/ 462747 h 1917849"/>
                <a:gd name="connsiteX6" fmla="*/ 2635474 w 2635473"/>
                <a:gd name="connsiteY6" fmla="*/ 351315 h 1917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35473" h="1917849">
                  <a:moveTo>
                    <a:pt x="2635474" y="351315"/>
                  </a:moveTo>
                  <a:lnTo>
                    <a:pt x="2635474" y="853368"/>
                  </a:lnTo>
                  <a:cubicBezTo>
                    <a:pt x="2635474" y="1311658"/>
                    <a:pt x="2071829" y="1710788"/>
                    <a:pt x="1239937" y="1917849"/>
                  </a:cubicBezTo>
                  <a:lnTo>
                    <a:pt x="0" y="649548"/>
                  </a:lnTo>
                  <a:lnTo>
                    <a:pt x="1857069" y="0"/>
                  </a:lnTo>
                  <a:cubicBezTo>
                    <a:pt x="2140310" y="129261"/>
                    <a:pt x="2359932" y="286887"/>
                    <a:pt x="2492841" y="462747"/>
                  </a:cubicBezTo>
                  <a:lnTo>
                    <a:pt x="2635474" y="3513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80000"/>
                    <a:lumOff val="20000"/>
                  </a:schemeClr>
                </a:gs>
                <a:gs pos="75000">
                  <a:schemeClr val="accent3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AB60B134-02D5-3DD4-EE01-40F0F25C4CC6}"/>
                </a:ext>
              </a:extLst>
            </p:cNvPr>
            <p:cNvSpPr/>
            <p:nvPr/>
          </p:nvSpPr>
          <p:spPr>
            <a:xfrm>
              <a:off x="5480967" y="2701423"/>
              <a:ext cx="2635474" cy="1924156"/>
            </a:xfrm>
            <a:custGeom>
              <a:avLst/>
              <a:gdLst>
                <a:gd name="connsiteX0" fmla="*/ 0 w 2635473"/>
                <a:gd name="connsiteY0" fmla="*/ 649954 h 1918254"/>
                <a:gd name="connsiteX1" fmla="*/ 1239937 w 2635473"/>
                <a:gd name="connsiteY1" fmla="*/ 1918255 h 1918254"/>
                <a:gd name="connsiteX2" fmla="*/ 2635474 w 2635473"/>
                <a:gd name="connsiteY2" fmla="*/ 853773 h 1918254"/>
                <a:gd name="connsiteX3" fmla="*/ 1857069 w 2635473"/>
                <a:gd name="connsiteY3" fmla="*/ 0 h 1918254"/>
                <a:gd name="connsiteX4" fmla="*/ 0 w 2635473"/>
                <a:gd name="connsiteY4" fmla="*/ 649954 h 1918254"/>
                <a:gd name="csX0" fmla="*/ 0 w 2684821"/>
                <a:gd name="csY0" fmla="*/ 600607 h 1918255"/>
                <a:gd name="csX1" fmla="*/ 1289284 w 2684821"/>
                <a:gd name="csY1" fmla="*/ 1918255 h 1918255"/>
                <a:gd name="csX2" fmla="*/ 2684821 w 2684821"/>
                <a:gd name="csY2" fmla="*/ 853773 h 1918255"/>
                <a:gd name="csX3" fmla="*/ 1906416 w 2684821"/>
                <a:gd name="csY3" fmla="*/ 0 h 1918255"/>
                <a:gd name="csX4" fmla="*/ 0 w 2684821"/>
                <a:gd name="csY4" fmla="*/ 600607 h 1918255"/>
                <a:gd name="csX0" fmla="*/ 0 w 2691871"/>
                <a:gd name="csY0" fmla="*/ 565359 h 1918255"/>
                <a:gd name="csX1" fmla="*/ 1296334 w 2691871"/>
                <a:gd name="csY1" fmla="*/ 1918255 h 1918255"/>
                <a:gd name="csX2" fmla="*/ 2691871 w 2691871"/>
                <a:gd name="csY2" fmla="*/ 853773 h 1918255"/>
                <a:gd name="csX3" fmla="*/ 1913466 w 2691871"/>
                <a:gd name="csY3" fmla="*/ 0 h 1918255"/>
                <a:gd name="csX4" fmla="*/ 0 w 2691871"/>
                <a:gd name="csY4" fmla="*/ 565359 h 1918255"/>
                <a:gd name="csX0" fmla="*/ 0 w 2670722"/>
                <a:gd name="csY0" fmla="*/ 565359 h 1918255"/>
                <a:gd name="csX1" fmla="*/ 1275185 w 2670722"/>
                <a:gd name="csY1" fmla="*/ 1918255 h 1918255"/>
                <a:gd name="csX2" fmla="*/ 2670722 w 2670722"/>
                <a:gd name="csY2" fmla="*/ 853773 h 1918255"/>
                <a:gd name="csX3" fmla="*/ 1892317 w 2670722"/>
                <a:gd name="csY3" fmla="*/ 0 h 1918255"/>
                <a:gd name="csX4" fmla="*/ 0 w 2670722"/>
                <a:gd name="csY4" fmla="*/ 565359 h 1918255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0722" h="1924157">
                  <a:moveTo>
                    <a:pt x="0" y="571261"/>
                  </a:moveTo>
                  <a:lnTo>
                    <a:pt x="1275185" y="1924157"/>
                  </a:lnTo>
                  <a:cubicBezTo>
                    <a:pt x="2106672" y="1717095"/>
                    <a:pt x="2670722" y="1318371"/>
                    <a:pt x="2670722" y="859675"/>
                  </a:cubicBezTo>
                  <a:cubicBezTo>
                    <a:pt x="2646798" y="556510"/>
                    <a:pt x="2397222" y="237330"/>
                    <a:pt x="1922221" y="0"/>
                  </a:cubicBezTo>
                  <a:lnTo>
                    <a:pt x="0" y="57126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71">
              <a:extLst>
                <a:ext uri="{FF2B5EF4-FFF2-40B4-BE49-F238E27FC236}">
                  <a16:creationId xmlns:a16="http://schemas.microsoft.com/office/drawing/2014/main" id="{6A2BEC97-F334-80C4-FE71-6EA63EA3B36E}"/>
                </a:ext>
              </a:extLst>
            </p:cNvPr>
            <p:cNvSpPr/>
            <p:nvPr/>
          </p:nvSpPr>
          <p:spPr>
            <a:xfrm>
              <a:off x="5488904" y="3283213"/>
              <a:ext cx="1267247" cy="1819701"/>
            </a:xfrm>
            <a:custGeom>
              <a:avLst/>
              <a:gdLst>
                <a:gd name="connsiteX0" fmla="*/ 0 w 1260197"/>
                <a:gd name="connsiteY0" fmla="*/ 0 h 1770353"/>
                <a:gd name="connsiteX1" fmla="*/ 20260 w 1260197"/>
                <a:gd name="connsiteY1" fmla="*/ 502053 h 1770353"/>
                <a:gd name="connsiteX2" fmla="*/ 1260197 w 1260197"/>
                <a:gd name="connsiteY2" fmla="*/ 1770354 h 1770353"/>
                <a:gd name="connsiteX3" fmla="*/ 1260197 w 1260197"/>
                <a:gd name="connsiteY3" fmla="*/ 1293424 h 1770353"/>
                <a:gd name="csX0" fmla="*/ 0 w 1260197"/>
                <a:gd name="csY0" fmla="*/ 0 h 1791503"/>
                <a:gd name="csX1" fmla="*/ 20260 w 1260197"/>
                <a:gd name="csY1" fmla="*/ 523202 h 1791503"/>
                <a:gd name="csX2" fmla="*/ 1260197 w 1260197"/>
                <a:gd name="csY2" fmla="*/ 1791503 h 1791503"/>
                <a:gd name="csX3" fmla="*/ 1260197 w 1260197"/>
                <a:gd name="csY3" fmla="*/ 1314573 h 1791503"/>
                <a:gd name="csX4" fmla="*/ 0 w 1260197"/>
                <a:gd name="csY4" fmla="*/ 0 h 1791503"/>
                <a:gd name="csX0" fmla="*/ 0 w 1267247"/>
                <a:gd name="csY0" fmla="*/ 0 h 1819701"/>
                <a:gd name="csX1" fmla="*/ 27310 w 1267247"/>
                <a:gd name="csY1" fmla="*/ 551400 h 1819701"/>
                <a:gd name="csX2" fmla="*/ 1267247 w 1267247"/>
                <a:gd name="csY2" fmla="*/ 1819701 h 1819701"/>
                <a:gd name="csX3" fmla="*/ 1267247 w 1267247"/>
                <a:gd name="csY3" fmla="*/ 1342771 h 1819701"/>
                <a:gd name="csX4" fmla="*/ 0 w 1267247"/>
                <a:gd name="csY4" fmla="*/ 0 h 1819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67247" h="1819701">
                  <a:moveTo>
                    <a:pt x="0" y="0"/>
                  </a:moveTo>
                  <a:lnTo>
                    <a:pt x="27310" y="551400"/>
                  </a:lnTo>
                  <a:lnTo>
                    <a:pt x="1267247" y="1819701"/>
                  </a:lnTo>
                  <a:lnTo>
                    <a:pt x="1267247" y="1342771"/>
                  </a:lnTo>
                  <a:cubicBezTo>
                    <a:pt x="847181" y="911630"/>
                    <a:pt x="420066" y="4311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70000"/>
                    <a:lumOff val="30000"/>
                  </a:schemeClr>
                </a:gs>
                <a:gs pos="75000">
                  <a:schemeClr val="accent3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72">
              <a:extLst>
                <a:ext uri="{FF2B5EF4-FFF2-40B4-BE49-F238E27FC236}">
                  <a16:creationId xmlns:a16="http://schemas.microsoft.com/office/drawing/2014/main" id="{CD61840A-C758-9D2F-EB2E-C70AD85EFBD4}"/>
                </a:ext>
              </a:extLst>
            </p:cNvPr>
            <p:cNvSpPr/>
            <p:nvPr/>
          </p:nvSpPr>
          <p:spPr>
            <a:xfrm>
              <a:off x="2971508" y="3834613"/>
              <a:ext cx="3785050" cy="1411339"/>
            </a:xfrm>
            <a:custGeom>
              <a:avLst/>
              <a:gdLst>
                <a:gd name="connsiteX0" fmla="*/ 3784644 w 3785049"/>
                <a:gd name="connsiteY0" fmla="*/ 1030039 h 1411339"/>
                <a:gd name="connsiteX1" fmla="*/ 3551245 w 3785049"/>
                <a:gd name="connsiteY1" fmla="*/ 1030039 h 1411339"/>
                <a:gd name="connsiteX2" fmla="*/ 2544707 w 3785049"/>
                <a:gd name="connsiteY2" fmla="*/ 0 h 1411339"/>
                <a:gd name="connsiteX3" fmla="*/ 898752 w 3785049"/>
                <a:gd name="connsiteY3" fmla="*/ 411286 h 1411339"/>
                <a:gd name="connsiteX4" fmla="*/ 0 w 3785049"/>
                <a:gd name="connsiteY4" fmla="*/ 411286 h 1411339"/>
                <a:gd name="connsiteX5" fmla="*/ 0 w 3785049"/>
                <a:gd name="connsiteY5" fmla="*/ 635771 h 1411339"/>
                <a:gd name="connsiteX6" fmla="*/ 2511886 w 3785049"/>
                <a:gd name="connsiteY6" fmla="*/ 1411339 h 1411339"/>
                <a:gd name="connsiteX7" fmla="*/ 3780187 w 3785049"/>
                <a:gd name="connsiteY7" fmla="*/ 1268301 h 1411339"/>
                <a:gd name="connsiteX8" fmla="*/ 3785050 w 3785049"/>
                <a:gd name="connsiteY8" fmla="*/ 1268301 h 1411339"/>
                <a:gd name="connsiteX9" fmla="*/ 3785050 w 3785049"/>
                <a:gd name="connsiteY9" fmla="*/ 1030039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41128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35825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785050" h="1411339">
                  <a:moveTo>
                    <a:pt x="3777068" y="999736"/>
                  </a:moveTo>
                  <a:lnTo>
                    <a:pt x="3551245" y="1030039"/>
                  </a:lnTo>
                  <a:lnTo>
                    <a:pt x="2544707" y="0"/>
                  </a:lnTo>
                  <a:lnTo>
                    <a:pt x="898752" y="411286"/>
                  </a:lnTo>
                  <a:lnTo>
                    <a:pt x="0" y="358256"/>
                  </a:lnTo>
                  <a:lnTo>
                    <a:pt x="0" y="635771"/>
                  </a:lnTo>
                  <a:cubicBezTo>
                    <a:pt x="391431" y="1089199"/>
                    <a:pt x="1367173" y="1411339"/>
                    <a:pt x="2511886" y="1411339"/>
                  </a:cubicBezTo>
                  <a:cubicBezTo>
                    <a:pt x="2970581" y="1411339"/>
                    <a:pt x="3402128" y="1359473"/>
                    <a:pt x="3780187" y="1268301"/>
                  </a:cubicBezTo>
                  <a:lnTo>
                    <a:pt x="3785050" y="1268301"/>
                  </a:lnTo>
                  <a:lnTo>
                    <a:pt x="3785050" y="1030039"/>
                  </a:lnTo>
                  <a:cubicBezTo>
                    <a:pt x="3784915" y="1030039"/>
                    <a:pt x="3777203" y="999736"/>
                    <a:pt x="3777068" y="99973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80000"/>
                    <a:lumOff val="20000"/>
                  </a:schemeClr>
                </a:gs>
                <a:gs pos="75000">
                  <a:schemeClr val="accent5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73">
              <a:extLst>
                <a:ext uri="{FF2B5EF4-FFF2-40B4-BE49-F238E27FC236}">
                  <a16:creationId xmlns:a16="http://schemas.microsoft.com/office/drawing/2014/main" id="{0C658B3D-F17C-51A5-2A7C-55C0C3498DC8}"/>
                </a:ext>
              </a:extLst>
            </p:cNvPr>
            <p:cNvSpPr/>
            <p:nvPr/>
          </p:nvSpPr>
          <p:spPr>
            <a:xfrm>
              <a:off x="2971507" y="3521334"/>
              <a:ext cx="3783428" cy="1459209"/>
            </a:xfrm>
            <a:custGeom>
              <a:avLst/>
              <a:gdLst>
                <a:gd name="connsiteX0" fmla="*/ 2544707 w 3783428"/>
                <a:gd name="connsiteY0" fmla="*/ 0 h 1411339"/>
                <a:gd name="connsiteX1" fmla="*/ 0 w 3783428"/>
                <a:gd name="connsiteY1" fmla="*/ 635771 h 1411339"/>
                <a:gd name="connsiteX2" fmla="*/ 2511886 w 3783428"/>
                <a:gd name="connsiteY2" fmla="*/ 1411340 h 1411339"/>
                <a:gd name="connsiteX3" fmla="*/ 3783429 w 3783428"/>
                <a:gd name="connsiteY3" fmla="*/ 1267491 h 1411339"/>
                <a:gd name="connsiteX4" fmla="*/ 2544707 w 3783428"/>
                <a:gd name="connsiteY4" fmla="*/ 0 h 141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3428" h="1411339">
                  <a:moveTo>
                    <a:pt x="2544707" y="0"/>
                  </a:moveTo>
                  <a:lnTo>
                    <a:pt x="0" y="635771"/>
                  </a:lnTo>
                  <a:cubicBezTo>
                    <a:pt x="391026" y="1089199"/>
                    <a:pt x="1367173" y="1411340"/>
                    <a:pt x="2511886" y="1411340"/>
                  </a:cubicBezTo>
                  <a:cubicBezTo>
                    <a:pt x="2971797" y="1411340"/>
                    <a:pt x="3404559" y="1359068"/>
                    <a:pt x="3783429" y="1267491"/>
                  </a:cubicBezTo>
                  <a:lnTo>
                    <a:pt x="2544707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60000"/>
                    <a:lumOff val="40000"/>
                  </a:schemeClr>
                </a:gs>
                <a:gs pos="75000">
                  <a:schemeClr val="accent5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3" name="TextBox 75">
            <a:extLst>
              <a:ext uri="{FF2B5EF4-FFF2-40B4-BE49-F238E27FC236}">
                <a16:creationId xmlns:a16="http://schemas.microsoft.com/office/drawing/2014/main" id="{5A8C4EF9-179E-562B-33B8-4FCCF45A3153}"/>
              </a:ext>
            </a:extLst>
          </p:cNvPr>
          <p:cNvSpPr txBox="1"/>
          <p:nvPr/>
        </p:nvSpPr>
        <p:spPr>
          <a:xfrm>
            <a:off x="4575443" y="2601248"/>
            <a:ext cx="194138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altLang="zh-TW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51.4</a:t>
            </a:r>
            <a:r>
              <a:rPr lang="en-US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54" name="TextBox 75">
            <a:extLst>
              <a:ext uri="{FF2B5EF4-FFF2-40B4-BE49-F238E27FC236}">
                <a16:creationId xmlns:a16="http://schemas.microsoft.com/office/drawing/2014/main" id="{EB9838C5-3292-EB2D-A5C9-B71AD8C57B5B}"/>
              </a:ext>
            </a:extLst>
          </p:cNvPr>
          <p:cNvSpPr txBox="1"/>
          <p:nvPr/>
        </p:nvSpPr>
        <p:spPr>
          <a:xfrm>
            <a:off x="4519458" y="4570923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23.9%</a:t>
            </a:r>
          </a:p>
        </p:txBody>
      </p:sp>
      <p:sp>
        <p:nvSpPr>
          <p:cNvPr id="55" name="TextBox 75">
            <a:extLst>
              <a:ext uri="{FF2B5EF4-FFF2-40B4-BE49-F238E27FC236}">
                <a16:creationId xmlns:a16="http://schemas.microsoft.com/office/drawing/2014/main" id="{D1305601-339D-DAB8-1B44-F133996820AF}"/>
              </a:ext>
            </a:extLst>
          </p:cNvPr>
          <p:cNvSpPr txBox="1"/>
          <p:nvPr/>
        </p:nvSpPr>
        <p:spPr>
          <a:xfrm>
            <a:off x="6504951" y="3861798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24.7%</a:t>
            </a:r>
          </a:p>
        </p:txBody>
      </p:sp>
      <p:grpSp>
        <p:nvGrpSpPr>
          <p:cNvPr id="56" name="Group 52">
            <a:extLst>
              <a:ext uri="{FF2B5EF4-FFF2-40B4-BE49-F238E27FC236}">
                <a16:creationId xmlns:a16="http://schemas.microsoft.com/office/drawing/2014/main" id="{C72CD67C-AE0C-9F91-2A98-3C4550FCA372}"/>
              </a:ext>
            </a:extLst>
          </p:cNvPr>
          <p:cNvGrpSpPr/>
          <p:nvPr/>
        </p:nvGrpSpPr>
        <p:grpSpPr>
          <a:xfrm>
            <a:off x="7523865" y="2319228"/>
            <a:ext cx="677743" cy="276999"/>
            <a:chOff x="5212074" y="2149193"/>
            <a:chExt cx="481242" cy="226171"/>
          </a:xfrm>
        </p:grpSpPr>
        <p:cxnSp>
          <p:nvCxnSpPr>
            <p:cNvPr id="57" name="Straight Arrow Connector 53">
              <a:extLst>
                <a:ext uri="{FF2B5EF4-FFF2-40B4-BE49-F238E27FC236}">
                  <a16:creationId xmlns:a16="http://schemas.microsoft.com/office/drawing/2014/main" id="{751BE7B4-D1A9-FA2F-3947-153FF97DBA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4">
              <a:extLst>
                <a:ext uri="{FF2B5EF4-FFF2-40B4-BE49-F238E27FC236}">
                  <a16:creationId xmlns:a16="http://schemas.microsoft.com/office/drawing/2014/main" id="{BE5300CF-39C0-BF38-D30A-66CDC03D46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8">
            <a:extLst>
              <a:ext uri="{FF2B5EF4-FFF2-40B4-BE49-F238E27FC236}">
                <a16:creationId xmlns:a16="http://schemas.microsoft.com/office/drawing/2014/main" id="{3B8B7BAD-D094-AC67-3FFF-1FAE6A2DBA3C}"/>
              </a:ext>
            </a:extLst>
          </p:cNvPr>
          <p:cNvSpPr txBox="1"/>
          <p:nvPr/>
        </p:nvSpPr>
        <p:spPr>
          <a:xfrm>
            <a:off x="8457845" y="2182213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實體儲物櫃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0" name="Group 52">
            <a:extLst>
              <a:ext uri="{FF2B5EF4-FFF2-40B4-BE49-F238E27FC236}">
                <a16:creationId xmlns:a16="http://schemas.microsoft.com/office/drawing/2014/main" id="{42B25784-6790-1852-5DA4-69A7C87866F0}"/>
              </a:ext>
            </a:extLst>
          </p:cNvPr>
          <p:cNvGrpSpPr/>
          <p:nvPr/>
        </p:nvGrpSpPr>
        <p:grpSpPr>
          <a:xfrm>
            <a:off x="8662100" y="3721814"/>
            <a:ext cx="677743" cy="265487"/>
            <a:chOff x="5212074" y="2149193"/>
            <a:chExt cx="481242" cy="226171"/>
          </a:xfrm>
        </p:grpSpPr>
        <p:cxnSp>
          <p:nvCxnSpPr>
            <p:cNvPr id="61" name="Straight Arrow Connector 53">
              <a:extLst>
                <a:ext uri="{FF2B5EF4-FFF2-40B4-BE49-F238E27FC236}">
                  <a16:creationId xmlns:a16="http://schemas.microsoft.com/office/drawing/2014/main" id="{5342A5A7-D82A-AD54-2EE3-804395068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54">
              <a:extLst>
                <a:ext uri="{FF2B5EF4-FFF2-40B4-BE49-F238E27FC236}">
                  <a16:creationId xmlns:a16="http://schemas.microsoft.com/office/drawing/2014/main" id="{52814250-F79D-76E9-FBE5-5122F7E9B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8">
            <a:extLst>
              <a:ext uri="{FF2B5EF4-FFF2-40B4-BE49-F238E27FC236}">
                <a16:creationId xmlns:a16="http://schemas.microsoft.com/office/drawing/2014/main" id="{B82BBCE0-081F-3A47-8C34-17FAFB1C117D}"/>
              </a:ext>
            </a:extLst>
          </p:cNvPr>
          <p:cNvSpPr txBox="1"/>
          <p:nvPr/>
        </p:nvSpPr>
        <p:spPr>
          <a:xfrm>
            <a:off x="9614742" y="3592110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現狀即可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4" name="Group 27">
            <a:extLst>
              <a:ext uri="{FF2B5EF4-FFF2-40B4-BE49-F238E27FC236}">
                <a16:creationId xmlns:a16="http://schemas.microsoft.com/office/drawing/2014/main" id="{403D518D-6EFC-E713-18D9-C872CFA5FC4C}"/>
              </a:ext>
            </a:extLst>
          </p:cNvPr>
          <p:cNvGrpSpPr/>
          <p:nvPr/>
        </p:nvGrpSpPr>
        <p:grpSpPr>
          <a:xfrm flipH="1" flipV="1">
            <a:off x="3487888" y="5659943"/>
            <a:ext cx="703416" cy="208793"/>
            <a:chOff x="5212074" y="2149193"/>
            <a:chExt cx="593495" cy="226171"/>
          </a:xfrm>
        </p:grpSpPr>
        <p:cxnSp>
          <p:nvCxnSpPr>
            <p:cNvPr id="76" name="Straight Arrow Connector 28">
              <a:extLst>
                <a:ext uri="{FF2B5EF4-FFF2-40B4-BE49-F238E27FC236}">
                  <a16:creationId xmlns:a16="http://schemas.microsoft.com/office/drawing/2014/main" id="{28673D03-1FAE-FDC2-3DB0-F573AFA45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29">
              <a:extLst>
                <a:ext uri="{FF2B5EF4-FFF2-40B4-BE49-F238E27FC236}">
                  <a16:creationId xmlns:a16="http://schemas.microsoft.com/office/drawing/2014/main" id="{08C6887A-AD0F-D549-A66C-A4BE49DB1E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635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">
            <a:extLst>
              <a:ext uri="{FF2B5EF4-FFF2-40B4-BE49-F238E27FC236}">
                <a16:creationId xmlns:a16="http://schemas.microsoft.com/office/drawing/2014/main" id="{CD6BA7B4-0C1D-D2EC-8033-7066188AFB5B}"/>
              </a:ext>
            </a:extLst>
          </p:cNvPr>
          <p:cNvSpPr txBox="1"/>
          <p:nvPr/>
        </p:nvSpPr>
        <p:spPr>
          <a:xfrm>
            <a:off x="1112307" y="5729746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到府收書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CBD5033-754B-3084-EB01-31D239A1727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56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735DB-36B7-D8DB-C2BB-7555E2491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55C2727D-0F9A-D5D1-7E84-CE44BD57DFC3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CDAB1FE6-AE7B-2647-4C73-ABC5DD3107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競品分析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922479D-42BC-3C21-E748-C5E8D3281BD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COMPETITIVE LANDSCAPE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B59B3A64-3B31-B23B-BA1F-07D748317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737265"/>
              </p:ext>
            </p:extLst>
          </p:nvPr>
        </p:nvGraphicFramePr>
        <p:xfrm>
          <a:off x="758890" y="1719606"/>
          <a:ext cx="10674223" cy="4254472"/>
        </p:xfrm>
        <a:graphic>
          <a:graphicData uri="http://schemas.openxmlformats.org/drawingml/2006/table">
            <a:tbl>
              <a:tblPr/>
              <a:tblGrid>
                <a:gridCol w="2058956">
                  <a:extLst>
                    <a:ext uri="{9D8B030D-6E8A-4147-A177-3AD203B41FA5}">
                      <a16:colId xmlns:a16="http://schemas.microsoft.com/office/drawing/2014/main" val="1852204583"/>
                    </a:ext>
                  </a:extLst>
                </a:gridCol>
                <a:gridCol w="2155371">
                  <a:extLst>
                    <a:ext uri="{9D8B030D-6E8A-4147-A177-3AD203B41FA5}">
                      <a16:colId xmlns:a16="http://schemas.microsoft.com/office/drawing/2014/main" val="3247148965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208921538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1395860551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2877387546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072558823"/>
                    </a:ext>
                  </a:extLst>
                </a:gridCol>
              </a:tblGrid>
              <a:tr h="501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功能 </a:t>
                      </a:r>
                      <a:r>
                        <a:rPr lang="en-US" altLang="zh-TW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/ </a:t>
                      </a: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平台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+mj-ea"/>
                        </a:rPr>
                        <a:t>SaveMyBook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蝦皮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旋轉拍賣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臉書社團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spc="50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Noto Sans TC Medium" panose="020B0200000000000000" pitchFamily="34" charset="-120"/>
                        </a:rPr>
                        <a:t>Dcard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62098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ISBN </a:t>
                      </a: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掃描上架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15959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即時聊天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71851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實體智取櫃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094510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圖書精準分類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2757362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代幣化交易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50325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即時付款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724934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會員等級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453115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個人化推薦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kern="1200" dirty="0">
                          <a:solidFill>
                            <a:schemeClr val="tx2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510326"/>
                  </a:ext>
                </a:extLst>
              </a:tr>
            </a:tbl>
          </a:graphicData>
        </a:graphic>
      </p:graphicFrame>
      <p:sp>
        <p:nvSpPr>
          <p:cNvPr id="2" name="文字方塊 1">
            <a:extLst>
              <a:ext uri="{FF2B5EF4-FFF2-40B4-BE49-F238E27FC236}">
                <a16:creationId xmlns:a16="http://schemas.microsoft.com/office/drawing/2014/main" id="{385E2DC1-C1B3-E4A3-C7CD-5FC912756C8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50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B2AF6-D315-6A04-E482-1924CF06D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9B2753C-36B0-26B4-B702-C41E032E06A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BAAC2F-9F53-0893-92E6-0F7FDE1F1C0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系統目標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BD91BF-1C4D-DD7A-B32F-C5E7B992D0B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GOAL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90FA1EA-996C-01AF-A6D2-D8C2A33538CC}"/>
              </a:ext>
            </a:extLst>
          </p:cNvPr>
          <p:cNvSpPr txBox="1"/>
          <p:nvPr/>
        </p:nvSpPr>
        <p:spPr>
          <a:xfrm>
            <a:off x="936175" y="1685554"/>
            <a:ext cx="1530878" cy="1358849"/>
          </a:xfrm>
          <a:custGeom>
            <a:avLst/>
            <a:gdLst>
              <a:gd name="connsiteX0" fmla="*/ 147325 w 163535"/>
              <a:gd name="connsiteY0" fmla="*/ 10 h 145158"/>
              <a:gd name="connsiteX1" fmla="*/ 163535 w 163535"/>
              <a:gd name="connsiteY1" fmla="*/ 1292 h 145158"/>
              <a:gd name="connsiteX2" fmla="*/ 159601 w 163535"/>
              <a:gd name="connsiteY2" fmla="*/ 30515 h 145158"/>
              <a:gd name="connsiteX3" fmla="*/ 139089 w 163535"/>
              <a:gd name="connsiteY3" fmla="*/ 34870 h 145158"/>
              <a:gd name="connsiteX4" fmla="*/ 128833 w 163535"/>
              <a:gd name="connsiteY4" fmla="*/ 50324 h 145158"/>
              <a:gd name="connsiteX5" fmla="*/ 127568 w 163535"/>
              <a:gd name="connsiteY5" fmla="*/ 72944 h 145158"/>
              <a:gd name="connsiteX6" fmla="*/ 163535 w 163535"/>
              <a:gd name="connsiteY6" fmla="*/ 72944 h 145158"/>
              <a:gd name="connsiteX7" fmla="*/ 163535 w 163535"/>
              <a:gd name="connsiteY7" fmla="*/ 145158 h 145158"/>
              <a:gd name="connsiteX8" fmla="*/ 94131 w 163535"/>
              <a:gd name="connsiteY8" fmla="*/ 145158 h 145158"/>
              <a:gd name="connsiteX9" fmla="*/ 94131 w 163535"/>
              <a:gd name="connsiteY9" fmla="*/ 70134 h 145158"/>
              <a:gd name="connsiteX10" fmla="*/ 111552 w 163535"/>
              <a:gd name="connsiteY10" fmla="*/ 14499 h 145158"/>
              <a:gd name="connsiteX11" fmla="*/ 147325 w 163535"/>
              <a:gd name="connsiteY11" fmla="*/ 10 h 145158"/>
              <a:gd name="connsiteX12" fmla="*/ 53195 w 163535"/>
              <a:gd name="connsiteY12" fmla="*/ 10 h 145158"/>
              <a:gd name="connsiteX13" fmla="*/ 69404 w 163535"/>
              <a:gd name="connsiteY13" fmla="*/ 1292 h 145158"/>
              <a:gd name="connsiteX14" fmla="*/ 65470 w 163535"/>
              <a:gd name="connsiteY14" fmla="*/ 30515 h 145158"/>
              <a:gd name="connsiteX15" fmla="*/ 44958 w 163535"/>
              <a:gd name="connsiteY15" fmla="*/ 34870 h 145158"/>
              <a:gd name="connsiteX16" fmla="*/ 34702 w 163535"/>
              <a:gd name="connsiteY16" fmla="*/ 50324 h 145158"/>
              <a:gd name="connsiteX17" fmla="*/ 33438 w 163535"/>
              <a:gd name="connsiteY17" fmla="*/ 72944 h 145158"/>
              <a:gd name="connsiteX18" fmla="*/ 69404 w 163535"/>
              <a:gd name="connsiteY18" fmla="*/ 72944 h 145158"/>
              <a:gd name="connsiteX19" fmla="*/ 69404 w 163535"/>
              <a:gd name="connsiteY19" fmla="*/ 145158 h 145158"/>
              <a:gd name="connsiteX20" fmla="*/ 0 w 163535"/>
              <a:gd name="connsiteY20" fmla="*/ 145158 h 145158"/>
              <a:gd name="connsiteX21" fmla="*/ 0 w 163535"/>
              <a:gd name="connsiteY21" fmla="*/ 70134 h 145158"/>
              <a:gd name="connsiteX22" fmla="*/ 17421 w 163535"/>
              <a:gd name="connsiteY22" fmla="*/ 14499 h 145158"/>
              <a:gd name="connsiteX23" fmla="*/ 53195 w 163535"/>
              <a:gd name="connsiteY23" fmla="*/ 10 h 14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63535" h="145158">
                <a:moveTo>
                  <a:pt x="147325" y="10"/>
                </a:moveTo>
                <a:cubicBezTo>
                  <a:pt x="152371" y="-72"/>
                  <a:pt x="157775" y="355"/>
                  <a:pt x="163535" y="1292"/>
                </a:cubicBezTo>
                <a:lnTo>
                  <a:pt x="159601" y="30515"/>
                </a:lnTo>
                <a:cubicBezTo>
                  <a:pt x="150984" y="29766"/>
                  <a:pt x="144147" y="31217"/>
                  <a:pt x="139089" y="34870"/>
                </a:cubicBezTo>
                <a:cubicBezTo>
                  <a:pt x="134031" y="38523"/>
                  <a:pt x="130612" y="43674"/>
                  <a:pt x="128833" y="50324"/>
                </a:cubicBezTo>
                <a:cubicBezTo>
                  <a:pt x="127053" y="56974"/>
                  <a:pt x="126632" y="64514"/>
                  <a:pt x="127568" y="72944"/>
                </a:cubicBezTo>
                <a:lnTo>
                  <a:pt x="163535" y="72944"/>
                </a:lnTo>
                <a:lnTo>
                  <a:pt x="163535" y="145158"/>
                </a:lnTo>
                <a:lnTo>
                  <a:pt x="94131" y="145158"/>
                </a:lnTo>
                <a:lnTo>
                  <a:pt x="94131" y="70134"/>
                </a:lnTo>
                <a:cubicBezTo>
                  <a:pt x="94131" y="45594"/>
                  <a:pt x="99938" y="27049"/>
                  <a:pt x="111552" y="14499"/>
                </a:cubicBezTo>
                <a:cubicBezTo>
                  <a:pt x="120263" y="5085"/>
                  <a:pt x="132187" y="256"/>
                  <a:pt x="147325" y="10"/>
                </a:cubicBezTo>
                <a:close/>
                <a:moveTo>
                  <a:pt x="53195" y="10"/>
                </a:moveTo>
                <a:cubicBezTo>
                  <a:pt x="58241" y="-72"/>
                  <a:pt x="63644" y="355"/>
                  <a:pt x="69404" y="1292"/>
                </a:cubicBezTo>
                <a:lnTo>
                  <a:pt x="65470" y="30515"/>
                </a:lnTo>
                <a:cubicBezTo>
                  <a:pt x="56853" y="29766"/>
                  <a:pt x="50016" y="31217"/>
                  <a:pt x="44958" y="34870"/>
                </a:cubicBezTo>
                <a:cubicBezTo>
                  <a:pt x="39900" y="38523"/>
                  <a:pt x="36482" y="43674"/>
                  <a:pt x="34702" y="50324"/>
                </a:cubicBezTo>
                <a:cubicBezTo>
                  <a:pt x="32922" y="56974"/>
                  <a:pt x="32501" y="64514"/>
                  <a:pt x="33438" y="72944"/>
                </a:cubicBezTo>
                <a:lnTo>
                  <a:pt x="69404" y="72944"/>
                </a:lnTo>
                <a:lnTo>
                  <a:pt x="69404" y="145158"/>
                </a:lnTo>
                <a:lnTo>
                  <a:pt x="0" y="145158"/>
                </a:lnTo>
                <a:lnTo>
                  <a:pt x="0" y="70134"/>
                </a:lnTo>
                <a:cubicBezTo>
                  <a:pt x="0" y="45594"/>
                  <a:pt x="5807" y="27049"/>
                  <a:pt x="17421" y="14499"/>
                </a:cubicBezTo>
                <a:cubicBezTo>
                  <a:pt x="26132" y="5085"/>
                  <a:pt x="38056" y="256"/>
                  <a:pt x="53195" y="1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endParaRPr lang="en-US" sz="4400" dirty="0"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F7604EE7-2C56-96FE-5B6E-D8C6D5D0CE38}"/>
              </a:ext>
            </a:extLst>
          </p:cNvPr>
          <p:cNvSpPr txBox="1"/>
          <p:nvPr/>
        </p:nvSpPr>
        <p:spPr>
          <a:xfrm>
            <a:off x="1160110" y="2271156"/>
            <a:ext cx="5557934" cy="259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打造</a:t>
            </a:r>
            <a:r>
              <a:rPr lang="en-US" altLang="zh-TW" sz="3200" spc="150" dirty="0">
                <a:solidFill>
                  <a:schemeClr val="accent6"/>
                </a:solidFill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altLang="zh-TW" sz="3200" spc="100" dirty="0">
                <a:solidFill>
                  <a:schemeClr val="accent1"/>
                </a:solidFill>
              </a:rPr>
              <a:t>App </a:t>
            </a:r>
            <a:r>
              <a:rPr lang="zh-TW" altLang="en-US" sz="3200" spc="100" dirty="0">
                <a:solidFill>
                  <a:schemeClr val="accent1"/>
                </a:solidFill>
              </a:rPr>
              <a:t>媒合 </a:t>
            </a:r>
            <a:r>
              <a:rPr lang="en-US" altLang="zh-TW" sz="3200" spc="100" dirty="0">
                <a:solidFill>
                  <a:schemeClr val="accent1"/>
                </a:solidFill>
              </a:rPr>
              <a:t>× IoT </a:t>
            </a:r>
            <a:r>
              <a:rPr lang="zh-TW" altLang="en-US" sz="3200" spc="100" dirty="0">
                <a:solidFill>
                  <a:schemeClr val="accent1"/>
                </a:solidFill>
              </a:rPr>
              <a:t>實體櫃</a:t>
            </a: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的二手書交易</a:t>
            </a:r>
            <a:endParaRPr lang="en-US" altLang="zh-TW" sz="3200" spc="1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閉環系統</a:t>
            </a:r>
            <a:endParaRPr lang="en-US" sz="3200" spc="150" dirty="0">
              <a:solidFill>
                <a:schemeClr val="tx2"/>
              </a:solidFill>
            </a:endParaRPr>
          </a:p>
        </p:txBody>
      </p:sp>
      <p:grpSp>
        <p:nvGrpSpPr>
          <p:cNvPr id="12" name="Group 5">
            <a:extLst>
              <a:ext uri="{FF2B5EF4-FFF2-40B4-BE49-F238E27FC236}">
                <a16:creationId xmlns:a16="http://schemas.microsoft.com/office/drawing/2014/main" id="{D42A37E7-DEB6-2FF6-C6F6-0D2E23A3CB1C}"/>
              </a:ext>
            </a:extLst>
          </p:cNvPr>
          <p:cNvGrpSpPr/>
          <p:nvPr/>
        </p:nvGrpSpPr>
        <p:grpSpPr>
          <a:xfrm>
            <a:off x="7210738" y="1685554"/>
            <a:ext cx="2734406" cy="3070118"/>
            <a:chOff x="6742458" y="843950"/>
            <a:chExt cx="3221459" cy="3616970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57FCA8C8-D99F-6DF7-10C8-4716EC3D80A7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6544703" y="1041705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2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4" name="Rectangle 12">
              <a:extLst>
                <a:ext uri="{FF2B5EF4-FFF2-40B4-BE49-F238E27FC236}">
                  <a16:creationId xmlns:a16="http://schemas.microsoft.com/office/drawing/2014/main" id="{55D4DD5D-F06C-938D-3F59-670E285408F5}"/>
                </a:ext>
              </a:extLst>
            </p:cNvPr>
            <p:cNvSpPr/>
            <p:nvPr/>
          </p:nvSpPr>
          <p:spPr>
            <a:xfrm>
              <a:off x="7180649" y="1622481"/>
              <a:ext cx="2345084" cy="5072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0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非同步交易</a:t>
              </a:r>
              <a:endParaRPr lang="en-US" sz="20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roup 7">
            <a:extLst>
              <a:ext uri="{FF2B5EF4-FFF2-40B4-BE49-F238E27FC236}">
                <a16:creationId xmlns:a16="http://schemas.microsoft.com/office/drawing/2014/main" id="{79CF39AA-8222-D38C-5EC1-B6EDF4BE6A9D}"/>
              </a:ext>
            </a:extLst>
          </p:cNvPr>
          <p:cNvGrpSpPr/>
          <p:nvPr/>
        </p:nvGrpSpPr>
        <p:grpSpPr>
          <a:xfrm>
            <a:off x="6443525" y="3003867"/>
            <a:ext cx="2734406" cy="3070118"/>
            <a:chOff x="5838589" y="2397082"/>
            <a:chExt cx="3221459" cy="3616970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9089997-8B75-7647-D51A-71F523D9F6A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5640834" y="2594837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DCB04540-DC41-9208-07A3-8B91FA1FC0E9}"/>
                </a:ext>
              </a:extLst>
            </p:cNvPr>
            <p:cNvSpPr/>
            <p:nvPr/>
          </p:nvSpPr>
          <p:spPr>
            <a:xfrm>
              <a:off x="5842805" y="4150597"/>
              <a:ext cx="1799310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流程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自動化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7A4AC151-A590-7BE5-B68F-86DFD7469FC7}"/>
              </a:ext>
            </a:extLst>
          </p:cNvPr>
          <p:cNvGrpSpPr/>
          <p:nvPr/>
        </p:nvGrpSpPr>
        <p:grpSpPr>
          <a:xfrm>
            <a:off x="7977952" y="3003866"/>
            <a:ext cx="2734406" cy="3070118"/>
            <a:chOff x="7646329" y="2397081"/>
            <a:chExt cx="3221459" cy="3616970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35883853-7DCC-CC7E-FAF8-01E0EE9C23C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448574" y="2594836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5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27" name="Rectangle 14">
              <a:extLst>
                <a:ext uri="{FF2B5EF4-FFF2-40B4-BE49-F238E27FC236}">
                  <a16:creationId xmlns:a16="http://schemas.microsoft.com/office/drawing/2014/main" id="{F051DEEB-C322-39E6-0940-03AAA903F3C9}"/>
                </a:ext>
              </a:extLst>
            </p:cNvPr>
            <p:cNvSpPr/>
            <p:nvPr/>
          </p:nvSpPr>
          <p:spPr>
            <a:xfrm>
              <a:off x="9104022" y="4128612"/>
              <a:ext cx="1692724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金流與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書況託管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8" name="TextBox 9">
            <a:extLst>
              <a:ext uri="{FF2B5EF4-FFF2-40B4-BE49-F238E27FC236}">
                <a16:creationId xmlns:a16="http://schemas.microsoft.com/office/drawing/2014/main" id="{A2F8A207-F12F-C5EF-571B-EF439BF04721}"/>
              </a:ext>
            </a:extLst>
          </p:cNvPr>
          <p:cNvSpPr txBox="1"/>
          <p:nvPr/>
        </p:nvSpPr>
        <p:spPr>
          <a:xfrm>
            <a:off x="7210739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01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7BF9B1F9-8E03-0AA1-36D0-B281CB3C99CA}"/>
              </a:ext>
            </a:extLst>
          </p:cNvPr>
          <p:cNvSpPr txBox="1"/>
          <p:nvPr/>
        </p:nvSpPr>
        <p:spPr>
          <a:xfrm>
            <a:off x="9027462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02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026AF33F-533A-009A-856C-EA98B8DF7E4D}"/>
              </a:ext>
            </a:extLst>
          </p:cNvPr>
          <p:cNvSpPr txBox="1"/>
          <p:nvPr/>
        </p:nvSpPr>
        <p:spPr>
          <a:xfrm>
            <a:off x="8136595" y="4845230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03</a:t>
            </a:r>
          </a:p>
        </p:txBody>
      </p:sp>
      <p:sp>
        <p:nvSpPr>
          <p:cNvPr id="32" name="Freeform: Shape 19">
            <a:extLst>
              <a:ext uri="{FF2B5EF4-FFF2-40B4-BE49-F238E27FC236}">
                <a16:creationId xmlns:a16="http://schemas.microsoft.com/office/drawing/2014/main" id="{49B9680D-E69C-CEA6-552E-34DA375EAA7C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7899758" y="3479289"/>
            <a:ext cx="1352791" cy="1199978"/>
          </a:xfrm>
          <a:custGeom>
            <a:avLst/>
            <a:gdLst>
              <a:gd name="connsiteX0" fmla="*/ 0 w 1168107"/>
              <a:gd name="connsiteY0" fmla="*/ 517897 h 1036156"/>
              <a:gd name="connsiteX1" fmla="*/ 228273 w 1168107"/>
              <a:gd name="connsiteY1" fmla="*/ 122171 h 1036156"/>
              <a:gd name="connsiteX2" fmla="*/ 246709 w 1168107"/>
              <a:gd name="connsiteY2" fmla="*/ 95164 h 1036156"/>
              <a:gd name="connsiteX3" fmla="*/ 267718 w 1168107"/>
              <a:gd name="connsiteY3" fmla="*/ 70730 h 1036156"/>
              <a:gd name="connsiteX4" fmla="*/ 291729 w 1168107"/>
              <a:gd name="connsiteY4" fmla="*/ 49726 h 1036156"/>
              <a:gd name="connsiteX5" fmla="*/ 318311 w 1168107"/>
              <a:gd name="connsiteY5" fmla="*/ 32150 h 1036156"/>
              <a:gd name="connsiteX6" fmla="*/ 346609 w 1168107"/>
              <a:gd name="connsiteY6" fmla="*/ 18433 h 1036156"/>
              <a:gd name="connsiteX7" fmla="*/ 376193 w 1168107"/>
              <a:gd name="connsiteY7" fmla="*/ 8145 h 1036156"/>
              <a:gd name="connsiteX8" fmla="*/ 408350 w 1168107"/>
              <a:gd name="connsiteY8" fmla="*/ 1715 h 1036156"/>
              <a:gd name="connsiteX9" fmla="*/ 440506 w 1168107"/>
              <a:gd name="connsiteY9" fmla="*/ 0 h 1036156"/>
              <a:gd name="connsiteX10" fmla="*/ 906963 w 1168107"/>
              <a:gd name="connsiteY10" fmla="*/ 0 h 1036156"/>
              <a:gd name="connsiteX11" fmla="*/ 1135093 w 1168107"/>
              <a:gd name="connsiteY11" fmla="*/ 395479 h 1036156"/>
              <a:gd name="connsiteX12" fmla="*/ 1149242 w 1168107"/>
              <a:gd name="connsiteY12" fmla="*/ 424200 h 1036156"/>
              <a:gd name="connsiteX13" fmla="*/ 1159961 w 1168107"/>
              <a:gd name="connsiteY13" fmla="*/ 455064 h 1036156"/>
              <a:gd name="connsiteX14" fmla="*/ 1165534 w 1168107"/>
              <a:gd name="connsiteY14" fmla="*/ 486357 h 1036156"/>
              <a:gd name="connsiteX15" fmla="*/ 1168107 w 1168107"/>
              <a:gd name="connsiteY15" fmla="*/ 517650 h 1036156"/>
              <a:gd name="connsiteX16" fmla="*/ 1165534 w 1168107"/>
              <a:gd name="connsiteY16" fmla="*/ 548942 h 1036156"/>
              <a:gd name="connsiteX17" fmla="*/ 1159961 w 1168107"/>
              <a:gd name="connsiteY17" fmla="*/ 580235 h 1036156"/>
              <a:gd name="connsiteX18" fmla="*/ 1149242 w 1168107"/>
              <a:gd name="connsiteY18" fmla="*/ 611099 h 1036156"/>
              <a:gd name="connsiteX19" fmla="*/ 1135093 w 1168107"/>
              <a:gd name="connsiteY19" fmla="*/ 639820 h 1036156"/>
              <a:gd name="connsiteX20" fmla="*/ 906678 w 1168107"/>
              <a:gd name="connsiteY20" fmla="*/ 1036156 h 1036156"/>
              <a:gd name="connsiteX21" fmla="*/ 440506 w 1168107"/>
              <a:gd name="connsiteY21" fmla="*/ 1036156 h 1036156"/>
              <a:gd name="connsiteX22" fmla="*/ 408350 w 1168107"/>
              <a:gd name="connsiteY22" fmla="*/ 1033584 h 1036156"/>
              <a:gd name="connsiteX23" fmla="*/ 376193 w 1168107"/>
              <a:gd name="connsiteY23" fmla="*/ 1027154 h 1036156"/>
              <a:gd name="connsiteX24" fmla="*/ 346609 w 1168107"/>
              <a:gd name="connsiteY24" fmla="*/ 1016866 h 1036156"/>
              <a:gd name="connsiteX25" fmla="*/ 318311 w 1168107"/>
              <a:gd name="connsiteY25" fmla="*/ 1003149 h 1036156"/>
              <a:gd name="connsiteX26" fmla="*/ 291729 w 1168107"/>
              <a:gd name="connsiteY26" fmla="*/ 985573 h 1036156"/>
              <a:gd name="connsiteX27" fmla="*/ 267718 w 1168107"/>
              <a:gd name="connsiteY27" fmla="*/ 964569 h 1036156"/>
              <a:gd name="connsiteX28" fmla="*/ 246709 w 1168107"/>
              <a:gd name="connsiteY28" fmla="*/ 940563 h 1036156"/>
              <a:gd name="connsiteX29" fmla="*/ 228273 w 1168107"/>
              <a:gd name="connsiteY29" fmla="*/ 913986 h 1036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68107" h="1036156">
                <a:moveTo>
                  <a:pt x="0" y="517897"/>
                </a:moveTo>
                <a:lnTo>
                  <a:pt x="228273" y="122171"/>
                </a:lnTo>
                <a:lnTo>
                  <a:pt x="246709" y="95164"/>
                </a:lnTo>
                <a:lnTo>
                  <a:pt x="267718" y="70730"/>
                </a:lnTo>
                <a:lnTo>
                  <a:pt x="291729" y="49726"/>
                </a:lnTo>
                <a:lnTo>
                  <a:pt x="318311" y="32150"/>
                </a:lnTo>
                <a:lnTo>
                  <a:pt x="346609" y="18433"/>
                </a:lnTo>
                <a:lnTo>
                  <a:pt x="376193" y="8145"/>
                </a:lnTo>
                <a:lnTo>
                  <a:pt x="408350" y="1715"/>
                </a:lnTo>
                <a:lnTo>
                  <a:pt x="440506" y="0"/>
                </a:lnTo>
                <a:lnTo>
                  <a:pt x="906963" y="0"/>
                </a:lnTo>
                <a:lnTo>
                  <a:pt x="1135093" y="395479"/>
                </a:lnTo>
                <a:lnTo>
                  <a:pt x="1149242" y="424200"/>
                </a:lnTo>
                <a:lnTo>
                  <a:pt x="1159961" y="455064"/>
                </a:lnTo>
                <a:lnTo>
                  <a:pt x="1165534" y="486357"/>
                </a:lnTo>
                <a:lnTo>
                  <a:pt x="1168107" y="517650"/>
                </a:lnTo>
                <a:lnTo>
                  <a:pt x="1165534" y="548942"/>
                </a:lnTo>
                <a:lnTo>
                  <a:pt x="1159961" y="580235"/>
                </a:lnTo>
                <a:lnTo>
                  <a:pt x="1149242" y="611099"/>
                </a:lnTo>
                <a:lnTo>
                  <a:pt x="1135093" y="639820"/>
                </a:lnTo>
                <a:lnTo>
                  <a:pt x="906678" y="1036156"/>
                </a:lnTo>
                <a:lnTo>
                  <a:pt x="440506" y="1036156"/>
                </a:lnTo>
                <a:lnTo>
                  <a:pt x="408350" y="1033584"/>
                </a:lnTo>
                <a:lnTo>
                  <a:pt x="376193" y="1027154"/>
                </a:lnTo>
                <a:lnTo>
                  <a:pt x="346609" y="1016866"/>
                </a:lnTo>
                <a:lnTo>
                  <a:pt x="318311" y="1003149"/>
                </a:lnTo>
                <a:lnTo>
                  <a:pt x="291729" y="985573"/>
                </a:lnTo>
                <a:lnTo>
                  <a:pt x="267718" y="964569"/>
                </a:lnTo>
                <a:lnTo>
                  <a:pt x="246709" y="940563"/>
                </a:lnTo>
                <a:lnTo>
                  <a:pt x="228273" y="9139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SV" dirty="0">
              <a:solidFill>
                <a:srgbClr val="111029"/>
              </a:solidFill>
            </a:endParaRPr>
          </a:p>
        </p:txBody>
      </p:sp>
      <p:pic>
        <p:nvPicPr>
          <p:cNvPr id="38" name="圖形 37">
            <a:extLst>
              <a:ext uri="{FF2B5EF4-FFF2-40B4-BE49-F238E27FC236}">
                <a16:creationId xmlns:a16="http://schemas.microsoft.com/office/drawing/2014/main" id="{7A2AB114-113D-2E3E-D519-54646DAE2E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09821" y="3827137"/>
            <a:ext cx="536240" cy="53624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EAA3C9FB-0B35-93B9-DB0E-DDB2419BF4F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528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系統架構與技術使用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917E1-9865-CC22-AEC8-CA7DB90AE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E0160C7-AA9A-C1F8-119B-9C3047CAAC1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68C002-2E5B-E57E-67FD-280A56B76F2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DA92B67-6F4F-3C23-76D6-E4655700BB3C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46D57B6-C83C-9AB8-47BD-7799D4EF81C7}"/>
              </a:ext>
            </a:extLst>
          </p:cNvPr>
          <p:cNvGrpSpPr/>
          <p:nvPr/>
        </p:nvGrpSpPr>
        <p:grpSpPr>
          <a:xfrm>
            <a:off x="3668307" y="4318915"/>
            <a:ext cx="3170234" cy="1966286"/>
            <a:chOff x="567912" y="-29"/>
            <a:chExt cx="11058172" cy="6858645"/>
          </a:xfrm>
        </p:grpSpPr>
        <p:sp>
          <p:nvSpPr>
            <p:cNvPr id="13" name="Freeform: Shape 2">
              <a:extLst>
                <a:ext uri="{FF2B5EF4-FFF2-40B4-BE49-F238E27FC236}">
                  <a16:creationId xmlns:a16="http://schemas.microsoft.com/office/drawing/2014/main" id="{C258891C-17E4-1D18-794C-74BE38960E43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6559E809-B79B-4871-1795-1A8486EE45B0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42">
            <a:extLst>
              <a:ext uri="{FF2B5EF4-FFF2-40B4-BE49-F238E27FC236}">
                <a16:creationId xmlns:a16="http://schemas.microsoft.com/office/drawing/2014/main" id="{1A134501-BDD4-4149-2FF9-9CD502F9BB85}"/>
              </a:ext>
            </a:extLst>
          </p:cNvPr>
          <p:cNvGrpSpPr/>
          <p:nvPr/>
        </p:nvGrpSpPr>
        <p:grpSpPr>
          <a:xfrm>
            <a:off x="3668277" y="3041557"/>
            <a:ext cx="3170234" cy="1966286"/>
            <a:chOff x="567912" y="-29"/>
            <a:chExt cx="11058172" cy="6858645"/>
          </a:xfrm>
        </p:grpSpPr>
        <p:sp>
          <p:nvSpPr>
            <p:cNvPr id="22" name="Freeform: Shape 43">
              <a:extLst>
                <a:ext uri="{FF2B5EF4-FFF2-40B4-BE49-F238E27FC236}">
                  <a16:creationId xmlns:a16="http://schemas.microsoft.com/office/drawing/2014/main" id="{916AF37D-97E7-17E9-AE46-B119D49D40E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44">
              <a:extLst>
                <a:ext uri="{FF2B5EF4-FFF2-40B4-BE49-F238E27FC236}">
                  <a16:creationId xmlns:a16="http://schemas.microsoft.com/office/drawing/2014/main" id="{F1AEA468-2253-F9AD-2D9D-6CB8F7E3039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25" name="Group 7">
            <a:extLst>
              <a:ext uri="{FF2B5EF4-FFF2-40B4-BE49-F238E27FC236}">
                <a16:creationId xmlns:a16="http://schemas.microsoft.com/office/drawing/2014/main" id="{B75CE521-983D-6C45-15F1-B8615CAC79DF}"/>
              </a:ext>
            </a:extLst>
          </p:cNvPr>
          <p:cNvGrpSpPr/>
          <p:nvPr/>
        </p:nvGrpSpPr>
        <p:grpSpPr>
          <a:xfrm>
            <a:off x="3668277" y="1764199"/>
            <a:ext cx="3170234" cy="1966286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C5894D57-8CFA-93DF-4CFE-A8B3D03F7E43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55E9B809-01F0-880A-B88A-A0717A7A4794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384EC5F-03CB-76C3-7267-7BBF2E9DFB5C}"/>
              </a:ext>
            </a:extLst>
          </p:cNvPr>
          <p:cNvSpPr txBox="1"/>
          <p:nvPr/>
        </p:nvSpPr>
        <p:spPr>
          <a:xfrm>
            <a:off x="3684971" y="2373949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App</a:t>
            </a:r>
            <a:r>
              <a:rPr lang="zh-TW" altLang="en-US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 </a:t>
            </a: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Layer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BBB7F55-1985-AC61-5C1A-7F0628313CE4}"/>
              </a:ext>
            </a:extLst>
          </p:cNvPr>
          <p:cNvSpPr txBox="1"/>
          <p:nvPr/>
        </p:nvSpPr>
        <p:spPr>
          <a:xfrm rot="5400000">
            <a:off x="7219244" y="3193689"/>
            <a:ext cx="422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chemeClr val="accent6"/>
                </a:solidFill>
              </a:rPr>
              <a:t>⇄</a:t>
            </a:r>
          </a:p>
        </p:txBody>
      </p:sp>
      <p:sp>
        <p:nvSpPr>
          <p:cNvPr id="39" name="TextBox 55">
            <a:extLst>
              <a:ext uri="{FF2B5EF4-FFF2-40B4-BE49-F238E27FC236}">
                <a16:creationId xmlns:a16="http://schemas.microsoft.com/office/drawing/2014/main" id="{3F149576-9D14-153B-7B6C-20C6C1E04FBD}"/>
              </a:ext>
            </a:extLst>
          </p:cNvPr>
          <p:cNvSpPr txBox="1"/>
          <p:nvPr/>
        </p:nvSpPr>
        <p:spPr>
          <a:xfrm>
            <a:off x="7661470" y="3253962"/>
            <a:ext cx="2089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pt-PT" altLang="zh-TW" sz="2000" spc="50" dirty="0">
                <a:solidFill>
                  <a:schemeClr val="accent6"/>
                </a:solidFill>
              </a:rPr>
              <a:t>RESTful API</a:t>
            </a:r>
            <a:endParaRPr lang="en-US" sz="2000" spc="50" dirty="0">
              <a:solidFill>
                <a:schemeClr val="accent6"/>
              </a:solidFill>
            </a:endParaRPr>
          </a:p>
        </p:txBody>
      </p:sp>
      <p:sp>
        <p:nvSpPr>
          <p:cNvPr id="41" name="TextBox 55">
            <a:extLst>
              <a:ext uri="{FF2B5EF4-FFF2-40B4-BE49-F238E27FC236}">
                <a16:creationId xmlns:a16="http://schemas.microsoft.com/office/drawing/2014/main" id="{18FB452E-A853-A95A-FF52-D012DEACE78C}"/>
              </a:ext>
            </a:extLst>
          </p:cNvPr>
          <p:cNvSpPr txBox="1"/>
          <p:nvPr/>
        </p:nvSpPr>
        <p:spPr>
          <a:xfrm>
            <a:off x="3684971" y="3793861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42" name="TextBox 55">
            <a:extLst>
              <a:ext uri="{FF2B5EF4-FFF2-40B4-BE49-F238E27FC236}">
                <a16:creationId xmlns:a16="http://schemas.microsoft.com/office/drawing/2014/main" id="{B076476C-0E39-40F7-25C9-80E353C4B5A5}"/>
              </a:ext>
            </a:extLst>
          </p:cNvPr>
          <p:cNvSpPr txBox="1"/>
          <p:nvPr/>
        </p:nvSpPr>
        <p:spPr>
          <a:xfrm>
            <a:off x="3684971" y="5066824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1F73A36B-CAC0-8F69-C791-08A3C06F79D0}"/>
              </a:ext>
            </a:extLst>
          </p:cNvPr>
          <p:cNvSpPr txBox="1"/>
          <p:nvPr/>
        </p:nvSpPr>
        <p:spPr>
          <a:xfrm rot="5400000">
            <a:off x="7219244" y="4547448"/>
            <a:ext cx="422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chemeClr val="accent6"/>
                </a:solidFill>
              </a:rPr>
              <a:t>⇄</a:t>
            </a:r>
          </a:p>
        </p:txBody>
      </p:sp>
      <p:sp>
        <p:nvSpPr>
          <p:cNvPr id="44" name="TextBox 55">
            <a:extLst>
              <a:ext uri="{FF2B5EF4-FFF2-40B4-BE49-F238E27FC236}">
                <a16:creationId xmlns:a16="http://schemas.microsoft.com/office/drawing/2014/main" id="{7961B768-7AB9-E49A-E22A-C0B986BD7D4F}"/>
              </a:ext>
            </a:extLst>
          </p:cNvPr>
          <p:cNvSpPr txBox="1"/>
          <p:nvPr/>
        </p:nvSpPr>
        <p:spPr>
          <a:xfrm>
            <a:off x="7661470" y="4607721"/>
            <a:ext cx="2089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pt-PT" altLang="zh-TW" sz="2000" spc="50" dirty="0">
                <a:solidFill>
                  <a:schemeClr val="accent6"/>
                </a:solidFill>
              </a:rPr>
              <a:t>MQTT</a:t>
            </a:r>
            <a:endParaRPr lang="en-US" sz="2000" spc="50" dirty="0">
              <a:solidFill>
                <a:schemeClr val="accent6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D89B4D-A2DD-9589-D1F8-FF9143A101A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660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E4750-C50E-B179-36A1-9785E6778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A9ABDE9-F85E-B116-855C-FBFB30AFA43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BDA18A-3F51-257A-D1AE-CB6E532C8C9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F5606C-77C4-6673-0611-3E1ABFBE1BA1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25" name="Group 7">
            <a:extLst>
              <a:ext uri="{FF2B5EF4-FFF2-40B4-BE49-F238E27FC236}">
                <a16:creationId xmlns:a16="http://schemas.microsoft.com/office/drawing/2014/main" id="{FF261639-9DBE-0584-D3D6-DE16BC0EB355}"/>
              </a:ext>
            </a:extLst>
          </p:cNvPr>
          <p:cNvGrpSpPr/>
          <p:nvPr/>
        </p:nvGrpSpPr>
        <p:grpSpPr>
          <a:xfrm>
            <a:off x="1270168" y="2550778"/>
            <a:ext cx="4431883" cy="2748803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51526354-604F-1773-FC04-628910C37866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27795A3A-A1AC-A584-666A-E17191CF627C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B46DFD2-7216-2596-7DD2-3562EFFE273A}"/>
              </a:ext>
            </a:extLst>
          </p:cNvPr>
          <p:cNvSpPr txBox="1"/>
          <p:nvPr/>
        </p:nvSpPr>
        <p:spPr>
          <a:xfrm>
            <a:off x="1286863" y="3425713"/>
            <a:ext cx="4408521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3200" dirty="0"/>
              <a:t>App</a:t>
            </a:r>
            <a:r>
              <a:rPr lang="zh-TW" altLang="en-US" sz="3200" dirty="0"/>
              <a:t> </a:t>
            </a:r>
            <a:r>
              <a:rPr lang="en-US" altLang="zh-TW" sz="3200" dirty="0"/>
              <a:t>Layer</a:t>
            </a:r>
            <a:endParaRPr lang="en-US" sz="32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B79CD72-30F6-CD42-2598-7BC99A4DA26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34DBD00-27DE-17BF-4C2D-E494395E931B}"/>
              </a:ext>
            </a:extLst>
          </p:cNvPr>
          <p:cNvGrpSpPr/>
          <p:nvPr/>
        </p:nvGrpSpPr>
        <p:grpSpPr>
          <a:xfrm>
            <a:off x="1270168" y="8276571"/>
            <a:ext cx="4425246" cy="2744686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45C60D8F-4176-EE15-0ED0-64C5D55830BF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76D753EF-0227-D95C-E1D2-045841AC52F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" name="Group 42">
            <a:extLst>
              <a:ext uri="{FF2B5EF4-FFF2-40B4-BE49-F238E27FC236}">
                <a16:creationId xmlns:a16="http://schemas.microsoft.com/office/drawing/2014/main" id="{2A5FE69F-BDE0-D98B-9F48-965DCF518585}"/>
              </a:ext>
            </a:extLst>
          </p:cNvPr>
          <p:cNvGrpSpPr/>
          <p:nvPr/>
        </p:nvGrpSpPr>
        <p:grpSpPr>
          <a:xfrm>
            <a:off x="1270138" y="6999213"/>
            <a:ext cx="4425246" cy="2744686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5893CFE1-7884-8225-52A5-D4938B183C47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94129FC-74A3-03AF-1C73-89EF36C01B1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2" name="TextBox 55">
            <a:extLst>
              <a:ext uri="{FF2B5EF4-FFF2-40B4-BE49-F238E27FC236}">
                <a16:creationId xmlns:a16="http://schemas.microsoft.com/office/drawing/2014/main" id="{CF0D6E19-F69B-F09F-B790-58FA809368C9}"/>
              </a:ext>
            </a:extLst>
          </p:cNvPr>
          <p:cNvSpPr txBox="1"/>
          <p:nvPr/>
        </p:nvSpPr>
        <p:spPr>
          <a:xfrm>
            <a:off x="1291804" y="7865076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13" name="TextBox 55">
            <a:extLst>
              <a:ext uri="{FF2B5EF4-FFF2-40B4-BE49-F238E27FC236}">
                <a16:creationId xmlns:a16="http://schemas.microsoft.com/office/drawing/2014/main" id="{D58E37DF-C637-AD4B-9627-18CC03869A82}"/>
              </a:ext>
            </a:extLst>
          </p:cNvPr>
          <p:cNvSpPr txBox="1"/>
          <p:nvPr/>
        </p:nvSpPr>
        <p:spPr>
          <a:xfrm>
            <a:off x="1291804" y="9138039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</p:spTree>
    <p:extLst>
      <p:ext uri="{BB962C8B-B14F-4D97-AF65-F5344CB8AC3E}">
        <p14:creationId xmlns:p14="http://schemas.microsoft.com/office/powerpoint/2010/main" val="551510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74A28-B41C-7FEE-B418-2F368441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8491E42-0487-75C0-925A-FA314C0A65E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5D58CCE-0B12-E2C2-94C7-B7CC75CF18FD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D0C7B1-18EB-35FD-2396-6E45A08C5B0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25CF4B-0CDF-C810-7F31-F3528E0B2A3F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83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259F3-9A21-EE7F-42C6-DABCD513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371E3-FD1F-EC49-A8B4-4C308AE85658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AD2E6CAC-4FB9-9A48-31A1-292D964DB8A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軟硬體整合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8C8E45-D0F0-E942-0FD8-888F68A72BB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END-TO-END FLOW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BCE16EC-A6A7-89C8-C533-DB685FE62CEC}"/>
              </a:ext>
            </a:extLst>
          </p:cNvPr>
          <p:cNvGrpSpPr/>
          <p:nvPr/>
        </p:nvGrpSpPr>
        <p:grpSpPr>
          <a:xfrm>
            <a:off x="2046000" y="3296563"/>
            <a:ext cx="8100000" cy="0"/>
            <a:chOff x="1776000" y="3259447"/>
            <a:chExt cx="8386769" cy="0"/>
          </a:xfrm>
        </p:grpSpPr>
        <p:cxnSp>
          <p:nvCxnSpPr>
            <p:cNvPr id="33" name="Straight Connector 25">
              <a:extLst>
                <a:ext uri="{FF2B5EF4-FFF2-40B4-BE49-F238E27FC236}">
                  <a16:creationId xmlns:a16="http://schemas.microsoft.com/office/drawing/2014/main" id="{E76E318B-A5FF-A5B1-67A1-6F2ECD8772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600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1">
              <a:extLst>
                <a:ext uri="{FF2B5EF4-FFF2-40B4-BE49-F238E27FC236}">
                  <a16:creationId xmlns:a16="http://schemas.microsoft.com/office/drawing/2014/main" id="{0E7A0828-BBD4-1006-313A-ADFB13989E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5159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2">
              <a:extLst>
                <a:ext uri="{FF2B5EF4-FFF2-40B4-BE49-F238E27FC236}">
                  <a16:creationId xmlns:a16="http://schemas.microsoft.com/office/drawing/2014/main" id="{20E793B9-7B50-569B-34D9-FFDE698B44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2717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33">
              <a:extLst>
                <a:ext uri="{FF2B5EF4-FFF2-40B4-BE49-F238E27FC236}">
                  <a16:creationId xmlns:a16="http://schemas.microsoft.com/office/drawing/2014/main" id="{CD43FA01-AB86-2ABC-8736-A28F4D82A8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0276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14664589-7475-87F1-25B6-FB7426BF9054}"/>
              </a:ext>
            </a:extLst>
          </p:cNvPr>
          <p:cNvGrpSpPr/>
          <p:nvPr/>
        </p:nvGrpSpPr>
        <p:grpSpPr>
          <a:xfrm>
            <a:off x="653869" y="2881667"/>
            <a:ext cx="1735369" cy="1767348"/>
            <a:chOff x="653869" y="2896907"/>
            <a:chExt cx="1735369" cy="1767348"/>
          </a:xfrm>
        </p:grpSpPr>
        <p:sp>
          <p:nvSpPr>
            <p:cNvPr id="62" name="Graphic 18">
              <a:extLst>
                <a:ext uri="{FF2B5EF4-FFF2-40B4-BE49-F238E27FC236}">
                  <a16:creationId xmlns:a16="http://schemas.microsoft.com/office/drawing/2014/main" id="{42688AB2-E776-2060-B485-6D4D72354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5703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3">
                <a:lumMod val="90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3" name="TextBox 55">
              <a:extLst>
                <a:ext uri="{FF2B5EF4-FFF2-40B4-BE49-F238E27FC236}">
                  <a16:creationId xmlns:a16="http://schemas.microsoft.com/office/drawing/2014/main" id="{E7EC0325-A291-7C4A-9B00-5309A798E61E}"/>
                </a:ext>
              </a:extLst>
            </p:cNvPr>
            <p:cNvSpPr txBox="1"/>
            <p:nvPr/>
          </p:nvSpPr>
          <p:spPr>
            <a:xfrm>
              <a:off x="653869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買家到達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實體書櫃前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2" name="圖形 71">
              <a:extLst>
                <a:ext uri="{FF2B5EF4-FFF2-40B4-BE49-F238E27FC236}">
                  <a16:creationId xmlns:a16="http://schemas.microsoft.com/office/drawing/2014/main" id="{1A65F803-37FA-A2E9-3664-E64AAF5E9D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1679" y="3054943"/>
              <a:ext cx="468000" cy="468000"/>
            </a:xfrm>
            <a:prstGeom prst="rect">
              <a:avLst/>
            </a:prstGeom>
          </p:spPr>
        </p:pic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C3FE9253-D1D4-A872-E08B-73A566FBF6C5}"/>
              </a:ext>
            </a:extLst>
          </p:cNvPr>
          <p:cNvGrpSpPr/>
          <p:nvPr/>
        </p:nvGrpSpPr>
        <p:grpSpPr>
          <a:xfrm>
            <a:off x="2935600" y="2881667"/>
            <a:ext cx="1735369" cy="1767348"/>
            <a:chOff x="2942142" y="2896907"/>
            <a:chExt cx="1735369" cy="1767348"/>
          </a:xfrm>
        </p:grpSpPr>
        <p:sp>
          <p:nvSpPr>
            <p:cNvPr id="47" name="Graphic 18">
              <a:extLst>
                <a:ext uri="{FF2B5EF4-FFF2-40B4-BE49-F238E27FC236}">
                  <a16:creationId xmlns:a16="http://schemas.microsoft.com/office/drawing/2014/main" id="{98873B02-EB36-D79B-7F78-E6A66CDD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49850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5" name="TextBox 55">
              <a:extLst>
                <a:ext uri="{FF2B5EF4-FFF2-40B4-BE49-F238E27FC236}">
                  <a16:creationId xmlns:a16="http://schemas.microsoft.com/office/drawing/2014/main" id="{777ECA19-26D6-539F-9A90-98984AF73BA9}"/>
                </a:ext>
              </a:extLst>
            </p:cNvPr>
            <p:cNvSpPr txBox="1"/>
            <p:nvPr/>
          </p:nvSpPr>
          <p:spPr>
            <a:xfrm>
              <a:off x="2942142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App </a:t>
              </a: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點擊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「取書」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2E61A8FA-DC9C-76B3-E236-262EBB821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75826" y="3054943"/>
              <a:ext cx="468000" cy="468000"/>
            </a:xfrm>
            <a:prstGeom prst="rect">
              <a:avLst/>
            </a:prstGeom>
          </p:spPr>
        </p:pic>
      </p:grpSp>
      <p:sp>
        <p:nvSpPr>
          <p:cNvPr id="59" name="Graphic 18">
            <a:extLst>
              <a:ext uri="{FF2B5EF4-FFF2-40B4-BE49-F238E27FC236}">
                <a16:creationId xmlns:a16="http://schemas.microsoft.com/office/drawing/2014/main" id="{FD94205C-CB15-9DC7-BDAD-A7A267750AFA}"/>
              </a:ext>
            </a:extLst>
          </p:cNvPr>
          <p:cNvSpPr>
            <a:spLocks noChangeAspect="1"/>
          </p:cNvSpPr>
          <p:nvPr/>
        </p:nvSpPr>
        <p:spPr>
          <a:xfrm>
            <a:off x="5736024" y="2903573"/>
            <a:ext cx="719952" cy="784072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TextBox 55">
            <a:extLst>
              <a:ext uri="{FF2B5EF4-FFF2-40B4-BE49-F238E27FC236}">
                <a16:creationId xmlns:a16="http://schemas.microsoft.com/office/drawing/2014/main" id="{3BBBB2B5-3175-556E-F878-95FC86F2D76B}"/>
              </a:ext>
            </a:extLst>
          </p:cNvPr>
          <p:cNvSpPr txBox="1"/>
          <p:nvPr/>
        </p:nvSpPr>
        <p:spPr>
          <a:xfrm>
            <a:off x="5191183" y="3941811"/>
            <a:ext cx="1809636" cy="733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驗證 </a:t>
            </a:r>
            <a:r>
              <a:rPr lang="pt-PT" altLang="zh-TW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GPS &amp; </a:t>
            </a:r>
          </a:p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掃描 </a:t>
            </a:r>
            <a:r>
              <a:rPr lang="pt-PT" altLang="zh-TW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QR Code</a:t>
            </a:r>
            <a:endParaRPr lang="en-US" b="1" spc="5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F928027C-5A29-97A3-7F8C-7404CA4E13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4000" y="3043609"/>
            <a:ext cx="504000" cy="504000"/>
          </a:xfrm>
          <a:prstGeom prst="rect">
            <a:avLst/>
          </a:prstGeom>
        </p:spPr>
      </p:pic>
      <p:sp>
        <p:nvSpPr>
          <p:cNvPr id="60" name="Graphic 18">
            <a:extLst>
              <a:ext uri="{FF2B5EF4-FFF2-40B4-BE49-F238E27FC236}">
                <a16:creationId xmlns:a16="http://schemas.microsoft.com/office/drawing/2014/main" id="{CB84B9D7-AA30-ECD4-3956-35BBA34C7054}"/>
              </a:ext>
            </a:extLst>
          </p:cNvPr>
          <p:cNvSpPr>
            <a:spLocks noChangeAspect="1"/>
          </p:cNvSpPr>
          <p:nvPr/>
        </p:nvSpPr>
        <p:spPr>
          <a:xfrm>
            <a:off x="8030385" y="2903573"/>
            <a:ext cx="719952" cy="784072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TextBox 55">
            <a:extLst>
              <a:ext uri="{FF2B5EF4-FFF2-40B4-BE49-F238E27FC236}">
                <a16:creationId xmlns:a16="http://schemas.microsoft.com/office/drawing/2014/main" id="{21E90E44-DC22-01AE-13B6-DA1C1F8E0304}"/>
              </a:ext>
            </a:extLst>
          </p:cNvPr>
          <p:cNvSpPr txBox="1"/>
          <p:nvPr/>
        </p:nvSpPr>
        <p:spPr>
          <a:xfrm>
            <a:off x="7521033" y="3919905"/>
            <a:ext cx="1735369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雲端發送</a:t>
            </a:r>
            <a:endParaRPr lang="en-US" altLang="zh-TW" spc="10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加密訊號</a:t>
            </a:r>
            <a:endParaRPr lang="en-US" spc="10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</p:txBody>
      </p:sp>
      <p:pic>
        <p:nvPicPr>
          <p:cNvPr id="78" name="圖片 77">
            <a:extLst>
              <a:ext uri="{FF2B5EF4-FFF2-40B4-BE49-F238E27FC236}">
                <a16:creationId xmlns:a16="http://schemas.microsoft.com/office/drawing/2014/main" id="{6602543F-5175-AC75-0459-DF846972DD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361" y="3061609"/>
            <a:ext cx="468000" cy="468000"/>
          </a:xfrm>
          <a:prstGeom prst="rect">
            <a:avLst/>
          </a:prstGeom>
        </p:spPr>
      </p:pic>
      <p:grpSp>
        <p:nvGrpSpPr>
          <p:cNvPr id="85" name="群組 84">
            <a:extLst>
              <a:ext uri="{FF2B5EF4-FFF2-40B4-BE49-F238E27FC236}">
                <a16:creationId xmlns:a16="http://schemas.microsoft.com/office/drawing/2014/main" id="{77CE86A2-180A-43D0-D1D1-48729077724B}"/>
              </a:ext>
            </a:extLst>
          </p:cNvPr>
          <p:cNvGrpSpPr/>
          <p:nvPr/>
        </p:nvGrpSpPr>
        <p:grpSpPr>
          <a:xfrm>
            <a:off x="9855059" y="2881667"/>
            <a:ext cx="1735369" cy="1767348"/>
            <a:chOff x="9855059" y="2896907"/>
            <a:chExt cx="1735369" cy="1767348"/>
          </a:xfrm>
        </p:grpSpPr>
        <p:sp>
          <p:nvSpPr>
            <p:cNvPr id="61" name="Graphic 18">
              <a:extLst>
                <a:ext uri="{FF2B5EF4-FFF2-40B4-BE49-F238E27FC236}">
                  <a16:creationId xmlns:a16="http://schemas.microsoft.com/office/drawing/2014/main" id="{CDADE9BA-7942-69AD-A47C-EB7935C76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62767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8" name="TextBox 55">
              <a:extLst>
                <a:ext uri="{FF2B5EF4-FFF2-40B4-BE49-F238E27FC236}">
                  <a16:creationId xmlns:a16="http://schemas.microsoft.com/office/drawing/2014/main" id="{6595DB26-B917-513F-F91A-5206B31DE3F2}"/>
                </a:ext>
              </a:extLst>
            </p:cNvPr>
            <p:cNvSpPr txBox="1"/>
            <p:nvPr/>
          </p:nvSpPr>
          <p:spPr>
            <a:xfrm>
              <a:off x="9855059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馬達帶動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櫃門開啟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B76129AA-ABD7-997E-0715-BD099D01C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88743" y="3054943"/>
              <a:ext cx="468000" cy="468000"/>
            </a:xfrm>
            <a:prstGeom prst="rect">
              <a:avLst/>
            </a:prstGeom>
          </p:spPr>
        </p:pic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CA1965CE-C793-812B-CAAF-DFB3AA44F88C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368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300" dirty="0">
                <a:solidFill>
                  <a:schemeClr val="bg1"/>
                </a:solidFill>
                <a:latin typeface="+mj-ea"/>
                <a:ea typeface="+mj-ea"/>
              </a:rPr>
              <a:t>APP</a:t>
            </a:r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畫面展示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72AC9-9BE2-770E-0F9F-720E78F9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110A3-47E6-31F1-6B05-5A0E120016F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E64186-C7F9-8B55-8065-984AC1974C6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會員註冊與登入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AE6386-F855-258A-1779-0FB03B4EB7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SIGNUP &amp; LOGIN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B3EA4A2-56FB-EB64-3555-ACFD8C9DE5E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374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交易爭議處理機制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E7A965-B9B8-A5A5-FB2F-E964F016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CD19AF3-FF08-ED56-B472-4ADEE8BDA40E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A09C518-3122-9082-E70E-D1B47E0B8F8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三道防線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864132-91E7-7B84-039B-2C3E5ED01260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THREE-LAYER SAFEGUARD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B79728-3777-6130-9299-13C63A3ED15E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為解決二手書最常見的「書況不符」問題， 系統設計三道防線，確保交易公平。</a:t>
            </a:r>
          </a:p>
        </p:txBody>
      </p: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998DAB13-BE01-E1AA-65D0-90E586D01035}"/>
              </a:ext>
            </a:extLst>
          </p:cNvPr>
          <p:cNvGrpSpPr/>
          <p:nvPr/>
        </p:nvGrpSpPr>
        <p:grpSpPr>
          <a:xfrm>
            <a:off x="758890" y="2762451"/>
            <a:ext cx="3336720" cy="1068682"/>
            <a:chOff x="758890" y="2995295"/>
            <a:chExt cx="3336720" cy="1134221"/>
          </a:xfrm>
        </p:grpSpPr>
        <p:sp>
          <p:nvSpPr>
            <p:cNvPr id="47" name="Arrow: Chevron 8">
              <a:extLst>
                <a:ext uri="{FF2B5EF4-FFF2-40B4-BE49-F238E27FC236}">
                  <a16:creationId xmlns:a16="http://schemas.microsoft.com/office/drawing/2014/main" id="{708269EA-E338-2493-20EA-3E47379EF698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TextBox 9">
              <a:extLst>
                <a:ext uri="{FF2B5EF4-FFF2-40B4-BE49-F238E27FC236}">
                  <a16:creationId xmlns:a16="http://schemas.microsoft.com/office/drawing/2014/main" id="{F15A2A4D-1877-87E1-24F0-CD5AFA4DAB2A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上架強制規範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10">
              <a:extLst>
                <a:ext uri="{FF2B5EF4-FFF2-40B4-BE49-F238E27FC236}">
                  <a16:creationId xmlns:a16="http://schemas.microsoft.com/office/drawing/2014/main" id="{6152957D-5032-8CEB-5A35-63E8C86AD498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01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345F59D7-1AEC-1FE0-42DC-B34EC1F01069}"/>
              </a:ext>
            </a:extLst>
          </p:cNvPr>
          <p:cNvGrpSpPr/>
          <p:nvPr/>
        </p:nvGrpSpPr>
        <p:grpSpPr>
          <a:xfrm>
            <a:off x="4427640" y="2762451"/>
            <a:ext cx="3336720" cy="1068682"/>
            <a:chOff x="758890" y="2995295"/>
            <a:chExt cx="3336720" cy="1134221"/>
          </a:xfrm>
        </p:grpSpPr>
        <p:sp>
          <p:nvSpPr>
            <p:cNvPr id="52" name="Arrow: Chevron 8">
              <a:extLst>
                <a:ext uri="{FF2B5EF4-FFF2-40B4-BE49-F238E27FC236}">
                  <a16:creationId xmlns:a16="http://schemas.microsoft.com/office/drawing/2014/main" id="{62CF6729-312E-5F60-0497-2098BC34203E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TextBox 9">
              <a:extLst>
                <a:ext uri="{FF2B5EF4-FFF2-40B4-BE49-F238E27FC236}">
                  <a16:creationId xmlns:a16="http://schemas.microsoft.com/office/drawing/2014/main" id="{B1419324-1937-8F9C-4C3C-A207E6173F12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現場開櫃驗收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4" name="TextBox 10">
              <a:extLst>
                <a:ext uri="{FF2B5EF4-FFF2-40B4-BE49-F238E27FC236}">
                  <a16:creationId xmlns:a16="http://schemas.microsoft.com/office/drawing/2014/main" id="{1D0890C1-7E28-EA3F-684C-8044EA4F9087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02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DC7DD01-5694-FDB9-1ECD-813026A33676}"/>
              </a:ext>
            </a:extLst>
          </p:cNvPr>
          <p:cNvGrpSpPr/>
          <p:nvPr/>
        </p:nvGrpSpPr>
        <p:grpSpPr>
          <a:xfrm>
            <a:off x="8096390" y="2762451"/>
            <a:ext cx="3336720" cy="1068682"/>
            <a:chOff x="758890" y="2995295"/>
            <a:chExt cx="3336720" cy="1134221"/>
          </a:xfrm>
        </p:grpSpPr>
        <p:sp>
          <p:nvSpPr>
            <p:cNvPr id="56" name="Arrow: Chevron 8">
              <a:extLst>
                <a:ext uri="{FF2B5EF4-FFF2-40B4-BE49-F238E27FC236}">
                  <a16:creationId xmlns:a16="http://schemas.microsoft.com/office/drawing/2014/main" id="{C4C54BFF-9DCF-D2C6-916D-C2DEC1951762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tx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TextBox 9">
              <a:extLst>
                <a:ext uri="{FF2B5EF4-FFF2-40B4-BE49-F238E27FC236}">
                  <a16:creationId xmlns:a16="http://schemas.microsoft.com/office/drawing/2014/main" id="{D19C909A-9BB9-5BCB-3870-DFF9433EE4BE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第三方仲裁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8" name="TextBox 10">
              <a:extLst>
                <a:ext uri="{FF2B5EF4-FFF2-40B4-BE49-F238E27FC236}">
                  <a16:creationId xmlns:a16="http://schemas.microsoft.com/office/drawing/2014/main" id="{EEA28011-AC27-0915-34DF-DB8980BF802A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03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AC96C6D4-DFE8-3A07-8EBA-EE199FCFAC1D}"/>
              </a:ext>
            </a:extLst>
          </p:cNvPr>
          <p:cNvSpPr txBox="1"/>
          <p:nvPr/>
        </p:nvSpPr>
        <p:spPr>
          <a:xfrm>
            <a:off x="691515" y="4083541"/>
            <a:ext cx="3336720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上傳封面、封底與 </a:t>
            </a:r>
            <a:r>
              <a:rPr lang="en-US" altLang="zh-TW" sz="1700" spc="50" dirty="0"/>
              <a:t>ISBN </a:t>
            </a:r>
            <a:r>
              <a:rPr lang="zh-TW" altLang="en-US" sz="1700" spc="50" dirty="0"/>
              <a:t>碼</a:t>
            </a:r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作為爭議發生時之原始憑據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系統自動雜湊圖檔，防偽造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3E0FCA63-8CE4-17CC-918B-1D5F2ABB902D}"/>
              </a:ext>
            </a:extLst>
          </p:cNvPr>
          <p:cNvSpPr txBox="1"/>
          <p:nvPr/>
        </p:nvSpPr>
        <p:spPr>
          <a:xfrm>
            <a:off x="4360265" y="4083541"/>
            <a:ext cx="3542078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取書後 </a:t>
            </a:r>
            <a:r>
              <a:rPr lang="en-US" altLang="zh-TW" sz="1700" spc="50" dirty="0"/>
              <a:t>App </a:t>
            </a:r>
            <a:r>
              <a:rPr lang="zh-TW" altLang="en-US" sz="1700" spc="50" dirty="0"/>
              <a:t>彈出確認視窗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書況不符可申請爭議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交易金額鎖定於平台託管帳戶</a:t>
            </a:r>
            <a:endParaRPr lang="en-US" altLang="zh-TW" sz="1700" spc="50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2A37E12D-723E-AE61-01AB-2B7014EACDFB}"/>
              </a:ext>
            </a:extLst>
          </p:cNvPr>
          <p:cNvSpPr txBox="1"/>
          <p:nvPr/>
        </p:nvSpPr>
        <p:spPr>
          <a:xfrm>
            <a:off x="7961639" y="4083541"/>
            <a:ext cx="3801023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dirty="0"/>
              <a:t>管理端比對上架照片與現場紀錄</a:t>
            </a:r>
            <a:endParaRPr lang="en-US" altLang="zh-TW" sz="170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判定為隱瞞書況則全額退款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多次違規者將處以停權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1E5967E-CE69-17A8-60D9-F9E3C5885A1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252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硬體架構與實體展示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D3439-8400-6744-9FFA-973256F6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79B8C4F-F87B-F5E0-EC8F-73846E0C251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B351D2A-7974-0A8A-2C4A-381904686FD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硬體核心元件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5F7BD0-E7AF-39DD-9274-57B6F13D6C03}"/>
              </a:ext>
            </a:extLst>
          </p:cNvPr>
          <p:cNvSpPr txBox="1"/>
          <p:nvPr/>
        </p:nvSpPr>
        <p:spPr>
          <a:xfrm>
            <a:off x="5409398" y="828142"/>
            <a:ext cx="6101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COMPONENTS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CD21D84-06DC-8739-CD9A-BB35A128214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D58D794-3158-AE97-8982-D853020A8EAD}"/>
              </a:ext>
            </a:extLst>
          </p:cNvPr>
          <p:cNvSpPr/>
          <p:nvPr/>
        </p:nvSpPr>
        <p:spPr>
          <a:xfrm>
            <a:off x="758890" y="2082901"/>
            <a:ext cx="3409200" cy="2401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5" name="Group 16">
            <a:extLst>
              <a:ext uri="{FF2B5EF4-FFF2-40B4-BE49-F238E27FC236}">
                <a16:creationId xmlns:a16="http://schemas.microsoft.com/office/drawing/2014/main" id="{BCF53252-FC8C-4446-2337-1EF12BB76CF1}"/>
              </a:ext>
            </a:extLst>
          </p:cNvPr>
          <p:cNvGrpSpPr/>
          <p:nvPr/>
        </p:nvGrpSpPr>
        <p:grpSpPr>
          <a:xfrm>
            <a:off x="775948" y="4718623"/>
            <a:ext cx="3291664" cy="771563"/>
            <a:chOff x="1073272" y="5112222"/>
            <a:chExt cx="3291664" cy="771563"/>
          </a:xfrm>
        </p:grpSpPr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E5953761-36A8-3B7D-C766-7E06A5B44848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ESP32-S3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84775605-D48E-795B-DEEE-EED8FF1097BD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具備 </a:t>
              </a:r>
              <a:r>
                <a:rPr lang="en-US" sz="1600" spc="50" dirty="0">
                  <a:solidFill>
                    <a:schemeClr val="tx2"/>
                  </a:solidFill>
                </a:rPr>
                <a:t>Wi-Fi / BLE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、雙核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240 </a:t>
              </a:r>
              <a:r>
                <a:rPr lang="en-US" sz="1600" spc="50" dirty="0">
                  <a:solidFill>
                    <a:schemeClr val="tx2"/>
                  </a:solidFill>
                </a:rPr>
                <a:t>MHz</a:t>
              </a:r>
            </a:p>
          </p:txBody>
        </p: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A041DA24-D96D-0EAC-B24C-A07992C459CB}"/>
              </a:ext>
            </a:extLst>
          </p:cNvPr>
          <p:cNvSpPr/>
          <p:nvPr/>
        </p:nvSpPr>
        <p:spPr>
          <a:xfrm>
            <a:off x="4391400" y="2082901"/>
            <a:ext cx="3409200" cy="2401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87782CB-6FC3-7E68-6CE2-78B8FE643C70}"/>
              </a:ext>
            </a:extLst>
          </p:cNvPr>
          <p:cNvSpPr/>
          <p:nvPr/>
        </p:nvSpPr>
        <p:spPr>
          <a:xfrm>
            <a:off x="8023910" y="2082901"/>
            <a:ext cx="3409200" cy="2401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1" name="Group 16">
            <a:extLst>
              <a:ext uri="{FF2B5EF4-FFF2-40B4-BE49-F238E27FC236}">
                <a16:creationId xmlns:a16="http://schemas.microsoft.com/office/drawing/2014/main" id="{312977DD-599F-7549-E42F-9BBE7AF23AF7}"/>
              </a:ext>
            </a:extLst>
          </p:cNvPr>
          <p:cNvGrpSpPr/>
          <p:nvPr/>
        </p:nvGrpSpPr>
        <p:grpSpPr>
          <a:xfrm>
            <a:off x="4408619" y="4718623"/>
            <a:ext cx="3291664" cy="771563"/>
            <a:chOff x="1073272" y="5112222"/>
            <a:chExt cx="3291664" cy="771563"/>
          </a:xfrm>
        </p:grpSpPr>
        <p:sp>
          <p:nvSpPr>
            <p:cNvPr id="42" name="TextBox 17">
              <a:extLst>
                <a:ext uri="{FF2B5EF4-FFF2-40B4-BE49-F238E27FC236}">
                  <a16:creationId xmlns:a16="http://schemas.microsoft.com/office/drawing/2014/main" id="{314EC23A-0AB6-C58B-A759-2E4CDD55C924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Nema 17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步進馬達</a:t>
              </a:r>
            </a:p>
          </p:txBody>
        </p:sp>
        <p:sp>
          <p:nvSpPr>
            <p:cNvPr id="43" name="TextBox 18">
              <a:extLst>
                <a:ext uri="{FF2B5EF4-FFF2-40B4-BE49-F238E27FC236}">
                  <a16:creationId xmlns:a16="http://schemas.microsoft.com/office/drawing/2014/main" id="{D2DB374C-5684-B384-568F-66052FD682A0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搭配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TMC2209 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驅動器</a:t>
              </a:r>
              <a:endParaRPr lang="en-US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4" name="Group 16">
            <a:extLst>
              <a:ext uri="{FF2B5EF4-FFF2-40B4-BE49-F238E27FC236}">
                <a16:creationId xmlns:a16="http://schemas.microsoft.com/office/drawing/2014/main" id="{8FC44FA8-ED2A-C77B-E772-06A6C7EEDB37}"/>
              </a:ext>
            </a:extLst>
          </p:cNvPr>
          <p:cNvGrpSpPr/>
          <p:nvPr/>
        </p:nvGrpSpPr>
        <p:grpSpPr>
          <a:xfrm>
            <a:off x="8040805" y="4718623"/>
            <a:ext cx="3632186" cy="771563"/>
            <a:chOff x="1073272" y="5112222"/>
            <a:chExt cx="3632186" cy="771563"/>
          </a:xfrm>
        </p:grpSpPr>
        <p:sp>
          <p:nvSpPr>
            <p:cNvPr id="45" name="TextBox 17">
              <a:extLst>
                <a:ext uri="{FF2B5EF4-FFF2-40B4-BE49-F238E27FC236}">
                  <a16:creationId xmlns:a16="http://schemas.microsoft.com/office/drawing/2014/main" id="{B4984DB7-C911-2E89-037C-F07D48631443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3D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列印機構件</a:t>
              </a:r>
            </a:p>
          </p:txBody>
        </p:sp>
        <p:sp>
          <p:nvSpPr>
            <p:cNvPr id="46" name="TextBox 18">
              <a:extLst>
                <a:ext uri="{FF2B5EF4-FFF2-40B4-BE49-F238E27FC236}">
                  <a16:creationId xmlns:a16="http://schemas.microsoft.com/office/drawing/2014/main" id="{56EF640D-AC00-1348-D78D-0F401ADF52D5}"/>
                </a:ext>
              </a:extLst>
            </p:cNvPr>
            <p:cNvSpPr txBox="1"/>
            <p:nvPr/>
          </p:nvSpPr>
          <p:spPr>
            <a:xfrm>
              <a:off x="1073273" y="5516890"/>
              <a:ext cx="3632185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pt-PT" altLang="zh-TW" sz="1600" spc="-50" dirty="0">
                  <a:solidFill>
                    <a:schemeClr val="tx2"/>
                  </a:solidFill>
                </a:rPr>
                <a:t>SolidWorks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設計、</a:t>
              </a:r>
              <a:r>
                <a:rPr lang="pt-PT" altLang="zh-TW" sz="1600" spc="-50" dirty="0">
                  <a:solidFill>
                    <a:schemeClr val="tx2"/>
                  </a:solidFill>
                </a:rPr>
                <a:t>Bambu Studio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切片</a:t>
              </a:r>
            </a:p>
          </p:txBody>
        </p:sp>
      </p:grpSp>
      <p:pic>
        <p:nvPicPr>
          <p:cNvPr id="48" name="圖片 47">
            <a:extLst>
              <a:ext uri="{FF2B5EF4-FFF2-40B4-BE49-F238E27FC236}">
                <a16:creationId xmlns:a16="http://schemas.microsoft.com/office/drawing/2014/main" id="{9BAC727B-740D-8D2D-911A-5AFD04B3B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77345" y="2344122"/>
            <a:ext cx="1888870" cy="1888870"/>
          </a:xfrm>
          <a:prstGeom prst="rect">
            <a:avLst/>
          </a:prstGeom>
        </p:spPr>
      </p:pic>
      <p:pic>
        <p:nvPicPr>
          <p:cNvPr id="51" name="圖片 50" descr="JLB 42型L48步進馬達 NEMA17 步進電機">
            <a:extLst>
              <a:ext uri="{FF2B5EF4-FFF2-40B4-BE49-F238E27FC236}">
                <a16:creationId xmlns:a16="http://schemas.microsoft.com/office/drawing/2014/main" id="{FE2B9329-0AFF-A954-4422-63DE8435B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957644" y="2191079"/>
            <a:ext cx="2184844" cy="2184844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7C28E5EE-6008-A164-846E-134FB3E15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7716" y="2229275"/>
            <a:ext cx="2094262" cy="2088356"/>
          </a:xfrm>
          <a:prstGeom prst="rect">
            <a:avLst/>
          </a:prstGeom>
        </p:spPr>
      </p:pic>
      <p:sp>
        <p:nvSpPr>
          <p:cNvPr id="65" name="TextBox 18">
            <a:extLst>
              <a:ext uri="{FF2B5EF4-FFF2-40B4-BE49-F238E27FC236}">
                <a16:creationId xmlns:a16="http://schemas.microsoft.com/office/drawing/2014/main" id="{73BB2468-5B21-7004-CAA8-D10A17301338}"/>
              </a:ext>
            </a:extLst>
          </p:cNvPr>
          <p:cNvSpPr txBox="1"/>
          <p:nvPr/>
        </p:nvSpPr>
        <p:spPr>
          <a:xfrm>
            <a:off x="2443480" y="4208034"/>
            <a:ext cx="1724610" cy="278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TW" alt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圖 </a:t>
            </a:r>
            <a:r>
              <a:rPr lang="en-US" altLang="zh-TW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/ </a:t>
            </a:r>
            <a:r>
              <a:rPr lang="zh-TW" alt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台灣物聯科技</a:t>
            </a:r>
            <a:endParaRPr lang="en-US" sz="1050" spc="50" dirty="0">
              <a:solidFill>
                <a:schemeClr val="accent5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6" name="TextBox 18">
            <a:extLst>
              <a:ext uri="{FF2B5EF4-FFF2-40B4-BE49-F238E27FC236}">
                <a16:creationId xmlns:a16="http://schemas.microsoft.com/office/drawing/2014/main" id="{0B99C973-DC5C-22CD-7471-21DF6C3F7645}"/>
              </a:ext>
            </a:extLst>
          </p:cNvPr>
          <p:cNvSpPr txBox="1"/>
          <p:nvPr/>
        </p:nvSpPr>
        <p:spPr>
          <a:xfrm>
            <a:off x="6075990" y="4208034"/>
            <a:ext cx="1724610" cy="278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TW" alt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圖 </a:t>
            </a:r>
            <a:r>
              <a:rPr lang="en-US" altLang="zh-TW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/ </a:t>
            </a:r>
            <a:r>
              <a:rPr lang="zh-TW" alt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祥貿科技</a:t>
            </a:r>
            <a:endParaRPr lang="en-US" sz="1050" spc="50" dirty="0">
              <a:solidFill>
                <a:schemeClr val="accent5">
                  <a:lumMod val="7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1831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8DA6-3551-43BE-6B73-ADD606175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1B607A4-73FB-9B50-9000-265CFB3CE94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B44916D-CEC4-6D2F-3AEF-5E9EE2A0AD3C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3600" b="1" spc="150" dirty="0">
                <a:latin typeface="+mn-ea"/>
              </a:rPr>
              <a:t>3D</a:t>
            </a:r>
            <a:r>
              <a:rPr lang="zh-TW" altLang="en-US" sz="3600" b="1" spc="150" dirty="0">
                <a:latin typeface="+mn-ea"/>
              </a:rPr>
              <a:t>模型與機構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706965-E6D5-4FA3-4E51-A7B4F40A420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3D MODEL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" name="Rectangle: Rounded Corners 21">
            <a:extLst>
              <a:ext uri="{FF2B5EF4-FFF2-40B4-BE49-F238E27FC236}">
                <a16:creationId xmlns:a16="http://schemas.microsoft.com/office/drawing/2014/main" id="{3C6D40DE-B798-F678-FA7E-F82277D11B4C}"/>
              </a:ext>
            </a:extLst>
          </p:cNvPr>
          <p:cNvSpPr/>
          <p:nvPr/>
        </p:nvSpPr>
        <p:spPr>
          <a:xfrm>
            <a:off x="758890" y="1685554"/>
            <a:ext cx="4918634" cy="4527506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0472155"/>
                  </p:ext>
                </p:extLst>
              </p:nvPr>
            </p:nvGraphicFramePr>
            <p:xfrm>
              <a:off x="1953098" y="2191056"/>
              <a:ext cx="2590232" cy="351649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590232" cy="351649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394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3098" y="2191056"/>
                <a:ext cx="2590232" cy="3516498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p:sp>
        <p:nvSpPr>
          <p:cNvPr id="4" name="Rectangle: Rounded Corners 21">
            <a:extLst>
              <a:ext uri="{FF2B5EF4-FFF2-40B4-BE49-F238E27FC236}">
                <a16:creationId xmlns:a16="http://schemas.microsoft.com/office/drawing/2014/main" id="{EE3ACE06-C5CC-D6A0-4105-1EAA164D619B}"/>
              </a:ext>
            </a:extLst>
          </p:cNvPr>
          <p:cNvSpPr/>
          <p:nvPr/>
        </p:nvSpPr>
        <p:spPr>
          <a:xfrm>
            <a:off x="5874321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21">
            <a:extLst>
              <a:ext uri="{FF2B5EF4-FFF2-40B4-BE49-F238E27FC236}">
                <a16:creationId xmlns:a16="http://schemas.microsoft.com/office/drawing/2014/main" id="{3CE07E90-A278-A83C-7490-CA743AF759F4}"/>
              </a:ext>
            </a:extLst>
          </p:cNvPr>
          <p:cNvSpPr/>
          <p:nvPr/>
        </p:nvSpPr>
        <p:spPr>
          <a:xfrm>
            <a:off x="8752114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0F522B-3606-B9E5-5CAF-4715E10B9CEA}"/>
              </a:ext>
            </a:extLst>
          </p:cNvPr>
          <p:cNvSpPr/>
          <p:nvPr/>
        </p:nvSpPr>
        <p:spPr>
          <a:xfrm>
            <a:off x="5874321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1">
            <a:extLst>
              <a:ext uri="{FF2B5EF4-FFF2-40B4-BE49-F238E27FC236}">
                <a16:creationId xmlns:a16="http://schemas.microsoft.com/office/drawing/2014/main" id="{01F0BA0B-F1F8-09F7-1998-1DF779DAB375}"/>
              </a:ext>
            </a:extLst>
          </p:cNvPr>
          <p:cNvSpPr/>
          <p:nvPr/>
        </p:nvSpPr>
        <p:spPr>
          <a:xfrm>
            <a:off x="8752114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21">
            <a:extLst>
              <a:ext uri="{FF2B5EF4-FFF2-40B4-BE49-F238E27FC236}">
                <a16:creationId xmlns:a16="http://schemas.microsoft.com/office/drawing/2014/main" id="{79DBE75E-081B-F159-FA1F-D18023316107}"/>
              </a:ext>
            </a:extLst>
          </p:cNvPr>
          <p:cNvSpPr/>
          <p:nvPr/>
        </p:nvSpPr>
        <p:spPr>
          <a:xfrm>
            <a:off x="5874321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21">
            <a:extLst>
              <a:ext uri="{FF2B5EF4-FFF2-40B4-BE49-F238E27FC236}">
                <a16:creationId xmlns:a16="http://schemas.microsoft.com/office/drawing/2014/main" id="{E42339C6-DD82-EAAF-590A-232898B41B63}"/>
              </a:ext>
            </a:extLst>
          </p:cNvPr>
          <p:cNvSpPr/>
          <p:nvPr/>
        </p:nvSpPr>
        <p:spPr>
          <a:xfrm>
            <a:off x="8752114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17">
            <a:extLst>
              <a:ext uri="{FF2B5EF4-FFF2-40B4-BE49-F238E27FC236}">
                <a16:creationId xmlns:a16="http://schemas.microsoft.com/office/drawing/2014/main" id="{1A7943A7-37F0-2652-EEAE-F9320C242753}"/>
              </a:ext>
            </a:extLst>
          </p:cNvPr>
          <p:cNvSpPr/>
          <p:nvPr/>
        </p:nvSpPr>
        <p:spPr>
          <a:xfrm>
            <a:off x="879566" y="1791947"/>
            <a:ext cx="1044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9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整體組合</a:t>
            </a:r>
            <a:endParaRPr lang="id-ID" sz="1400" spc="1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90182" y="2084235"/>
              <a:ext cx="2049274" cy="573796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2049274" cy="573796"/>
                    </a:xfrm>
                    <a:prstGeom prst="rect">
                      <a:avLst/>
                    </a:prstGeom>
                  </am3d:spPr>
                  <am3d:camera>
                    <am3d:pos x="0" y="0" z="5774080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3717647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1672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0182" y="2084235"/>
                <a:ext cx="2049274" cy="573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579078" y="5209955"/>
              <a:ext cx="1027064" cy="769806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027064" cy="769806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936628" ay="2686084" az="615580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11671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79078" y="5209955"/>
                <a:ext cx="1027064" cy="7698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81849" y="3901412"/>
              <a:ext cx="1821514" cy="28828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1821514" cy="288284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187282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181849" y="3901412"/>
                <a:ext cx="1821514" cy="2882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701168" y="3469337"/>
              <a:ext cx="1027299" cy="1017688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0" y="0"/>
                      <a:ext cx="1027299" cy="1017688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461874" ay="2749814" az="8951855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13697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01168" y="3469337"/>
                <a:ext cx="1027299" cy="1017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8773314"/>
                  </p:ext>
                </p:extLst>
              </p:nvPr>
            </p:nvGraphicFramePr>
            <p:xfrm>
              <a:off x="6787032" y="5103281"/>
              <a:ext cx="1131277" cy="925367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0" y="0"/>
                      <a:ext cx="1131277" cy="925367"/>
                    </a:xfrm>
                    <a:prstGeom prst="rect">
                      <a:avLst/>
                    </a:prstGeom>
                  </am3d:spPr>
                  <am3d:camera>
                    <am3d:pos x="0" y="0" z="681666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922" d="1000000"/>
                    <am3d:preTrans dx="-8472066" dy="-16873531" dz="1800628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 ay="18000000" az="16200000"/>
                    <am3d:postTrans dx="0" dy="0" dz="0"/>
                  </am3d:trans>
                  <am3d:raster rName="Office3DRenderer" rVer="16.0.8326">
                    <am3d:blip r:embed="rId14"/>
                  </am3d:raster>
                  <am3d:objViewport viewportSz="136398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7032" y="5103281"/>
                <a:ext cx="1131277" cy="9253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50406" y="2105469"/>
              <a:ext cx="1884412" cy="531329"/>
            </p:xfrm>
            <a:graphic>
              <a:graphicData uri="http://schemas.microsoft.com/office/drawing/2017/model3d">
                <am3d:model3d r:embed="rId15">
                  <am3d:spPr>
                    <a:xfrm>
                      <a:off x="0" y="0"/>
                      <a:ext cx="1884412" cy="531329"/>
                    </a:xfrm>
                    <a:prstGeom prst="rect">
                      <a:avLst/>
                    </a:prstGeom>
                  </am3d:spPr>
                  <am3d:camera>
                    <am3d:pos x="0" y="0" z="6148696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1429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790732" ay="11171" az="-10799969"/>
                    <am3d:postTrans dx="0" dy="0" dz="0"/>
                  </am3d:trans>
                  <am3d:raster rName="Office3DRenderer" rVer="16.0.8326">
                    <am3d:blip r:embed="rId16"/>
                  </am3d:raster>
                  <am3d:objViewport viewportSz="20432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150406" y="2105469"/>
                <a:ext cx="1884412" cy="531329"/>
              </a:xfrm>
              <a:prstGeom prst="rect">
                <a:avLst/>
              </a:prstGeom>
            </p:spPr>
          </p:pic>
        </mc:Fallback>
      </mc:AlternateContent>
      <p:sp>
        <p:nvSpPr>
          <p:cNvPr id="35" name="Rectangle: Rounded Corners 17">
            <a:extLst>
              <a:ext uri="{FF2B5EF4-FFF2-40B4-BE49-F238E27FC236}">
                <a16:creationId xmlns:a16="http://schemas.microsoft.com/office/drawing/2014/main" id="{03AE5B9D-8832-6F1B-3D27-A88AA8DF95D1}"/>
              </a:ext>
            </a:extLst>
          </p:cNvPr>
          <p:cNvSpPr/>
          <p:nvPr/>
        </p:nvSpPr>
        <p:spPr>
          <a:xfrm>
            <a:off x="5988503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主體上半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6" name="Rectangle: Rounded Corners 17">
            <a:extLst>
              <a:ext uri="{FF2B5EF4-FFF2-40B4-BE49-F238E27FC236}">
                <a16:creationId xmlns:a16="http://schemas.microsoft.com/office/drawing/2014/main" id="{79B76BAB-4145-16D9-613F-0AD6CA733EEF}"/>
              </a:ext>
            </a:extLst>
          </p:cNvPr>
          <p:cNvSpPr/>
          <p:nvPr/>
        </p:nvSpPr>
        <p:spPr>
          <a:xfrm>
            <a:off x="8849012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主體下半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7" name="Rectangle: Rounded Corners 17">
            <a:extLst>
              <a:ext uri="{FF2B5EF4-FFF2-40B4-BE49-F238E27FC236}">
                <a16:creationId xmlns:a16="http://schemas.microsoft.com/office/drawing/2014/main" id="{38E69841-36E3-C5D6-469D-67BA6F8ADE8C}"/>
              </a:ext>
            </a:extLst>
          </p:cNvPr>
          <p:cNvSpPr/>
          <p:nvPr/>
        </p:nvSpPr>
        <p:spPr>
          <a:xfrm>
            <a:off x="5988503" y="3377345"/>
            <a:ext cx="622609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齒輪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8" name="Rectangle: Rounded Corners 17">
            <a:extLst>
              <a:ext uri="{FF2B5EF4-FFF2-40B4-BE49-F238E27FC236}">
                <a16:creationId xmlns:a16="http://schemas.microsoft.com/office/drawing/2014/main" id="{5090BE96-BFE3-70F4-7D57-0256DC28B90F}"/>
              </a:ext>
            </a:extLst>
          </p:cNvPr>
          <p:cNvSpPr/>
          <p:nvPr/>
        </p:nvSpPr>
        <p:spPr>
          <a:xfrm>
            <a:off x="8849012" y="3377345"/>
            <a:ext cx="6228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齒條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9" name="Rectangle: Rounded Corners 17">
            <a:extLst>
              <a:ext uri="{FF2B5EF4-FFF2-40B4-BE49-F238E27FC236}">
                <a16:creationId xmlns:a16="http://schemas.microsoft.com/office/drawing/2014/main" id="{CEB63959-846F-CAAA-9DA4-E9474B1D189E}"/>
              </a:ext>
            </a:extLst>
          </p:cNvPr>
          <p:cNvSpPr/>
          <p:nvPr/>
        </p:nvSpPr>
        <p:spPr>
          <a:xfrm>
            <a:off x="5988503" y="4956973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altLang="zh-TW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L</a:t>
            </a:r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型支架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40" name="Rectangle: Rounded Corners 17">
            <a:extLst>
              <a:ext uri="{FF2B5EF4-FFF2-40B4-BE49-F238E27FC236}">
                <a16:creationId xmlns:a16="http://schemas.microsoft.com/office/drawing/2014/main" id="{6DFF4AFE-5668-DF07-DBE6-7D8452F0F263}"/>
              </a:ext>
            </a:extLst>
          </p:cNvPr>
          <p:cNvSpPr/>
          <p:nvPr/>
        </p:nvSpPr>
        <p:spPr>
          <a:xfrm>
            <a:off x="8849012" y="4956973"/>
            <a:ext cx="797908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馬達座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419E74-E2D6-5056-6581-501FA63D2AA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315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22" dur="1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2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9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31" dur="1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3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7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0" dur="1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44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5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6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9" dur="1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5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6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58" dur="1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6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7" dur="1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06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後續規劃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EF4BA-6EA2-ECE2-7AC7-1E9AA342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手繪多邊形: 圖案 82">
            <a:extLst>
              <a:ext uri="{FF2B5EF4-FFF2-40B4-BE49-F238E27FC236}">
                <a16:creationId xmlns:a16="http://schemas.microsoft.com/office/drawing/2014/main" id="{954BBF1D-D039-93A8-3567-4A288EC9B5EF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E9F90BE5-7270-8EC7-DA7E-AA4220CD1A6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63C5F2-D101-84AE-6CF6-5483162790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後續規劃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29F963-6779-68D2-9BCD-076BAF86BDA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ROADMAP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10" name="群組 9" hidden="1">
            <a:extLst>
              <a:ext uri="{FF2B5EF4-FFF2-40B4-BE49-F238E27FC236}">
                <a16:creationId xmlns:a16="http://schemas.microsoft.com/office/drawing/2014/main" id="{DDA4FD2B-ECB3-45D3-6F31-1E53D489CFA4}"/>
              </a:ext>
            </a:extLst>
          </p:cNvPr>
          <p:cNvGrpSpPr>
            <a:grpSpLocks/>
          </p:cNvGrpSpPr>
          <p:nvPr/>
        </p:nvGrpSpPr>
        <p:grpSpPr>
          <a:xfrm>
            <a:off x="-2314406" y="1493035"/>
            <a:ext cx="15634623" cy="3486974"/>
            <a:chOff x="-4145404" y="2233701"/>
            <a:chExt cx="23832115" cy="5315251"/>
          </a:xfrm>
        </p:grpSpPr>
        <p:sp>
          <p:nvSpPr>
            <p:cNvPr id="2" name="Freeform 3">
              <a:extLst>
                <a:ext uri="{FF2B5EF4-FFF2-40B4-BE49-F238E27FC236}">
                  <a16:creationId xmlns:a16="http://schemas.microsoft.com/office/drawing/2014/main" id="{E83B309F-4692-50DA-610D-CD424875A92B}"/>
                </a:ext>
              </a:extLst>
            </p:cNvPr>
            <p:cNvSpPr>
              <a:spLocks/>
            </p:cNvSpPr>
            <p:nvPr/>
          </p:nvSpPr>
          <p:spPr>
            <a:xfrm>
              <a:off x="3201935" y="5438146"/>
              <a:ext cx="6664269" cy="1892339"/>
            </a:xfrm>
            <a:custGeom>
              <a:avLst/>
              <a:gdLst/>
              <a:ahLst/>
              <a:cxnLst/>
              <a:rect l="l" t="t" r="r" b="b"/>
              <a:pathLst>
                <a:path w="6664269" h="1892339">
                  <a:moveTo>
                    <a:pt x="0" y="1586627"/>
                  </a:moveTo>
                  <a:quadBezTo>
                    <a:pt x="3774874" y="2652938"/>
                    <a:pt x="6664270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62818F">
                      <a:alpha val="100000"/>
                    </a:srgbClr>
                  </a:gs>
                  <a:gs pos="50000">
                    <a:srgbClr val="597684">
                      <a:alpha val="100000"/>
                    </a:srgbClr>
                  </a:gs>
                  <a:gs pos="100000">
                    <a:srgbClr val="4A6572">
                      <a:alpha val="10000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F5CCA562-D26C-903F-ADAE-E22BA20593AD}"/>
                </a:ext>
              </a:extLst>
            </p:cNvPr>
            <p:cNvSpPr>
              <a:spLocks/>
            </p:cNvSpPr>
            <p:nvPr/>
          </p:nvSpPr>
          <p:spPr>
            <a:xfrm>
              <a:off x="15959986" y="2233701"/>
              <a:ext cx="3726725" cy="1662386"/>
            </a:xfrm>
            <a:custGeom>
              <a:avLst/>
              <a:gdLst/>
              <a:ahLst/>
              <a:cxnLst/>
              <a:rect l="l" t="t" r="r" b="b"/>
              <a:pathLst>
                <a:path w="3726725" h="1662386">
                  <a:moveTo>
                    <a:pt x="0" y="1513728"/>
                  </a:moveTo>
                  <a:quadBezTo>
                    <a:pt x="2585912" y="2159503"/>
                    <a:pt x="3726725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4A6572">
                      <a:alpha val="100000"/>
                    </a:srgbClr>
                  </a:gs>
                  <a:gs pos="50000">
                    <a:srgbClr val="4A6572">
                      <a:alpha val="0"/>
                    </a:srgbClr>
                  </a:gs>
                  <a:gs pos="100000">
                    <a:srgbClr val="4A6572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49BB2DA2-9375-4BB8-E484-CC0851FA2F1B}"/>
                </a:ext>
              </a:extLst>
            </p:cNvPr>
            <p:cNvSpPr>
              <a:spLocks/>
            </p:cNvSpPr>
            <p:nvPr/>
          </p:nvSpPr>
          <p:spPr>
            <a:xfrm>
              <a:off x="-4145404" y="6485915"/>
              <a:ext cx="7357101" cy="1063037"/>
            </a:xfrm>
            <a:custGeom>
              <a:avLst/>
              <a:gdLst/>
              <a:ahLst/>
              <a:cxnLst/>
              <a:rect l="l" t="t" r="r" b="b"/>
              <a:pathLst>
                <a:path w="7357101" h="1063037">
                  <a:moveTo>
                    <a:pt x="7357100" y="540033"/>
                  </a:moveTo>
                  <a:quadBezTo>
                    <a:pt x="3044193" y="-757678"/>
                    <a:pt x="0" y="1063037"/>
                  </a:quadBezTo>
                </a:path>
              </a:pathLst>
            </a:custGeom>
            <a:ln w="101600" cap="flat">
              <a:gradFill>
                <a:gsLst>
                  <a:gs pos="100000">
                    <a:srgbClr val="607D8B">
                      <a:alpha val="100000"/>
                    </a:srgbClr>
                  </a:gs>
                  <a:gs pos="50000">
                    <a:srgbClr val="607D8B">
                      <a:alpha val="0"/>
                    </a:srgbClr>
                  </a:gs>
                  <a:gs pos="0">
                    <a:srgbClr val="607D8B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7715AAD-163C-8AC3-100D-9319186A9A0B}"/>
                </a:ext>
              </a:extLst>
            </p:cNvPr>
            <p:cNvSpPr>
              <a:spLocks/>
            </p:cNvSpPr>
            <p:nvPr/>
          </p:nvSpPr>
          <p:spPr>
            <a:xfrm>
              <a:off x="9859352" y="3464142"/>
              <a:ext cx="6104220" cy="1986082"/>
            </a:xfrm>
            <a:custGeom>
              <a:avLst/>
              <a:gdLst/>
              <a:ahLst/>
              <a:cxnLst/>
              <a:rect l="l" t="t" r="r" b="b"/>
              <a:pathLst>
                <a:path w="6104220" h="1986082">
                  <a:moveTo>
                    <a:pt x="6104221" y="280044"/>
                  </a:moveTo>
                  <a:quadBezTo>
                    <a:pt x="2527002" y="-745781"/>
                    <a:pt x="0" y="1986082"/>
                  </a:quadBezTo>
                </a:path>
              </a:pathLst>
            </a:custGeom>
            <a:ln w="101600" cap="flat">
              <a:solidFill>
                <a:srgbClr val="4A6572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34" name="Graphic 18">
            <a:extLst>
              <a:ext uri="{FF2B5EF4-FFF2-40B4-BE49-F238E27FC236}">
                <a16:creationId xmlns:a16="http://schemas.microsoft.com/office/drawing/2014/main" id="{70052314-E8C6-D9E1-F281-B636D1D91E63}"/>
              </a:ext>
            </a:extLst>
          </p:cNvPr>
          <p:cNvSpPr/>
          <p:nvPr/>
        </p:nvSpPr>
        <p:spPr>
          <a:xfrm>
            <a:off x="865220" y="4040692"/>
            <a:ext cx="602076" cy="655695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Graphic 18">
            <a:extLst>
              <a:ext uri="{FF2B5EF4-FFF2-40B4-BE49-F238E27FC236}">
                <a16:creationId xmlns:a16="http://schemas.microsoft.com/office/drawing/2014/main" id="{30700108-AD70-5B8D-AFDF-DF647FD2D722}"/>
              </a:ext>
            </a:extLst>
          </p:cNvPr>
          <p:cNvSpPr/>
          <p:nvPr/>
        </p:nvSpPr>
        <p:spPr>
          <a:xfrm>
            <a:off x="10126175" y="2032562"/>
            <a:ext cx="602076" cy="655695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6" name="Graphic 18">
            <a:extLst>
              <a:ext uri="{FF2B5EF4-FFF2-40B4-BE49-F238E27FC236}">
                <a16:creationId xmlns:a16="http://schemas.microsoft.com/office/drawing/2014/main" id="{B92DA5AD-BDA2-D426-3D9E-4B32BF1AAD41}"/>
              </a:ext>
            </a:extLst>
          </p:cNvPr>
          <p:cNvSpPr/>
          <p:nvPr/>
        </p:nvSpPr>
        <p:spPr>
          <a:xfrm>
            <a:off x="3180459" y="4465161"/>
            <a:ext cx="602076" cy="655695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Graphic 18">
            <a:extLst>
              <a:ext uri="{FF2B5EF4-FFF2-40B4-BE49-F238E27FC236}">
                <a16:creationId xmlns:a16="http://schemas.microsoft.com/office/drawing/2014/main" id="{F2C2B677-4912-A448-23EA-86A262C1D94B}"/>
              </a:ext>
            </a:extLst>
          </p:cNvPr>
          <p:cNvSpPr/>
          <p:nvPr/>
        </p:nvSpPr>
        <p:spPr>
          <a:xfrm>
            <a:off x="5495698" y="3983257"/>
            <a:ext cx="602076" cy="655695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8" name="Graphic 18">
            <a:extLst>
              <a:ext uri="{FF2B5EF4-FFF2-40B4-BE49-F238E27FC236}">
                <a16:creationId xmlns:a16="http://schemas.microsoft.com/office/drawing/2014/main" id="{82C8A58F-EDB5-FA23-7518-D314F1C4A023}"/>
              </a:ext>
            </a:extLst>
          </p:cNvPr>
          <p:cNvSpPr/>
          <p:nvPr/>
        </p:nvSpPr>
        <p:spPr>
          <a:xfrm>
            <a:off x="7624123" y="2425611"/>
            <a:ext cx="602076" cy="655695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9" name="TextBox 55">
            <a:extLst>
              <a:ext uri="{FF2B5EF4-FFF2-40B4-BE49-F238E27FC236}">
                <a16:creationId xmlns:a16="http://schemas.microsoft.com/office/drawing/2014/main" id="{8C04A45A-69C9-4B30-0766-13A5617918A2}"/>
              </a:ext>
            </a:extLst>
          </p:cNvPr>
          <p:cNvSpPr txBox="1"/>
          <p:nvPr/>
        </p:nvSpPr>
        <p:spPr>
          <a:xfrm>
            <a:off x="758890" y="2656954"/>
            <a:ext cx="1962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TW" altLang="en-US" sz="2000" b="1" spc="50" dirty="0">
                <a:solidFill>
                  <a:schemeClr val="accent6"/>
                </a:solidFill>
              </a:rPr>
              <a:t>專利申請</a:t>
            </a:r>
            <a:endParaRPr lang="en-US" sz="2000" b="1" spc="50" dirty="0">
              <a:solidFill>
                <a:schemeClr val="accent6"/>
              </a:solidFill>
            </a:endParaRPr>
          </a:p>
        </p:txBody>
      </p:sp>
      <p:sp>
        <p:nvSpPr>
          <p:cNvPr id="40" name="TextBox 56">
            <a:extLst>
              <a:ext uri="{FF2B5EF4-FFF2-40B4-BE49-F238E27FC236}">
                <a16:creationId xmlns:a16="http://schemas.microsoft.com/office/drawing/2014/main" id="{D59DB851-CDCF-DD18-6A2F-CE47BB415995}"/>
              </a:ext>
            </a:extLst>
          </p:cNvPr>
          <p:cNvSpPr txBox="1"/>
          <p:nvPr/>
        </p:nvSpPr>
        <p:spPr>
          <a:xfrm>
            <a:off x="771339" y="3067225"/>
            <a:ext cx="2060900" cy="705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就書櫃結構機構</a:t>
            </a:r>
            <a:endParaRPr lang="en-US" altLang="zh-TW" sz="1600" spc="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申請新型專利</a:t>
            </a:r>
            <a:endParaRPr lang="en-ID" sz="1600" spc="50" dirty="0">
              <a:solidFill>
                <a:schemeClr val="tx2"/>
              </a:solidFill>
            </a:endParaRPr>
          </a:p>
        </p:txBody>
      </p:sp>
      <p:sp>
        <p:nvSpPr>
          <p:cNvPr id="41" name="TextBox 55">
            <a:extLst>
              <a:ext uri="{FF2B5EF4-FFF2-40B4-BE49-F238E27FC236}">
                <a16:creationId xmlns:a16="http://schemas.microsoft.com/office/drawing/2014/main" id="{4951B482-3F17-8388-28DC-3DC82D21D3C7}"/>
              </a:ext>
            </a:extLst>
          </p:cNvPr>
          <p:cNvSpPr txBox="1"/>
          <p:nvPr/>
        </p:nvSpPr>
        <p:spPr>
          <a:xfrm>
            <a:off x="3074521" y="3050121"/>
            <a:ext cx="1962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TW" altLang="en-US" sz="2000" b="1" spc="50" dirty="0">
                <a:solidFill>
                  <a:schemeClr val="accent6"/>
                </a:solidFill>
              </a:rPr>
              <a:t>區塊鏈實作</a:t>
            </a:r>
            <a:endParaRPr lang="en-US" sz="2000" b="1" spc="50" dirty="0">
              <a:solidFill>
                <a:schemeClr val="accent6"/>
              </a:solidFill>
            </a:endParaRPr>
          </a:p>
        </p:txBody>
      </p:sp>
      <p:sp>
        <p:nvSpPr>
          <p:cNvPr id="42" name="TextBox 56">
            <a:extLst>
              <a:ext uri="{FF2B5EF4-FFF2-40B4-BE49-F238E27FC236}">
                <a16:creationId xmlns:a16="http://schemas.microsoft.com/office/drawing/2014/main" id="{EB76593D-FE6D-ECE7-043B-010CB0164729}"/>
              </a:ext>
            </a:extLst>
          </p:cNvPr>
          <p:cNvSpPr txBox="1"/>
          <p:nvPr/>
        </p:nvSpPr>
        <p:spPr>
          <a:xfrm>
            <a:off x="3086969" y="3460392"/>
            <a:ext cx="3407813" cy="705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導入代幣化交易</a:t>
            </a:r>
            <a:endParaRPr lang="en-US" altLang="zh-TW" sz="1600" spc="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並將交易紀錄上鏈</a:t>
            </a:r>
            <a:endParaRPr lang="en-ID" sz="1600" spc="50" dirty="0">
              <a:solidFill>
                <a:schemeClr val="tx2"/>
              </a:solidFill>
            </a:endParaRPr>
          </a:p>
        </p:txBody>
      </p:sp>
      <p:sp>
        <p:nvSpPr>
          <p:cNvPr id="43" name="TextBox 55">
            <a:extLst>
              <a:ext uri="{FF2B5EF4-FFF2-40B4-BE49-F238E27FC236}">
                <a16:creationId xmlns:a16="http://schemas.microsoft.com/office/drawing/2014/main" id="{FFE08566-B424-4C6E-D02A-FA2BA50C26CB}"/>
              </a:ext>
            </a:extLst>
          </p:cNvPr>
          <p:cNvSpPr txBox="1"/>
          <p:nvPr/>
        </p:nvSpPr>
        <p:spPr>
          <a:xfrm>
            <a:off x="5389687" y="4946559"/>
            <a:ext cx="1962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TW" altLang="en-US" sz="2000" b="1" spc="50" dirty="0">
                <a:solidFill>
                  <a:schemeClr val="accent6"/>
                </a:solidFill>
              </a:rPr>
              <a:t>場域擴充</a:t>
            </a:r>
            <a:endParaRPr lang="en-US" sz="2000" b="1" spc="50" dirty="0">
              <a:solidFill>
                <a:schemeClr val="accent6"/>
              </a:solidFill>
            </a:endParaRPr>
          </a:p>
        </p:txBody>
      </p:sp>
      <p:sp>
        <p:nvSpPr>
          <p:cNvPr id="44" name="TextBox 56">
            <a:extLst>
              <a:ext uri="{FF2B5EF4-FFF2-40B4-BE49-F238E27FC236}">
                <a16:creationId xmlns:a16="http://schemas.microsoft.com/office/drawing/2014/main" id="{14516158-B9EE-5A9F-9E26-9DBC325A6C87}"/>
              </a:ext>
            </a:extLst>
          </p:cNvPr>
          <p:cNvSpPr txBox="1"/>
          <p:nvPr/>
        </p:nvSpPr>
        <p:spPr>
          <a:xfrm>
            <a:off x="5402136" y="5356830"/>
            <a:ext cx="1751304" cy="705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與更多學校及</a:t>
            </a:r>
            <a:endParaRPr lang="en-US" altLang="zh-TW" sz="1600" spc="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公共場域合作</a:t>
            </a:r>
            <a:endParaRPr lang="en-ID" sz="1600" spc="50" dirty="0">
              <a:solidFill>
                <a:schemeClr val="tx2"/>
              </a:solidFill>
            </a:endParaRPr>
          </a:p>
        </p:txBody>
      </p:sp>
      <p:sp>
        <p:nvSpPr>
          <p:cNvPr id="45" name="TextBox 55">
            <a:extLst>
              <a:ext uri="{FF2B5EF4-FFF2-40B4-BE49-F238E27FC236}">
                <a16:creationId xmlns:a16="http://schemas.microsoft.com/office/drawing/2014/main" id="{4F4F5F5E-D1C7-94D7-7D05-B9694BA23708}"/>
              </a:ext>
            </a:extLst>
          </p:cNvPr>
          <p:cNvSpPr txBox="1"/>
          <p:nvPr/>
        </p:nvSpPr>
        <p:spPr>
          <a:xfrm>
            <a:off x="7521106" y="3389304"/>
            <a:ext cx="1962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pt-PT" altLang="zh-TW" sz="2000" b="1" spc="50" dirty="0">
                <a:solidFill>
                  <a:schemeClr val="accent6"/>
                </a:solidFill>
              </a:rPr>
              <a:t>APP</a:t>
            </a:r>
            <a:r>
              <a:rPr lang="zh-TW" altLang="en-US" sz="2000" b="1" spc="50" dirty="0">
                <a:solidFill>
                  <a:schemeClr val="accent6"/>
                </a:solidFill>
              </a:rPr>
              <a:t>上架</a:t>
            </a:r>
            <a:endParaRPr lang="en-US" sz="2000" b="1" spc="50" dirty="0">
              <a:solidFill>
                <a:schemeClr val="accent6"/>
              </a:solidFill>
            </a:endParaRPr>
          </a:p>
        </p:txBody>
      </p:sp>
      <p:sp>
        <p:nvSpPr>
          <p:cNvPr id="46" name="TextBox 56">
            <a:extLst>
              <a:ext uri="{FF2B5EF4-FFF2-40B4-BE49-F238E27FC236}">
                <a16:creationId xmlns:a16="http://schemas.microsoft.com/office/drawing/2014/main" id="{FFA5A101-BEC6-8C50-D0A9-562DD661F676}"/>
              </a:ext>
            </a:extLst>
          </p:cNvPr>
          <p:cNvSpPr txBox="1"/>
          <p:nvPr/>
        </p:nvSpPr>
        <p:spPr>
          <a:xfrm>
            <a:off x="7533555" y="3799575"/>
            <a:ext cx="2093808" cy="705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600" dirty="0">
                <a:solidFill>
                  <a:schemeClr val="tx2"/>
                </a:solidFill>
              </a:rPr>
              <a:t>於 </a:t>
            </a:r>
            <a:r>
              <a:rPr lang="pt-PT" altLang="zh-TW" sz="1600" dirty="0">
                <a:solidFill>
                  <a:schemeClr val="tx2"/>
                </a:solidFill>
              </a:rPr>
              <a:t>Google Play </a:t>
            </a:r>
            <a:r>
              <a:rPr lang="zh-TW" altLang="en-US" sz="1600" dirty="0">
                <a:solidFill>
                  <a:schemeClr val="tx2"/>
                </a:solidFill>
              </a:rPr>
              <a:t>與</a:t>
            </a:r>
            <a:r>
              <a:rPr lang="pt-PT" altLang="zh-TW" sz="1600" dirty="0">
                <a:solidFill>
                  <a:schemeClr val="tx2"/>
                </a:solidFill>
              </a:rPr>
              <a:t>App Store </a:t>
            </a:r>
            <a:r>
              <a:rPr lang="zh-TW" altLang="en-US" sz="1600" dirty="0">
                <a:solidFill>
                  <a:schemeClr val="tx2"/>
                </a:solidFill>
              </a:rPr>
              <a:t>正式上架</a:t>
            </a:r>
            <a:endParaRPr lang="en-ID" sz="1600" dirty="0">
              <a:solidFill>
                <a:schemeClr val="tx2"/>
              </a:solidFill>
            </a:endParaRPr>
          </a:p>
        </p:txBody>
      </p:sp>
      <p:sp>
        <p:nvSpPr>
          <p:cNvPr id="59" name="TextBox 55">
            <a:extLst>
              <a:ext uri="{FF2B5EF4-FFF2-40B4-BE49-F238E27FC236}">
                <a16:creationId xmlns:a16="http://schemas.microsoft.com/office/drawing/2014/main" id="{5BBB9AA2-08B5-98D3-E5F8-421F5122678B}"/>
              </a:ext>
            </a:extLst>
          </p:cNvPr>
          <p:cNvSpPr txBox="1"/>
          <p:nvPr/>
        </p:nvSpPr>
        <p:spPr>
          <a:xfrm>
            <a:off x="10016301" y="3000832"/>
            <a:ext cx="1962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TW" altLang="en-US" sz="2000" b="1" spc="50" dirty="0">
                <a:solidFill>
                  <a:schemeClr val="accent6"/>
                </a:solidFill>
              </a:rPr>
              <a:t>盈利模式</a:t>
            </a:r>
            <a:endParaRPr lang="en-US" sz="2000" b="1" spc="50" dirty="0">
              <a:solidFill>
                <a:schemeClr val="accent6"/>
              </a:solidFill>
            </a:endParaRPr>
          </a:p>
        </p:txBody>
      </p:sp>
      <p:sp>
        <p:nvSpPr>
          <p:cNvPr id="63" name="TextBox 56">
            <a:extLst>
              <a:ext uri="{FF2B5EF4-FFF2-40B4-BE49-F238E27FC236}">
                <a16:creationId xmlns:a16="http://schemas.microsoft.com/office/drawing/2014/main" id="{51DBD244-B269-3775-7F72-86FEE04DA3AF}"/>
              </a:ext>
            </a:extLst>
          </p:cNvPr>
          <p:cNvSpPr txBox="1"/>
          <p:nvPr/>
        </p:nvSpPr>
        <p:spPr>
          <a:xfrm>
            <a:off x="10028750" y="3411103"/>
            <a:ext cx="1521874" cy="705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廣告置入與</a:t>
            </a:r>
            <a:endParaRPr lang="en-US" altLang="zh-TW" sz="1600" spc="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1600" spc="50" dirty="0">
                <a:solidFill>
                  <a:schemeClr val="tx2"/>
                </a:solidFill>
              </a:rPr>
              <a:t>交易手續費等</a:t>
            </a:r>
            <a:endParaRPr lang="en-ID" sz="1600" spc="50" dirty="0">
              <a:solidFill>
                <a:schemeClr val="tx2"/>
              </a:solidFill>
            </a:endParaRPr>
          </a:p>
        </p:txBody>
      </p:sp>
      <p:pic>
        <p:nvPicPr>
          <p:cNvPr id="67" name="圖形 66">
            <a:extLst>
              <a:ext uri="{FF2B5EF4-FFF2-40B4-BE49-F238E27FC236}">
                <a16:creationId xmlns:a16="http://schemas.microsoft.com/office/drawing/2014/main" id="{4290AD05-35CE-8A23-5DC6-C2D0B99E97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258" y="4152539"/>
            <a:ext cx="432000" cy="432000"/>
          </a:xfrm>
          <a:prstGeom prst="rect">
            <a:avLst/>
          </a:prstGeom>
        </p:spPr>
      </p:pic>
      <p:pic>
        <p:nvPicPr>
          <p:cNvPr id="73" name="圖形 72">
            <a:extLst>
              <a:ext uri="{FF2B5EF4-FFF2-40B4-BE49-F238E27FC236}">
                <a16:creationId xmlns:a16="http://schemas.microsoft.com/office/drawing/2014/main" id="{2DB788AD-DE10-629E-E3E5-92EE558424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5497" y="4577008"/>
            <a:ext cx="432000" cy="432000"/>
          </a:xfrm>
          <a:prstGeom prst="rect">
            <a:avLst/>
          </a:prstGeom>
        </p:spPr>
      </p:pic>
      <p:pic>
        <p:nvPicPr>
          <p:cNvPr id="75" name="圖形 74">
            <a:extLst>
              <a:ext uri="{FF2B5EF4-FFF2-40B4-BE49-F238E27FC236}">
                <a16:creationId xmlns:a16="http://schemas.microsoft.com/office/drawing/2014/main" id="{3DAEBFBC-D0D8-0170-A657-CF8A4AE3B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0736" y="4095104"/>
            <a:ext cx="432000" cy="432000"/>
          </a:xfrm>
          <a:prstGeom prst="rect">
            <a:avLst/>
          </a:prstGeom>
        </p:spPr>
      </p:pic>
      <p:pic>
        <p:nvPicPr>
          <p:cNvPr id="77" name="圖形 76">
            <a:extLst>
              <a:ext uri="{FF2B5EF4-FFF2-40B4-BE49-F238E27FC236}">
                <a16:creationId xmlns:a16="http://schemas.microsoft.com/office/drawing/2014/main" id="{F86AD82E-C425-05A4-BD91-19A801A710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09161" y="2537458"/>
            <a:ext cx="432000" cy="432000"/>
          </a:xfrm>
          <a:prstGeom prst="rect">
            <a:avLst/>
          </a:prstGeom>
        </p:spPr>
      </p:pic>
      <p:pic>
        <p:nvPicPr>
          <p:cNvPr id="79" name="圖形 78">
            <a:extLst>
              <a:ext uri="{FF2B5EF4-FFF2-40B4-BE49-F238E27FC236}">
                <a16:creationId xmlns:a16="http://schemas.microsoft.com/office/drawing/2014/main" id="{F61E6568-E3B8-9CE1-78DB-23BB7A762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11213" y="2144409"/>
            <a:ext cx="432000" cy="4320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562984-C167-9F00-54A0-EA793723B6F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55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B0156AB2-0316-34A7-AF92-A7B6972BAF51}"/>
              </a:ext>
            </a:extLst>
          </p:cNvPr>
          <p:cNvSpPr/>
          <p:nvPr/>
        </p:nvSpPr>
        <p:spPr>
          <a:xfrm>
            <a:off x="2103548" y="1501263"/>
            <a:ext cx="708538" cy="708537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3887703" y="2490014"/>
            <a:ext cx="441659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6600" b="1" i="0" u="none" strike="noStrike" kern="0" cap="none" spc="30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ea"/>
                <a:ea typeface="+mj-ea"/>
              </a:rPr>
              <a:t>謝 謝 大 家</a:t>
            </a:r>
            <a:endParaRPr kumimoji="0" lang="id-ID" sz="66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22492" y="3598546"/>
            <a:ext cx="3147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4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400" b="1" spc="150" dirty="0">
              <a:solidFill>
                <a:schemeClr val="accent1"/>
              </a:solidFill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63863-AE30-DCC3-6992-C7F05DE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E9B16CAB-A8E0-408D-2AE1-C012669F01B7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745064-86D1-BA25-879A-4733679A8E6E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6E57014-A5CC-6116-94DE-1A6121DC293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D74972-56EC-12B0-404F-9BA6EDBB6FE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rgbClr val="7E8A90"/>
                </a:solidFill>
              </a:rPr>
              <a:t>25</a:t>
            </a:fld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F8B6F8FE-5A62-E215-CF4A-90FF47F576F5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>
                <a:latin typeface="+mj-lt"/>
              </a:rPr>
              <a:t>Q7.</a:t>
            </a:r>
            <a:r>
              <a:rPr lang="zh-TW" altLang="en-US" sz="2000" spc="100" dirty="0">
                <a:latin typeface="+mj-lt"/>
              </a:rPr>
              <a:t>處理書籍時最常遇到的困擾？</a:t>
            </a:r>
          </a:p>
        </p:txBody>
      </p:sp>
      <p:grpSp>
        <p:nvGrpSpPr>
          <p:cNvPr id="3" name="Group 74">
            <a:extLst>
              <a:ext uri="{FF2B5EF4-FFF2-40B4-BE49-F238E27FC236}">
                <a16:creationId xmlns:a16="http://schemas.microsoft.com/office/drawing/2014/main" id="{D3CF9518-FE73-8A5C-B7FF-7AAADADC0B64}"/>
              </a:ext>
            </a:extLst>
          </p:cNvPr>
          <p:cNvGrpSpPr/>
          <p:nvPr/>
        </p:nvGrpSpPr>
        <p:grpSpPr>
          <a:xfrm>
            <a:off x="5262464" y="2861736"/>
            <a:ext cx="3600000" cy="126005"/>
            <a:chOff x="9414809" y="1899175"/>
            <a:chExt cx="2859844" cy="120057"/>
          </a:xfrm>
        </p:grpSpPr>
        <p:sp>
          <p:nvSpPr>
            <p:cNvPr id="4" name="Rectangle: Rounded Corners 69">
              <a:extLst>
                <a:ext uri="{FF2B5EF4-FFF2-40B4-BE49-F238E27FC236}">
                  <a16:creationId xmlns:a16="http://schemas.microsoft.com/office/drawing/2014/main" id="{A6479DBA-FCF5-B81D-C4DA-E4C4D94F0526}"/>
                </a:ext>
              </a:extLst>
            </p:cNvPr>
            <p:cNvSpPr/>
            <p:nvPr/>
          </p:nvSpPr>
          <p:spPr>
            <a:xfrm>
              <a:off x="9414810" y="1899195"/>
              <a:ext cx="2859843" cy="120037"/>
            </a:xfrm>
            <a:prstGeom prst="roundRect">
              <a:avLst>
                <a:gd name="adj" fmla="val 42106"/>
              </a:avLst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  <p:sp>
          <p:nvSpPr>
            <p:cNvPr id="8" name="Rectangle: Rounded Corners 70">
              <a:extLst>
                <a:ext uri="{FF2B5EF4-FFF2-40B4-BE49-F238E27FC236}">
                  <a16:creationId xmlns:a16="http://schemas.microsoft.com/office/drawing/2014/main" id="{2E1F7252-64F7-91B4-F765-F6AD3AAC4326}"/>
                </a:ext>
              </a:extLst>
            </p:cNvPr>
            <p:cNvSpPr/>
            <p:nvPr/>
          </p:nvSpPr>
          <p:spPr>
            <a:xfrm>
              <a:off x="9414809" y="1899175"/>
              <a:ext cx="2030489" cy="120037"/>
            </a:xfrm>
            <a:prstGeom prst="roundRect">
              <a:avLst>
                <a:gd name="adj" fmla="val 42106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</p:grpSp>
      <p:sp>
        <p:nvSpPr>
          <p:cNvPr id="10" name="TextBox 8">
            <a:extLst>
              <a:ext uri="{FF2B5EF4-FFF2-40B4-BE49-F238E27FC236}">
                <a16:creationId xmlns:a16="http://schemas.microsoft.com/office/drawing/2014/main" id="{686AD4C3-FB06-F4BE-06D6-C704B816DEC8}"/>
              </a:ext>
            </a:extLst>
          </p:cNvPr>
          <p:cNvSpPr txBox="1"/>
          <p:nvPr/>
        </p:nvSpPr>
        <p:spPr>
          <a:xfrm>
            <a:off x="1184987" y="2786239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+mn-ea"/>
                <a:cs typeface="Noto Sans T Chinese"/>
                <a:sym typeface="Noto Sans T Chinese"/>
              </a:rPr>
              <a:t>家裡空間不足，想清空但懶得處理</a:t>
            </a:r>
            <a:endParaRPr lang="en-US" spc="50" dirty="0">
              <a:solidFill>
                <a:schemeClr val="tx2"/>
              </a:solidFill>
              <a:latin typeface="+mn-ea"/>
              <a:cs typeface="Noto Sans T Chinese"/>
              <a:sym typeface="Noto Sans T Chinese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8624E221-F84C-280E-8BB7-8BDDE5EBCD3F}"/>
              </a:ext>
            </a:extLst>
          </p:cNvPr>
          <p:cNvSpPr txBox="1"/>
          <p:nvPr/>
        </p:nvSpPr>
        <p:spPr>
          <a:xfrm>
            <a:off x="9272223" y="2786239"/>
            <a:ext cx="7867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altLang="zh-TW" b="1" spc="100" dirty="0">
                <a:solidFill>
                  <a:schemeClr val="accent1"/>
                </a:solidFill>
                <a:cs typeface="Noto Sans T Chinese"/>
                <a:sym typeface="Noto Sans T Chinese"/>
              </a:rPr>
              <a:t>35%</a:t>
            </a:r>
            <a:endParaRPr lang="en-US" b="1" spc="100" dirty="0">
              <a:solidFill>
                <a:schemeClr val="accent1"/>
              </a:solidFill>
              <a:cs typeface="Noto Sans T Chinese"/>
              <a:sym typeface="Noto Sans T Chinese"/>
            </a:endParaRPr>
          </a:p>
        </p:txBody>
      </p:sp>
      <p:grpSp>
        <p:nvGrpSpPr>
          <p:cNvPr id="19" name="Group 74">
            <a:extLst>
              <a:ext uri="{FF2B5EF4-FFF2-40B4-BE49-F238E27FC236}">
                <a16:creationId xmlns:a16="http://schemas.microsoft.com/office/drawing/2014/main" id="{70E45ED3-90E4-6D7D-D503-B496281E6B8D}"/>
              </a:ext>
            </a:extLst>
          </p:cNvPr>
          <p:cNvGrpSpPr/>
          <p:nvPr/>
        </p:nvGrpSpPr>
        <p:grpSpPr>
          <a:xfrm>
            <a:off x="5262464" y="3495240"/>
            <a:ext cx="3600000" cy="126005"/>
            <a:chOff x="9414809" y="1899175"/>
            <a:chExt cx="2859844" cy="120057"/>
          </a:xfrm>
        </p:grpSpPr>
        <p:sp>
          <p:nvSpPr>
            <p:cNvPr id="20" name="Rectangle: Rounded Corners 69">
              <a:extLst>
                <a:ext uri="{FF2B5EF4-FFF2-40B4-BE49-F238E27FC236}">
                  <a16:creationId xmlns:a16="http://schemas.microsoft.com/office/drawing/2014/main" id="{DBEA05EE-BCFE-3747-85DD-99D1BF71B0CF}"/>
                </a:ext>
              </a:extLst>
            </p:cNvPr>
            <p:cNvSpPr/>
            <p:nvPr/>
          </p:nvSpPr>
          <p:spPr>
            <a:xfrm>
              <a:off x="9414810" y="1899195"/>
              <a:ext cx="2859843" cy="120037"/>
            </a:xfrm>
            <a:prstGeom prst="roundRect">
              <a:avLst>
                <a:gd name="adj" fmla="val 42106"/>
              </a:avLst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  <p:sp>
          <p:nvSpPr>
            <p:cNvPr id="21" name="Rectangle: Rounded Corners 70">
              <a:extLst>
                <a:ext uri="{FF2B5EF4-FFF2-40B4-BE49-F238E27FC236}">
                  <a16:creationId xmlns:a16="http://schemas.microsoft.com/office/drawing/2014/main" id="{CBC51708-C88D-C772-10B5-DDFDADB0EF1F}"/>
                </a:ext>
              </a:extLst>
            </p:cNvPr>
            <p:cNvSpPr/>
            <p:nvPr/>
          </p:nvSpPr>
          <p:spPr>
            <a:xfrm>
              <a:off x="9414809" y="1899175"/>
              <a:ext cx="1630111" cy="120037"/>
            </a:xfrm>
            <a:prstGeom prst="roundRect">
              <a:avLst>
                <a:gd name="adj" fmla="val 42106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</p:grpSp>
      <p:sp>
        <p:nvSpPr>
          <p:cNvPr id="22" name="TextBox 8">
            <a:extLst>
              <a:ext uri="{FF2B5EF4-FFF2-40B4-BE49-F238E27FC236}">
                <a16:creationId xmlns:a16="http://schemas.microsoft.com/office/drawing/2014/main" id="{3521A94E-CF5E-AC98-DCE4-DD968C1F0FB2}"/>
              </a:ext>
            </a:extLst>
          </p:cNvPr>
          <p:cNvSpPr txBox="1"/>
          <p:nvPr/>
        </p:nvSpPr>
        <p:spPr>
          <a:xfrm>
            <a:off x="1184987" y="3419743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+mn-ea"/>
                <a:cs typeface="Noto Sans T Chinese"/>
                <a:sym typeface="Noto Sans T Chinese"/>
              </a:rPr>
              <a:t>寄送流程繁瑣（需包裝、去超商）</a:t>
            </a:r>
            <a:endParaRPr lang="en-US" spc="50" dirty="0">
              <a:solidFill>
                <a:schemeClr val="tx2"/>
              </a:solidFill>
              <a:latin typeface="+mn-ea"/>
              <a:cs typeface="Noto Sans T Chinese"/>
              <a:sym typeface="Noto Sans T Chinese"/>
            </a:endParaRP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AF78525B-3137-CE73-F0D5-2AA732DAC4B4}"/>
              </a:ext>
            </a:extLst>
          </p:cNvPr>
          <p:cNvSpPr txBox="1"/>
          <p:nvPr/>
        </p:nvSpPr>
        <p:spPr>
          <a:xfrm>
            <a:off x="8983981" y="3419743"/>
            <a:ext cx="107502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altLang="zh-TW" b="1" spc="100" dirty="0">
                <a:solidFill>
                  <a:schemeClr val="accent1"/>
                </a:solidFill>
                <a:cs typeface="Noto Sans T Chinese"/>
                <a:sym typeface="Noto Sans T Chinese"/>
              </a:rPr>
              <a:t>26.9%</a:t>
            </a:r>
            <a:endParaRPr lang="en-US" b="1" spc="100" dirty="0">
              <a:solidFill>
                <a:schemeClr val="accent1"/>
              </a:solidFill>
              <a:cs typeface="Noto Sans T Chinese"/>
              <a:sym typeface="Noto Sans T Chinese"/>
            </a:endParaRPr>
          </a:p>
        </p:txBody>
      </p:sp>
      <p:grpSp>
        <p:nvGrpSpPr>
          <p:cNvPr id="24" name="Group 74">
            <a:extLst>
              <a:ext uri="{FF2B5EF4-FFF2-40B4-BE49-F238E27FC236}">
                <a16:creationId xmlns:a16="http://schemas.microsoft.com/office/drawing/2014/main" id="{0A304F00-3CF7-1817-64A3-B014A3565EDA}"/>
              </a:ext>
            </a:extLst>
          </p:cNvPr>
          <p:cNvGrpSpPr/>
          <p:nvPr/>
        </p:nvGrpSpPr>
        <p:grpSpPr>
          <a:xfrm>
            <a:off x="5262464" y="4123480"/>
            <a:ext cx="3600000" cy="126005"/>
            <a:chOff x="9414809" y="1899175"/>
            <a:chExt cx="2859844" cy="120057"/>
          </a:xfrm>
        </p:grpSpPr>
        <p:sp>
          <p:nvSpPr>
            <p:cNvPr id="25" name="Rectangle: Rounded Corners 69">
              <a:extLst>
                <a:ext uri="{FF2B5EF4-FFF2-40B4-BE49-F238E27FC236}">
                  <a16:creationId xmlns:a16="http://schemas.microsoft.com/office/drawing/2014/main" id="{09EB1E5D-A245-D2FB-2291-C7721CB0B1E9}"/>
                </a:ext>
              </a:extLst>
            </p:cNvPr>
            <p:cNvSpPr/>
            <p:nvPr/>
          </p:nvSpPr>
          <p:spPr>
            <a:xfrm>
              <a:off x="9414810" y="1899195"/>
              <a:ext cx="2859843" cy="120037"/>
            </a:xfrm>
            <a:prstGeom prst="roundRect">
              <a:avLst>
                <a:gd name="adj" fmla="val 42106"/>
              </a:avLst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  <p:sp>
          <p:nvSpPr>
            <p:cNvPr id="26" name="Rectangle: Rounded Corners 70">
              <a:extLst>
                <a:ext uri="{FF2B5EF4-FFF2-40B4-BE49-F238E27FC236}">
                  <a16:creationId xmlns:a16="http://schemas.microsoft.com/office/drawing/2014/main" id="{4A1CAE6C-8C25-E51E-3BB4-89F38EFD673E}"/>
                </a:ext>
              </a:extLst>
            </p:cNvPr>
            <p:cNvSpPr/>
            <p:nvPr/>
          </p:nvSpPr>
          <p:spPr>
            <a:xfrm>
              <a:off x="9414809" y="1899175"/>
              <a:ext cx="1401324" cy="120037"/>
            </a:xfrm>
            <a:prstGeom prst="roundRect">
              <a:avLst>
                <a:gd name="adj" fmla="val 42106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</p:grpSp>
      <p:sp>
        <p:nvSpPr>
          <p:cNvPr id="27" name="TextBox 8">
            <a:extLst>
              <a:ext uri="{FF2B5EF4-FFF2-40B4-BE49-F238E27FC236}">
                <a16:creationId xmlns:a16="http://schemas.microsoft.com/office/drawing/2014/main" id="{24B73355-020D-0853-2001-A8CC542216E5}"/>
              </a:ext>
            </a:extLst>
          </p:cNvPr>
          <p:cNvSpPr txBox="1"/>
          <p:nvPr/>
        </p:nvSpPr>
        <p:spPr>
          <a:xfrm>
            <a:off x="1184987" y="4047983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+mn-ea"/>
                <a:cs typeface="Noto Sans T Chinese"/>
                <a:sym typeface="Noto Sans T Chinese"/>
              </a:rPr>
              <a:t>實體二手店收購價太低</a:t>
            </a:r>
            <a:endParaRPr lang="en-US" spc="50" dirty="0">
              <a:solidFill>
                <a:schemeClr val="tx2"/>
              </a:solidFill>
              <a:latin typeface="+mn-ea"/>
              <a:cs typeface="Noto Sans T Chinese"/>
              <a:sym typeface="Noto Sans T Chinese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7D3BAC96-2D57-02BC-BFAB-695A6B9E13A9}"/>
              </a:ext>
            </a:extLst>
          </p:cNvPr>
          <p:cNvSpPr txBox="1"/>
          <p:nvPr/>
        </p:nvSpPr>
        <p:spPr>
          <a:xfrm>
            <a:off x="9272223" y="4047983"/>
            <a:ext cx="7867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altLang="zh-TW" b="1" spc="100" dirty="0">
                <a:solidFill>
                  <a:schemeClr val="accent1"/>
                </a:solidFill>
                <a:cs typeface="Noto Sans T Chinese"/>
                <a:sym typeface="Noto Sans T Chinese"/>
              </a:rPr>
              <a:t>21.9%</a:t>
            </a:r>
            <a:endParaRPr lang="en-US" b="1" spc="100" dirty="0">
              <a:solidFill>
                <a:schemeClr val="accent1"/>
              </a:solidFill>
              <a:cs typeface="Noto Sans T Chinese"/>
              <a:sym typeface="Noto Sans T Chinese"/>
            </a:endParaRPr>
          </a:p>
        </p:txBody>
      </p:sp>
      <p:grpSp>
        <p:nvGrpSpPr>
          <p:cNvPr id="29" name="Group 74">
            <a:extLst>
              <a:ext uri="{FF2B5EF4-FFF2-40B4-BE49-F238E27FC236}">
                <a16:creationId xmlns:a16="http://schemas.microsoft.com/office/drawing/2014/main" id="{2DBCEFFC-3AA5-2946-5AE4-ADE8B46868A5}"/>
              </a:ext>
            </a:extLst>
          </p:cNvPr>
          <p:cNvGrpSpPr/>
          <p:nvPr/>
        </p:nvGrpSpPr>
        <p:grpSpPr>
          <a:xfrm>
            <a:off x="5262464" y="4756984"/>
            <a:ext cx="3600000" cy="126005"/>
            <a:chOff x="9414809" y="1899175"/>
            <a:chExt cx="2859844" cy="120057"/>
          </a:xfrm>
        </p:grpSpPr>
        <p:sp>
          <p:nvSpPr>
            <p:cNvPr id="30" name="Rectangle: Rounded Corners 69">
              <a:extLst>
                <a:ext uri="{FF2B5EF4-FFF2-40B4-BE49-F238E27FC236}">
                  <a16:creationId xmlns:a16="http://schemas.microsoft.com/office/drawing/2014/main" id="{E1DC73EB-A754-B566-F27E-2EB4C9AE452E}"/>
                </a:ext>
              </a:extLst>
            </p:cNvPr>
            <p:cNvSpPr/>
            <p:nvPr/>
          </p:nvSpPr>
          <p:spPr>
            <a:xfrm>
              <a:off x="9414810" y="1899195"/>
              <a:ext cx="2859843" cy="120037"/>
            </a:xfrm>
            <a:prstGeom prst="roundRect">
              <a:avLst>
                <a:gd name="adj" fmla="val 42106"/>
              </a:avLst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  <p:sp>
          <p:nvSpPr>
            <p:cNvPr id="31" name="Rectangle: Rounded Corners 70">
              <a:extLst>
                <a:ext uri="{FF2B5EF4-FFF2-40B4-BE49-F238E27FC236}">
                  <a16:creationId xmlns:a16="http://schemas.microsoft.com/office/drawing/2014/main" id="{311FEDAA-9979-B3A4-F244-75381ED36962}"/>
                </a:ext>
              </a:extLst>
            </p:cNvPr>
            <p:cNvSpPr/>
            <p:nvPr/>
          </p:nvSpPr>
          <p:spPr>
            <a:xfrm>
              <a:off x="9414809" y="1899175"/>
              <a:ext cx="1143938" cy="120037"/>
            </a:xfrm>
            <a:prstGeom prst="roundRect">
              <a:avLst>
                <a:gd name="adj" fmla="val 42106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571500"/>
              <a:endParaRPr lang="en-US" sz="1200" dirty="0">
                <a:solidFill>
                  <a:srgbClr val="111029"/>
                </a:solidFill>
              </a:endParaRPr>
            </a:p>
          </p:txBody>
        </p:sp>
      </p:grpSp>
      <p:sp>
        <p:nvSpPr>
          <p:cNvPr id="32" name="TextBox 8">
            <a:extLst>
              <a:ext uri="{FF2B5EF4-FFF2-40B4-BE49-F238E27FC236}">
                <a16:creationId xmlns:a16="http://schemas.microsoft.com/office/drawing/2014/main" id="{50EF35E3-3AA3-BC05-2567-6BFE79537D89}"/>
              </a:ext>
            </a:extLst>
          </p:cNvPr>
          <p:cNvSpPr txBox="1"/>
          <p:nvPr/>
        </p:nvSpPr>
        <p:spPr>
          <a:xfrm>
            <a:off x="1184987" y="4681487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+mn-ea"/>
                <a:cs typeface="Noto Sans T Chinese"/>
                <a:sym typeface="Noto Sans T Chinese"/>
              </a:rPr>
              <a:t>在電商平台與買家溝通太耗時</a:t>
            </a:r>
            <a:endParaRPr lang="en-US" spc="50" dirty="0">
              <a:solidFill>
                <a:schemeClr val="tx2"/>
              </a:solidFill>
              <a:latin typeface="+mn-ea"/>
              <a:cs typeface="Noto Sans T Chinese"/>
              <a:sym typeface="Noto Sans T Chinese"/>
            </a:endParaRPr>
          </a:p>
        </p:txBody>
      </p:sp>
      <p:sp>
        <p:nvSpPr>
          <p:cNvPr id="33" name="TextBox 8">
            <a:extLst>
              <a:ext uri="{FF2B5EF4-FFF2-40B4-BE49-F238E27FC236}">
                <a16:creationId xmlns:a16="http://schemas.microsoft.com/office/drawing/2014/main" id="{F7B881F2-9F50-74D9-E103-76DA7A8A1B14}"/>
              </a:ext>
            </a:extLst>
          </p:cNvPr>
          <p:cNvSpPr txBox="1"/>
          <p:nvPr/>
        </p:nvSpPr>
        <p:spPr>
          <a:xfrm>
            <a:off x="9272223" y="4681487"/>
            <a:ext cx="7867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altLang="zh-TW" b="1" spc="100" dirty="0">
                <a:solidFill>
                  <a:schemeClr val="accent1"/>
                </a:solidFill>
                <a:cs typeface="Noto Sans T Chinese"/>
                <a:sym typeface="Noto Sans T Chinese"/>
              </a:rPr>
              <a:t>16.2%</a:t>
            </a:r>
            <a:endParaRPr lang="en-US" b="1" spc="100" dirty="0">
              <a:solidFill>
                <a:schemeClr val="accent1"/>
              </a:solidFill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4421266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B44D2F-EEE9-2ADD-0DA0-3672B7144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F182BB5-2010-9A13-7FE9-DB74DA5F470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FB9383-E31B-6553-7BE5-A255732FCDAA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硬體核心元件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6C6885-D343-1471-925D-D1E57B9B9ACD}"/>
              </a:ext>
            </a:extLst>
          </p:cNvPr>
          <p:cNvSpPr txBox="1"/>
          <p:nvPr/>
        </p:nvSpPr>
        <p:spPr>
          <a:xfrm>
            <a:off x="5409398" y="828142"/>
            <a:ext cx="6101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COMPONENTS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A14BDA5-EC4A-BF95-BC6D-63FADDA5652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20">
            <a:extLst>
              <a:ext uri="{FF2B5EF4-FFF2-40B4-BE49-F238E27FC236}">
                <a16:creationId xmlns:a16="http://schemas.microsoft.com/office/drawing/2014/main" id="{2087E52E-88C9-5C3A-0CB6-54F249195B6A}"/>
              </a:ext>
            </a:extLst>
          </p:cNvPr>
          <p:cNvGrpSpPr/>
          <p:nvPr/>
        </p:nvGrpSpPr>
        <p:grpSpPr>
          <a:xfrm>
            <a:off x="5492473" y="2990816"/>
            <a:ext cx="1646599" cy="1100458"/>
            <a:chOff x="4904291" y="1430524"/>
            <a:chExt cx="1841141" cy="1230474"/>
          </a:xfrm>
        </p:grpSpPr>
        <p:grpSp>
          <p:nvGrpSpPr>
            <p:cNvPr id="4" name="Graphic 1">
              <a:extLst>
                <a:ext uri="{FF2B5EF4-FFF2-40B4-BE49-F238E27FC236}">
                  <a16:creationId xmlns:a16="http://schemas.microsoft.com/office/drawing/2014/main" id="{00640005-EF8E-785C-2FE3-7463BAA49AFE}"/>
                </a:ext>
              </a:extLst>
            </p:cNvPr>
            <p:cNvGrpSpPr/>
            <p:nvPr/>
          </p:nvGrpSpPr>
          <p:grpSpPr>
            <a:xfrm>
              <a:off x="4905786" y="1796690"/>
              <a:ext cx="1839643" cy="864308"/>
              <a:chOff x="5764434" y="2536601"/>
              <a:chExt cx="1054226" cy="495300"/>
            </a:xfrm>
            <a:solidFill>
              <a:schemeClr val="accent1"/>
            </a:solidFill>
          </p:grpSpPr>
          <p:sp>
            <p:nvSpPr>
              <p:cNvPr id="19" name="Freeform: Shape 91">
                <a:extLst>
                  <a:ext uri="{FF2B5EF4-FFF2-40B4-BE49-F238E27FC236}">
                    <a16:creationId xmlns:a16="http://schemas.microsoft.com/office/drawing/2014/main" id="{CA98A8D0-859C-4221-FF8C-E377DA44ED80}"/>
                  </a:ext>
                </a:extLst>
              </p:cNvPr>
              <p:cNvSpPr/>
              <p:nvPr/>
            </p:nvSpPr>
            <p:spPr>
              <a:xfrm>
                <a:off x="6127328" y="2536601"/>
                <a:ext cx="327563" cy="143161"/>
              </a:xfrm>
              <a:custGeom>
                <a:avLst/>
                <a:gdLst>
                  <a:gd name="connsiteX0" fmla="*/ 279281 w 327563"/>
                  <a:gd name="connsiteY0" fmla="*/ 27909 h 143161"/>
                  <a:gd name="connsiteX1" fmla="*/ 47538 w 327563"/>
                  <a:gd name="connsiteY1" fmla="*/ 27528 h 143161"/>
                  <a:gd name="connsiteX2" fmla="*/ 22773 w 327563"/>
                  <a:gd name="connsiteY2" fmla="*/ 142209 h 143161"/>
                  <a:gd name="connsiteX3" fmla="*/ 47538 w 327563"/>
                  <a:gd name="connsiteY3" fmla="*/ 123635 h 143161"/>
                  <a:gd name="connsiteX4" fmla="*/ 279281 w 327563"/>
                  <a:gd name="connsiteY4" fmla="*/ 124016 h 143161"/>
                  <a:gd name="connsiteX5" fmla="*/ 304713 w 327563"/>
                  <a:gd name="connsiteY5" fmla="*/ 143161 h 143161"/>
                  <a:gd name="connsiteX6" fmla="*/ 279281 w 327563"/>
                  <a:gd name="connsiteY6" fmla="*/ 27909 h 143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27563" h="143161">
                    <a:moveTo>
                      <a:pt x="279281" y="27909"/>
                    </a:moveTo>
                    <a:cubicBezTo>
                      <a:pt x="215083" y="-9144"/>
                      <a:pt x="111356" y="-9334"/>
                      <a:pt x="47538" y="27528"/>
                    </a:cubicBezTo>
                    <a:cubicBezTo>
                      <a:pt x="-6183" y="58579"/>
                      <a:pt x="-14279" y="105918"/>
                      <a:pt x="22773" y="142209"/>
                    </a:cubicBezTo>
                    <a:cubicBezTo>
                      <a:pt x="29536" y="135636"/>
                      <a:pt x="37632" y="129350"/>
                      <a:pt x="47538" y="123635"/>
                    </a:cubicBezTo>
                    <a:cubicBezTo>
                      <a:pt x="111356" y="86773"/>
                      <a:pt x="215083" y="86964"/>
                      <a:pt x="279281" y="124016"/>
                    </a:cubicBezTo>
                    <a:cubicBezTo>
                      <a:pt x="289378" y="129826"/>
                      <a:pt x="297760" y="136303"/>
                      <a:pt x="304713" y="143161"/>
                    </a:cubicBezTo>
                    <a:cubicBezTo>
                      <a:pt x="342051" y="106966"/>
                      <a:pt x="333669" y="59246"/>
                      <a:pt x="279281" y="27909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: Shape 92">
                <a:extLst>
                  <a:ext uri="{FF2B5EF4-FFF2-40B4-BE49-F238E27FC236}">
                    <a16:creationId xmlns:a16="http://schemas.microsoft.com/office/drawing/2014/main" id="{17CA12A5-2000-B529-5FC1-9E56B43E2692}"/>
                  </a:ext>
                </a:extLst>
              </p:cNvPr>
              <p:cNvSpPr/>
              <p:nvPr/>
            </p:nvSpPr>
            <p:spPr>
              <a:xfrm>
                <a:off x="6532816" y="2712243"/>
                <a:ext cx="285845" cy="189547"/>
              </a:xfrm>
              <a:custGeom>
                <a:avLst/>
                <a:gdLst>
                  <a:gd name="connsiteX0" fmla="*/ 230124 w 285845"/>
                  <a:gd name="connsiteY0" fmla="*/ 78391 h 189547"/>
                  <a:gd name="connsiteX1" fmla="*/ 88011 w 285845"/>
                  <a:gd name="connsiteY1" fmla="*/ 58483 h 189547"/>
                  <a:gd name="connsiteX2" fmla="*/ 47720 w 285845"/>
                  <a:gd name="connsiteY2" fmla="*/ 86011 h 189547"/>
                  <a:gd name="connsiteX3" fmla="*/ 0 w 285845"/>
                  <a:gd name="connsiteY3" fmla="*/ 109252 h 189547"/>
                  <a:gd name="connsiteX4" fmla="*/ 33718 w 285845"/>
                  <a:gd name="connsiteY4" fmla="*/ 189548 h 189547"/>
                  <a:gd name="connsiteX5" fmla="*/ 47720 w 285845"/>
                  <a:gd name="connsiteY5" fmla="*/ 182213 h 189547"/>
                  <a:gd name="connsiteX6" fmla="*/ 88011 w 285845"/>
                  <a:gd name="connsiteY6" fmla="*/ 154686 h 189547"/>
                  <a:gd name="connsiteX7" fmla="*/ 230124 w 285845"/>
                  <a:gd name="connsiteY7" fmla="*/ 174593 h 189547"/>
                  <a:gd name="connsiteX8" fmla="*/ 285845 w 285845"/>
                  <a:gd name="connsiteY8" fmla="*/ 96202 h 189547"/>
                  <a:gd name="connsiteX9" fmla="*/ 285845 w 285845"/>
                  <a:gd name="connsiteY9" fmla="*/ 0 h 189547"/>
                  <a:gd name="connsiteX10" fmla="*/ 230124 w 285845"/>
                  <a:gd name="connsiteY10" fmla="*/ 78391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85845" h="189547">
                    <a:moveTo>
                      <a:pt x="230124" y="78391"/>
                    </a:moveTo>
                    <a:lnTo>
                      <a:pt x="88011" y="58483"/>
                    </a:lnTo>
                    <a:cubicBezTo>
                      <a:pt x="75819" y="68104"/>
                      <a:pt x="62770" y="77343"/>
                      <a:pt x="47720" y="86011"/>
                    </a:cubicBezTo>
                    <a:cubicBezTo>
                      <a:pt x="32766" y="94678"/>
                      <a:pt x="16574" y="102203"/>
                      <a:pt x="0" y="109252"/>
                    </a:cubicBezTo>
                    <a:lnTo>
                      <a:pt x="33718" y="189548"/>
                    </a:lnTo>
                    <a:cubicBezTo>
                      <a:pt x="38481" y="187166"/>
                      <a:pt x="43243" y="184785"/>
                      <a:pt x="47720" y="182213"/>
                    </a:cubicBezTo>
                    <a:cubicBezTo>
                      <a:pt x="62675" y="173546"/>
                      <a:pt x="75819" y="164211"/>
                      <a:pt x="88011" y="154686"/>
                    </a:cubicBezTo>
                    <a:lnTo>
                      <a:pt x="230124" y="174593"/>
                    </a:lnTo>
                    <a:cubicBezTo>
                      <a:pt x="255175" y="149733"/>
                      <a:pt x="273653" y="123349"/>
                      <a:pt x="285845" y="96202"/>
                    </a:cubicBezTo>
                    <a:lnTo>
                      <a:pt x="285845" y="0"/>
                    </a:lnTo>
                    <a:cubicBezTo>
                      <a:pt x="273653" y="27146"/>
                      <a:pt x="255175" y="53626"/>
                      <a:pt x="230124" y="78391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Freeform: Shape 93">
                <a:extLst>
                  <a:ext uri="{FF2B5EF4-FFF2-40B4-BE49-F238E27FC236}">
                    <a16:creationId xmlns:a16="http://schemas.microsoft.com/office/drawing/2014/main" id="{16466BA8-C67C-1230-B177-989F7BD61833}"/>
                  </a:ext>
                </a:extLst>
              </p:cNvPr>
              <p:cNvSpPr/>
              <p:nvPr/>
            </p:nvSpPr>
            <p:spPr>
              <a:xfrm>
                <a:off x="6017895" y="2863690"/>
                <a:ext cx="549401" cy="168211"/>
              </a:xfrm>
              <a:custGeom>
                <a:avLst/>
                <a:gdLst>
                  <a:gd name="connsiteX0" fmla="*/ 413575 w 549401"/>
                  <a:gd name="connsiteY0" fmla="*/ 72104 h 168211"/>
                  <a:gd name="connsiteX1" fmla="*/ 336899 w 549401"/>
                  <a:gd name="connsiteY1" fmla="*/ 190 h 168211"/>
                  <a:gd name="connsiteX2" fmla="*/ 212026 w 549401"/>
                  <a:gd name="connsiteY2" fmla="*/ 0 h 168211"/>
                  <a:gd name="connsiteX3" fmla="*/ 136112 w 549401"/>
                  <a:gd name="connsiteY3" fmla="*/ 71628 h 168211"/>
                  <a:gd name="connsiteX4" fmla="*/ 0 w 549401"/>
                  <a:gd name="connsiteY4" fmla="*/ 38957 h 168211"/>
                  <a:gd name="connsiteX5" fmla="*/ 0 w 549401"/>
                  <a:gd name="connsiteY5" fmla="*/ 135065 h 168211"/>
                  <a:gd name="connsiteX6" fmla="*/ 136112 w 549401"/>
                  <a:gd name="connsiteY6" fmla="*/ 167735 h 168211"/>
                  <a:gd name="connsiteX7" fmla="*/ 212026 w 549401"/>
                  <a:gd name="connsiteY7" fmla="*/ 96107 h 168211"/>
                  <a:gd name="connsiteX8" fmla="*/ 336899 w 549401"/>
                  <a:gd name="connsiteY8" fmla="*/ 96298 h 168211"/>
                  <a:gd name="connsiteX9" fmla="*/ 413575 w 549401"/>
                  <a:gd name="connsiteY9" fmla="*/ 168211 h 168211"/>
                  <a:gd name="connsiteX10" fmla="*/ 549402 w 549401"/>
                  <a:gd name="connsiteY10" fmla="*/ 136017 h 168211"/>
                  <a:gd name="connsiteX11" fmla="*/ 549402 w 549401"/>
                  <a:gd name="connsiteY11" fmla="*/ 39910 h 168211"/>
                  <a:gd name="connsiteX12" fmla="*/ 413575 w 549401"/>
                  <a:gd name="connsiteY12" fmla="*/ 72104 h 168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49401" h="168211">
                    <a:moveTo>
                      <a:pt x="413575" y="72104"/>
                    </a:moveTo>
                    <a:lnTo>
                      <a:pt x="336899" y="190"/>
                    </a:lnTo>
                    <a:cubicBezTo>
                      <a:pt x="295561" y="3810"/>
                      <a:pt x="253460" y="3715"/>
                      <a:pt x="212026" y="0"/>
                    </a:cubicBezTo>
                    <a:lnTo>
                      <a:pt x="136112" y="71628"/>
                    </a:lnTo>
                    <a:cubicBezTo>
                      <a:pt x="88963" y="64389"/>
                      <a:pt x="43148" y="53530"/>
                      <a:pt x="0" y="38957"/>
                    </a:cubicBezTo>
                    <a:lnTo>
                      <a:pt x="0" y="135065"/>
                    </a:lnTo>
                    <a:cubicBezTo>
                      <a:pt x="43148" y="149638"/>
                      <a:pt x="88963" y="160496"/>
                      <a:pt x="136112" y="167735"/>
                    </a:cubicBezTo>
                    <a:lnTo>
                      <a:pt x="212026" y="96107"/>
                    </a:lnTo>
                    <a:cubicBezTo>
                      <a:pt x="253460" y="99822"/>
                      <a:pt x="295466" y="99917"/>
                      <a:pt x="336899" y="96298"/>
                    </a:cubicBezTo>
                    <a:lnTo>
                      <a:pt x="413575" y="168211"/>
                    </a:lnTo>
                    <a:cubicBezTo>
                      <a:pt x="460629" y="161163"/>
                      <a:pt x="506349" y="150495"/>
                      <a:pt x="549402" y="136017"/>
                    </a:cubicBezTo>
                    <a:lnTo>
                      <a:pt x="549402" y="39910"/>
                    </a:lnTo>
                    <a:cubicBezTo>
                      <a:pt x="506444" y="54388"/>
                      <a:pt x="460629" y="65056"/>
                      <a:pt x="413575" y="72104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Freeform: Shape 94">
                <a:extLst>
                  <a:ext uri="{FF2B5EF4-FFF2-40B4-BE49-F238E27FC236}">
                    <a16:creationId xmlns:a16="http://schemas.microsoft.com/office/drawing/2014/main" id="{ED67FB4D-21B3-0C49-60FE-18DA877D81DA}"/>
                  </a:ext>
                </a:extLst>
              </p:cNvPr>
              <p:cNvSpPr/>
              <p:nvPr/>
            </p:nvSpPr>
            <p:spPr>
              <a:xfrm>
                <a:off x="5764434" y="2710338"/>
                <a:ext cx="287083" cy="190880"/>
              </a:xfrm>
              <a:custGeom>
                <a:avLst/>
                <a:gdLst>
                  <a:gd name="connsiteX0" fmla="*/ 287084 w 287083"/>
                  <a:gd name="connsiteY0" fmla="*/ 110300 h 190880"/>
                  <a:gd name="connsiteX1" fmla="*/ 239077 w 287083"/>
                  <a:gd name="connsiteY1" fmla="*/ 86868 h 190880"/>
                  <a:gd name="connsiteX2" fmla="*/ 198501 w 287083"/>
                  <a:gd name="connsiteY2" fmla="*/ 59150 h 190880"/>
                  <a:gd name="connsiteX3" fmla="*/ 56579 w 287083"/>
                  <a:gd name="connsiteY3" fmla="*/ 78581 h 190880"/>
                  <a:gd name="connsiteX4" fmla="*/ 0 w 287083"/>
                  <a:gd name="connsiteY4" fmla="*/ 0 h 190880"/>
                  <a:gd name="connsiteX5" fmla="*/ 0 w 287083"/>
                  <a:gd name="connsiteY5" fmla="*/ 0 h 190880"/>
                  <a:gd name="connsiteX6" fmla="*/ 0 w 287083"/>
                  <a:gd name="connsiteY6" fmla="*/ 96107 h 190880"/>
                  <a:gd name="connsiteX7" fmla="*/ 56579 w 287083"/>
                  <a:gd name="connsiteY7" fmla="*/ 174689 h 190880"/>
                  <a:gd name="connsiteX8" fmla="*/ 198501 w 287083"/>
                  <a:gd name="connsiteY8" fmla="*/ 155258 h 190880"/>
                  <a:gd name="connsiteX9" fmla="*/ 239077 w 287083"/>
                  <a:gd name="connsiteY9" fmla="*/ 182975 h 190880"/>
                  <a:gd name="connsiteX10" fmla="*/ 254032 w 287083"/>
                  <a:gd name="connsiteY10" fmla="*/ 190881 h 190880"/>
                  <a:gd name="connsiteX11" fmla="*/ 287084 w 287083"/>
                  <a:gd name="connsiteY11" fmla="*/ 110300 h 190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7083" h="190880">
                    <a:moveTo>
                      <a:pt x="287084" y="110300"/>
                    </a:moveTo>
                    <a:cubicBezTo>
                      <a:pt x="270415" y="103251"/>
                      <a:pt x="254222" y="95631"/>
                      <a:pt x="239077" y="86868"/>
                    </a:cubicBezTo>
                    <a:cubicBezTo>
                      <a:pt x="224028" y="78200"/>
                      <a:pt x="210788" y="68771"/>
                      <a:pt x="198501" y="59150"/>
                    </a:cubicBezTo>
                    <a:lnTo>
                      <a:pt x="56579" y="78581"/>
                    </a:lnTo>
                    <a:cubicBezTo>
                      <a:pt x="31337" y="53626"/>
                      <a:pt x="12478" y="27242"/>
                      <a:pt x="0" y="0"/>
                    </a:cubicBezTo>
                    <a:lnTo>
                      <a:pt x="0" y="0"/>
                    </a:lnTo>
                    <a:lnTo>
                      <a:pt x="0" y="96107"/>
                    </a:lnTo>
                    <a:cubicBezTo>
                      <a:pt x="12478" y="123349"/>
                      <a:pt x="31337" y="149828"/>
                      <a:pt x="56579" y="174689"/>
                    </a:cubicBezTo>
                    <a:lnTo>
                      <a:pt x="198501" y="155258"/>
                    </a:lnTo>
                    <a:cubicBezTo>
                      <a:pt x="210788" y="164878"/>
                      <a:pt x="223933" y="174212"/>
                      <a:pt x="239077" y="182975"/>
                    </a:cubicBezTo>
                    <a:cubicBezTo>
                      <a:pt x="243935" y="185738"/>
                      <a:pt x="248984" y="188309"/>
                      <a:pt x="254032" y="190881"/>
                    </a:cubicBezTo>
                    <a:lnTo>
                      <a:pt x="287084" y="11030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" name="Freeform: Shape 72">
              <a:extLst>
                <a:ext uri="{FF2B5EF4-FFF2-40B4-BE49-F238E27FC236}">
                  <a16:creationId xmlns:a16="http://schemas.microsoft.com/office/drawing/2014/main" id="{DFD5335F-64BB-2D1F-97DE-CC3CE6CD19F9}"/>
                </a:ext>
              </a:extLst>
            </p:cNvPr>
            <p:cNvSpPr/>
            <p:nvPr/>
          </p:nvSpPr>
          <p:spPr>
            <a:xfrm>
              <a:off x="5342927" y="1486538"/>
              <a:ext cx="60168" cy="310817"/>
            </a:xfrm>
            <a:custGeom>
              <a:avLst/>
              <a:gdLst>
                <a:gd name="connsiteX0" fmla="*/ 0 w 34480"/>
                <a:gd name="connsiteY0" fmla="*/ 0 h 178117"/>
                <a:gd name="connsiteX1" fmla="*/ 0 w 34480"/>
                <a:gd name="connsiteY1" fmla="*/ 96107 h 178117"/>
                <a:gd name="connsiteX2" fmla="*/ 34480 w 34480"/>
                <a:gd name="connsiteY2" fmla="*/ 178118 h 178117"/>
                <a:gd name="connsiteX3" fmla="*/ 34480 w 34480"/>
                <a:gd name="connsiteY3" fmla="*/ 82010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80" h="178117">
                  <a:moveTo>
                    <a:pt x="0" y="0"/>
                  </a:moveTo>
                  <a:lnTo>
                    <a:pt x="0" y="96107"/>
                  </a:lnTo>
                  <a:lnTo>
                    <a:pt x="34480" y="178118"/>
                  </a:lnTo>
                  <a:lnTo>
                    <a:pt x="34480" y="8201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0" name="Freeform: Shape 73">
              <a:extLst>
                <a:ext uri="{FF2B5EF4-FFF2-40B4-BE49-F238E27FC236}">
                  <a16:creationId xmlns:a16="http://schemas.microsoft.com/office/drawing/2014/main" id="{69FA78CD-DE1D-C2D9-416A-752EC5A1DF2C}"/>
                </a:ext>
              </a:extLst>
            </p:cNvPr>
            <p:cNvSpPr/>
            <p:nvPr/>
          </p:nvSpPr>
          <p:spPr>
            <a:xfrm>
              <a:off x="6242969" y="1488201"/>
              <a:ext cx="58673" cy="310817"/>
            </a:xfrm>
            <a:custGeom>
              <a:avLst/>
              <a:gdLst>
                <a:gd name="connsiteX0" fmla="*/ 33623 w 33623"/>
                <a:gd name="connsiteY0" fmla="*/ 0 h 178117"/>
                <a:gd name="connsiteX1" fmla="*/ 33623 w 33623"/>
                <a:gd name="connsiteY1" fmla="*/ 96107 h 178117"/>
                <a:gd name="connsiteX2" fmla="*/ 0 w 33623"/>
                <a:gd name="connsiteY2" fmla="*/ 178118 h 178117"/>
                <a:gd name="connsiteX3" fmla="*/ 0 w 33623"/>
                <a:gd name="connsiteY3" fmla="*/ 81915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623" h="178117">
                  <a:moveTo>
                    <a:pt x="33623" y="0"/>
                  </a:moveTo>
                  <a:lnTo>
                    <a:pt x="33623" y="96107"/>
                  </a:lnTo>
                  <a:lnTo>
                    <a:pt x="0" y="178118"/>
                  </a:lnTo>
                  <a:lnTo>
                    <a:pt x="0" y="819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1" name="Freeform: Shape 74">
              <a:extLst>
                <a:ext uri="{FF2B5EF4-FFF2-40B4-BE49-F238E27FC236}">
                  <a16:creationId xmlns:a16="http://schemas.microsoft.com/office/drawing/2014/main" id="{8A3F6AFB-0591-B397-B70C-83F31706601F}"/>
                </a:ext>
              </a:extLst>
            </p:cNvPr>
            <p:cNvSpPr/>
            <p:nvPr/>
          </p:nvSpPr>
          <p:spPr>
            <a:xfrm>
              <a:off x="6527360" y="1823783"/>
              <a:ext cx="216574" cy="244166"/>
            </a:xfrm>
            <a:custGeom>
              <a:avLst/>
              <a:gdLst>
                <a:gd name="connsiteX0" fmla="*/ 124111 w 124110"/>
                <a:gd name="connsiteY0" fmla="*/ 0 h 139922"/>
                <a:gd name="connsiteX1" fmla="*/ 124111 w 124110"/>
                <a:gd name="connsiteY1" fmla="*/ 96107 h 139922"/>
                <a:gd name="connsiteX2" fmla="*/ 0 w 124110"/>
                <a:gd name="connsiteY2" fmla="*/ 139922 h 139922"/>
                <a:gd name="connsiteX3" fmla="*/ 0 w 124110"/>
                <a:gd name="connsiteY3" fmla="*/ 43815 h 13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110" h="139922">
                  <a:moveTo>
                    <a:pt x="124111" y="0"/>
                  </a:moveTo>
                  <a:lnTo>
                    <a:pt x="124111" y="96107"/>
                  </a:lnTo>
                  <a:lnTo>
                    <a:pt x="0" y="139922"/>
                  </a:lnTo>
                  <a:lnTo>
                    <a:pt x="0" y="438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2" name="Freeform: Shape 75">
              <a:extLst>
                <a:ext uri="{FF2B5EF4-FFF2-40B4-BE49-F238E27FC236}">
                  <a16:creationId xmlns:a16="http://schemas.microsoft.com/office/drawing/2014/main" id="{C6F63936-3C77-9D31-A813-6F4033858FB0}"/>
                </a:ext>
              </a:extLst>
            </p:cNvPr>
            <p:cNvSpPr/>
            <p:nvPr/>
          </p:nvSpPr>
          <p:spPr>
            <a:xfrm>
              <a:off x="6400208" y="2205243"/>
              <a:ext cx="247988" cy="202612"/>
            </a:xfrm>
            <a:custGeom>
              <a:avLst/>
              <a:gdLst>
                <a:gd name="connsiteX0" fmla="*/ 142113 w 142112"/>
                <a:gd name="connsiteY0" fmla="*/ 19907 h 116109"/>
                <a:gd name="connsiteX1" fmla="*/ 142113 w 142112"/>
                <a:gd name="connsiteY1" fmla="*/ 116110 h 116109"/>
                <a:gd name="connsiteX2" fmla="*/ 0 w 142112"/>
                <a:gd name="connsiteY2" fmla="*/ 96202 h 116109"/>
                <a:gd name="connsiteX3" fmla="*/ 0 w 142112"/>
                <a:gd name="connsiteY3" fmla="*/ 0 h 116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112" h="116109">
                  <a:moveTo>
                    <a:pt x="142113" y="19907"/>
                  </a:moveTo>
                  <a:lnTo>
                    <a:pt x="142113" y="116110"/>
                  </a:lnTo>
                  <a:lnTo>
                    <a:pt x="0" y="96202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3" name="Freeform: Shape 76">
              <a:extLst>
                <a:ext uri="{FF2B5EF4-FFF2-40B4-BE49-F238E27FC236}">
                  <a16:creationId xmlns:a16="http://schemas.microsoft.com/office/drawing/2014/main" id="{2B67E1F0-7FF8-5092-D2D1-8580C1327434}"/>
                </a:ext>
              </a:extLst>
            </p:cNvPr>
            <p:cNvSpPr/>
            <p:nvPr/>
          </p:nvSpPr>
          <p:spPr>
            <a:xfrm>
              <a:off x="5935975" y="2367800"/>
              <a:ext cx="133801" cy="293198"/>
            </a:xfrm>
            <a:custGeom>
              <a:avLst/>
              <a:gdLst>
                <a:gd name="connsiteX0" fmla="*/ 76676 w 76676"/>
                <a:gd name="connsiteY0" fmla="*/ 71914 h 168020"/>
                <a:gd name="connsiteX1" fmla="*/ 76676 w 76676"/>
                <a:gd name="connsiteY1" fmla="*/ 168021 h 168020"/>
                <a:gd name="connsiteX2" fmla="*/ 0 w 76676"/>
                <a:gd name="connsiteY2" fmla="*/ 96107 h 168020"/>
                <a:gd name="connsiteX3" fmla="*/ 0 w 76676"/>
                <a:gd name="connsiteY3" fmla="*/ 0 h 168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676" h="168020">
                  <a:moveTo>
                    <a:pt x="76676" y="71914"/>
                  </a:moveTo>
                  <a:lnTo>
                    <a:pt x="76676" y="168021"/>
                  </a:lnTo>
                  <a:lnTo>
                    <a:pt x="0" y="96107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4" name="Freeform: Shape 77">
              <a:extLst>
                <a:ext uri="{FF2B5EF4-FFF2-40B4-BE49-F238E27FC236}">
                  <a16:creationId xmlns:a16="http://schemas.microsoft.com/office/drawing/2014/main" id="{E3AE7A0F-10B5-6FA3-7851-361BB4DAAFFB}"/>
                </a:ext>
              </a:extLst>
            </p:cNvPr>
            <p:cNvSpPr/>
            <p:nvPr/>
          </p:nvSpPr>
          <p:spPr>
            <a:xfrm>
              <a:off x="5585764" y="2367301"/>
              <a:ext cx="132304" cy="292866"/>
            </a:xfrm>
            <a:custGeom>
              <a:avLst/>
              <a:gdLst>
                <a:gd name="connsiteX0" fmla="*/ 75819 w 75818"/>
                <a:gd name="connsiteY0" fmla="*/ 96202 h 167830"/>
                <a:gd name="connsiteX1" fmla="*/ 75819 w 75818"/>
                <a:gd name="connsiteY1" fmla="*/ 0 h 167830"/>
                <a:gd name="connsiteX2" fmla="*/ 0 w 75818"/>
                <a:gd name="connsiteY2" fmla="*/ 71723 h 167830"/>
                <a:gd name="connsiteX3" fmla="*/ 0 w 75818"/>
                <a:gd name="connsiteY3" fmla="*/ 167831 h 16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18" h="167830">
                  <a:moveTo>
                    <a:pt x="75819" y="96202"/>
                  </a:moveTo>
                  <a:lnTo>
                    <a:pt x="75819" y="0"/>
                  </a:lnTo>
                  <a:lnTo>
                    <a:pt x="0" y="71723"/>
                  </a:lnTo>
                  <a:lnTo>
                    <a:pt x="0" y="16783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5" name="Freeform: Shape 78">
              <a:extLst>
                <a:ext uri="{FF2B5EF4-FFF2-40B4-BE49-F238E27FC236}">
                  <a16:creationId xmlns:a16="http://schemas.microsoft.com/office/drawing/2014/main" id="{18C52746-6670-B6B7-1A38-B7CAC9CD022E}"/>
                </a:ext>
              </a:extLst>
            </p:cNvPr>
            <p:cNvSpPr/>
            <p:nvPr/>
          </p:nvSpPr>
          <p:spPr>
            <a:xfrm>
              <a:off x="5004518" y="2203248"/>
              <a:ext cx="247656" cy="201616"/>
            </a:xfrm>
            <a:custGeom>
              <a:avLst/>
              <a:gdLst>
                <a:gd name="connsiteX0" fmla="*/ 141922 w 141922"/>
                <a:gd name="connsiteY0" fmla="*/ 0 h 115538"/>
                <a:gd name="connsiteX1" fmla="*/ 141922 w 141922"/>
                <a:gd name="connsiteY1" fmla="*/ 96107 h 115538"/>
                <a:gd name="connsiteX2" fmla="*/ 0 w 141922"/>
                <a:gd name="connsiteY2" fmla="*/ 115538 h 115538"/>
                <a:gd name="connsiteX3" fmla="*/ 0 w 141922"/>
                <a:gd name="connsiteY3" fmla="*/ 19336 h 1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922" h="115538">
                  <a:moveTo>
                    <a:pt x="141922" y="0"/>
                  </a:moveTo>
                  <a:lnTo>
                    <a:pt x="141922" y="96107"/>
                  </a:lnTo>
                  <a:lnTo>
                    <a:pt x="0" y="115538"/>
                  </a:lnTo>
                  <a:lnTo>
                    <a:pt x="0" y="19336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6" name="Freeform: Shape 79">
              <a:extLst>
                <a:ext uri="{FF2B5EF4-FFF2-40B4-BE49-F238E27FC236}">
                  <a16:creationId xmlns:a16="http://schemas.microsoft.com/office/drawing/2014/main" id="{D45A2F47-E0D3-D63F-1274-7BB1C80542E2}"/>
                </a:ext>
              </a:extLst>
            </p:cNvPr>
            <p:cNvSpPr/>
            <p:nvPr/>
          </p:nvSpPr>
          <p:spPr>
            <a:xfrm>
              <a:off x="4904291" y="1820461"/>
              <a:ext cx="217405" cy="244997"/>
            </a:xfrm>
            <a:custGeom>
              <a:avLst/>
              <a:gdLst>
                <a:gd name="connsiteX0" fmla="*/ 0 w 124586"/>
                <a:gd name="connsiteY0" fmla="*/ 0 h 140398"/>
                <a:gd name="connsiteX1" fmla="*/ 0 w 124586"/>
                <a:gd name="connsiteY1" fmla="*/ 96107 h 140398"/>
                <a:gd name="connsiteX2" fmla="*/ 124587 w 124586"/>
                <a:gd name="connsiteY2" fmla="*/ 140398 h 140398"/>
                <a:gd name="connsiteX3" fmla="*/ 124587 w 124586"/>
                <a:gd name="connsiteY3" fmla="*/ 44196 h 140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586" h="140398">
                  <a:moveTo>
                    <a:pt x="0" y="0"/>
                  </a:moveTo>
                  <a:lnTo>
                    <a:pt x="0" y="96107"/>
                  </a:lnTo>
                  <a:lnTo>
                    <a:pt x="124587" y="140398"/>
                  </a:lnTo>
                  <a:lnTo>
                    <a:pt x="124587" y="44196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17" name="Freeform: Shape 14">
              <a:extLst>
                <a:ext uri="{FF2B5EF4-FFF2-40B4-BE49-F238E27FC236}">
                  <a16:creationId xmlns:a16="http://schemas.microsoft.com/office/drawing/2014/main" id="{5E6B5281-D198-4B40-ED81-06ED47C0123D}"/>
                </a:ext>
              </a:extLst>
            </p:cNvPr>
            <p:cNvSpPr/>
            <p:nvPr/>
          </p:nvSpPr>
          <p:spPr>
            <a:xfrm>
              <a:off x="4904291" y="1430524"/>
              <a:ext cx="1841141" cy="1062599"/>
            </a:xfrm>
            <a:custGeom>
              <a:avLst/>
              <a:gdLst>
                <a:gd name="connsiteX0" fmla="*/ 816959 w 1055084"/>
                <a:gd name="connsiteY0" fmla="*/ 471583 h 608933"/>
                <a:gd name="connsiteX1" fmla="*/ 857250 w 1055084"/>
                <a:gd name="connsiteY1" fmla="*/ 444056 h 608933"/>
                <a:gd name="connsiteX2" fmla="*/ 999363 w 1055084"/>
                <a:gd name="connsiteY2" fmla="*/ 463963 h 608933"/>
                <a:gd name="connsiteX3" fmla="*/ 1055084 w 1055084"/>
                <a:gd name="connsiteY3" fmla="*/ 385572 h 608933"/>
                <a:gd name="connsiteX4" fmla="*/ 930497 w 1055084"/>
                <a:gd name="connsiteY4" fmla="*/ 341281 h 608933"/>
                <a:gd name="connsiteX5" fmla="*/ 930116 w 1055084"/>
                <a:gd name="connsiteY5" fmla="*/ 269177 h 608933"/>
                <a:gd name="connsiteX6" fmla="*/ 1054227 w 1055084"/>
                <a:gd name="connsiteY6" fmla="*/ 225361 h 608933"/>
                <a:gd name="connsiteX7" fmla="*/ 997648 w 1055084"/>
                <a:gd name="connsiteY7" fmla="*/ 146780 h 608933"/>
                <a:gd name="connsiteX8" fmla="*/ 855726 w 1055084"/>
                <a:gd name="connsiteY8" fmla="*/ 166211 h 608933"/>
                <a:gd name="connsiteX9" fmla="*/ 815149 w 1055084"/>
                <a:gd name="connsiteY9" fmla="*/ 138494 h 608933"/>
                <a:gd name="connsiteX10" fmla="*/ 767143 w 1055084"/>
                <a:gd name="connsiteY10" fmla="*/ 115062 h 608933"/>
                <a:gd name="connsiteX11" fmla="*/ 800767 w 1055084"/>
                <a:gd name="connsiteY11" fmla="*/ 33147 h 608933"/>
                <a:gd name="connsiteX12" fmla="*/ 664655 w 1055084"/>
                <a:gd name="connsiteY12" fmla="*/ 476 h 608933"/>
                <a:gd name="connsiteX13" fmla="*/ 588740 w 1055084"/>
                <a:gd name="connsiteY13" fmla="*/ 72104 h 608933"/>
                <a:gd name="connsiteX14" fmla="*/ 463867 w 1055084"/>
                <a:gd name="connsiteY14" fmla="*/ 71914 h 608933"/>
                <a:gd name="connsiteX15" fmla="*/ 387191 w 1055084"/>
                <a:gd name="connsiteY15" fmla="*/ 0 h 608933"/>
                <a:gd name="connsiteX16" fmla="*/ 251365 w 1055084"/>
                <a:gd name="connsiteY16" fmla="*/ 32195 h 608933"/>
                <a:gd name="connsiteX17" fmla="*/ 285845 w 1055084"/>
                <a:gd name="connsiteY17" fmla="*/ 114300 h 608933"/>
                <a:gd name="connsiteX18" fmla="*/ 238125 w 1055084"/>
                <a:gd name="connsiteY18" fmla="*/ 137541 h 608933"/>
                <a:gd name="connsiteX19" fmla="*/ 197834 w 1055084"/>
                <a:gd name="connsiteY19" fmla="*/ 165068 h 608933"/>
                <a:gd name="connsiteX20" fmla="*/ 55721 w 1055084"/>
                <a:gd name="connsiteY20" fmla="*/ 144971 h 608933"/>
                <a:gd name="connsiteX21" fmla="*/ 0 w 1055084"/>
                <a:gd name="connsiteY21" fmla="*/ 223361 h 608933"/>
                <a:gd name="connsiteX22" fmla="*/ 124587 w 1055084"/>
                <a:gd name="connsiteY22" fmla="*/ 267653 h 608933"/>
                <a:gd name="connsiteX23" fmla="*/ 124968 w 1055084"/>
                <a:gd name="connsiteY23" fmla="*/ 339757 h 608933"/>
                <a:gd name="connsiteX24" fmla="*/ 857 w 1055084"/>
                <a:gd name="connsiteY24" fmla="*/ 383572 h 608933"/>
                <a:gd name="connsiteX25" fmla="*/ 57436 w 1055084"/>
                <a:gd name="connsiteY25" fmla="*/ 462153 h 608933"/>
                <a:gd name="connsiteX26" fmla="*/ 199358 w 1055084"/>
                <a:gd name="connsiteY26" fmla="*/ 442722 h 608933"/>
                <a:gd name="connsiteX27" fmla="*/ 239935 w 1055084"/>
                <a:gd name="connsiteY27" fmla="*/ 470440 h 608933"/>
                <a:gd name="connsiteX28" fmla="*/ 287941 w 1055084"/>
                <a:gd name="connsiteY28" fmla="*/ 493871 h 608933"/>
                <a:gd name="connsiteX29" fmla="*/ 254317 w 1055084"/>
                <a:gd name="connsiteY29" fmla="*/ 575786 h 608933"/>
                <a:gd name="connsiteX30" fmla="*/ 390430 w 1055084"/>
                <a:gd name="connsiteY30" fmla="*/ 608457 h 608933"/>
                <a:gd name="connsiteX31" fmla="*/ 466344 w 1055084"/>
                <a:gd name="connsiteY31" fmla="*/ 536829 h 608933"/>
                <a:gd name="connsiteX32" fmla="*/ 591217 w 1055084"/>
                <a:gd name="connsiteY32" fmla="*/ 537020 h 608933"/>
                <a:gd name="connsiteX33" fmla="*/ 667893 w 1055084"/>
                <a:gd name="connsiteY33" fmla="*/ 608933 h 608933"/>
                <a:gd name="connsiteX34" fmla="*/ 803719 w 1055084"/>
                <a:gd name="connsiteY34" fmla="*/ 576739 h 608933"/>
                <a:gd name="connsiteX35" fmla="*/ 769239 w 1055084"/>
                <a:gd name="connsiteY35" fmla="*/ 494633 h 608933"/>
                <a:gd name="connsiteX36" fmla="*/ 816959 w 1055084"/>
                <a:gd name="connsiteY36" fmla="*/ 471583 h 608933"/>
                <a:gd name="connsiteX37" fmla="*/ 412051 w 1055084"/>
                <a:gd name="connsiteY37" fmla="*/ 371094 h 608933"/>
                <a:gd name="connsiteX38" fmla="*/ 411289 w 1055084"/>
                <a:gd name="connsiteY38" fmla="*/ 237268 h 608933"/>
                <a:gd name="connsiteX39" fmla="*/ 643033 w 1055084"/>
                <a:gd name="connsiteY39" fmla="*/ 237649 h 608933"/>
                <a:gd name="connsiteX40" fmla="*/ 643795 w 1055084"/>
                <a:gd name="connsiteY40" fmla="*/ 371475 h 608933"/>
                <a:gd name="connsiteX41" fmla="*/ 412051 w 1055084"/>
                <a:gd name="connsiteY41" fmla="*/ 371094 h 60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5084" h="608933">
                  <a:moveTo>
                    <a:pt x="816959" y="471583"/>
                  </a:moveTo>
                  <a:cubicBezTo>
                    <a:pt x="831913" y="462915"/>
                    <a:pt x="845058" y="453581"/>
                    <a:pt x="857250" y="444056"/>
                  </a:cubicBezTo>
                  <a:lnTo>
                    <a:pt x="999363" y="463963"/>
                  </a:lnTo>
                  <a:cubicBezTo>
                    <a:pt x="1024414" y="439103"/>
                    <a:pt x="1042892" y="412718"/>
                    <a:pt x="1055084" y="385572"/>
                  </a:cubicBezTo>
                  <a:lnTo>
                    <a:pt x="930497" y="341281"/>
                  </a:lnTo>
                  <a:cubicBezTo>
                    <a:pt x="936784" y="317373"/>
                    <a:pt x="936593" y="293084"/>
                    <a:pt x="930116" y="269177"/>
                  </a:cubicBezTo>
                  <a:lnTo>
                    <a:pt x="1054227" y="225361"/>
                  </a:lnTo>
                  <a:cubicBezTo>
                    <a:pt x="1041749" y="198120"/>
                    <a:pt x="1022890" y="171641"/>
                    <a:pt x="997648" y="146780"/>
                  </a:cubicBezTo>
                  <a:lnTo>
                    <a:pt x="855726" y="166211"/>
                  </a:lnTo>
                  <a:cubicBezTo>
                    <a:pt x="843439" y="156591"/>
                    <a:pt x="830294" y="147257"/>
                    <a:pt x="815149" y="138494"/>
                  </a:cubicBezTo>
                  <a:cubicBezTo>
                    <a:pt x="800100" y="129826"/>
                    <a:pt x="783812" y="122111"/>
                    <a:pt x="767143" y="115062"/>
                  </a:cubicBezTo>
                  <a:lnTo>
                    <a:pt x="800767" y="33147"/>
                  </a:lnTo>
                  <a:cubicBezTo>
                    <a:pt x="757618" y="18574"/>
                    <a:pt x="711803" y="7715"/>
                    <a:pt x="664655" y="476"/>
                  </a:cubicBezTo>
                  <a:lnTo>
                    <a:pt x="588740" y="72104"/>
                  </a:lnTo>
                  <a:cubicBezTo>
                    <a:pt x="547306" y="68389"/>
                    <a:pt x="505206" y="68294"/>
                    <a:pt x="463867" y="71914"/>
                  </a:cubicBezTo>
                  <a:lnTo>
                    <a:pt x="387191" y="0"/>
                  </a:lnTo>
                  <a:cubicBezTo>
                    <a:pt x="340138" y="7049"/>
                    <a:pt x="294418" y="17717"/>
                    <a:pt x="251365" y="32195"/>
                  </a:cubicBezTo>
                  <a:lnTo>
                    <a:pt x="285845" y="114300"/>
                  </a:lnTo>
                  <a:cubicBezTo>
                    <a:pt x="269272" y="121349"/>
                    <a:pt x="253079" y="128873"/>
                    <a:pt x="238125" y="137541"/>
                  </a:cubicBezTo>
                  <a:cubicBezTo>
                    <a:pt x="223171" y="146209"/>
                    <a:pt x="210026" y="155543"/>
                    <a:pt x="197834" y="165068"/>
                  </a:cubicBezTo>
                  <a:lnTo>
                    <a:pt x="55721" y="144971"/>
                  </a:lnTo>
                  <a:cubicBezTo>
                    <a:pt x="30671" y="169831"/>
                    <a:pt x="12192" y="196215"/>
                    <a:pt x="0" y="223361"/>
                  </a:cubicBezTo>
                  <a:lnTo>
                    <a:pt x="124587" y="267653"/>
                  </a:lnTo>
                  <a:cubicBezTo>
                    <a:pt x="118300" y="291560"/>
                    <a:pt x="118491" y="315849"/>
                    <a:pt x="124968" y="339757"/>
                  </a:cubicBezTo>
                  <a:lnTo>
                    <a:pt x="857" y="383572"/>
                  </a:lnTo>
                  <a:cubicBezTo>
                    <a:pt x="13335" y="410813"/>
                    <a:pt x="32194" y="437293"/>
                    <a:pt x="57436" y="462153"/>
                  </a:cubicBezTo>
                  <a:lnTo>
                    <a:pt x="199358" y="442722"/>
                  </a:lnTo>
                  <a:cubicBezTo>
                    <a:pt x="211646" y="452342"/>
                    <a:pt x="224790" y="461677"/>
                    <a:pt x="239935" y="470440"/>
                  </a:cubicBezTo>
                  <a:cubicBezTo>
                    <a:pt x="254984" y="479108"/>
                    <a:pt x="271272" y="486823"/>
                    <a:pt x="287941" y="493871"/>
                  </a:cubicBezTo>
                  <a:lnTo>
                    <a:pt x="254317" y="575786"/>
                  </a:lnTo>
                  <a:cubicBezTo>
                    <a:pt x="297466" y="590360"/>
                    <a:pt x="343281" y="601218"/>
                    <a:pt x="390430" y="608457"/>
                  </a:cubicBezTo>
                  <a:lnTo>
                    <a:pt x="466344" y="536829"/>
                  </a:lnTo>
                  <a:cubicBezTo>
                    <a:pt x="507778" y="540544"/>
                    <a:pt x="549878" y="540639"/>
                    <a:pt x="591217" y="537020"/>
                  </a:cubicBezTo>
                  <a:lnTo>
                    <a:pt x="667893" y="608933"/>
                  </a:lnTo>
                  <a:cubicBezTo>
                    <a:pt x="714947" y="601885"/>
                    <a:pt x="760667" y="591217"/>
                    <a:pt x="803719" y="576739"/>
                  </a:cubicBezTo>
                  <a:lnTo>
                    <a:pt x="769239" y="494633"/>
                  </a:lnTo>
                  <a:cubicBezTo>
                    <a:pt x="785813" y="487775"/>
                    <a:pt x="801910" y="480155"/>
                    <a:pt x="816959" y="471583"/>
                  </a:cubicBezTo>
                  <a:close/>
                  <a:moveTo>
                    <a:pt x="412051" y="371094"/>
                  </a:moveTo>
                  <a:cubicBezTo>
                    <a:pt x="347853" y="334042"/>
                    <a:pt x="347567" y="274130"/>
                    <a:pt x="411289" y="237268"/>
                  </a:cubicBezTo>
                  <a:cubicBezTo>
                    <a:pt x="475107" y="200406"/>
                    <a:pt x="578834" y="200597"/>
                    <a:pt x="643033" y="237649"/>
                  </a:cubicBezTo>
                  <a:cubicBezTo>
                    <a:pt x="707231" y="274701"/>
                    <a:pt x="707517" y="334613"/>
                    <a:pt x="643795" y="371475"/>
                  </a:cubicBezTo>
                  <a:cubicBezTo>
                    <a:pt x="579977" y="408432"/>
                    <a:pt x="476250" y="408242"/>
                    <a:pt x="412051" y="371094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3500000" scaled="1"/>
              <a:tileRect/>
            </a:gradFill>
            <a:ln>
              <a:noFill/>
            </a:ln>
            <a:effectLst>
              <a:outerShdw blurRad="635000" dist="5715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8" name="Freeform: Shape 16">
              <a:extLst>
                <a:ext uri="{FF2B5EF4-FFF2-40B4-BE49-F238E27FC236}">
                  <a16:creationId xmlns:a16="http://schemas.microsoft.com/office/drawing/2014/main" id="{053F705E-B4F6-DB48-6E33-7E525A4F5E89}"/>
                </a:ext>
              </a:extLst>
            </p:cNvPr>
            <p:cNvSpPr/>
            <p:nvPr/>
          </p:nvSpPr>
          <p:spPr>
            <a:xfrm>
              <a:off x="5243196" y="1615974"/>
              <a:ext cx="1163288" cy="671649"/>
            </a:xfrm>
            <a:custGeom>
              <a:avLst/>
              <a:gdLst>
                <a:gd name="connsiteX0" fmla="*/ 568263 w 666634"/>
                <a:gd name="connsiteY0" fmla="*/ 56794 h 384895"/>
                <a:gd name="connsiteX1" fmla="*/ 96871 w 666634"/>
                <a:gd name="connsiteY1" fmla="*/ 55937 h 384895"/>
                <a:gd name="connsiteX2" fmla="*/ 98300 w 666634"/>
                <a:gd name="connsiteY2" fmla="*/ 328066 h 384895"/>
                <a:gd name="connsiteX3" fmla="*/ 569692 w 666634"/>
                <a:gd name="connsiteY3" fmla="*/ 328923 h 384895"/>
                <a:gd name="connsiteX4" fmla="*/ 568263 w 666634"/>
                <a:gd name="connsiteY4" fmla="*/ 56794 h 384895"/>
                <a:gd name="connsiteX5" fmla="*/ 168880 w 666634"/>
                <a:gd name="connsiteY5" fmla="*/ 287394 h 384895"/>
                <a:gd name="connsiteX6" fmla="*/ 167832 w 666634"/>
                <a:gd name="connsiteY6" fmla="*/ 96894 h 384895"/>
                <a:gd name="connsiteX7" fmla="*/ 497778 w 666634"/>
                <a:gd name="connsiteY7" fmla="*/ 97466 h 384895"/>
                <a:gd name="connsiteX8" fmla="*/ 498826 w 666634"/>
                <a:gd name="connsiteY8" fmla="*/ 287966 h 384895"/>
                <a:gd name="connsiteX9" fmla="*/ 168880 w 666634"/>
                <a:gd name="connsiteY9" fmla="*/ 287394 h 384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66634" h="384895">
                  <a:moveTo>
                    <a:pt x="568263" y="56794"/>
                  </a:moveTo>
                  <a:cubicBezTo>
                    <a:pt x="437675" y="-18549"/>
                    <a:pt x="226601" y="-19025"/>
                    <a:pt x="96871" y="55937"/>
                  </a:cubicBezTo>
                  <a:cubicBezTo>
                    <a:pt x="-32860" y="130898"/>
                    <a:pt x="-32193" y="252723"/>
                    <a:pt x="98300" y="328066"/>
                  </a:cubicBezTo>
                  <a:cubicBezTo>
                    <a:pt x="228887" y="403504"/>
                    <a:pt x="439961" y="403885"/>
                    <a:pt x="569692" y="328923"/>
                  </a:cubicBezTo>
                  <a:cubicBezTo>
                    <a:pt x="699518" y="253961"/>
                    <a:pt x="698851" y="132137"/>
                    <a:pt x="568263" y="56794"/>
                  </a:cubicBezTo>
                  <a:close/>
                  <a:moveTo>
                    <a:pt x="168880" y="287394"/>
                  </a:moveTo>
                  <a:cubicBezTo>
                    <a:pt x="77440" y="234626"/>
                    <a:pt x="77059" y="149282"/>
                    <a:pt x="167832" y="96894"/>
                  </a:cubicBezTo>
                  <a:cubicBezTo>
                    <a:pt x="258701" y="44411"/>
                    <a:pt x="406433" y="44697"/>
                    <a:pt x="497778" y="97466"/>
                  </a:cubicBezTo>
                  <a:cubicBezTo>
                    <a:pt x="589218" y="150234"/>
                    <a:pt x="589694" y="235578"/>
                    <a:pt x="498826" y="287966"/>
                  </a:cubicBezTo>
                  <a:cubicBezTo>
                    <a:pt x="408053" y="340448"/>
                    <a:pt x="260320" y="340163"/>
                    <a:pt x="168880" y="287394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 121">
            <a:extLst>
              <a:ext uri="{FF2B5EF4-FFF2-40B4-BE49-F238E27FC236}">
                <a16:creationId xmlns:a16="http://schemas.microsoft.com/office/drawing/2014/main" id="{625390D9-AA1B-AEE0-D222-E6F918429683}"/>
              </a:ext>
            </a:extLst>
          </p:cNvPr>
          <p:cNvGrpSpPr/>
          <p:nvPr/>
        </p:nvGrpSpPr>
        <p:grpSpPr>
          <a:xfrm>
            <a:off x="5522472" y="4119863"/>
            <a:ext cx="3505619" cy="2209835"/>
            <a:chOff x="5822426" y="2859294"/>
            <a:chExt cx="3919799" cy="2470922"/>
          </a:xfrm>
        </p:grpSpPr>
        <p:sp>
          <p:nvSpPr>
            <p:cNvPr id="24" name="Freeform: Shape 39">
              <a:extLst>
                <a:ext uri="{FF2B5EF4-FFF2-40B4-BE49-F238E27FC236}">
                  <a16:creationId xmlns:a16="http://schemas.microsoft.com/office/drawing/2014/main" id="{E70BAA47-FDA6-8581-FEB3-08FB49A70EAC}"/>
                </a:ext>
              </a:extLst>
            </p:cNvPr>
            <p:cNvSpPr/>
            <p:nvPr/>
          </p:nvSpPr>
          <p:spPr>
            <a:xfrm>
              <a:off x="8294512" y="4818447"/>
              <a:ext cx="741807" cy="384616"/>
            </a:xfrm>
            <a:custGeom>
              <a:avLst/>
              <a:gdLst>
                <a:gd name="connsiteX0" fmla="*/ 118015 w 425100"/>
                <a:gd name="connsiteY0" fmla="*/ 0 h 220408"/>
                <a:gd name="connsiteX1" fmla="*/ 0 w 425100"/>
                <a:gd name="connsiteY1" fmla="*/ 28004 h 220408"/>
                <a:gd name="connsiteX2" fmla="*/ 34766 w 425100"/>
                <a:gd name="connsiteY2" fmla="*/ 139732 h 220408"/>
                <a:gd name="connsiteX3" fmla="*/ 118015 w 425100"/>
                <a:gd name="connsiteY3" fmla="*/ 119158 h 220408"/>
                <a:gd name="connsiteX4" fmla="*/ 240982 w 425100"/>
                <a:gd name="connsiteY4" fmla="*/ 220409 h 220408"/>
                <a:gd name="connsiteX5" fmla="*/ 425101 w 425100"/>
                <a:gd name="connsiteY5" fmla="*/ 149447 h 220408"/>
                <a:gd name="connsiteX6" fmla="*/ 425101 w 425100"/>
                <a:gd name="connsiteY6" fmla="*/ 30194 h 220408"/>
                <a:gd name="connsiteX7" fmla="*/ 240982 w 425100"/>
                <a:gd name="connsiteY7" fmla="*/ 101156 h 220408"/>
                <a:gd name="connsiteX8" fmla="*/ 118015 w 425100"/>
                <a:gd name="connsiteY8" fmla="*/ 0 h 220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0" h="220408">
                  <a:moveTo>
                    <a:pt x="118015" y="0"/>
                  </a:moveTo>
                  <a:cubicBezTo>
                    <a:pt x="79629" y="10954"/>
                    <a:pt x="40196" y="20383"/>
                    <a:pt x="0" y="28004"/>
                  </a:cubicBezTo>
                  <a:lnTo>
                    <a:pt x="34766" y="139732"/>
                  </a:lnTo>
                  <a:cubicBezTo>
                    <a:pt x="62960" y="133636"/>
                    <a:pt x="90773" y="126968"/>
                    <a:pt x="118015" y="119158"/>
                  </a:cubicBezTo>
                  <a:lnTo>
                    <a:pt x="240982" y="220409"/>
                  </a:lnTo>
                  <a:cubicBezTo>
                    <a:pt x="305371" y="200596"/>
                    <a:pt x="367094" y="176975"/>
                    <a:pt x="425101" y="149447"/>
                  </a:cubicBezTo>
                  <a:lnTo>
                    <a:pt x="425101" y="30194"/>
                  </a:lnTo>
                  <a:cubicBezTo>
                    <a:pt x="367094" y="57721"/>
                    <a:pt x="305371" y="81344"/>
                    <a:pt x="240982" y="101156"/>
                  </a:cubicBezTo>
                  <a:lnTo>
                    <a:pt x="118015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40">
              <a:extLst>
                <a:ext uri="{FF2B5EF4-FFF2-40B4-BE49-F238E27FC236}">
                  <a16:creationId xmlns:a16="http://schemas.microsoft.com/office/drawing/2014/main" id="{BE534F47-8A59-F494-D72E-357CF6974830}"/>
                </a:ext>
              </a:extLst>
            </p:cNvPr>
            <p:cNvSpPr/>
            <p:nvPr/>
          </p:nvSpPr>
          <p:spPr>
            <a:xfrm>
              <a:off x="8835203" y="4529402"/>
              <a:ext cx="686792" cy="393592"/>
            </a:xfrm>
            <a:custGeom>
              <a:avLst/>
              <a:gdLst>
                <a:gd name="connsiteX0" fmla="*/ 270605 w 393573"/>
                <a:gd name="connsiteY0" fmla="*/ 106299 h 225552"/>
                <a:gd name="connsiteX1" fmla="*/ 90106 w 393573"/>
                <a:gd name="connsiteY1" fmla="*/ 39719 h 225552"/>
                <a:gd name="connsiteX2" fmla="*/ 46768 w 393573"/>
                <a:gd name="connsiteY2" fmla="*/ 66770 h 225552"/>
                <a:gd name="connsiteX3" fmla="*/ 0 w 393573"/>
                <a:gd name="connsiteY3" fmla="*/ 91726 h 225552"/>
                <a:gd name="connsiteX4" fmla="*/ 80963 w 393573"/>
                <a:gd name="connsiteY4" fmla="*/ 164878 h 225552"/>
                <a:gd name="connsiteX5" fmla="*/ 90106 w 393573"/>
                <a:gd name="connsiteY5" fmla="*/ 158972 h 225552"/>
                <a:gd name="connsiteX6" fmla="*/ 270605 w 393573"/>
                <a:gd name="connsiteY6" fmla="*/ 225552 h 225552"/>
                <a:gd name="connsiteX7" fmla="*/ 393573 w 393573"/>
                <a:gd name="connsiteY7" fmla="*/ 119253 h 225552"/>
                <a:gd name="connsiteX8" fmla="*/ 393573 w 393573"/>
                <a:gd name="connsiteY8" fmla="*/ 0 h 225552"/>
                <a:gd name="connsiteX9" fmla="*/ 270605 w 393573"/>
                <a:gd name="connsiteY9" fmla="*/ 106299 h 225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3573" h="225552">
                  <a:moveTo>
                    <a:pt x="270605" y="106299"/>
                  </a:moveTo>
                  <a:lnTo>
                    <a:pt x="90106" y="39719"/>
                  </a:lnTo>
                  <a:cubicBezTo>
                    <a:pt x="76200" y="48958"/>
                    <a:pt x="62008" y="58007"/>
                    <a:pt x="46768" y="66770"/>
                  </a:cubicBezTo>
                  <a:cubicBezTo>
                    <a:pt x="31623" y="75533"/>
                    <a:pt x="15907" y="83725"/>
                    <a:pt x="0" y="91726"/>
                  </a:cubicBezTo>
                  <a:lnTo>
                    <a:pt x="80963" y="164878"/>
                  </a:lnTo>
                  <a:cubicBezTo>
                    <a:pt x="84011" y="162878"/>
                    <a:pt x="87154" y="160973"/>
                    <a:pt x="90106" y="158972"/>
                  </a:cubicBezTo>
                  <a:lnTo>
                    <a:pt x="270605" y="225552"/>
                  </a:lnTo>
                  <a:cubicBezTo>
                    <a:pt x="318325" y="192024"/>
                    <a:pt x="359283" y="156400"/>
                    <a:pt x="393573" y="119253"/>
                  </a:cubicBezTo>
                  <a:lnTo>
                    <a:pt x="393573" y="0"/>
                  </a:lnTo>
                  <a:cubicBezTo>
                    <a:pt x="359188" y="37148"/>
                    <a:pt x="318230" y="72771"/>
                    <a:pt x="270605" y="106299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26" name="Freeform: Shape 41">
              <a:extLst>
                <a:ext uri="{FF2B5EF4-FFF2-40B4-BE49-F238E27FC236}">
                  <a16:creationId xmlns:a16="http://schemas.microsoft.com/office/drawing/2014/main" id="{C0CCF439-14EE-6C05-8D0D-1D8BDB3A6767}"/>
                </a:ext>
              </a:extLst>
            </p:cNvPr>
            <p:cNvSpPr/>
            <p:nvPr/>
          </p:nvSpPr>
          <p:spPr>
            <a:xfrm>
              <a:off x="7215955" y="4911526"/>
              <a:ext cx="1144376" cy="418689"/>
            </a:xfrm>
            <a:custGeom>
              <a:avLst/>
              <a:gdLst>
                <a:gd name="connsiteX0" fmla="*/ 438150 w 655796"/>
                <a:gd name="connsiteY0" fmla="*/ 120682 h 239934"/>
                <a:gd name="connsiteX1" fmla="*/ 391287 w 655796"/>
                <a:gd name="connsiteY1" fmla="*/ 191 h 239934"/>
                <a:gd name="connsiteX2" fmla="*/ 263461 w 655796"/>
                <a:gd name="connsiteY2" fmla="*/ 0 h 239934"/>
                <a:gd name="connsiteX3" fmla="*/ 217932 w 655796"/>
                <a:gd name="connsiteY3" fmla="*/ 120301 h 239934"/>
                <a:gd name="connsiteX4" fmla="*/ 0 w 655796"/>
                <a:gd name="connsiteY4" fmla="*/ 94964 h 239934"/>
                <a:gd name="connsiteX5" fmla="*/ 0 w 655796"/>
                <a:gd name="connsiteY5" fmla="*/ 214217 h 239934"/>
                <a:gd name="connsiteX6" fmla="*/ 217932 w 655796"/>
                <a:gd name="connsiteY6" fmla="*/ 239554 h 239934"/>
                <a:gd name="connsiteX7" fmla="*/ 263461 w 655796"/>
                <a:gd name="connsiteY7" fmla="*/ 119253 h 239934"/>
                <a:gd name="connsiteX8" fmla="*/ 391287 w 655796"/>
                <a:gd name="connsiteY8" fmla="*/ 119443 h 239934"/>
                <a:gd name="connsiteX9" fmla="*/ 438150 w 655796"/>
                <a:gd name="connsiteY9" fmla="*/ 239935 h 239934"/>
                <a:gd name="connsiteX10" fmla="*/ 655796 w 655796"/>
                <a:gd name="connsiteY10" fmla="*/ 215360 h 239934"/>
                <a:gd name="connsiteX11" fmla="*/ 655796 w 655796"/>
                <a:gd name="connsiteY11" fmla="*/ 96107 h 239934"/>
                <a:gd name="connsiteX12" fmla="*/ 438150 w 655796"/>
                <a:gd name="connsiteY12" fmla="*/ 120682 h 239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5796" h="239934">
                  <a:moveTo>
                    <a:pt x="438150" y="120682"/>
                  </a:moveTo>
                  <a:lnTo>
                    <a:pt x="391287" y="191"/>
                  </a:lnTo>
                  <a:cubicBezTo>
                    <a:pt x="348710" y="1810"/>
                    <a:pt x="306038" y="1714"/>
                    <a:pt x="263461" y="0"/>
                  </a:cubicBezTo>
                  <a:lnTo>
                    <a:pt x="217932" y="120301"/>
                  </a:lnTo>
                  <a:cubicBezTo>
                    <a:pt x="144304" y="116014"/>
                    <a:pt x="71342" y="107537"/>
                    <a:pt x="0" y="94964"/>
                  </a:cubicBezTo>
                  <a:lnTo>
                    <a:pt x="0" y="214217"/>
                  </a:lnTo>
                  <a:cubicBezTo>
                    <a:pt x="71342" y="226790"/>
                    <a:pt x="144304" y="235267"/>
                    <a:pt x="217932" y="239554"/>
                  </a:cubicBezTo>
                  <a:lnTo>
                    <a:pt x="263461" y="119253"/>
                  </a:lnTo>
                  <a:cubicBezTo>
                    <a:pt x="306038" y="121063"/>
                    <a:pt x="348710" y="121158"/>
                    <a:pt x="391287" y="119443"/>
                  </a:cubicBezTo>
                  <a:lnTo>
                    <a:pt x="438150" y="239935"/>
                  </a:lnTo>
                  <a:cubicBezTo>
                    <a:pt x="511683" y="235934"/>
                    <a:pt x="584644" y="227743"/>
                    <a:pt x="655796" y="215360"/>
                  </a:cubicBezTo>
                  <a:lnTo>
                    <a:pt x="655796" y="96107"/>
                  </a:lnTo>
                  <a:cubicBezTo>
                    <a:pt x="584644" y="108490"/>
                    <a:pt x="511778" y="116681"/>
                    <a:pt x="438150" y="120682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27" name="Freeform: Shape 42">
              <a:extLst>
                <a:ext uri="{FF2B5EF4-FFF2-40B4-BE49-F238E27FC236}">
                  <a16:creationId xmlns:a16="http://schemas.microsoft.com/office/drawing/2014/main" id="{F19BF29B-B330-8016-94AF-2AB1CC33A4FD}"/>
                </a:ext>
              </a:extLst>
            </p:cNvPr>
            <p:cNvSpPr/>
            <p:nvPr/>
          </p:nvSpPr>
          <p:spPr>
            <a:xfrm>
              <a:off x="9215829" y="4105227"/>
              <a:ext cx="526229" cy="427332"/>
            </a:xfrm>
            <a:custGeom>
              <a:avLst/>
              <a:gdLst>
                <a:gd name="connsiteX0" fmla="*/ 301562 w 301561"/>
                <a:gd name="connsiteY0" fmla="*/ 0 h 244887"/>
                <a:gd name="connsiteX1" fmla="*/ 258985 w 301561"/>
                <a:gd name="connsiteY1" fmla="*/ 125635 h 244887"/>
                <a:gd name="connsiteX2" fmla="*/ 48578 w 301561"/>
                <a:gd name="connsiteY2" fmla="*/ 103823 h 244887"/>
                <a:gd name="connsiteX3" fmla="*/ 0 w 301561"/>
                <a:gd name="connsiteY3" fmla="*/ 171926 h 244887"/>
                <a:gd name="connsiteX4" fmla="*/ 152781 w 301561"/>
                <a:gd name="connsiteY4" fmla="*/ 233839 h 244887"/>
                <a:gd name="connsiteX5" fmla="*/ 258985 w 301561"/>
                <a:gd name="connsiteY5" fmla="*/ 244888 h 244887"/>
                <a:gd name="connsiteX6" fmla="*/ 301562 w 301561"/>
                <a:gd name="connsiteY6" fmla="*/ 119253 h 244887"/>
                <a:gd name="connsiteX7" fmla="*/ 301562 w 301561"/>
                <a:gd name="connsiteY7" fmla="*/ 0 h 244887"/>
                <a:gd name="connsiteX8" fmla="*/ 301562 w 301561"/>
                <a:gd name="connsiteY8" fmla="*/ 0 h 24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1561" h="244887">
                  <a:moveTo>
                    <a:pt x="301562" y="0"/>
                  </a:moveTo>
                  <a:cubicBezTo>
                    <a:pt x="294608" y="42482"/>
                    <a:pt x="280321" y="84582"/>
                    <a:pt x="258985" y="125635"/>
                  </a:cubicBezTo>
                  <a:lnTo>
                    <a:pt x="48578" y="103823"/>
                  </a:lnTo>
                  <a:cubicBezTo>
                    <a:pt x="35243" y="127064"/>
                    <a:pt x="19050" y="149828"/>
                    <a:pt x="0" y="171926"/>
                  </a:cubicBezTo>
                  <a:lnTo>
                    <a:pt x="152781" y="233839"/>
                  </a:lnTo>
                  <a:lnTo>
                    <a:pt x="258985" y="244888"/>
                  </a:lnTo>
                  <a:cubicBezTo>
                    <a:pt x="280321" y="203740"/>
                    <a:pt x="294608" y="161639"/>
                    <a:pt x="301562" y="119253"/>
                  </a:cubicBezTo>
                  <a:lnTo>
                    <a:pt x="301562" y="0"/>
                  </a:lnTo>
                  <a:lnTo>
                    <a:pt x="301562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28" name="Freeform: Shape 43">
              <a:extLst>
                <a:ext uri="{FF2B5EF4-FFF2-40B4-BE49-F238E27FC236}">
                  <a16:creationId xmlns:a16="http://schemas.microsoft.com/office/drawing/2014/main" id="{DACFA099-804A-25EF-7A71-804787577F22}"/>
                </a:ext>
              </a:extLst>
            </p:cNvPr>
            <p:cNvSpPr/>
            <p:nvPr/>
          </p:nvSpPr>
          <p:spPr>
            <a:xfrm>
              <a:off x="6537806" y="4815788"/>
              <a:ext cx="741807" cy="383951"/>
            </a:xfrm>
            <a:custGeom>
              <a:avLst/>
              <a:gdLst>
                <a:gd name="connsiteX0" fmla="*/ 425101 w 425100"/>
                <a:gd name="connsiteY0" fmla="*/ 28480 h 220027"/>
                <a:gd name="connsiteX1" fmla="*/ 306800 w 425100"/>
                <a:gd name="connsiteY1" fmla="*/ 0 h 220027"/>
                <a:gd name="connsiteX2" fmla="*/ 184880 w 425100"/>
                <a:gd name="connsiteY2" fmla="*/ 100775 h 220027"/>
                <a:gd name="connsiteX3" fmla="*/ 0 w 425100"/>
                <a:gd name="connsiteY3" fmla="*/ 29147 h 220027"/>
                <a:gd name="connsiteX4" fmla="*/ 0 w 425100"/>
                <a:gd name="connsiteY4" fmla="*/ 148400 h 220027"/>
                <a:gd name="connsiteX5" fmla="*/ 184880 w 425100"/>
                <a:gd name="connsiteY5" fmla="*/ 220028 h 220027"/>
                <a:gd name="connsiteX6" fmla="*/ 306800 w 425100"/>
                <a:gd name="connsiteY6" fmla="*/ 119253 h 220027"/>
                <a:gd name="connsiteX7" fmla="*/ 391478 w 425100"/>
                <a:gd name="connsiteY7" fmla="*/ 140399 h 220027"/>
                <a:gd name="connsiteX8" fmla="*/ 425101 w 425100"/>
                <a:gd name="connsiteY8" fmla="*/ 28480 h 220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0" h="220027">
                  <a:moveTo>
                    <a:pt x="425101" y="28480"/>
                  </a:moveTo>
                  <a:cubicBezTo>
                    <a:pt x="384810" y="20669"/>
                    <a:pt x="345281" y="11144"/>
                    <a:pt x="306800" y="0"/>
                  </a:cubicBezTo>
                  <a:lnTo>
                    <a:pt x="184880" y="100775"/>
                  </a:lnTo>
                  <a:cubicBezTo>
                    <a:pt x="120301" y="80772"/>
                    <a:pt x="58293" y="56864"/>
                    <a:pt x="0" y="29147"/>
                  </a:cubicBezTo>
                  <a:lnTo>
                    <a:pt x="0" y="148400"/>
                  </a:lnTo>
                  <a:cubicBezTo>
                    <a:pt x="58293" y="176117"/>
                    <a:pt x="120301" y="200025"/>
                    <a:pt x="184880" y="220028"/>
                  </a:cubicBezTo>
                  <a:lnTo>
                    <a:pt x="306800" y="119253"/>
                  </a:lnTo>
                  <a:cubicBezTo>
                    <a:pt x="334518" y="127254"/>
                    <a:pt x="362903" y="134112"/>
                    <a:pt x="391478" y="140399"/>
                  </a:cubicBezTo>
                  <a:lnTo>
                    <a:pt x="425101" y="2848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29" name="Freeform: Shape 44">
              <a:extLst>
                <a:ext uri="{FF2B5EF4-FFF2-40B4-BE49-F238E27FC236}">
                  <a16:creationId xmlns:a16="http://schemas.microsoft.com/office/drawing/2014/main" id="{B829DC1F-834E-287F-8366-EFF03D7E0F06}"/>
                </a:ext>
              </a:extLst>
            </p:cNvPr>
            <p:cNvSpPr/>
            <p:nvPr/>
          </p:nvSpPr>
          <p:spPr>
            <a:xfrm>
              <a:off x="5823921" y="4098245"/>
              <a:ext cx="529388" cy="427666"/>
            </a:xfrm>
            <a:custGeom>
              <a:avLst/>
              <a:gdLst>
                <a:gd name="connsiteX0" fmla="*/ 303371 w 303371"/>
                <a:gd name="connsiteY0" fmla="*/ 173069 h 245078"/>
                <a:gd name="connsiteX1" fmla="*/ 254032 w 303371"/>
                <a:gd name="connsiteY1" fmla="*/ 104775 h 245078"/>
                <a:gd name="connsiteX2" fmla="*/ 43910 w 303371"/>
                <a:gd name="connsiteY2" fmla="*/ 125825 h 245078"/>
                <a:gd name="connsiteX3" fmla="*/ 0 w 303371"/>
                <a:gd name="connsiteY3" fmla="*/ 0 h 245078"/>
                <a:gd name="connsiteX4" fmla="*/ 0 w 303371"/>
                <a:gd name="connsiteY4" fmla="*/ 0 h 245078"/>
                <a:gd name="connsiteX5" fmla="*/ 0 w 303371"/>
                <a:gd name="connsiteY5" fmla="*/ 119253 h 245078"/>
                <a:gd name="connsiteX6" fmla="*/ 43910 w 303371"/>
                <a:gd name="connsiteY6" fmla="*/ 245078 h 245078"/>
                <a:gd name="connsiteX7" fmla="*/ 151733 w 303371"/>
                <a:gd name="connsiteY7" fmla="*/ 234315 h 245078"/>
                <a:gd name="connsiteX8" fmla="*/ 303371 w 303371"/>
                <a:gd name="connsiteY8" fmla="*/ 173069 h 24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3371" h="245078">
                  <a:moveTo>
                    <a:pt x="303371" y="173069"/>
                  </a:moveTo>
                  <a:cubicBezTo>
                    <a:pt x="284036" y="150876"/>
                    <a:pt x="267653" y="128016"/>
                    <a:pt x="254032" y="104775"/>
                  </a:cubicBezTo>
                  <a:lnTo>
                    <a:pt x="43910" y="125825"/>
                  </a:lnTo>
                  <a:cubicBezTo>
                    <a:pt x="22098" y="84677"/>
                    <a:pt x="7430" y="42482"/>
                    <a:pt x="0" y="0"/>
                  </a:cubicBezTo>
                  <a:lnTo>
                    <a:pt x="0" y="0"/>
                  </a:lnTo>
                  <a:lnTo>
                    <a:pt x="0" y="119253"/>
                  </a:lnTo>
                  <a:cubicBezTo>
                    <a:pt x="7430" y="161735"/>
                    <a:pt x="22098" y="203930"/>
                    <a:pt x="43910" y="245078"/>
                  </a:cubicBezTo>
                  <a:lnTo>
                    <a:pt x="151733" y="234315"/>
                  </a:lnTo>
                  <a:lnTo>
                    <a:pt x="303371" y="173069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0" name="Freeform: Shape 45">
              <a:extLst>
                <a:ext uri="{FF2B5EF4-FFF2-40B4-BE49-F238E27FC236}">
                  <a16:creationId xmlns:a16="http://schemas.microsoft.com/office/drawing/2014/main" id="{A014CE66-BA8D-9468-9AD3-383822F8B65C}"/>
                </a:ext>
              </a:extLst>
            </p:cNvPr>
            <p:cNvSpPr/>
            <p:nvPr/>
          </p:nvSpPr>
          <p:spPr>
            <a:xfrm>
              <a:off x="6048641" y="4522919"/>
              <a:ext cx="688453" cy="394423"/>
            </a:xfrm>
            <a:custGeom>
              <a:avLst/>
              <a:gdLst>
                <a:gd name="connsiteX0" fmla="*/ 313849 w 394525"/>
                <a:gd name="connsiteY0" fmla="*/ 166497 h 226028"/>
                <a:gd name="connsiteX1" fmla="*/ 394526 w 394525"/>
                <a:gd name="connsiteY1" fmla="*/ 93154 h 226028"/>
                <a:gd name="connsiteX2" fmla="*/ 347472 w 394525"/>
                <a:gd name="connsiteY2" fmla="*/ 68008 h 226028"/>
                <a:gd name="connsiteX3" fmla="*/ 303848 w 394525"/>
                <a:gd name="connsiteY3" fmla="*/ 40862 h 226028"/>
                <a:gd name="connsiteX4" fmla="*/ 124111 w 394525"/>
                <a:gd name="connsiteY4" fmla="*/ 106775 h 226028"/>
                <a:gd name="connsiteX5" fmla="*/ 0 w 394525"/>
                <a:gd name="connsiteY5" fmla="*/ 0 h 226028"/>
                <a:gd name="connsiteX6" fmla="*/ 0 w 394525"/>
                <a:gd name="connsiteY6" fmla="*/ 0 h 226028"/>
                <a:gd name="connsiteX7" fmla="*/ 0 w 394525"/>
                <a:gd name="connsiteY7" fmla="*/ 119253 h 226028"/>
                <a:gd name="connsiteX8" fmla="*/ 124111 w 394525"/>
                <a:gd name="connsiteY8" fmla="*/ 226028 h 226028"/>
                <a:gd name="connsiteX9" fmla="*/ 303848 w 394525"/>
                <a:gd name="connsiteY9" fmla="*/ 160115 h 226028"/>
                <a:gd name="connsiteX10" fmla="*/ 313849 w 394525"/>
                <a:gd name="connsiteY10" fmla="*/ 166497 h 22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4525" h="226028">
                  <a:moveTo>
                    <a:pt x="313849" y="166497"/>
                  </a:moveTo>
                  <a:lnTo>
                    <a:pt x="394526" y="93154"/>
                  </a:lnTo>
                  <a:cubicBezTo>
                    <a:pt x="378524" y="85058"/>
                    <a:pt x="362712" y="76771"/>
                    <a:pt x="347472" y="68008"/>
                  </a:cubicBezTo>
                  <a:cubicBezTo>
                    <a:pt x="332232" y="59246"/>
                    <a:pt x="317849" y="50101"/>
                    <a:pt x="303848" y="40862"/>
                  </a:cubicBezTo>
                  <a:lnTo>
                    <a:pt x="124111" y="106775"/>
                  </a:lnTo>
                  <a:cubicBezTo>
                    <a:pt x="76010" y="73057"/>
                    <a:pt x="34671" y="37338"/>
                    <a:pt x="0" y="0"/>
                  </a:cubicBezTo>
                  <a:lnTo>
                    <a:pt x="0" y="0"/>
                  </a:lnTo>
                  <a:lnTo>
                    <a:pt x="0" y="119253"/>
                  </a:lnTo>
                  <a:cubicBezTo>
                    <a:pt x="34671" y="156591"/>
                    <a:pt x="76010" y="192310"/>
                    <a:pt x="124111" y="226028"/>
                  </a:cubicBezTo>
                  <a:lnTo>
                    <a:pt x="303848" y="160115"/>
                  </a:lnTo>
                  <a:cubicBezTo>
                    <a:pt x="307086" y="162211"/>
                    <a:pt x="310515" y="164401"/>
                    <a:pt x="313849" y="166497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1" name="Freeform: Shape 46">
              <a:extLst>
                <a:ext uri="{FF2B5EF4-FFF2-40B4-BE49-F238E27FC236}">
                  <a16:creationId xmlns:a16="http://schemas.microsoft.com/office/drawing/2014/main" id="{452417AD-3519-5109-5697-0EB8967D22D8}"/>
                </a:ext>
              </a:extLst>
            </p:cNvPr>
            <p:cNvSpPr/>
            <p:nvPr/>
          </p:nvSpPr>
          <p:spPr>
            <a:xfrm>
              <a:off x="9377057" y="3883332"/>
              <a:ext cx="363674" cy="260788"/>
            </a:xfrm>
            <a:custGeom>
              <a:avLst/>
              <a:gdLst>
                <a:gd name="connsiteX0" fmla="*/ 208407 w 208407"/>
                <a:gd name="connsiteY0" fmla="*/ 0 h 149447"/>
                <a:gd name="connsiteX1" fmla="*/ 208407 w 208407"/>
                <a:gd name="connsiteY1" fmla="*/ 119253 h 149447"/>
                <a:gd name="connsiteX2" fmla="*/ 3810 w 208407"/>
                <a:gd name="connsiteY2" fmla="*/ 149447 h 149447"/>
                <a:gd name="connsiteX3" fmla="*/ 0 w 208407"/>
                <a:gd name="connsiteY3" fmla="*/ 26289 h 14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07" h="149447">
                  <a:moveTo>
                    <a:pt x="208407" y="0"/>
                  </a:moveTo>
                  <a:lnTo>
                    <a:pt x="208407" y="119253"/>
                  </a:lnTo>
                  <a:lnTo>
                    <a:pt x="3810" y="149447"/>
                  </a:lnTo>
                  <a:lnTo>
                    <a:pt x="0" y="26289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2" name="Freeform: Shape 47">
              <a:extLst>
                <a:ext uri="{FF2B5EF4-FFF2-40B4-BE49-F238E27FC236}">
                  <a16:creationId xmlns:a16="http://schemas.microsoft.com/office/drawing/2014/main" id="{5CBC79A4-7153-4DEF-11DF-EBF48C8AEFFF}"/>
                </a:ext>
              </a:extLst>
            </p:cNvPr>
            <p:cNvSpPr/>
            <p:nvPr/>
          </p:nvSpPr>
          <p:spPr>
            <a:xfrm>
              <a:off x="9211343" y="3458491"/>
              <a:ext cx="304668" cy="330929"/>
            </a:xfrm>
            <a:custGeom>
              <a:avLst/>
              <a:gdLst>
                <a:gd name="connsiteX0" fmla="*/ 174593 w 174593"/>
                <a:gd name="connsiteY0" fmla="*/ 0 h 189642"/>
                <a:gd name="connsiteX1" fmla="*/ 174593 w 174593"/>
                <a:gd name="connsiteY1" fmla="*/ 119253 h 189642"/>
                <a:gd name="connsiteX2" fmla="*/ 0 w 174593"/>
                <a:gd name="connsiteY2" fmla="*/ 189643 h 189642"/>
                <a:gd name="connsiteX3" fmla="*/ 0 w 174593"/>
                <a:gd name="connsiteY3" fmla="*/ 70390 h 189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593" h="189642">
                  <a:moveTo>
                    <a:pt x="174593" y="0"/>
                  </a:moveTo>
                  <a:lnTo>
                    <a:pt x="174593" y="119253"/>
                  </a:lnTo>
                  <a:lnTo>
                    <a:pt x="0" y="189643"/>
                  </a:lnTo>
                  <a:lnTo>
                    <a:pt x="0" y="7039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3" name="Freeform: Shape 48">
              <a:extLst>
                <a:ext uri="{FF2B5EF4-FFF2-40B4-BE49-F238E27FC236}">
                  <a16:creationId xmlns:a16="http://schemas.microsoft.com/office/drawing/2014/main" id="{3740D671-5661-AF67-89B8-4B11FAA86731}"/>
                </a:ext>
              </a:extLst>
            </p:cNvPr>
            <p:cNvSpPr/>
            <p:nvPr/>
          </p:nvSpPr>
          <p:spPr>
            <a:xfrm>
              <a:off x="8827556" y="3114763"/>
              <a:ext cx="199456" cy="389270"/>
            </a:xfrm>
            <a:custGeom>
              <a:avLst/>
              <a:gdLst>
                <a:gd name="connsiteX0" fmla="*/ 114300 w 114300"/>
                <a:gd name="connsiteY0" fmla="*/ 0 h 223075"/>
                <a:gd name="connsiteX1" fmla="*/ 114300 w 114300"/>
                <a:gd name="connsiteY1" fmla="*/ 119253 h 223075"/>
                <a:gd name="connsiteX2" fmla="*/ 0 w 114300"/>
                <a:gd name="connsiteY2" fmla="*/ 223076 h 223075"/>
                <a:gd name="connsiteX3" fmla="*/ 0 w 114300"/>
                <a:gd name="connsiteY3" fmla="*/ 103823 h 22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" h="223075">
                  <a:moveTo>
                    <a:pt x="114300" y="0"/>
                  </a:moveTo>
                  <a:lnTo>
                    <a:pt x="114300" y="119253"/>
                  </a:lnTo>
                  <a:lnTo>
                    <a:pt x="0" y="223076"/>
                  </a:lnTo>
                  <a:lnTo>
                    <a:pt x="0" y="103823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34" name="Freeform: Shape 49">
              <a:extLst>
                <a:ext uri="{FF2B5EF4-FFF2-40B4-BE49-F238E27FC236}">
                  <a16:creationId xmlns:a16="http://schemas.microsoft.com/office/drawing/2014/main" id="{000FBF95-F513-EE05-3A45-DB5559AC5F13}"/>
                </a:ext>
              </a:extLst>
            </p:cNvPr>
            <p:cNvSpPr/>
            <p:nvPr/>
          </p:nvSpPr>
          <p:spPr>
            <a:xfrm>
              <a:off x="8285037" y="2904338"/>
              <a:ext cx="63658" cy="419687"/>
            </a:xfrm>
            <a:custGeom>
              <a:avLst/>
              <a:gdLst>
                <a:gd name="connsiteX0" fmla="*/ 36481 w 36480"/>
                <a:gd name="connsiteY0" fmla="*/ 0 h 240506"/>
                <a:gd name="connsiteX1" fmla="*/ 36481 w 36480"/>
                <a:gd name="connsiteY1" fmla="*/ 119158 h 240506"/>
                <a:gd name="connsiteX2" fmla="*/ 0 w 36480"/>
                <a:gd name="connsiteY2" fmla="*/ 240506 h 240506"/>
                <a:gd name="connsiteX3" fmla="*/ 0 w 36480"/>
                <a:gd name="connsiteY3" fmla="*/ 121348 h 240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" h="240506">
                  <a:moveTo>
                    <a:pt x="36481" y="0"/>
                  </a:moveTo>
                  <a:lnTo>
                    <a:pt x="36481" y="119158"/>
                  </a:lnTo>
                  <a:lnTo>
                    <a:pt x="0" y="240506"/>
                  </a:lnTo>
                  <a:lnTo>
                    <a:pt x="0" y="12134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35" name="Freeform: Shape 50">
              <a:extLst>
                <a:ext uri="{FF2B5EF4-FFF2-40B4-BE49-F238E27FC236}">
                  <a16:creationId xmlns:a16="http://schemas.microsoft.com/office/drawing/2014/main" id="{19B53931-936D-D027-57BC-7B5DCC173F2B}"/>
                </a:ext>
              </a:extLst>
            </p:cNvPr>
            <p:cNvSpPr/>
            <p:nvPr/>
          </p:nvSpPr>
          <p:spPr>
            <a:xfrm>
              <a:off x="7204321" y="2902178"/>
              <a:ext cx="65819" cy="420019"/>
            </a:xfrm>
            <a:custGeom>
              <a:avLst/>
              <a:gdLst>
                <a:gd name="connsiteX0" fmla="*/ 0 w 37718"/>
                <a:gd name="connsiteY0" fmla="*/ 0 h 240696"/>
                <a:gd name="connsiteX1" fmla="*/ 0 w 37718"/>
                <a:gd name="connsiteY1" fmla="*/ 119253 h 240696"/>
                <a:gd name="connsiteX2" fmla="*/ 37719 w 37718"/>
                <a:gd name="connsiteY2" fmla="*/ 240697 h 240696"/>
                <a:gd name="connsiteX3" fmla="*/ 37719 w 37718"/>
                <a:gd name="connsiteY3" fmla="*/ 121539 h 24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718" h="240696">
                  <a:moveTo>
                    <a:pt x="0" y="0"/>
                  </a:moveTo>
                  <a:lnTo>
                    <a:pt x="0" y="119253"/>
                  </a:lnTo>
                  <a:lnTo>
                    <a:pt x="37719" y="240697"/>
                  </a:lnTo>
                  <a:lnTo>
                    <a:pt x="37719" y="121539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36" name="Freeform: Shape 51">
              <a:extLst>
                <a:ext uri="{FF2B5EF4-FFF2-40B4-BE49-F238E27FC236}">
                  <a16:creationId xmlns:a16="http://schemas.microsoft.com/office/drawing/2014/main" id="{1D6056BC-0254-865E-B005-7EDC5639B2CC}"/>
                </a:ext>
              </a:extLst>
            </p:cNvPr>
            <p:cNvSpPr/>
            <p:nvPr/>
          </p:nvSpPr>
          <p:spPr>
            <a:xfrm>
              <a:off x="6528167" y="3110276"/>
              <a:ext cx="201283" cy="389935"/>
            </a:xfrm>
            <a:custGeom>
              <a:avLst/>
              <a:gdLst>
                <a:gd name="connsiteX0" fmla="*/ 0 w 115347"/>
                <a:gd name="connsiteY0" fmla="*/ 0 h 223456"/>
                <a:gd name="connsiteX1" fmla="*/ 0 w 115347"/>
                <a:gd name="connsiteY1" fmla="*/ 119253 h 223456"/>
                <a:gd name="connsiteX2" fmla="*/ 115348 w 115347"/>
                <a:gd name="connsiteY2" fmla="*/ 223456 h 223456"/>
                <a:gd name="connsiteX3" fmla="*/ 115348 w 115347"/>
                <a:gd name="connsiteY3" fmla="*/ 104204 h 223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347" h="223456">
                  <a:moveTo>
                    <a:pt x="0" y="0"/>
                  </a:moveTo>
                  <a:lnTo>
                    <a:pt x="0" y="119253"/>
                  </a:lnTo>
                  <a:lnTo>
                    <a:pt x="115348" y="223456"/>
                  </a:lnTo>
                  <a:lnTo>
                    <a:pt x="115348" y="104204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7" name="Freeform: Shape 52">
              <a:extLst>
                <a:ext uri="{FF2B5EF4-FFF2-40B4-BE49-F238E27FC236}">
                  <a16:creationId xmlns:a16="http://schemas.microsoft.com/office/drawing/2014/main" id="{E44C57A8-8513-040B-E9E2-C0A5DBD40DA2}"/>
                </a:ext>
              </a:extLst>
            </p:cNvPr>
            <p:cNvSpPr/>
            <p:nvPr/>
          </p:nvSpPr>
          <p:spPr>
            <a:xfrm>
              <a:off x="6042825" y="3452176"/>
              <a:ext cx="305998" cy="331927"/>
            </a:xfrm>
            <a:custGeom>
              <a:avLst/>
              <a:gdLst>
                <a:gd name="connsiteX0" fmla="*/ 0 w 175355"/>
                <a:gd name="connsiteY0" fmla="*/ 0 h 190214"/>
                <a:gd name="connsiteX1" fmla="*/ 0 w 175355"/>
                <a:gd name="connsiteY1" fmla="*/ 119253 h 190214"/>
                <a:gd name="connsiteX2" fmla="*/ 175355 w 175355"/>
                <a:gd name="connsiteY2" fmla="*/ 190214 h 190214"/>
                <a:gd name="connsiteX3" fmla="*/ 175355 w 175355"/>
                <a:gd name="connsiteY3" fmla="*/ 71056 h 19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355" h="190214">
                  <a:moveTo>
                    <a:pt x="0" y="0"/>
                  </a:moveTo>
                  <a:lnTo>
                    <a:pt x="0" y="119253"/>
                  </a:lnTo>
                  <a:lnTo>
                    <a:pt x="175355" y="190214"/>
                  </a:lnTo>
                  <a:lnTo>
                    <a:pt x="175355" y="71056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8" name="Freeform: Shape 53">
              <a:extLst>
                <a:ext uri="{FF2B5EF4-FFF2-40B4-BE49-F238E27FC236}">
                  <a16:creationId xmlns:a16="http://schemas.microsoft.com/office/drawing/2014/main" id="{BE059933-D239-8809-D304-52BF3B0B9727}"/>
                </a:ext>
              </a:extLst>
            </p:cNvPr>
            <p:cNvSpPr/>
            <p:nvPr/>
          </p:nvSpPr>
          <p:spPr>
            <a:xfrm>
              <a:off x="5822759" y="3876352"/>
              <a:ext cx="364171" cy="255136"/>
            </a:xfrm>
            <a:custGeom>
              <a:avLst/>
              <a:gdLst>
                <a:gd name="connsiteX0" fmla="*/ 0 w 208692"/>
                <a:gd name="connsiteY0" fmla="*/ 0 h 146208"/>
                <a:gd name="connsiteX1" fmla="*/ 0 w 208692"/>
                <a:gd name="connsiteY1" fmla="*/ 119158 h 146208"/>
                <a:gd name="connsiteX2" fmla="*/ 208693 w 208692"/>
                <a:gd name="connsiteY2" fmla="*/ 146209 h 146208"/>
                <a:gd name="connsiteX3" fmla="*/ 208693 w 208692"/>
                <a:gd name="connsiteY3" fmla="*/ 27051 h 14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692" h="146208">
                  <a:moveTo>
                    <a:pt x="0" y="0"/>
                  </a:moveTo>
                  <a:lnTo>
                    <a:pt x="0" y="119158"/>
                  </a:lnTo>
                  <a:lnTo>
                    <a:pt x="208693" y="146209"/>
                  </a:lnTo>
                  <a:lnTo>
                    <a:pt x="208693" y="270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39" name="Freeform: Shape 54">
              <a:extLst>
                <a:ext uri="{FF2B5EF4-FFF2-40B4-BE49-F238E27FC236}">
                  <a16:creationId xmlns:a16="http://schemas.microsoft.com/office/drawing/2014/main" id="{B21E9473-0F89-D6A6-9B8A-AB00EE64907D}"/>
                </a:ext>
              </a:extLst>
            </p:cNvPr>
            <p:cNvSpPr/>
            <p:nvPr/>
          </p:nvSpPr>
          <p:spPr>
            <a:xfrm>
              <a:off x="5900547" y="4281079"/>
              <a:ext cx="366665" cy="244666"/>
            </a:xfrm>
            <a:custGeom>
              <a:avLst/>
              <a:gdLst>
                <a:gd name="connsiteX0" fmla="*/ 0 w 210121"/>
                <a:gd name="connsiteY0" fmla="*/ 21050 h 140208"/>
                <a:gd name="connsiteX1" fmla="*/ 0 w 210121"/>
                <a:gd name="connsiteY1" fmla="*/ 140208 h 140208"/>
                <a:gd name="connsiteX2" fmla="*/ 210122 w 210121"/>
                <a:gd name="connsiteY2" fmla="*/ 119158 h 140208"/>
                <a:gd name="connsiteX3" fmla="*/ 210122 w 210121"/>
                <a:gd name="connsiteY3" fmla="*/ 0 h 14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121" h="140208">
                  <a:moveTo>
                    <a:pt x="0" y="21050"/>
                  </a:moveTo>
                  <a:lnTo>
                    <a:pt x="0" y="140208"/>
                  </a:lnTo>
                  <a:lnTo>
                    <a:pt x="210122" y="119158"/>
                  </a:lnTo>
                  <a:lnTo>
                    <a:pt x="210122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0" name="Freeform: Shape 55">
              <a:extLst>
                <a:ext uri="{FF2B5EF4-FFF2-40B4-BE49-F238E27FC236}">
                  <a16:creationId xmlns:a16="http://schemas.microsoft.com/office/drawing/2014/main" id="{CADB7FE3-8696-E3F2-46F3-6343E88C622B}"/>
                </a:ext>
              </a:extLst>
            </p:cNvPr>
            <p:cNvSpPr/>
            <p:nvPr/>
          </p:nvSpPr>
          <p:spPr>
            <a:xfrm>
              <a:off x="6265217" y="4594226"/>
              <a:ext cx="313643" cy="323116"/>
            </a:xfrm>
            <a:custGeom>
              <a:avLst/>
              <a:gdLst>
                <a:gd name="connsiteX0" fmla="*/ 179737 w 179736"/>
                <a:gd name="connsiteY0" fmla="*/ 0 h 185165"/>
                <a:gd name="connsiteX1" fmla="*/ 179737 w 179736"/>
                <a:gd name="connsiteY1" fmla="*/ 119253 h 185165"/>
                <a:gd name="connsiteX2" fmla="*/ 0 w 179736"/>
                <a:gd name="connsiteY2" fmla="*/ 185166 h 185165"/>
                <a:gd name="connsiteX3" fmla="*/ 0 w 179736"/>
                <a:gd name="connsiteY3" fmla="*/ 66008 h 185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736" h="185165">
                  <a:moveTo>
                    <a:pt x="179737" y="0"/>
                  </a:moveTo>
                  <a:lnTo>
                    <a:pt x="179737" y="119253"/>
                  </a:lnTo>
                  <a:lnTo>
                    <a:pt x="0" y="185166"/>
                  </a:lnTo>
                  <a:lnTo>
                    <a:pt x="0" y="6600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41" name="Freeform: Shape 56">
              <a:extLst>
                <a:ext uri="{FF2B5EF4-FFF2-40B4-BE49-F238E27FC236}">
                  <a16:creationId xmlns:a16="http://schemas.microsoft.com/office/drawing/2014/main" id="{33DDF7F8-FC72-E112-14A2-D9AF45B56B6D}"/>
                </a:ext>
              </a:extLst>
            </p:cNvPr>
            <p:cNvSpPr/>
            <p:nvPr/>
          </p:nvSpPr>
          <p:spPr>
            <a:xfrm>
              <a:off x="6860427" y="4815788"/>
              <a:ext cx="212751" cy="383951"/>
            </a:xfrm>
            <a:custGeom>
              <a:avLst/>
              <a:gdLst>
                <a:gd name="connsiteX0" fmla="*/ 121920 w 121919"/>
                <a:gd name="connsiteY0" fmla="*/ 0 h 220027"/>
                <a:gd name="connsiteX1" fmla="*/ 121920 w 121919"/>
                <a:gd name="connsiteY1" fmla="*/ 119253 h 220027"/>
                <a:gd name="connsiteX2" fmla="*/ 0 w 121919"/>
                <a:gd name="connsiteY2" fmla="*/ 220028 h 220027"/>
                <a:gd name="connsiteX3" fmla="*/ 0 w 121919"/>
                <a:gd name="connsiteY3" fmla="*/ 100870 h 220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19" h="220027">
                  <a:moveTo>
                    <a:pt x="121920" y="0"/>
                  </a:moveTo>
                  <a:lnTo>
                    <a:pt x="121920" y="119253"/>
                  </a:lnTo>
                  <a:lnTo>
                    <a:pt x="0" y="220028"/>
                  </a:lnTo>
                  <a:lnTo>
                    <a:pt x="0" y="10087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2" name="Freeform: Shape 57">
              <a:extLst>
                <a:ext uri="{FF2B5EF4-FFF2-40B4-BE49-F238E27FC236}">
                  <a16:creationId xmlns:a16="http://schemas.microsoft.com/office/drawing/2014/main" id="{36E60011-F9BC-F598-ECD9-32F49CAF161C}"/>
                </a:ext>
              </a:extLst>
            </p:cNvPr>
            <p:cNvSpPr/>
            <p:nvPr/>
          </p:nvSpPr>
          <p:spPr>
            <a:xfrm>
              <a:off x="7898925" y="4911858"/>
              <a:ext cx="81609" cy="418358"/>
            </a:xfrm>
            <a:custGeom>
              <a:avLst/>
              <a:gdLst>
                <a:gd name="connsiteX0" fmla="*/ 0 w 46767"/>
                <a:gd name="connsiteY0" fmla="*/ 119253 h 239744"/>
                <a:gd name="connsiteX1" fmla="*/ 0 w 46767"/>
                <a:gd name="connsiteY1" fmla="*/ 0 h 239744"/>
                <a:gd name="connsiteX2" fmla="*/ 46768 w 46767"/>
                <a:gd name="connsiteY2" fmla="*/ 120491 h 239744"/>
                <a:gd name="connsiteX3" fmla="*/ 46768 w 46767"/>
                <a:gd name="connsiteY3" fmla="*/ 239744 h 239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767" h="239744">
                  <a:moveTo>
                    <a:pt x="0" y="119253"/>
                  </a:moveTo>
                  <a:lnTo>
                    <a:pt x="0" y="0"/>
                  </a:lnTo>
                  <a:lnTo>
                    <a:pt x="46768" y="120491"/>
                  </a:lnTo>
                  <a:lnTo>
                    <a:pt x="46768" y="239744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3" name="Freeform: Shape 58">
              <a:extLst>
                <a:ext uri="{FF2B5EF4-FFF2-40B4-BE49-F238E27FC236}">
                  <a16:creationId xmlns:a16="http://schemas.microsoft.com/office/drawing/2014/main" id="{A2257FC1-DC44-D7C7-88D2-03CBD57DD23F}"/>
                </a:ext>
              </a:extLst>
            </p:cNvPr>
            <p:cNvSpPr/>
            <p:nvPr/>
          </p:nvSpPr>
          <p:spPr>
            <a:xfrm>
              <a:off x="7596250" y="4911526"/>
              <a:ext cx="79615" cy="418024"/>
            </a:xfrm>
            <a:custGeom>
              <a:avLst/>
              <a:gdLst>
                <a:gd name="connsiteX0" fmla="*/ 45625 w 45624"/>
                <a:gd name="connsiteY0" fmla="*/ 0 h 239553"/>
                <a:gd name="connsiteX1" fmla="*/ 45625 w 45624"/>
                <a:gd name="connsiteY1" fmla="*/ 119158 h 239553"/>
                <a:gd name="connsiteX2" fmla="*/ 0 w 45624"/>
                <a:gd name="connsiteY2" fmla="*/ 239554 h 239553"/>
                <a:gd name="connsiteX3" fmla="*/ 0 w 45624"/>
                <a:gd name="connsiteY3" fmla="*/ 120301 h 23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24" h="239553">
                  <a:moveTo>
                    <a:pt x="45625" y="0"/>
                  </a:moveTo>
                  <a:lnTo>
                    <a:pt x="45625" y="119158"/>
                  </a:lnTo>
                  <a:lnTo>
                    <a:pt x="0" y="239554"/>
                  </a:lnTo>
                  <a:lnTo>
                    <a:pt x="0" y="12030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4" name="Freeform: Shape 59">
              <a:extLst>
                <a:ext uri="{FF2B5EF4-FFF2-40B4-BE49-F238E27FC236}">
                  <a16:creationId xmlns:a16="http://schemas.microsoft.com/office/drawing/2014/main" id="{2C3AA0B6-180B-0A0E-91EB-98F5912863EA}"/>
                </a:ext>
              </a:extLst>
            </p:cNvPr>
            <p:cNvSpPr/>
            <p:nvPr/>
          </p:nvSpPr>
          <p:spPr>
            <a:xfrm>
              <a:off x="8500449" y="4818447"/>
              <a:ext cx="214747" cy="384616"/>
            </a:xfrm>
            <a:custGeom>
              <a:avLst/>
              <a:gdLst>
                <a:gd name="connsiteX0" fmla="*/ 0 w 123063"/>
                <a:gd name="connsiteY0" fmla="*/ 0 h 220408"/>
                <a:gd name="connsiteX1" fmla="*/ 0 w 123063"/>
                <a:gd name="connsiteY1" fmla="*/ 119158 h 220408"/>
                <a:gd name="connsiteX2" fmla="*/ 123063 w 123063"/>
                <a:gd name="connsiteY2" fmla="*/ 220409 h 220408"/>
                <a:gd name="connsiteX3" fmla="*/ 123063 w 123063"/>
                <a:gd name="connsiteY3" fmla="*/ 101251 h 220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063" h="220408">
                  <a:moveTo>
                    <a:pt x="0" y="0"/>
                  </a:moveTo>
                  <a:lnTo>
                    <a:pt x="0" y="119158"/>
                  </a:lnTo>
                  <a:lnTo>
                    <a:pt x="123063" y="220409"/>
                  </a:lnTo>
                  <a:lnTo>
                    <a:pt x="123063" y="1012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5" name="Freeform: Shape 60">
              <a:extLst>
                <a:ext uri="{FF2B5EF4-FFF2-40B4-BE49-F238E27FC236}">
                  <a16:creationId xmlns:a16="http://schemas.microsoft.com/office/drawing/2014/main" id="{362C72D5-5E4C-FC2C-BE42-7DBA4ABA9740}"/>
                </a:ext>
              </a:extLst>
            </p:cNvPr>
            <p:cNvSpPr/>
            <p:nvPr/>
          </p:nvSpPr>
          <p:spPr>
            <a:xfrm>
              <a:off x="8992439" y="4598547"/>
              <a:ext cx="314806" cy="324280"/>
            </a:xfrm>
            <a:custGeom>
              <a:avLst/>
              <a:gdLst>
                <a:gd name="connsiteX0" fmla="*/ 0 w 180403"/>
                <a:gd name="connsiteY0" fmla="*/ 0 h 185832"/>
                <a:gd name="connsiteX1" fmla="*/ 0 w 180403"/>
                <a:gd name="connsiteY1" fmla="*/ 119253 h 185832"/>
                <a:gd name="connsiteX2" fmla="*/ 180404 w 180403"/>
                <a:gd name="connsiteY2" fmla="*/ 185833 h 185832"/>
                <a:gd name="connsiteX3" fmla="*/ 180404 w 180403"/>
                <a:gd name="connsiteY3" fmla="*/ 66675 h 185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403" h="185832">
                  <a:moveTo>
                    <a:pt x="0" y="0"/>
                  </a:moveTo>
                  <a:lnTo>
                    <a:pt x="0" y="119253"/>
                  </a:lnTo>
                  <a:lnTo>
                    <a:pt x="180404" y="185833"/>
                  </a:lnTo>
                  <a:lnTo>
                    <a:pt x="180404" y="6667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6" name="Freeform: Shape 61">
              <a:extLst>
                <a:ext uri="{FF2B5EF4-FFF2-40B4-BE49-F238E27FC236}">
                  <a16:creationId xmlns:a16="http://schemas.microsoft.com/office/drawing/2014/main" id="{0458A630-3438-139F-D594-D6B8AAC945AD}"/>
                </a:ext>
              </a:extLst>
            </p:cNvPr>
            <p:cNvSpPr/>
            <p:nvPr/>
          </p:nvSpPr>
          <p:spPr>
            <a:xfrm>
              <a:off x="9300599" y="4286565"/>
              <a:ext cx="367164" cy="245995"/>
            </a:xfrm>
            <a:custGeom>
              <a:avLst/>
              <a:gdLst>
                <a:gd name="connsiteX0" fmla="*/ 0 w 210407"/>
                <a:gd name="connsiteY0" fmla="*/ 0 h 140970"/>
                <a:gd name="connsiteX1" fmla="*/ 0 w 210407"/>
                <a:gd name="connsiteY1" fmla="*/ 119158 h 140970"/>
                <a:gd name="connsiteX2" fmla="*/ 210407 w 210407"/>
                <a:gd name="connsiteY2" fmla="*/ 140970 h 140970"/>
                <a:gd name="connsiteX3" fmla="*/ 210407 w 210407"/>
                <a:gd name="connsiteY3" fmla="*/ 21717 h 14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407" h="140970">
                  <a:moveTo>
                    <a:pt x="0" y="0"/>
                  </a:moveTo>
                  <a:lnTo>
                    <a:pt x="0" y="119158"/>
                  </a:lnTo>
                  <a:lnTo>
                    <a:pt x="210407" y="140970"/>
                  </a:lnTo>
                  <a:lnTo>
                    <a:pt x="210407" y="21717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47" name="Freeform: Shape 12">
              <a:extLst>
                <a:ext uri="{FF2B5EF4-FFF2-40B4-BE49-F238E27FC236}">
                  <a16:creationId xmlns:a16="http://schemas.microsoft.com/office/drawing/2014/main" id="{034C4F42-C9AD-9727-6CAB-0A2A59FB3F89}"/>
                </a:ext>
              </a:extLst>
            </p:cNvPr>
            <p:cNvSpPr/>
            <p:nvPr/>
          </p:nvSpPr>
          <p:spPr>
            <a:xfrm>
              <a:off x="5822426" y="2859294"/>
              <a:ext cx="3919799" cy="2262823"/>
            </a:xfrm>
            <a:custGeom>
              <a:avLst/>
              <a:gdLst>
                <a:gd name="connsiteX0" fmla="*/ 1773269 w 2246280"/>
                <a:gd name="connsiteY0" fmla="*/ 1023747 h 1296733"/>
                <a:gd name="connsiteX1" fmla="*/ 1816608 w 2246280"/>
                <a:gd name="connsiteY1" fmla="*/ 996696 h 1296733"/>
                <a:gd name="connsiteX2" fmla="*/ 1997107 w 2246280"/>
                <a:gd name="connsiteY2" fmla="*/ 1063276 h 1296733"/>
                <a:gd name="connsiteX3" fmla="*/ 2120075 w 2246280"/>
                <a:gd name="connsiteY3" fmla="*/ 956977 h 1296733"/>
                <a:gd name="connsiteX4" fmla="*/ 1944719 w 2246280"/>
                <a:gd name="connsiteY4" fmla="*/ 885920 h 1296733"/>
                <a:gd name="connsiteX5" fmla="*/ 1993297 w 2246280"/>
                <a:gd name="connsiteY5" fmla="*/ 817817 h 1296733"/>
                <a:gd name="connsiteX6" fmla="*/ 2203704 w 2246280"/>
                <a:gd name="connsiteY6" fmla="*/ 839629 h 1296733"/>
                <a:gd name="connsiteX7" fmla="*/ 2246281 w 2246280"/>
                <a:gd name="connsiteY7" fmla="*/ 713994 h 1296733"/>
                <a:gd name="connsiteX8" fmla="*/ 2037588 w 2246280"/>
                <a:gd name="connsiteY8" fmla="*/ 686943 h 1296733"/>
                <a:gd name="connsiteX9" fmla="*/ 2037207 w 2246280"/>
                <a:gd name="connsiteY9" fmla="*/ 613124 h 1296733"/>
                <a:gd name="connsiteX10" fmla="*/ 2245614 w 2246280"/>
                <a:gd name="connsiteY10" fmla="*/ 586835 h 1296733"/>
                <a:gd name="connsiteX11" fmla="*/ 2201704 w 2246280"/>
                <a:gd name="connsiteY11" fmla="*/ 461010 h 1296733"/>
                <a:gd name="connsiteX12" fmla="*/ 1991582 w 2246280"/>
                <a:gd name="connsiteY12" fmla="*/ 482060 h 1296733"/>
                <a:gd name="connsiteX13" fmla="*/ 1942243 w 2246280"/>
                <a:gd name="connsiteY13" fmla="*/ 413766 h 1296733"/>
                <a:gd name="connsiteX14" fmla="*/ 2116836 w 2246280"/>
                <a:gd name="connsiteY14" fmla="*/ 343376 h 1296733"/>
                <a:gd name="connsiteX15" fmla="*/ 1992725 w 2246280"/>
                <a:gd name="connsiteY15" fmla="*/ 236601 h 1296733"/>
                <a:gd name="connsiteX16" fmla="*/ 1812988 w 2246280"/>
                <a:gd name="connsiteY16" fmla="*/ 302514 h 1296733"/>
                <a:gd name="connsiteX17" fmla="*/ 1769364 w 2246280"/>
                <a:gd name="connsiteY17" fmla="*/ 275368 h 1296733"/>
                <a:gd name="connsiteX18" fmla="*/ 1722311 w 2246280"/>
                <a:gd name="connsiteY18" fmla="*/ 250222 h 1296733"/>
                <a:gd name="connsiteX19" fmla="*/ 1836515 w 2246280"/>
                <a:gd name="connsiteY19" fmla="*/ 146399 h 1296733"/>
                <a:gd name="connsiteX20" fmla="*/ 1651635 w 2246280"/>
                <a:gd name="connsiteY20" fmla="*/ 74771 h 1296733"/>
                <a:gd name="connsiteX21" fmla="*/ 1529715 w 2246280"/>
                <a:gd name="connsiteY21" fmla="*/ 175546 h 1296733"/>
                <a:gd name="connsiteX22" fmla="*/ 1411414 w 2246280"/>
                <a:gd name="connsiteY22" fmla="*/ 147066 h 1296733"/>
                <a:gd name="connsiteX23" fmla="*/ 1447895 w 2246280"/>
                <a:gd name="connsiteY23" fmla="*/ 25717 h 1296733"/>
                <a:gd name="connsiteX24" fmla="*/ 1229963 w 2246280"/>
                <a:gd name="connsiteY24" fmla="*/ 381 h 1296733"/>
                <a:gd name="connsiteX25" fmla="*/ 1184434 w 2246280"/>
                <a:gd name="connsiteY25" fmla="*/ 120682 h 1296733"/>
                <a:gd name="connsiteX26" fmla="*/ 1056608 w 2246280"/>
                <a:gd name="connsiteY26" fmla="*/ 120491 h 1296733"/>
                <a:gd name="connsiteX27" fmla="*/ 1009745 w 2246280"/>
                <a:gd name="connsiteY27" fmla="*/ 0 h 1296733"/>
                <a:gd name="connsiteX28" fmla="*/ 792099 w 2246280"/>
                <a:gd name="connsiteY28" fmla="*/ 24575 h 1296733"/>
                <a:gd name="connsiteX29" fmla="*/ 829913 w 2246280"/>
                <a:gd name="connsiteY29" fmla="*/ 146018 h 1296733"/>
                <a:gd name="connsiteX30" fmla="*/ 711899 w 2246280"/>
                <a:gd name="connsiteY30" fmla="*/ 174022 h 1296733"/>
                <a:gd name="connsiteX31" fmla="*/ 588931 w 2246280"/>
                <a:gd name="connsiteY31" fmla="*/ 72771 h 1296733"/>
                <a:gd name="connsiteX32" fmla="*/ 404812 w 2246280"/>
                <a:gd name="connsiteY32" fmla="*/ 143732 h 1296733"/>
                <a:gd name="connsiteX33" fmla="*/ 519779 w 2246280"/>
                <a:gd name="connsiteY33" fmla="*/ 248031 h 1296733"/>
                <a:gd name="connsiteX34" fmla="*/ 473011 w 2246280"/>
                <a:gd name="connsiteY34" fmla="*/ 272986 h 1296733"/>
                <a:gd name="connsiteX35" fmla="*/ 429673 w 2246280"/>
                <a:gd name="connsiteY35" fmla="*/ 300038 h 1296733"/>
                <a:gd name="connsiteX36" fmla="*/ 249174 w 2246280"/>
                <a:gd name="connsiteY36" fmla="*/ 233458 h 1296733"/>
                <a:gd name="connsiteX37" fmla="*/ 126206 w 2246280"/>
                <a:gd name="connsiteY37" fmla="*/ 339757 h 1296733"/>
                <a:gd name="connsiteX38" fmla="*/ 301561 w 2246280"/>
                <a:gd name="connsiteY38" fmla="*/ 410813 h 1296733"/>
                <a:gd name="connsiteX39" fmla="*/ 252984 w 2246280"/>
                <a:gd name="connsiteY39" fmla="*/ 478917 h 1296733"/>
                <a:gd name="connsiteX40" fmla="*/ 42577 w 2246280"/>
                <a:gd name="connsiteY40" fmla="*/ 457105 h 1296733"/>
                <a:gd name="connsiteX41" fmla="*/ 0 w 2246280"/>
                <a:gd name="connsiteY41" fmla="*/ 582739 h 1296733"/>
                <a:gd name="connsiteX42" fmla="*/ 208693 w 2246280"/>
                <a:gd name="connsiteY42" fmla="*/ 609791 h 1296733"/>
                <a:gd name="connsiteX43" fmla="*/ 209074 w 2246280"/>
                <a:gd name="connsiteY43" fmla="*/ 683609 h 1296733"/>
                <a:gd name="connsiteX44" fmla="*/ 667 w 2246280"/>
                <a:gd name="connsiteY44" fmla="*/ 709898 h 1296733"/>
                <a:gd name="connsiteX45" fmla="*/ 44577 w 2246280"/>
                <a:gd name="connsiteY45" fmla="*/ 835724 h 1296733"/>
                <a:gd name="connsiteX46" fmla="*/ 254698 w 2246280"/>
                <a:gd name="connsiteY46" fmla="*/ 814673 h 1296733"/>
                <a:gd name="connsiteX47" fmla="*/ 304038 w 2246280"/>
                <a:gd name="connsiteY47" fmla="*/ 882968 h 1296733"/>
                <a:gd name="connsiteX48" fmla="*/ 129445 w 2246280"/>
                <a:gd name="connsiteY48" fmla="*/ 953357 h 1296733"/>
                <a:gd name="connsiteX49" fmla="*/ 253556 w 2246280"/>
                <a:gd name="connsiteY49" fmla="*/ 1060133 h 1296733"/>
                <a:gd name="connsiteX50" fmla="*/ 433292 w 2246280"/>
                <a:gd name="connsiteY50" fmla="*/ 994220 h 1296733"/>
                <a:gd name="connsiteX51" fmla="*/ 476917 w 2246280"/>
                <a:gd name="connsiteY51" fmla="*/ 1021366 h 1296733"/>
                <a:gd name="connsiteX52" fmla="*/ 523970 w 2246280"/>
                <a:gd name="connsiteY52" fmla="*/ 1046512 h 1296733"/>
                <a:gd name="connsiteX53" fmla="*/ 409765 w 2246280"/>
                <a:gd name="connsiteY53" fmla="*/ 1150334 h 1296733"/>
                <a:gd name="connsiteX54" fmla="*/ 594646 w 2246280"/>
                <a:gd name="connsiteY54" fmla="*/ 1221962 h 1296733"/>
                <a:gd name="connsiteX55" fmla="*/ 716566 w 2246280"/>
                <a:gd name="connsiteY55" fmla="*/ 1121188 h 1296733"/>
                <a:gd name="connsiteX56" fmla="*/ 834866 w 2246280"/>
                <a:gd name="connsiteY56" fmla="*/ 1149668 h 1296733"/>
                <a:gd name="connsiteX57" fmla="*/ 798386 w 2246280"/>
                <a:gd name="connsiteY57" fmla="*/ 1271016 h 1296733"/>
                <a:gd name="connsiteX58" fmla="*/ 1016318 w 2246280"/>
                <a:gd name="connsiteY58" fmla="*/ 1296352 h 1296733"/>
                <a:gd name="connsiteX59" fmla="*/ 1061847 w 2246280"/>
                <a:gd name="connsiteY59" fmla="*/ 1176052 h 1296733"/>
                <a:gd name="connsiteX60" fmla="*/ 1189673 w 2246280"/>
                <a:gd name="connsiteY60" fmla="*/ 1176242 h 1296733"/>
                <a:gd name="connsiteX61" fmla="*/ 1236536 w 2246280"/>
                <a:gd name="connsiteY61" fmla="*/ 1296734 h 1296733"/>
                <a:gd name="connsiteX62" fmla="*/ 1454182 w 2246280"/>
                <a:gd name="connsiteY62" fmla="*/ 1272159 h 1296733"/>
                <a:gd name="connsiteX63" fmla="*/ 1416368 w 2246280"/>
                <a:gd name="connsiteY63" fmla="*/ 1150715 h 1296733"/>
                <a:gd name="connsiteX64" fmla="*/ 1534382 w 2246280"/>
                <a:gd name="connsiteY64" fmla="*/ 1122712 h 1296733"/>
                <a:gd name="connsiteX65" fmla="*/ 1657350 w 2246280"/>
                <a:gd name="connsiteY65" fmla="*/ 1223963 h 1296733"/>
                <a:gd name="connsiteX66" fmla="*/ 1841468 w 2246280"/>
                <a:gd name="connsiteY66" fmla="*/ 1153001 h 1296733"/>
                <a:gd name="connsiteX67" fmla="*/ 1726121 w 2246280"/>
                <a:gd name="connsiteY67" fmla="*/ 1048798 h 1296733"/>
                <a:gd name="connsiteX68" fmla="*/ 1773269 w 2246280"/>
                <a:gd name="connsiteY68" fmla="*/ 1023747 h 1296733"/>
                <a:gd name="connsiteX69" fmla="*/ 888206 w 2246280"/>
                <a:gd name="connsiteY69" fmla="*/ 784098 h 1296733"/>
                <a:gd name="connsiteX70" fmla="*/ 886778 w 2246280"/>
                <a:gd name="connsiteY70" fmla="*/ 511969 h 1296733"/>
                <a:gd name="connsiteX71" fmla="*/ 1358170 w 2246280"/>
                <a:gd name="connsiteY71" fmla="*/ 512826 h 1296733"/>
                <a:gd name="connsiteX72" fmla="*/ 1359599 w 2246280"/>
                <a:gd name="connsiteY72" fmla="*/ 784955 h 1296733"/>
                <a:gd name="connsiteX73" fmla="*/ 888206 w 2246280"/>
                <a:gd name="connsiteY73" fmla="*/ 784098 h 1296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246280" h="1296733">
                  <a:moveTo>
                    <a:pt x="1773269" y="1023747"/>
                  </a:moveTo>
                  <a:cubicBezTo>
                    <a:pt x="1788414" y="1014984"/>
                    <a:pt x="1802702" y="1005935"/>
                    <a:pt x="1816608" y="996696"/>
                  </a:cubicBezTo>
                  <a:lnTo>
                    <a:pt x="1997107" y="1063276"/>
                  </a:lnTo>
                  <a:cubicBezTo>
                    <a:pt x="2044827" y="1029748"/>
                    <a:pt x="2085785" y="994124"/>
                    <a:pt x="2120075" y="956977"/>
                  </a:cubicBezTo>
                  <a:lnTo>
                    <a:pt x="1944719" y="885920"/>
                  </a:lnTo>
                  <a:cubicBezTo>
                    <a:pt x="1963769" y="863727"/>
                    <a:pt x="1979962" y="840962"/>
                    <a:pt x="1993297" y="817817"/>
                  </a:cubicBezTo>
                  <a:lnTo>
                    <a:pt x="2203704" y="839629"/>
                  </a:lnTo>
                  <a:cubicBezTo>
                    <a:pt x="2225040" y="798481"/>
                    <a:pt x="2239328" y="756380"/>
                    <a:pt x="2246281" y="713994"/>
                  </a:cubicBezTo>
                  <a:lnTo>
                    <a:pt x="2037588" y="686943"/>
                  </a:lnTo>
                  <a:cubicBezTo>
                    <a:pt x="2040446" y="662368"/>
                    <a:pt x="2040255" y="637699"/>
                    <a:pt x="2037207" y="613124"/>
                  </a:cubicBezTo>
                  <a:lnTo>
                    <a:pt x="2245614" y="586835"/>
                  </a:lnTo>
                  <a:cubicBezTo>
                    <a:pt x="2238185" y="544354"/>
                    <a:pt x="2223516" y="502158"/>
                    <a:pt x="2201704" y="461010"/>
                  </a:cubicBezTo>
                  <a:lnTo>
                    <a:pt x="1991582" y="482060"/>
                  </a:lnTo>
                  <a:cubicBezTo>
                    <a:pt x="1978057" y="458819"/>
                    <a:pt x="1961579" y="435959"/>
                    <a:pt x="1942243" y="413766"/>
                  </a:cubicBezTo>
                  <a:lnTo>
                    <a:pt x="2116836" y="343376"/>
                  </a:lnTo>
                  <a:cubicBezTo>
                    <a:pt x="2082165" y="306038"/>
                    <a:pt x="2040827" y="270319"/>
                    <a:pt x="1992725" y="236601"/>
                  </a:cubicBezTo>
                  <a:lnTo>
                    <a:pt x="1812988" y="302514"/>
                  </a:lnTo>
                  <a:cubicBezTo>
                    <a:pt x="1798987" y="293275"/>
                    <a:pt x="1784604" y="284131"/>
                    <a:pt x="1769364" y="275368"/>
                  </a:cubicBezTo>
                  <a:cubicBezTo>
                    <a:pt x="1754124" y="266605"/>
                    <a:pt x="1738312" y="258223"/>
                    <a:pt x="1722311" y="250222"/>
                  </a:cubicBezTo>
                  <a:lnTo>
                    <a:pt x="1836515" y="146399"/>
                  </a:lnTo>
                  <a:cubicBezTo>
                    <a:pt x="1778222" y="118681"/>
                    <a:pt x="1716214" y="94774"/>
                    <a:pt x="1651635" y="74771"/>
                  </a:cubicBezTo>
                  <a:lnTo>
                    <a:pt x="1529715" y="175546"/>
                  </a:lnTo>
                  <a:cubicBezTo>
                    <a:pt x="1491234" y="164401"/>
                    <a:pt x="1451705" y="154876"/>
                    <a:pt x="1411414" y="147066"/>
                  </a:cubicBezTo>
                  <a:lnTo>
                    <a:pt x="1447895" y="25717"/>
                  </a:lnTo>
                  <a:cubicBezTo>
                    <a:pt x="1376553" y="13144"/>
                    <a:pt x="1303591" y="4667"/>
                    <a:pt x="1229963" y="381"/>
                  </a:cubicBezTo>
                  <a:lnTo>
                    <a:pt x="1184434" y="120682"/>
                  </a:lnTo>
                  <a:cubicBezTo>
                    <a:pt x="1141857" y="118872"/>
                    <a:pt x="1099185" y="118777"/>
                    <a:pt x="1056608" y="120491"/>
                  </a:cubicBezTo>
                  <a:lnTo>
                    <a:pt x="1009745" y="0"/>
                  </a:lnTo>
                  <a:cubicBezTo>
                    <a:pt x="936212" y="4000"/>
                    <a:pt x="863251" y="12192"/>
                    <a:pt x="792099" y="24575"/>
                  </a:cubicBezTo>
                  <a:lnTo>
                    <a:pt x="829913" y="146018"/>
                  </a:lnTo>
                  <a:cubicBezTo>
                    <a:pt x="789718" y="153734"/>
                    <a:pt x="750284" y="163068"/>
                    <a:pt x="711899" y="174022"/>
                  </a:cubicBezTo>
                  <a:lnTo>
                    <a:pt x="588931" y="72771"/>
                  </a:lnTo>
                  <a:cubicBezTo>
                    <a:pt x="524542" y="92583"/>
                    <a:pt x="462820" y="116205"/>
                    <a:pt x="404812" y="143732"/>
                  </a:cubicBezTo>
                  <a:lnTo>
                    <a:pt x="519779" y="248031"/>
                  </a:lnTo>
                  <a:cubicBezTo>
                    <a:pt x="503873" y="256032"/>
                    <a:pt x="488156" y="264319"/>
                    <a:pt x="473011" y="272986"/>
                  </a:cubicBezTo>
                  <a:cubicBezTo>
                    <a:pt x="457867" y="281750"/>
                    <a:pt x="443579" y="290798"/>
                    <a:pt x="429673" y="300038"/>
                  </a:cubicBezTo>
                  <a:lnTo>
                    <a:pt x="249174" y="233458"/>
                  </a:lnTo>
                  <a:cubicBezTo>
                    <a:pt x="201454" y="266986"/>
                    <a:pt x="160496" y="302609"/>
                    <a:pt x="126206" y="339757"/>
                  </a:cubicBezTo>
                  <a:lnTo>
                    <a:pt x="301561" y="410813"/>
                  </a:lnTo>
                  <a:cubicBezTo>
                    <a:pt x="282511" y="433007"/>
                    <a:pt x="266319" y="455771"/>
                    <a:pt x="252984" y="478917"/>
                  </a:cubicBezTo>
                  <a:lnTo>
                    <a:pt x="42577" y="457105"/>
                  </a:lnTo>
                  <a:cubicBezTo>
                    <a:pt x="21241" y="498253"/>
                    <a:pt x="6953" y="540353"/>
                    <a:pt x="0" y="582739"/>
                  </a:cubicBezTo>
                  <a:lnTo>
                    <a:pt x="208693" y="609791"/>
                  </a:lnTo>
                  <a:cubicBezTo>
                    <a:pt x="205835" y="634365"/>
                    <a:pt x="206026" y="659035"/>
                    <a:pt x="209074" y="683609"/>
                  </a:cubicBezTo>
                  <a:lnTo>
                    <a:pt x="667" y="709898"/>
                  </a:lnTo>
                  <a:cubicBezTo>
                    <a:pt x="8096" y="752380"/>
                    <a:pt x="22765" y="794576"/>
                    <a:pt x="44577" y="835724"/>
                  </a:cubicBezTo>
                  <a:lnTo>
                    <a:pt x="254698" y="814673"/>
                  </a:lnTo>
                  <a:cubicBezTo>
                    <a:pt x="268224" y="837914"/>
                    <a:pt x="284702" y="860774"/>
                    <a:pt x="304038" y="882968"/>
                  </a:cubicBezTo>
                  <a:lnTo>
                    <a:pt x="129445" y="953357"/>
                  </a:lnTo>
                  <a:cubicBezTo>
                    <a:pt x="164116" y="990695"/>
                    <a:pt x="205454" y="1026414"/>
                    <a:pt x="253556" y="1060133"/>
                  </a:cubicBezTo>
                  <a:lnTo>
                    <a:pt x="433292" y="994220"/>
                  </a:lnTo>
                  <a:cubicBezTo>
                    <a:pt x="447294" y="1003459"/>
                    <a:pt x="461677" y="1012603"/>
                    <a:pt x="476917" y="1021366"/>
                  </a:cubicBezTo>
                  <a:cubicBezTo>
                    <a:pt x="492157" y="1030129"/>
                    <a:pt x="507968" y="1038511"/>
                    <a:pt x="523970" y="1046512"/>
                  </a:cubicBezTo>
                  <a:lnTo>
                    <a:pt x="409765" y="1150334"/>
                  </a:lnTo>
                  <a:cubicBezTo>
                    <a:pt x="468059" y="1178052"/>
                    <a:pt x="530066" y="1201960"/>
                    <a:pt x="594646" y="1221962"/>
                  </a:cubicBezTo>
                  <a:lnTo>
                    <a:pt x="716566" y="1121188"/>
                  </a:lnTo>
                  <a:cubicBezTo>
                    <a:pt x="755047" y="1132332"/>
                    <a:pt x="794576" y="1141857"/>
                    <a:pt x="834866" y="1149668"/>
                  </a:cubicBezTo>
                  <a:lnTo>
                    <a:pt x="798386" y="1271016"/>
                  </a:lnTo>
                  <a:cubicBezTo>
                    <a:pt x="869728" y="1283589"/>
                    <a:pt x="942689" y="1292066"/>
                    <a:pt x="1016318" y="1296352"/>
                  </a:cubicBezTo>
                  <a:lnTo>
                    <a:pt x="1061847" y="1176052"/>
                  </a:lnTo>
                  <a:cubicBezTo>
                    <a:pt x="1104424" y="1177862"/>
                    <a:pt x="1147096" y="1177957"/>
                    <a:pt x="1189673" y="1176242"/>
                  </a:cubicBezTo>
                  <a:lnTo>
                    <a:pt x="1236536" y="1296734"/>
                  </a:lnTo>
                  <a:cubicBezTo>
                    <a:pt x="1310069" y="1292733"/>
                    <a:pt x="1383030" y="1284542"/>
                    <a:pt x="1454182" y="1272159"/>
                  </a:cubicBezTo>
                  <a:lnTo>
                    <a:pt x="1416368" y="1150715"/>
                  </a:lnTo>
                  <a:cubicBezTo>
                    <a:pt x="1456563" y="1143000"/>
                    <a:pt x="1495996" y="1133666"/>
                    <a:pt x="1534382" y="1122712"/>
                  </a:cubicBezTo>
                  <a:lnTo>
                    <a:pt x="1657350" y="1223963"/>
                  </a:lnTo>
                  <a:cubicBezTo>
                    <a:pt x="1721739" y="1204151"/>
                    <a:pt x="1783461" y="1180529"/>
                    <a:pt x="1841468" y="1153001"/>
                  </a:cubicBezTo>
                  <a:lnTo>
                    <a:pt x="1726121" y="1048798"/>
                  </a:lnTo>
                  <a:cubicBezTo>
                    <a:pt x="1742408" y="1040701"/>
                    <a:pt x="1758125" y="1032510"/>
                    <a:pt x="1773269" y="1023747"/>
                  </a:cubicBezTo>
                  <a:close/>
                  <a:moveTo>
                    <a:pt x="888206" y="784098"/>
                  </a:moveTo>
                  <a:cubicBezTo>
                    <a:pt x="757619" y="708755"/>
                    <a:pt x="756952" y="586835"/>
                    <a:pt x="886778" y="511969"/>
                  </a:cubicBezTo>
                  <a:cubicBezTo>
                    <a:pt x="1016508" y="437007"/>
                    <a:pt x="1227582" y="437388"/>
                    <a:pt x="1358170" y="512826"/>
                  </a:cubicBezTo>
                  <a:cubicBezTo>
                    <a:pt x="1488758" y="588264"/>
                    <a:pt x="1489424" y="710089"/>
                    <a:pt x="1359599" y="784955"/>
                  </a:cubicBezTo>
                  <a:cubicBezTo>
                    <a:pt x="1229773" y="859822"/>
                    <a:pt x="1018794" y="859441"/>
                    <a:pt x="888206" y="784098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3500000" scaled="1"/>
              <a:tileRect/>
            </a:gradFill>
            <a:ln>
              <a:noFill/>
            </a:ln>
            <a:effectLst>
              <a:outerShdw blurRad="635000" dist="5715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48" name="Freeform: Shape 21">
              <a:extLst>
                <a:ext uri="{FF2B5EF4-FFF2-40B4-BE49-F238E27FC236}">
                  <a16:creationId xmlns:a16="http://schemas.microsoft.com/office/drawing/2014/main" id="{98D3632B-08F1-A64D-8297-6A86931A6488}"/>
                </a:ext>
              </a:extLst>
            </p:cNvPr>
            <p:cNvSpPr/>
            <p:nvPr/>
          </p:nvSpPr>
          <p:spPr>
            <a:xfrm>
              <a:off x="7200768" y="3654975"/>
              <a:ext cx="1163091" cy="441774"/>
            </a:xfrm>
            <a:custGeom>
              <a:avLst/>
              <a:gdLst>
                <a:gd name="connsiteX0" fmla="*/ 568202 w 666521"/>
                <a:gd name="connsiteY0" fmla="*/ 56758 h 253163"/>
                <a:gd name="connsiteX1" fmla="*/ 96810 w 666521"/>
                <a:gd name="connsiteY1" fmla="*/ 55901 h 253163"/>
                <a:gd name="connsiteX2" fmla="*/ 16324 w 666521"/>
                <a:gd name="connsiteY2" fmla="*/ 250877 h 253163"/>
                <a:gd name="connsiteX3" fmla="*/ 96810 w 666521"/>
                <a:gd name="connsiteY3" fmla="*/ 175154 h 253163"/>
                <a:gd name="connsiteX4" fmla="*/ 568202 w 666521"/>
                <a:gd name="connsiteY4" fmla="*/ 176011 h 253163"/>
                <a:gd name="connsiteX5" fmla="*/ 650117 w 666521"/>
                <a:gd name="connsiteY5" fmla="*/ 253164 h 253163"/>
                <a:gd name="connsiteX6" fmla="*/ 568202 w 666521"/>
                <a:gd name="connsiteY6" fmla="*/ 56758 h 253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6521" h="253163">
                  <a:moveTo>
                    <a:pt x="568202" y="56758"/>
                  </a:moveTo>
                  <a:cubicBezTo>
                    <a:pt x="437614" y="-18585"/>
                    <a:pt x="226540" y="-18966"/>
                    <a:pt x="96810" y="55901"/>
                  </a:cubicBezTo>
                  <a:cubicBezTo>
                    <a:pt x="5656" y="108479"/>
                    <a:pt x="-21014" y="184298"/>
                    <a:pt x="16324" y="250877"/>
                  </a:cubicBezTo>
                  <a:cubicBezTo>
                    <a:pt x="31945" y="223160"/>
                    <a:pt x="58710" y="197156"/>
                    <a:pt x="96810" y="175154"/>
                  </a:cubicBezTo>
                  <a:cubicBezTo>
                    <a:pt x="226540" y="100192"/>
                    <a:pt x="437614" y="100573"/>
                    <a:pt x="568202" y="176011"/>
                  </a:cubicBezTo>
                  <a:cubicBezTo>
                    <a:pt x="607064" y="198490"/>
                    <a:pt x="634306" y="224970"/>
                    <a:pt x="650117" y="253164"/>
                  </a:cubicBezTo>
                  <a:cubicBezTo>
                    <a:pt x="687836" y="186489"/>
                    <a:pt x="660499" y="110003"/>
                    <a:pt x="568202" y="56758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49" name="Freeform: Shape 22">
              <a:extLst>
                <a:ext uri="{FF2B5EF4-FFF2-40B4-BE49-F238E27FC236}">
                  <a16:creationId xmlns:a16="http://schemas.microsoft.com/office/drawing/2014/main" id="{26772981-131A-5DE5-EBBF-2D9BB483A0D7}"/>
                </a:ext>
              </a:extLst>
            </p:cNvPr>
            <p:cNvSpPr/>
            <p:nvPr/>
          </p:nvSpPr>
          <p:spPr>
            <a:xfrm>
              <a:off x="6386297" y="3167948"/>
              <a:ext cx="2792058" cy="1612105"/>
            </a:xfrm>
            <a:custGeom>
              <a:avLst/>
              <a:gdLst>
                <a:gd name="connsiteX0" fmla="*/ 1363936 w 1600017"/>
                <a:gd name="connsiteY0" fmla="*/ 136305 h 923833"/>
                <a:gd name="connsiteX1" fmla="*/ 232557 w 1600017"/>
                <a:gd name="connsiteY1" fmla="*/ 134305 h 923833"/>
                <a:gd name="connsiteX2" fmla="*/ 236081 w 1600017"/>
                <a:gd name="connsiteY2" fmla="*/ 787529 h 923833"/>
                <a:gd name="connsiteX3" fmla="*/ 1367461 w 1600017"/>
                <a:gd name="connsiteY3" fmla="*/ 789529 h 923833"/>
                <a:gd name="connsiteX4" fmla="*/ 1363936 w 1600017"/>
                <a:gd name="connsiteY4" fmla="*/ 136305 h 923833"/>
                <a:gd name="connsiteX5" fmla="*/ 353620 w 1600017"/>
                <a:gd name="connsiteY5" fmla="*/ 719616 h 923833"/>
                <a:gd name="connsiteX6" fmla="*/ 350857 w 1600017"/>
                <a:gd name="connsiteY6" fmla="*/ 202504 h 923833"/>
                <a:gd name="connsiteX7" fmla="*/ 1246493 w 1600017"/>
                <a:gd name="connsiteY7" fmla="*/ 204123 h 923833"/>
                <a:gd name="connsiteX8" fmla="*/ 1249255 w 1600017"/>
                <a:gd name="connsiteY8" fmla="*/ 721235 h 923833"/>
                <a:gd name="connsiteX9" fmla="*/ 353620 w 1600017"/>
                <a:gd name="connsiteY9" fmla="*/ 719616 h 923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0017" h="923833">
                  <a:moveTo>
                    <a:pt x="1363936" y="136305"/>
                  </a:moveTo>
                  <a:cubicBezTo>
                    <a:pt x="1050564" y="-44670"/>
                    <a:pt x="544024" y="-45527"/>
                    <a:pt x="232557" y="134305"/>
                  </a:cubicBezTo>
                  <a:cubicBezTo>
                    <a:pt x="-78911" y="314137"/>
                    <a:pt x="-77291" y="606554"/>
                    <a:pt x="236081" y="787529"/>
                  </a:cubicBezTo>
                  <a:cubicBezTo>
                    <a:pt x="549454" y="968504"/>
                    <a:pt x="1055993" y="969361"/>
                    <a:pt x="1367461" y="789529"/>
                  </a:cubicBezTo>
                  <a:cubicBezTo>
                    <a:pt x="1678928" y="609697"/>
                    <a:pt x="1677309" y="317280"/>
                    <a:pt x="1363936" y="136305"/>
                  </a:cubicBezTo>
                  <a:close/>
                  <a:moveTo>
                    <a:pt x="353620" y="719616"/>
                  </a:moveTo>
                  <a:cubicBezTo>
                    <a:pt x="105493" y="576360"/>
                    <a:pt x="104255" y="344902"/>
                    <a:pt x="350857" y="202504"/>
                  </a:cubicBezTo>
                  <a:cubicBezTo>
                    <a:pt x="597364" y="60200"/>
                    <a:pt x="998367" y="60867"/>
                    <a:pt x="1246493" y="204123"/>
                  </a:cubicBezTo>
                  <a:cubicBezTo>
                    <a:pt x="1494619" y="347379"/>
                    <a:pt x="1495858" y="578836"/>
                    <a:pt x="1249255" y="721235"/>
                  </a:cubicBezTo>
                  <a:cubicBezTo>
                    <a:pt x="1002653" y="863634"/>
                    <a:pt x="601651" y="862872"/>
                    <a:pt x="353620" y="71961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/>
            </a:p>
          </p:txBody>
        </p:sp>
        <p:sp>
          <p:nvSpPr>
            <p:cNvPr id="50" name="Freeform: Shape 25">
              <a:extLst>
                <a:ext uri="{FF2B5EF4-FFF2-40B4-BE49-F238E27FC236}">
                  <a16:creationId xmlns:a16="http://schemas.microsoft.com/office/drawing/2014/main" id="{553E2AC7-8D90-24C4-1FB1-A2D1A3F258EF}"/>
                </a:ext>
              </a:extLst>
            </p:cNvPr>
            <p:cNvSpPr/>
            <p:nvPr/>
          </p:nvSpPr>
          <p:spPr>
            <a:xfrm>
              <a:off x="6909786" y="3487057"/>
              <a:ext cx="1745014" cy="1007462"/>
            </a:xfrm>
            <a:custGeom>
              <a:avLst/>
              <a:gdLst>
                <a:gd name="connsiteX0" fmla="*/ 852490 w 999998"/>
                <a:gd name="connsiteY0" fmla="*/ 85167 h 577336"/>
                <a:gd name="connsiteX1" fmla="*/ 145354 w 999998"/>
                <a:gd name="connsiteY1" fmla="*/ 83929 h 577336"/>
                <a:gd name="connsiteX2" fmla="*/ 147545 w 999998"/>
                <a:gd name="connsiteY2" fmla="*/ 492170 h 577336"/>
                <a:gd name="connsiteX3" fmla="*/ 854681 w 999998"/>
                <a:gd name="connsiteY3" fmla="*/ 493408 h 577336"/>
                <a:gd name="connsiteX4" fmla="*/ 852490 w 999998"/>
                <a:gd name="connsiteY4" fmla="*/ 85167 h 577336"/>
                <a:gd name="connsiteX5" fmla="*/ 736476 w 999998"/>
                <a:gd name="connsiteY5" fmla="*/ 425209 h 577336"/>
                <a:gd name="connsiteX6" fmla="*/ 265083 w 999998"/>
                <a:gd name="connsiteY6" fmla="*/ 424352 h 577336"/>
                <a:gd name="connsiteX7" fmla="*/ 263559 w 999998"/>
                <a:gd name="connsiteY7" fmla="*/ 152223 h 577336"/>
                <a:gd name="connsiteX8" fmla="*/ 734952 w 999998"/>
                <a:gd name="connsiteY8" fmla="*/ 153080 h 577336"/>
                <a:gd name="connsiteX9" fmla="*/ 736476 w 999998"/>
                <a:gd name="connsiteY9" fmla="*/ 425209 h 57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99998" h="577336">
                  <a:moveTo>
                    <a:pt x="852490" y="85167"/>
                  </a:moveTo>
                  <a:cubicBezTo>
                    <a:pt x="656656" y="-27895"/>
                    <a:pt x="340045" y="-28466"/>
                    <a:pt x="145354" y="83929"/>
                  </a:cubicBezTo>
                  <a:cubicBezTo>
                    <a:pt x="-49337" y="196324"/>
                    <a:pt x="-48289" y="379108"/>
                    <a:pt x="147545" y="492170"/>
                  </a:cubicBezTo>
                  <a:cubicBezTo>
                    <a:pt x="343379" y="605232"/>
                    <a:pt x="659990" y="605803"/>
                    <a:pt x="854681" y="493408"/>
                  </a:cubicBezTo>
                  <a:cubicBezTo>
                    <a:pt x="1049277" y="381013"/>
                    <a:pt x="1048324" y="198229"/>
                    <a:pt x="852490" y="85167"/>
                  </a:cubicBezTo>
                  <a:close/>
                  <a:moveTo>
                    <a:pt x="736476" y="425209"/>
                  </a:moveTo>
                  <a:cubicBezTo>
                    <a:pt x="606745" y="500171"/>
                    <a:pt x="395671" y="499790"/>
                    <a:pt x="265083" y="424352"/>
                  </a:cubicBezTo>
                  <a:cubicBezTo>
                    <a:pt x="134496" y="348914"/>
                    <a:pt x="133829" y="227089"/>
                    <a:pt x="263559" y="152223"/>
                  </a:cubicBezTo>
                  <a:cubicBezTo>
                    <a:pt x="393290" y="77261"/>
                    <a:pt x="604364" y="77642"/>
                    <a:pt x="734952" y="153080"/>
                  </a:cubicBezTo>
                  <a:cubicBezTo>
                    <a:pt x="865539" y="228423"/>
                    <a:pt x="866206" y="350247"/>
                    <a:pt x="736476" y="425209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27">
              <a:extLst>
                <a:ext uri="{FF2B5EF4-FFF2-40B4-BE49-F238E27FC236}">
                  <a16:creationId xmlns:a16="http://schemas.microsoft.com/office/drawing/2014/main" id="{2EAD85B8-63FB-AA07-2747-D419D07A7383}"/>
                </a:ext>
              </a:extLst>
            </p:cNvPr>
            <p:cNvSpPr/>
            <p:nvPr/>
          </p:nvSpPr>
          <p:spPr>
            <a:xfrm>
              <a:off x="6677159" y="3359256"/>
              <a:ext cx="2210268" cy="1276106"/>
            </a:xfrm>
            <a:custGeom>
              <a:avLst/>
              <a:gdLst>
                <a:gd name="connsiteX0" fmla="*/ 1079709 w 1266616"/>
                <a:gd name="connsiteY0" fmla="*/ 107896 h 731285"/>
                <a:gd name="connsiteX1" fmla="*/ 184074 w 1266616"/>
                <a:gd name="connsiteY1" fmla="*/ 106277 h 731285"/>
                <a:gd name="connsiteX2" fmla="*/ 186836 w 1266616"/>
                <a:gd name="connsiteY2" fmla="*/ 623389 h 731285"/>
                <a:gd name="connsiteX3" fmla="*/ 1082472 w 1266616"/>
                <a:gd name="connsiteY3" fmla="*/ 625008 h 731285"/>
                <a:gd name="connsiteX4" fmla="*/ 1079709 w 1266616"/>
                <a:gd name="connsiteY4" fmla="*/ 107896 h 731285"/>
                <a:gd name="connsiteX5" fmla="*/ 280848 w 1266616"/>
                <a:gd name="connsiteY5" fmla="*/ 569192 h 731285"/>
                <a:gd name="connsiteX6" fmla="*/ 278657 w 1266616"/>
                <a:gd name="connsiteY6" fmla="*/ 160950 h 731285"/>
                <a:gd name="connsiteX7" fmla="*/ 985793 w 1266616"/>
                <a:gd name="connsiteY7" fmla="*/ 162189 h 731285"/>
                <a:gd name="connsiteX8" fmla="*/ 987984 w 1266616"/>
                <a:gd name="connsiteY8" fmla="*/ 570430 h 731285"/>
                <a:gd name="connsiteX9" fmla="*/ 280848 w 1266616"/>
                <a:gd name="connsiteY9" fmla="*/ 569192 h 731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6616" h="731285">
                  <a:moveTo>
                    <a:pt x="1079709" y="107896"/>
                  </a:moveTo>
                  <a:cubicBezTo>
                    <a:pt x="831583" y="-35360"/>
                    <a:pt x="430581" y="-36027"/>
                    <a:pt x="184074" y="106277"/>
                  </a:cubicBezTo>
                  <a:cubicBezTo>
                    <a:pt x="-62433" y="248580"/>
                    <a:pt x="-61195" y="480133"/>
                    <a:pt x="186836" y="623389"/>
                  </a:cubicBezTo>
                  <a:cubicBezTo>
                    <a:pt x="434867" y="766645"/>
                    <a:pt x="835965" y="767312"/>
                    <a:pt x="1082472" y="625008"/>
                  </a:cubicBezTo>
                  <a:cubicBezTo>
                    <a:pt x="1329074" y="482705"/>
                    <a:pt x="1327836" y="251152"/>
                    <a:pt x="1079709" y="107896"/>
                  </a:cubicBezTo>
                  <a:close/>
                  <a:moveTo>
                    <a:pt x="280848" y="569192"/>
                  </a:moveTo>
                  <a:cubicBezTo>
                    <a:pt x="85014" y="456130"/>
                    <a:pt x="83966" y="273345"/>
                    <a:pt x="278657" y="160950"/>
                  </a:cubicBezTo>
                  <a:cubicBezTo>
                    <a:pt x="473348" y="48555"/>
                    <a:pt x="789864" y="49127"/>
                    <a:pt x="985793" y="162189"/>
                  </a:cubicBezTo>
                  <a:cubicBezTo>
                    <a:pt x="1181627" y="275250"/>
                    <a:pt x="1182675" y="458035"/>
                    <a:pt x="987984" y="570430"/>
                  </a:cubicBezTo>
                  <a:cubicBezTo>
                    <a:pt x="793293" y="682825"/>
                    <a:pt x="476777" y="682254"/>
                    <a:pt x="280848" y="569192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3500000" scaled="1"/>
              <a:tileRect/>
            </a:gradFill>
            <a:ln>
              <a:noFill/>
            </a:ln>
            <a:effectLst>
              <a:outerShdw blurRad="635000" dist="5715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ID"/>
            </a:p>
          </p:txBody>
        </p:sp>
      </p:grpSp>
      <p:grpSp>
        <p:nvGrpSpPr>
          <p:cNvPr id="52" name="Group 122">
            <a:extLst>
              <a:ext uri="{FF2B5EF4-FFF2-40B4-BE49-F238E27FC236}">
                <a16:creationId xmlns:a16="http://schemas.microsoft.com/office/drawing/2014/main" id="{2B8A671B-9E31-616B-89A7-234D82EE1734}"/>
              </a:ext>
            </a:extLst>
          </p:cNvPr>
          <p:cNvGrpSpPr/>
          <p:nvPr/>
        </p:nvGrpSpPr>
        <p:grpSpPr>
          <a:xfrm>
            <a:off x="3558595" y="3625298"/>
            <a:ext cx="2133841" cy="1406075"/>
            <a:chOff x="1546243" y="1652935"/>
            <a:chExt cx="2385949" cy="1572199"/>
          </a:xfrm>
        </p:grpSpPr>
        <p:sp>
          <p:nvSpPr>
            <p:cNvPr id="53" name="Freeform: Shape 4">
              <a:extLst>
                <a:ext uri="{FF2B5EF4-FFF2-40B4-BE49-F238E27FC236}">
                  <a16:creationId xmlns:a16="http://schemas.microsoft.com/office/drawing/2014/main" id="{90A170BA-2BF5-DB6C-70D0-63051A095B7F}"/>
                </a:ext>
              </a:extLst>
            </p:cNvPr>
            <p:cNvSpPr/>
            <p:nvPr/>
          </p:nvSpPr>
          <p:spPr>
            <a:xfrm>
              <a:off x="1961610" y="2187628"/>
              <a:ext cx="1565061" cy="866300"/>
            </a:xfrm>
            <a:custGeom>
              <a:avLst/>
              <a:gdLst>
                <a:gd name="connsiteX0" fmla="*/ 896874 w 896874"/>
                <a:gd name="connsiteY0" fmla="*/ 248222 h 496442"/>
                <a:gd name="connsiteX1" fmla="*/ 448437 w 896874"/>
                <a:gd name="connsiteY1" fmla="*/ 496443 h 496442"/>
                <a:gd name="connsiteX2" fmla="*/ 0 w 896874"/>
                <a:gd name="connsiteY2" fmla="*/ 248222 h 496442"/>
                <a:gd name="connsiteX3" fmla="*/ 448437 w 896874"/>
                <a:gd name="connsiteY3" fmla="*/ 0 h 496442"/>
                <a:gd name="connsiteX4" fmla="*/ 896874 w 896874"/>
                <a:gd name="connsiteY4" fmla="*/ 248222 h 496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6874" h="496442">
                  <a:moveTo>
                    <a:pt x="896874" y="248222"/>
                  </a:moveTo>
                  <a:cubicBezTo>
                    <a:pt x="896874" y="385310"/>
                    <a:pt x="696102" y="496443"/>
                    <a:pt x="448437" y="496443"/>
                  </a:cubicBezTo>
                  <a:cubicBezTo>
                    <a:pt x="200772" y="496443"/>
                    <a:pt x="0" y="385310"/>
                    <a:pt x="0" y="248222"/>
                  </a:cubicBezTo>
                  <a:cubicBezTo>
                    <a:pt x="0" y="111133"/>
                    <a:pt x="200772" y="0"/>
                    <a:pt x="448437" y="0"/>
                  </a:cubicBezTo>
                  <a:cubicBezTo>
                    <a:pt x="696102" y="0"/>
                    <a:pt x="896874" y="111133"/>
                    <a:pt x="896874" y="24822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1206500" dist="876300" dir="8100000" sx="95000" sy="95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54" name="Freeform: Shape 5">
              <a:extLst>
                <a:ext uri="{FF2B5EF4-FFF2-40B4-BE49-F238E27FC236}">
                  <a16:creationId xmlns:a16="http://schemas.microsoft.com/office/drawing/2014/main" id="{ADCAD594-7D98-78C7-4AA0-3A681C5DC9AC}"/>
                </a:ext>
              </a:extLst>
            </p:cNvPr>
            <p:cNvSpPr/>
            <p:nvPr/>
          </p:nvSpPr>
          <p:spPr>
            <a:xfrm>
              <a:off x="1546243" y="2327081"/>
              <a:ext cx="2385476" cy="898053"/>
            </a:xfrm>
            <a:custGeom>
              <a:avLst/>
              <a:gdLst>
                <a:gd name="connsiteX0" fmla="*/ 1360646 w 1367021"/>
                <a:gd name="connsiteY0" fmla="*/ 65532 h 514638"/>
                <a:gd name="connsiteX1" fmla="*/ 1360646 w 1367021"/>
                <a:gd name="connsiteY1" fmla="*/ 65532 h 514638"/>
                <a:gd name="connsiteX2" fmla="*/ 1360646 w 1367021"/>
                <a:gd name="connsiteY2" fmla="*/ 68104 h 514638"/>
                <a:gd name="connsiteX3" fmla="*/ 1360075 w 1367021"/>
                <a:gd name="connsiteY3" fmla="*/ 65532 h 514638"/>
                <a:gd name="connsiteX4" fmla="*/ 1202436 w 1367021"/>
                <a:gd name="connsiteY4" fmla="*/ 67818 h 514638"/>
                <a:gd name="connsiteX5" fmla="*/ 1183862 w 1367021"/>
                <a:gd name="connsiteY5" fmla="*/ 107156 h 514638"/>
                <a:gd name="connsiteX6" fmla="*/ 1319403 w 1367021"/>
                <a:gd name="connsiteY6" fmla="*/ 155543 h 514638"/>
                <a:gd name="connsiteX7" fmla="*/ 1222248 w 1367021"/>
                <a:gd name="connsiteY7" fmla="*/ 252793 h 514638"/>
                <a:gd name="connsiteX8" fmla="*/ 1082326 w 1367021"/>
                <a:gd name="connsiteY8" fmla="*/ 208978 h 514638"/>
                <a:gd name="connsiteX9" fmla="*/ 1058704 w 1367021"/>
                <a:gd name="connsiteY9" fmla="*/ 224028 h 514638"/>
                <a:gd name="connsiteX10" fmla="*/ 1032605 w 1367021"/>
                <a:gd name="connsiteY10" fmla="*/ 237649 h 514638"/>
                <a:gd name="connsiteX11" fmla="*/ 1108424 w 1367021"/>
                <a:gd name="connsiteY11" fmla="*/ 318421 h 514638"/>
                <a:gd name="connsiteX12" fmla="*/ 939927 w 1367021"/>
                <a:gd name="connsiteY12" fmla="*/ 374523 h 514638"/>
                <a:gd name="connsiteX13" fmla="*/ 856202 w 1367021"/>
                <a:gd name="connsiteY13" fmla="*/ 296323 h 514638"/>
                <a:gd name="connsiteX14" fmla="*/ 788099 w 1367021"/>
                <a:gd name="connsiteY14" fmla="*/ 306991 h 514638"/>
                <a:gd name="connsiteX15" fmla="*/ 784098 w 1367021"/>
                <a:gd name="connsiteY15" fmla="*/ 398335 h 514638"/>
                <a:gd name="connsiteX16" fmla="*/ 589026 w 1367021"/>
                <a:gd name="connsiteY16" fmla="*/ 397954 h 514638"/>
                <a:gd name="connsiteX17" fmla="*/ 583978 w 1367021"/>
                <a:gd name="connsiteY17" fmla="*/ 306610 h 514638"/>
                <a:gd name="connsiteX18" fmla="*/ 515779 w 1367021"/>
                <a:gd name="connsiteY18" fmla="*/ 295656 h 514638"/>
                <a:gd name="connsiteX19" fmla="*/ 432911 w 1367021"/>
                <a:gd name="connsiteY19" fmla="*/ 373570 h 514638"/>
                <a:gd name="connsiteX20" fmla="*/ 263747 w 1367021"/>
                <a:gd name="connsiteY20" fmla="*/ 316801 h 514638"/>
                <a:gd name="connsiteX21" fmla="*/ 338709 w 1367021"/>
                <a:gd name="connsiteY21" fmla="*/ 236315 h 514638"/>
                <a:gd name="connsiteX22" fmla="*/ 312420 w 1367021"/>
                <a:gd name="connsiteY22" fmla="*/ 222599 h 514638"/>
                <a:gd name="connsiteX23" fmla="*/ 288703 w 1367021"/>
                <a:gd name="connsiteY23" fmla="*/ 207454 h 514638"/>
                <a:gd name="connsiteX24" fmla="*/ 149162 w 1367021"/>
                <a:gd name="connsiteY24" fmla="*/ 250889 h 514638"/>
                <a:gd name="connsiteX25" fmla="*/ 50864 w 1367021"/>
                <a:gd name="connsiteY25" fmla="*/ 153257 h 514638"/>
                <a:gd name="connsiteX26" fmla="*/ 185833 w 1367021"/>
                <a:gd name="connsiteY26" fmla="*/ 105346 h 514638"/>
                <a:gd name="connsiteX27" fmla="*/ 166878 w 1367021"/>
                <a:gd name="connsiteY27" fmla="*/ 65913 h 514638"/>
                <a:gd name="connsiteX28" fmla="*/ 8668 w 1367021"/>
                <a:gd name="connsiteY28" fmla="*/ 62960 h 514638"/>
                <a:gd name="connsiteX29" fmla="*/ 1524 w 1367021"/>
                <a:gd name="connsiteY29" fmla="*/ 11240 h 514638"/>
                <a:gd name="connsiteX30" fmla="*/ 0 w 1367021"/>
                <a:gd name="connsiteY30" fmla="*/ 0 h 514638"/>
                <a:gd name="connsiteX31" fmla="*/ 0 w 1367021"/>
                <a:gd name="connsiteY31" fmla="*/ 115348 h 514638"/>
                <a:gd name="connsiteX32" fmla="*/ 1619 w 1367021"/>
                <a:gd name="connsiteY32" fmla="*/ 126873 h 514638"/>
                <a:gd name="connsiteX33" fmla="*/ 8572 w 1367021"/>
                <a:gd name="connsiteY33" fmla="*/ 175450 h 514638"/>
                <a:gd name="connsiteX34" fmla="*/ 50768 w 1367021"/>
                <a:gd name="connsiteY34" fmla="*/ 176213 h 514638"/>
                <a:gd name="connsiteX35" fmla="*/ 50768 w 1367021"/>
                <a:gd name="connsiteY35" fmla="*/ 265557 h 514638"/>
                <a:gd name="connsiteX36" fmla="*/ 149066 w 1367021"/>
                <a:gd name="connsiteY36" fmla="*/ 363188 h 514638"/>
                <a:gd name="connsiteX37" fmla="*/ 263557 w 1367021"/>
                <a:gd name="connsiteY37" fmla="*/ 327660 h 514638"/>
                <a:gd name="connsiteX38" fmla="*/ 263557 w 1367021"/>
                <a:gd name="connsiteY38" fmla="*/ 429292 h 514638"/>
                <a:gd name="connsiteX39" fmla="*/ 432721 w 1367021"/>
                <a:gd name="connsiteY39" fmla="*/ 486061 h 514638"/>
                <a:gd name="connsiteX40" fmla="*/ 515588 w 1367021"/>
                <a:gd name="connsiteY40" fmla="*/ 408146 h 514638"/>
                <a:gd name="connsiteX41" fmla="*/ 583787 w 1367021"/>
                <a:gd name="connsiteY41" fmla="*/ 419100 h 514638"/>
                <a:gd name="connsiteX42" fmla="*/ 588835 w 1367021"/>
                <a:gd name="connsiteY42" fmla="*/ 510445 h 514638"/>
                <a:gd name="connsiteX43" fmla="*/ 783908 w 1367021"/>
                <a:gd name="connsiteY43" fmla="*/ 510826 h 514638"/>
                <a:gd name="connsiteX44" fmla="*/ 788003 w 1367021"/>
                <a:gd name="connsiteY44" fmla="*/ 419576 h 514638"/>
                <a:gd name="connsiteX45" fmla="*/ 856107 w 1367021"/>
                <a:gd name="connsiteY45" fmla="*/ 408908 h 514638"/>
                <a:gd name="connsiteX46" fmla="*/ 939832 w 1367021"/>
                <a:gd name="connsiteY46" fmla="*/ 487108 h 514638"/>
                <a:gd name="connsiteX47" fmla="*/ 1108329 w 1367021"/>
                <a:gd name="connsiteY47" fmla="*/ 431006 h 514638"/>
                <a:gd name="connsiteX48" fmla="*/ 1108329 w 1367021"/>
                <a:gd name="connsiteY48" fmla="*/ 329660 h 514638"/>
                <a:gd name="connsiteX49" fmla="*/ 1222058 w 1367021"/>
                <a:gd name="connsiteY49" fmla="*/ 365284 h 514638"/>
                <a:gd name="connsiteX50" fmla="*/ 1319213 w 1367021"/>
                <a:gd name="connsiteY50" fmla="*/ 268033 h 514638"/>
                <a:gd name="connsiteX51" fmla="*/ 1319213 w 1367021"/>
                <a:gd name="connsiteY51" fmla="*/ 178594 h 514638"/>
                <a:gd name="connsiteX52" fmla="*/ 1360456 w 1367021"/>
                <a:gd name="connsiteY52" fmla="*/ 178022 h 514638"/>
                <a:gd name="connsiteX53" fmla="*/ 1366933 w 1367021"/>
                <a:gd name="connsiteY53" fmla="*/ 117253 h 514638"/>
                <a:gd name="connsiteX54" fmla="*/ 1366933 w 1367021"/>
                <a:gd name="connsiteY54" fmla="*/ 16383 h 514638"/>
                <a:gd name="connsiteX55" fmla="*/ 1366933 w 1367021"/>
                <a:gd name="connsiteY55" fmla="*/ 16573 h 514638"/>
                <a:gd name="connsiteX56" fmla="*/ 1360646 w 1367021"/>
                <a:gd name="connsiteY56" fmla="*/ 65532 h 514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367021" h="514638">
                  <a:moveTo>
                    <a:pt x="1360646" y="65532"/>
                  </a:moveTo>
                  <a:lnTo>
                    <a:pt x="1360646" y="65532"/>
                  </a:lnTo>
                  <a:lnTo>
                    <a:pt x="1360646" y="68104"/>
                  </a:lnTo>
                  <a:cubicBezTo>
                    <a:pt x="1360456" y="67246"/>
                    <a:pt x="1360265" y="66389"/>
                    <a:pt x="1360075" y="65532"/>
                  </a:cubicBezTo>
                  <a:lnTo>
                    <a:pt x="1202436" y="67818"/>
                  </a:lnTo>
                  <a:cubicBezTo>
                    <a:pt x="1197959" y="81153"/>
                    <a:pt x="1191482" y="94202"/>
                    <a:pt x="1183862" y="107156"/>
                  </a:cubicBezTo>
                  <a:lnTo>
                    <a:pt x="1319403" y="155543"/>
                  </a:lnTo>
                  <a:cubicBezTo>
                    <a:pt x="1295781" y="189928"/>
                    <a:pt x="1263301" y="222694"/>
                    <a:pt x="1222248" y="252793"/>
                  </a:cubicBezTo>
                  <a:lnTo>
                    <a:pt x="1082326" y="208978"/>
                  </a:lnTo>
                  <a:cubicBezTo>
                    <a:pt x="1074611" y="214027"/>
                    <a:pt x="1067086" y="219170"/>
                    <a:pt x="1058704" y="224028"/>
                  </a:cubicBezTo>
                  <a:cubicBezTo>
                    <a:pt x="1050322" y="228886"/>
                    <a:pt x="1041368" y="233172"/>
                    <a:pt x="1032605" y="237649"/>
                  </a:cubicBezTo>
                  <a:lnTo>
                    <a:pt x="1108424" y="318421"/>
                  </a:lnTo>
                  <a:cubicBezTo>
                    <a:pt x="1056227" y="342138"/>
                    <a:pt x="999458" y="360902"/>
                    <a:pt x="939927" y="374523"/>
                  </a:cubicBezTo>
                  <a:lnTo>
                    <a:pt x="856202" y="296323"/>
                  </a:lnTo>
                  <a:cubicBezTo>
                    <a:pt x="833819" y="300704"/>
                    <a:pt x="811149" y="304419"/>
                    <a:pt x="788099" y="306991"/>
                  </a:cubicBezTo>
                  <a:lnTo>
                    <a:pt x="784098" y="398335"/>
                  </a:lnTo>
                  <a:cubicBezTo>
                    <a:pt x="719423" y="403574"/>
                    <a:pt x="653701" y="403479"/>
                    <a:pt x="589026" y="397954"/>
                  </a:cubicBezTo>
                  <a:lnTo>
                    <a:pt x="583978" y="306610"/>
                  </a:lnTo>
                  <a:cubicBezTo>
                    <a:pt x="560927" y="303943"/>
                    <a:pt x="538162" y="300133"/>
                    <a:pt x="515779" y="295656"/>
                  </a:cubicBezTo>
                  <a:lnTo>
                    <a:pt x="432911" y="373570"/>
                  </a:lnTo>
                  <a:cubicBezTo>
                    <a:pt x="373190" y="359759"/>
                    <a:pt x="316230" y="340804"/>
                    <a:pt x="263747" y="316801"/>
                  </a:cubicBezTo>
                  <a:lnTo>
                    <a:pt x="338709" y="236315"/>
                  </a:lnTo>
                  <a:cubicBezTo>
                    <a:pt x="329851" y="231839"/>
                    <a:pt x="320897" y="227457"/>
                    <a:pt x="312420" y="222599"/>
                  </a:cubicBezTo>
                  <a:cubicBezTo>
                    <a:pt x="303943" y="217741"/>
                    <a:pt x="296418" y="212503"/>
                    <a:pt x="288703" y="207454"/>
                  </a:cubicBezTo>
                  <a:lnTo>
                    <a:pt x="149162" y="250889"/>
                  </a:lnTo>
                  <a:cubicBezTo>
                    <a:pt x="107728" y="220599"/>
                    <a:pt x="74866" y="187738"/>
                    <a:pt x="50864" y="153257"/>
                  </a:cubicBezTo>
                  <a:lnTo>
                    <a:pt x="185833" y="105346"/>
                  </a:lnTo>
                  <a:cubicBezTo>
                    <a:pt x="178117" y="92392"/>
                    <a:pt x="171450" y="79248"/>
                    <a:pt x="166878" y="65913"/>
                  </a:cubicBezTo>
                  <a:lnTo>
                    <a:pt x="8668" y="62960"/>
                  </a:lnTo>
                  <a:cubicBezTo>
                    <a:pt x="4286" y="45815"/>
                    <a:pt x="2000" y="28480"/>
                    <a:pt x="1524" y="11240"/>
                  </a:cubicBezTo>
                  <a:lnTo>
                    <a:pt x="0" y="0"/>
                  </a:lnTo>
                  <a:lnTo>
                    <a:pt x="0" y="115348"/>
                  </a:lnTo>
                  <a:lnTo>
                    <a:pt x="1619" y="126873"/>
                  </a:lnTo>
                  <a:cubicBezTo>
                    <a:pt x="2286" y="143161"/>
                    <a:pt x="4477" y="159353"/>
                    <a:pt x="8572" y="175450"/>
                  </a:cubicBezTo>
                  <a:lnTo>
                    <a:pt x="50768" y="176213"/>
                  </a:lnTo>
                  <a:lnTo>
                    <a:pt x="50768" y="265557"/>
                  </a:lnTo>
                  <a:cubicBezTo>
                    <a:pt x="74771" y="300037"/>
                    <a:pt x="107537" y="332899"/>
                    <a:pt x="149066" y="363188"/>
                  </a:cubicBezTo>
                  <a:lnTo>
                    <a:pt x="263557" y="327660"/>
                  </a:lnTo>
                  <a:lnTo>
                    <a:pt x="263557" y="429292"/>
                  </a:lnTo>
                  <a:cubicBezTo>
                    <a:pt x="316040" y="453199"/>
                    <a:pt x="372999" y="472154"/>
                    <a:pt x="432721" y="486061"/>
                  </a:cubicBezTo>
                  <a:lnTo>
                    <a:pt x="515588" y="408146"/>
                  </a:lnTo>
                  <a:cubicBezTo>
                    <a:pt x="538067" y="412623"/>
                    <a:pt x="560737" y="416433"/>
                    <a:pt x="583787" y="419100"/>
                  </a:cubicBezTo>
                  <a:lnTo>
                    <a:pt x="588835" y="510445"/>
                  </a:lnTo>
                  <a:cubicBezTo>
                    <a:pt x="653510" y="515874"/>
                    <a:pt x="719233" y="516064"/>
                    <a:pt x="783908" y="510826"/>
                  </a:cubicBezTo>
                  <a:lnTo>
                    <a:pt x="788003" y="419576"/>
                  </a:lnTo>
                  <a:cubicBezTo>
                    <a:pt x="811054" y="417004"/>
                    <a:pt x="833723" y="413195"/>
                    <a:pt x="856107" y="408908"/>
                  </a:cubicBezTo>
                  <a:lnTo>
                    <a:pt x="939832" y="487108"/>
                  </a:lnTo>
                  <a:cubicBezTo>
                    <a:pt x="999363" y="473488"/>
                    <a:pt x="1056132" y="454724"/>
                    <a:pt x="1108329" y="431006"/>
                  </a:cubicBezTo>
                  <a:lnTo>
                    <a:pt x="1108329" y="329660"/>
                  </a:lnTo>
                  <a:lnTo>
                    <a:pt x="1222058" y="365284"/>
                  </a:lnTo>
                  <a:cubicBezTo>
                    <a:pt x="1263206" y="335185"/>
                    <a:pt x="1295686" y="302419"/>
                    <a:pt x="1319213" y="268033"/>
                  </a:cubicBezTo>
                  <a:lnTo>
                    <a:pt x="1319213" y="178594"/>
                  </a:lnTo>
                  <a:lnTo>
                    <a:pt x="1360456" y="178022"/>
                  </a:lnTo>
                  <a:cubicBezTo>
                    <a:pt x="1365314" y="157829"/>
                    <a:pt x="1367504" y="137541"/>
                    <a:pt x="1366933" y="117253"/>
                  </a:cubicBezTo>
                  <a:lnTo>
                    <a:pt x="1366933" y="16383"/>
                  </a:lnTo>
                  <a:lnTo>
                    <a:pt x="1366933" y="16573"/>
                  </a:lnTo>
                  <a:cubicBezTo>
                    <a:pt x="1366647" y="32956"/>
                    <a:pt x="1364552" y="49244"/>
                    <a:pt x="1360646" y="65532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5" name="Freeform: Shape 95">
              <a:extLst>
                <a:ext uri="{FF2B5EF4-FFF2-40B4-BE49-F238E27FC236}">
                  <a16:creationId xmlns:a16="http://schemas.microsoft.com/office/drawing/2014/main" id="{7BE1AAE8-7E12-7903-5057-518D1D618286}"/>
                </a:ext>
              </a:extLst>
            </p:cNvPr>
            <p:cNvSpPr/>
            <p:nvPr/>
          </p:nvSpPr>
          <p:spPr>
            <a:xfrm>
              <a:off x="3610277" y="2087566"/>
              <a:ext cx="235523" cy="279735"/>
            </a:xfrm>
            <a:custGeom>
              <a:avLst/>
              <a:gdLst>
                <a:gd name="connsiteX0" fmla="*/ 134969 w 134969"/>
                <a:gd name="connsiteY0" fmla="*/ 0 h 160305"/>
                <a:gd name="connsiteX1" fmla="*/ 134969 w 134969"/>
                <a:gd name="connsiteY1" fmla="*/ 112490 h 160305"/>
                <a:gd name="connsiteX2" fmla="*/ 0 w 134969"/>
                <a:gd name="connsiteY2" fmla="*/ 160306 h 160305"/>
                <a:gd name="connsiteX3" fmla="*/ 0 w 134969"/>
                <a:gd name="connsiteY3" fmla="*/ 47816 h 16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969" h="160305">
                  <a:moveTo>
                    <a:pt x="134969" y="0"/>
                  </a:moveTo>
                  <a:lnTo>
                    <a:pt x="134969" y="112490"/>
                  </a:lnTo>
                  <a:lnTo>
                    <a:pt x="0" y="160306"/>
                  </a:lnTo>
                  <a:lnTo>
                    <a:pt x="0" y="47816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6" name="Freeform: Shape 96">
              <a:extLst>
                <a:ext uri="{FF2B5EF4-FFF2-40B4-BE49-F238E27FC236}">
                  <a16:creationId xmlns:a16="http://schemas.microsoft.com/office/drawing/2014/main" id="{DE4176DC-C98C-14B7-6D40-C3AB93931A0C}"/>
                </a:ext>
              </a:extLst>
            </p:cNvPr>
            <p:cNvSpPr/>
            <p:nvPr/>
          </p:nvSpPr>
          <p:spPr>
            <a:xfrm>
              <a:off x="3343837" y="1801847"/>
              <a:ext cx="130808" cy="336747"/>
            </a:xfrm>
            <a:custGeom>
              <a:avLst/>
              <a:gdLst>
                <a:gd name="connsiteX0" fmla="*/ 74962 w 74961"/>
                <a:gd name="connsiteY0" fmla="*/ 0 h 192976"/>
                <a:gd name="connsiteX1" fmla="*/ 74962 w 74961"/>
                <a:gd name="connsiteY1" fmla="*/ 112490 h 192976"/>
                <a:gd name="connsiteX2" fmla="*/ 0 w 74961"/>
                <a:gd name="connsiteY2" fmla="*/ 192977 h 192976"/>
                <a:gd name="connsiteX3" fmla="*/ 0 w 74961"/>
                <a:gd name="connsiteY3" fmla="*/ 80486 h 192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961" h="192976">
                  <a:moveTo>
                    <a:pt x="74962" y="0"/>
                  </a:moveTo>
                  <a:lnTo>
                    <a:pt x="74962" y="112490"/>
                  </a:lnTo>
                  <a:lnTo>
                    <a:pt x="0" y="192977"/>
                  </a:lnTo>
                  <a:lnTo>
                    <a:pt x="0" y="80486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7" name="Freeform: Shape 97">
              <a:extLst>
                <a:ext uri="{FF2B5EF4-FFF2-40B4-BE49-F238E27FC236}">
                  <a16:creationId xmlns:a16="http://schemas.microsoft.com/office/drawing/2014/main" id="{0027A038-C16E-ECD5-C3EC-CE6AE7D3A695}"/>
                </a:ext>
              </a:extLst>
            </p:cNvPr>
            <p:cNvSpPr/>
            <p:nvPr/>
          </p:nvSpPr>
          <p:spPr>
            <a:xfrm>
              <a:off x="2000337" y="1799188"/>
              <a:ext cx="132471" cy="337246"/>
            </a:xfrm>
            <a:custGeom>
              <a:avLst/>
              <a:gdLst>
                <a:gd name="connsiteX0" fmla="*/ 0 w 75914"/>
                <a:gd name="connsiteY0" fmla="*/ 0 h 193262"/>
                <a:gd name="connsiteX1" fmla="*/ 0 w 75914"/>
                <a:gd name="connsiteY1" fmla="*/ 112395 h 193262"/>
                <a:gd name="connsiteX2" fmla="*/ 75914 w 75914"/>
                <a:gd name="connsiteY2" fmla="*/ 193262 h 193262"/>
                <a:gd name="connsiteX3" fmla="*/ 75914 w 75914"/>
                <a:gd name="connsiteY3" fmla="*/ 80772 h 193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914" h="193262">
                  <a:moveTo>
                    <a:pt x="0" y="0"/>
                  </a:moveTo>
                  <a:lnTo>
                    <a:pt x="0" y="112395"/>
                  </a:lnTo>
                  <a:lnTo>
                    <a:pt x="75914" y="193262"/>
                  </a:lnTo>
                  <a:lnTo>
                    <a:pt x="75914" y="8077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8" name="Freeform: Shape 98">
              <a:extLst>
                <a:ext uri="{FF2B5EF4-FFF2-40B4-BE49-F238E27FC236}">
                  <a16:creationId xmlns:a16="http://schemas.microsoft.com/office/drawing/2014/main" id="{96A5A21E-F20D-0D94-4176-806035091CDE}"/>
                </a:ext>
              </a:extLst>
            </p:cNvPr>
            <p:cNvSpPr/>
            <p:nvPr/>
          </p:nvSpPr>
          <p:spPr>
            <a:xfrm>
              <a:off x="1632342" y="2083577"/>
              <a:ext cx="236354" cy="280567"/>
            </a:xfrm>
            <a:custGeom>
              <a:avLst/>
              <a:gdLst>
                <a:gd name="connsiteX0" fmla="*/ 0 w 135445"/>
                <a:gd name="connsiteY0" fmla="*/ 0 h 160782"/>
                <a:gd name="connsiteX1" fmla="*/ 0 w 135445"/>
                <a:gd name="connsiteY1" fmla="*/ 112490 h 160782"/>
                <a:gd name="connsiteX2" fmla="*/ 135445 w 135445"/>
                <a:gd name="connsiteY2" fmla="*/ 160782 h 160782"/>
                <a:gd name="connsiteX3" fmla="*/ 135445 w 135445"/>
                <a:gd name="connsiteY3" fmla="*/ 48292 h 160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445" h="160782">
                  <a:moveTo>
                    <a:pt x="0" y="0"/>
                  </a:moveTo>
                  <a:lnTo>
                    <a:pt x="0" y="112490"/>
                  </a:lnTo>
                  <a:lnTo>
                    <a:pt x="135445" y="160782"/>
                  </a:lnTo>
                  <a:lnTo>
                    <a:pt x="135445" y="4829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99">
              <a:extLst>
                <a:ext uri="{FF2B5EF4-FFF2-40B4-BE49-F238E27FC236}">
                  <a16:creationId xmlns:a16="http://schemas.microsoft.com/office/drawing/2014/main" id="{B1D96A51-A728-BE71-EC88-D1E0E742B77F}"/>
                </a:ext>
              </a:extLst>
            </p:cNvPr>
            <p:cNvSpPr/>
            <p:nvPr/>
          </p:nvSpPr>
          <p:spPr>
            <a:xfrm>
              <a:off x="2301349" y="2843171"/>
              <a:ext cx="144770" cy="332258"/>
            </a:xfrm>
            <a:custGeom>
              <a:avLst/>
              <a:gdLst>
                <a:gd name="connsiteX0" fmla="*/ 0 w 82962"/>
                <a:gd name="connsiteY0" fmla="*/ 77915 h 190404"/>
                <a:gd name="connsiteX1" fmla="*/ 0 w 82962"/>
                <a:gd name="connsiteY1" fmla="*/ 190405 h 190404"/>
                <a:gd name="connsiteX2" fmla="*/ 82963 w 82962"/>
                <a:gd name="connsiteY2" fmla="*/ 112490 h 190404"/>
                <a:gd name="connsiteX3" fmla="*/ 82963 w 82962"/>
                <a:gd name="connsiteY3" fmla="*/ 0 h 19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62" h="190404">
                  <a:moveTo>
                    <a:pt x="0" y="77915"/>
                  </a:moveTo>
                  <a:lnTo>
                    <a:pt x="0" y="190405"/>
                  </a:lnTo>
                  <a:lnTo>
                    <a:pt x="82963" y="112490"/>
                  </a:lnTo>
                  <a:lnTo>
                    <a:pt x="82963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0" name="Freeform: Shape 100">
              <a:extLst>
                <a:ext uri="{FF2B5EF4-FFF2-40B4-BE49-F238E27FC236}">
                  <a16:creationId xmlns:a16="http://schemas.microsoft.com/office/drawing/2014/main" id="{7D0822EE-D7CB-3C0C-41B6-0B166C9C3DAC}"/>
                </a:ext>
              </a:extLst>
            </p:cNvPr>
            <p:cNvSpPr/>
            <p:nvPr/>
          </p:nvSpPr>
          <p:spPr>
            <a:xfrm>
              <a:off x="2914343" y="2862951"/>
              <a:ext cx="6980" cy="355694"/>
            </a:xfrm>
            <a:custGeom>
              <a:avLst/>
              <a:gdLst>
                <a:gd name="connsiteX0" fmla="*/ 0 w 4000"/>
                <a:gd name="connsiteY0" fmla="*/ 91345 h 203834"/>
                <a:gd name="connsiteX1" fmla="*/ 0 w 4000"/>
                <a:gd name="connsiteY1" fmla="*/ 203835 h 203834"/>
                <a:gd name="connsiteX2" fmla="*/ 4000 w 4000"/>
                <a:gd name="connsiteY2" fmla="*/ 112490 h 203834"/>
                <a:gd name="connsiteX3" fmla="*/ 4000 w 4000"/>
                <a:gd name="connsiteY3" fmla="*/ 0 h 20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0" h="203834">
                  <a:moveTo>
                    <a:pt x="0" y="91345"/>
                  </a:moveTo>
                  <a:lnTo>
                    <a:pt x="0" y="203835"/>
                  </a:lnTo>
                  <a:lnTo>
                    <a:pt x="4000" y="112490"/>
                  </a:lnTo>
                  <a:lnTo>
                    <a:pt x="400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1" name="Freeform: Shape 101">
              <a:extLst>
                <a:ext uri="{FF2B5EF4-FFF2-40B4-BE49-F238E27FC236}">
                  <a16:creationId xmlns:a16="http://schemas.microsoft.com/office/drawing/2014/main" id="{178FE347-57F6-BE6F-B2D1-8FD6EF905775}"/>
                </a:ext>
              </a:extLst>
            </p:cNvPr>
            <p:cNvSpPr/>
            <p:nvPr/>
          </p:nvSpPr>
          <p:spPr>
            <a:xfrm>
              <a:off x="2565130" y="2862286"/>
              <a:ext cx="8809" cy="355696"/>
            </a:xfrm>
            <a:custGeom>
              <a:avLst/>
              <a:gdLst>
                <a:gd name="connsiteX0" fmla="*/ 5048 w 5048"/>
                <a:gd name="connsiteY0" fmla="*/ 91345 h 203835"/>
                <a:gd name="connsiteX1" fmla="*/ 5048 w 5048"/>
                <a:gd name="connsiteY1" fmla="*/ 203835 h 203835"/>
                <a:gd name="connsiteX2" fmla="*/ 0 w 5048"/>
                <a:gd name="connsiteY2" fmla="*/ 112490 h 203835"/>
                <a:gd name="connsiteX3" fmla="*/ 0 w 5048"/>
                <a:gd name="connsiteY3" fmla="*/ 0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48" h="203835">
                  <a:moveTo>
                    <a:pt x="5048" y="91345"/>
                  </a:moveTo>
                  <a:lnTo>
                    <a:pt x="5048" y="203835"/>
                  </a:lnTo>
                  <a:lnTo>
                    <a:pt x="0" y="11249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2" name="Freeform: Shape 102">
              <a:extLst>
                <a:ext uri="{FF2B5EF4-FFF2-40B4-BE49-F238E27FC236}">
                  <a16:creationId xmlns:a16="http://schemas.microsoft.com/office/drawing/2014/main" id="{032DD22D-8E89-092A-B7DF-C6E6EE58B429}"/>
                </a:ext>
              </a:extLst>
            </p:cNvPr>
            <p:cNvSpPr/>
            <p:nvPr/>
          </p:nvSpPr>
          <p:spPr>
            <a:xfrm>
              <a:off x="3040165" y="2844335"/>
              <a:ext cx="146266" cy="332757"/>
            </a:xfrm>
            <a:custGeom>
              <a:avLst/>
              <a:gdLst>
                <a:gd name="connsiteX0" fmla="*/ 83820 w 83819"/>
                <a:gd name="connsiteY0" fmla="*/ 78200 h 190690"/>
                <a:gd name="connsiteX1" fmla="*/ 83820 w 83819"/>
                <a:gd name="connsiteY1" fmla="*/ 190690 h 190690"/>
                <a:gd name="connsiteX2" fmla="*/ 0 w 83819"/>
                <a:gd name="connsiteY2" fmla="*/ 112490 h 190690"/>
                <a:gd name="connsiteX3" fmla="*/ 0 w 83819"/>
                <a:gd name="connsiteY3" fmla="*/ 0 h 19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3819" h="190690">
                  <a:moveTo>
                    <a:pt x="83820" y="78200"/>
                  </a:moveTo>
                  <a:lnTo>
                    <a:pt x="83820" y="190690"/>
                  </a:lnTo>
                  <a:lnTo>
                    <a:pt x="0" y="11249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3" name="Freeform: Shape 103">
              <a:extLst>
                <a:ext uri="{FF2B5EF4-FFF2-40B4-BE49-F238E27FC236}">
                  <a16:creationId xmlns:a16="http://schemas.microsoft.com/office/drawing/2014/main" id="{86A04EF4-A27F-749A-BDF9-38B59694D605}"/>
                </a:ext>
              </a:extLst>
            </p:cNvPr>
            <p:cNvSpPr/>
            <p:nvPr/>
          </p:nvSpPr>
          <p:spPr>
            <a:xfrm>
              <a:off x="3434756" y="2691751"/>
              <a:ext cx="244166" cy="272755"/>
            </a:xfrm>
            <a:custGeom>
              <a:avLst/>
              <a:gdLst>
                <a:gd name="connsiteX0" fmla="*/ 0 w 139922"/>
                <a:gd name="connsiteY0" fmla="*/ 0 h 156305"/>
                <a:gd name="connsiteX1" fmla="*/ 0 w 139922"/>
                <a:gd name="connsiteY1" fmla="*/ 100775 h 156305"/>
                <a:gd name="connsiteX2" fmla="*/ 26194 w 139922"/>
                <a:gd name="connsiteY2" fmla="*/ 109538 h 156305"/>
                <a:gd name="connsiteX3" fmla="*/ 26194 w 139922"/>
                <a:gd name="connsiteY3" fmla="*/ 120682 h 156305"/>
                <a:gd name="connsiteX4" fmla="*/ 139922 w 139922"/>
                <a:gd name="connsiteY4" fmla="*/ 156305 h 156305"/>
                <a:gd name="connsiteX5" fmla="*/ 139922 w 139922"/>
                <a:gd name="connsiteY5" fmla="*/ 43815 h 15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922" h="156305">
                  <a:moveTo>
                    <a:pt x="0" y="0"/>
                  </a:moveTo>
                  <a:lnTo>
                    <a:pt x="0" y="100775"/>
                  </a:lnTo>
                  <a:lnTo>
                    <a:pt x="26194" y="109538"/>
                  </a:lnTo>
                  <a:lnTo>
                    <a:pt x="26194" y="120682"/>
                  </a:lnTo>
                  <a:lnTo>
                    <a:pt x="139922" y="156305"/>
                  </a:lnTo>
                  <a:lnTo>
                    <a:pt x="139922" y="438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4" name="Freeform: Shape 104">
              <a:extLst>
                <a:ext uri="{FF2B5EF4-FFF2-40B4-BE49-F238E27FC236}">
                  <a16:creationId xmlns:a16="http://schemas.microsoft.com/office/drawing/2014/main" id="{C22683A5-602D-8762-6157-6089F2EA5FE6}"/>
                </a:ext>
              </a:extLst>
            </p:cNvPr>
            <p:cNvSpPr/>
            <p:nvPr/>
          </p:nvSpPr>
          <p:spPr>
            <a:xfrm>
              <a:off x="1806534" y="2689257"/>
              <a:ext cx="243334" cy="271924"/>
            </a:xfrm>
            <a:custGeom>
              <a:avLst/>
              <a:gdLst>
                <a:gd name="connsiteX0" fmla="*/ 114491 w 139445"/>
                <a:gd name="connsiteY0" fmla="*/ 109442 h 155829"/>
                <a:gd name="connsiteX1" fmla="*/ 139446 w 139445"/>
                <a:gd name="connsiteY1" fmla="*/ 104870 h 155829"/>
                <a:gd name="connsiteX2" fmla="*/ 139446 w 139445"/>
                <a:gd name="connsiteY2" fmla="*/ 0 h 155829"/>
                <a:gd name="connsiteX3" fmla="*/ 0 w 139445"/>
                <a:gd name="connsiteY3" fmla="*/ 43339 h 155829"/>
                <a:gd name="connsiteX4" fmla="*/ 0 w 139445"/>
                <a:gd name="connsiteY4" fmla="*/ 155829 h 155829"/>
                <a:gd name="connsiteX5" fmla="*/ 114491 w 139445"/>
                <a:gd name="connsiteY5" fmla="*/ 120301 h 155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445" h="155829">
                  <a:moveTo>
                    <a:pt x="114491" y="109442"/>
                  </a:moveTo>
                  <a:lnTo>
                    <a:pt x="139446" y="104870"/>
                  </a:lnTo>
                  <a:lnTo>
                    <a:pt x="139446" y="0"/>
                  </a:lnTo>
                  <a:lnTo>
                    <a:pt x="0" y="43339"/>
                  </a:lnTo>
                  <a:lnTo>
                    <a:pt x="0" y="155829"/>
                  </a:lnTo>
                  <a:lnTo>
                    <a:pt x="114491" y="12030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grpSp>
          <p:nvGrpSpPr>
            <p:cNvPr id="65" name="Graphic 1">
              <a:extLst>
                <a:ext uri="{FF2B5EF4-FFF2-40B4-BE49-F238E27FC236}">
                  <a16:creationId xmlns:a16="http://schemas.microsoft.com/office/drawing/2014/main" id="{279C76A4-B83B-0D4A-4968-EFF988CBECE1}"/>
                </a:ext>
              </a:extLst>
            </p:cNvPr>
            <p:cNvGrpSpPr/>
            <p:nvPr/>
          </p:nvGrpSpPr>
          <p:grpSpPr>
            <a:xfrm>
              <a:off x="1561369" y="2437112"/>
              <a:ext cx="276079" cy="201283"/>
              <a:chOff x="4430839" y="2683001"/>
              <a:chExt cx="158210" cy="115347"/>
            </a:xfrm>
            <a:solidFill>
              <a:srgbClr val="AFB6E5"/>
            </a:solidFill>
          </p:grpSpPr>
          <p:sp>
            <p:nvSpPr>
              <p:cNvPr id="70" name="Freeform: Shape 107">
                <a:extLst>
                  <a:ext uri="{FF2B5EF4-FFF2-40B4-BE49-F238E27FC236}">
                    <a16:creationId xmlns:a16="http://schemas.microsoft.com/office/drawing/2014/main" id="{44C35DD3-AE0C-8DA8-19CB-F45B49A6A6E7}"/>
                  </a:ext>
                </a:extLst>
              </p:cNvPr>
              <p:cNvSpPr/>
              <p:nvPr/>
            </p:nvSpPr>
            <p:spPr>
              <a:xfrm>
                <a:off x="4430839" y="2683001"/>
                <a:ext cx="158210" cy="113252"/>
              </a:xfrm>
              <a:custGeom>
                <a:avLst/>
                <a:gdLst>
                  <a:gd name="connsiteX0" fmla="*/ 42196 w 158210"/>
                  <a:gd name="connsiteY0" fmla="*/ 90202 h 113252"/>
                  <a:gd name="connsiteX1" fmla="*/ 158210 w 158210"/>
                  <a:gd name="connsiteY1" fmla="*/ 98965 h 113252"/>
                  <a:gd name="connsiteX2" fmla="*/ 158210 w 158210"/>
                  <a:gd name="connsiteY2" fmla="*/ 2953 h 113252"/>
                  <a:gd name="connsiteX3" fmla="*/ 0 w 158210"/>
                  <a:gd name="connsiteY3" fmla="*/ 0 h 113252"/>
                  <a:gd name="connsiteX4" fmla="*/ 0 w 158210"/>
                  <a:gd name="connsiteY4" fmla="*/ 112490 h 113252"/>
                  <a:gd name="connsiteX5" fmla="*/ 42196 w 158210"/>
                  <a:gd name="connsiteY5" fmla="*/ 113252 h 113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210" h="113252">
                    <a:moveTo>
                      <a:pt x="42196" y="90202"/>
                    </a:moveTo>
                    <a:lnTo>
                      <a:pt x="158210" y="98965"/>
                    </a:lnTo>
                    <a:lnTo>
                      <a:pt x="158210" y="2953"/>
                    </a:lnTo>
                    <a:lnTo>
                      <a:pt x="0" y="0"/>
                    </a:lnTo>
                    <a:lnTo>
                      <a:pt x="0" y="112490"/>
                    </a:lnTo>
                    <a:lnTo>
                      <a:pt x="42196" y="113252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60000"/>
                      <a:lumOff val="40000"/>
                    </a:schemeClr>
                  </a:gs>
                  <a:gs pos="75000">
                    <a:schemeClr val="accent3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Freeform: Shape 108">
                <a:extLst>
                  <a:ext uri="{FF2B5EF4-FFF2-40B4-BE49-F238E27FC236}">
                    <a16:creationId xmlns:a16="http://schemas.microsoft.com/office/drawing/2014/main" id="{4E2B3F11-C326-4098-1AFC-0641EDAB986C}"/>
                  </a:ext>
                </a:extLst>
              </p:cNvPr>
              <p:cNvSpPr/>
              <p:nvPr/>
            </p:nvSpPr>
            <p:spPr>
              <a:xfrm>
                <a:off x="4588859" y="2798253"/>
                <a:ext cx="190" cy="95"/>
              </a:xfrm>
              <a:custGeom>
                <a:avLst/>
                <a:gdLst>
                  <a:gd name="connsiteX0" fmla="*/ 0 w 190"/>
                  <a:gd name="connsiteY0" fmla="*/ 95 h 95"/>
                  <a:gd name="connsiteX1" fmla="*/ 191 w 190"/>
                  <a:gd name="connsiteY1" fmla="*/ 95 h 95"/>
                  <a:gd name="connsiteX2" fmla="*/ 191 w 190"/>
                  <a:gd name="connsiteY2" fmla="*/ 0 h 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" h="95">
                    <a:moveTo>
                      <a:pt x="0" y="95"/>
                    </a:moveTo>
                    <a:lnTo>
                      <a:pt x="191" y="95"/>
                    </a:lnTo>
                    <a:lnTo>
                      <a:pt x="191" y="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60000"/>
                      <a:lumOff val="40000"/>
                    </a:schemeClr>
                  </a:gs>
                  <a:gs pos="75000">
                    <a:schemeClr val="accent3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ID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6" name="Freeform: Shape 106">
              <a:extLst>
                <a:ext uri="{FF2B5EF4-FFF2-40B4-BE49-F238E27FC236}">
                  <a16:creationId xmlns:a16="http://schemas.microsoft.com/office/drawing/2014/main" id="{7C82C451-3DFE-93DE-25B3-C6C2F961A600}"/>
                </a:ext>
              </a:extLst>
            </p:cNvPr>
            <p:cNvSpPr/>
            <p:nvPr/>
          </p:nvSpPr>
          <p:spPr>
            <a:xfrm>
              <a:off x="3643354" y="2436114"/>
              <a:ext cx="277241" cy="205605"/>
            </a:xfrm>
            <a:custGeom>
              <a:avLst/>
              <a:gdLst>
                <a:gd name="connsiteX0" fmla="*/ 0 w 158876"/>
                <a:gd name="connsiteY0" fmla="*/ 0 h 117824"/>
                <a:gd name="connsiteX1" fmla="*/ 667 w 158876"/>
                <a:gd name="connsiteY1" fmla="*/ 117824 h 117824"/>
                <a:gd name="connsiteX2" fmla="*/ 117634 w 158876"/>
                <a:gd name="connsiteY2" fmla="*/ 93059 h 117824"/>
                <a:gd name="connsiteX3" fmla="*/ 117634 w 158876"/>
                <a:gd name="connsiteY3" fmla="*/ 116110 h 117824"/>
                <a:gd name="connsiteX4" fmla="*/ 158877 w 158876"/>
                <a:gd name="connsiteY4" fmla="*/ 115538 h 117824"/>
                <a:gd name="connsiteX5" fmla="*/ 158877 w 158876"/>
                <a:gd name="connsiteY5" fmla="*/ 3048 h 117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876" h="117824">
                  <a:moveTo>
                    <a:pt x="0" y="0"/>
                  </a:moveTo>
                  <a:lnTo>
                    <a:pt x="667" y="117824"/>
                  </a:lnTo>
                  <a:lnTo>
                    <a:pt x="117634" y="93059"/>
                  </a:lnTo>
                  <a:lnTo>
                    <a:pt x="117634" y="116110"/>
                  </a:lnTo>
                  <a:lnTo>
                    <a:pt x="158877" y="115538"/>
                  </a:lnTo>
                  <a:lnTo>
                    <a:pt x="158877" y="304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7" name="Freeform: Shape 30">
              <a:extLst>
                <a:ext uri="{FF2B5EF4-FFF2-40B4-BE49-F238E27FC236}">
                  <a16:creationId xmlns:a16="http://schemas.microsoft.com/office/drawing/2014/main" id="{39DF4ABF-D1C3-2395-7D5F-41A57B769D45}"/>
                </a:ext>
              </a:extLst>
            </p:cNvPr>
            <p:cNvSpPr/>
            <p:nvPr/>
          </p:nvSpPr>
          <p:spPr>
            <a:xfrm>
              <a:off x="2449693" y="2173125"/>
              <a:ext cx="581353" cy="266148"/>
            </a:xfrm>
            <a:custGeom>
              <a:avLst/>
              <a:gdLst>
                <a:gd name="connsiteX0" fmla="*/ 284084 w 333150"/>
                <a:gd name="connsiteY0" fmla="*/ 28409 h 152519"/>
                <a:gd name="connsiteX1" fmla="*/ 48340 w 333150"/>
                <a:gd name="connsiteY1" fmla="*/ 28028 h 152519"/>
                <a:gd name="connsiteX2" fmla="*/ 30910 w 333150"/>
                <a:gd name="connsiteY2" fmla="*/ 151567 h 152519"/>
                <a:gd name="connsiteX3" fmla="*/ 48340 w 333150"/>
                <a:gd name="connsiteY3" fmla="*/ 139565 h 152519"/>
                <a:gd name="connsiteX4" fmla="*/ 284084 w 333150"/>
                <a:gd name="connsiteY4" fmla="*/ 139946 h 152519"/>
                <a:gd name="connsiteX5" fmla="*/ 302182 w 333150"/>
                <a:gd name="connsiteY5" fmla="*/ 152519 h 152519"/>
                <a:gd name="connsiteX6" fmla="*/ 284084 w 333150"/>
                <a:gd name="connsiteY6" fmla="*/ 28409 h 152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150" h="152519">
                  <a:moveTo>
                    <a:pt x="284084" y="28409"/>
                  </a:moveTo>
                  <a:cubicBezTo>
                    <a:pt x="218838" y="-9310"/>
                    <a:pt x="113301" y="-9501"/>
                    <a:pt x="48340" y="28028"/>
                  </a:cubicBezTo>
                  <a:cubicBezTo>
                    <a:pt x="-9762" y="61556"/>
                    <a:pt x="-15382" y="113943"/>
                    <a:pt x="30910" y="151567"/>
                  </a:cubicBezTo>
                  <a:cubicBezTo>
                    <a:pt x="36148" y="147376"/>
                    <a:pt x="41768" y="143280"/>
                    <a:pt x="48340" y="139565"/>
                  </a:cubicBezTo>
                  <a:cubicBezTo>
                    <a:pt x="113206" y="102132"/>
                    <a:pt x="218743" y="102323"/>
                    <a:pt x="284084" y="139946"/>
                  </a:cubicBezTo>
                  <a:cubicBezTo>
                    <a:pt x="290847" y="143852"/>
                    <a:pt x="296848" y="148138"/>
                    <a:pt x="302182" y="152519"/>
                  </a:cubicBezTo>
                  <a:cubicBezTo>
                    <a:pt x="348759" y="114896"/>
                    <a:pt x="342853" y="62318"/>
                    <a:pt x="284084" y="28409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  <p:sp>
          <p:nvSpPr>
            <p:cNvPr id="68" name="Freeform: Shape 118">
              <a:extLst>
                <a:ext uri="{FF2B5EF4-FFF2-40B4-BE49-F238E27FC236}">
                  <a16:creationId xmlns:a16="http://schemas.microsoft.com/office/drawing/2014/main" id="{394E38EE-CF2C-3509-0DBF-628CCA215C1B}"/>
                </a:ext>
              </a:extLst>
            </p:cNvPr>
            <p:cNvSpPr/>
            <p:nvPr/>
          </p:nvSpPr>
          <p:spPr>
            <a:xfrm>
              <a:off x="1548440" y="1652935"/>
              <a:ext cx="2383752" cy="1376233"/>
            </a:xfrm>
            <a:custGeom>
              <a:avLst/>
              <a:gdLst>
                <a:gd name="connsiteX0" fmla="*/ 1057445 w 1366033"/>
                <a:gd name="connsiteY0" fmla="*/ 610449 h 788664"/>
                <a:gd name="connsiteX1" fmla="*/ 1081067 w 1366033"/>
                <a:gd name="connsiteY1" fmla="*/ 595400 h 788664"/>
                <a:gd name="connsiteX2" fmla="*/ 1220989 w 1366033"/>
                <a:gd name="connsiteY2" fmla="*/ 639215 h 788664"/>
                <a:gd name="connsiteX3" fmla="*/ 1318144 w 1366033"/>
                <a:gd name="connsiteY3" fmla="*/ 541965 h 788664"/>
                <a:gd name="connsiteX4" fmla="*/ 1182603 w 1366033"/>
                <a:gd name="connsiteY4" fmla="*/ 493577 h 788664"/>
                <a:gd name="connsiteX5" fmla="*/ 1201177 w 1366033"/>
                <a:gd name="connsiteY5" fmla="*/ 454239 h 788664"/>
                <a:gd name="connsiteX6" fmla="*/ 1359387 w 1366033"/>
                <a:gd name="connsiteY6" fmla="*/ 451953 h 788664"/>
                <a:gd name="connsiteX7" fmla="*/ 1358816 w 1366033"/>
                <a:gd name="connsiteY7" fmla="*/ 339368 h 788664"/>
                <a:gd name="connsiteX8" fmla="*/ 1200605 w 1366033"/>
                <a:gd name="connsiteY8" fmla="*/ 336510 h 788664"/>
                <a:gd name="connsiteX9" fmla="*/ 1181651 w 1366033"/>
                <a:gd name="connsiteY9" fmla="*/ 297077 h 788664"/>
                <a:gd name="connsiteX10" fmla="*/ 1316620 w 1366033"/>
                <a:gd name="connsiteY10" fmla="*/ 249166 h 788664"/>
                <a:gd name="connsiteX11" fmla="*/ 1218322 w 1366033"/>
                <a:gd name="connsiteY11" fmla="*/ 151535 h 788664"/>
                <a:gd name="connsiteX12" fmla="*/ 1078876 w 1366033"/>
                <a:gd name="connsiteY12" fmla="*/ 194778 h 788664"/>
                <a:gd name="connsiteX13" fmla="*/ 1055159 w 1366033"/>
                <a:gd name="connsiteY13" fmla="*/ 179633 h 788664"/>
                <a:gd name="connsiteX14" fmla="*/ 1028870 w 1366033"/>
                <a:gd name="connsiteY14" fmla="*/ 165917 h 788664"/>
                <a:gd name="connsiteX15" fmla="*/ 1103831 w 1366033"/>
                <a:gd name="connsiteY15" fmla="*/ 85431 h 788664"/>
                <a:gd name="connsiteX16" fmla="*/ 934667 w 1366033"/>
                <a:gd name="connsiteY16" fmla="*/ 28662 h 788664"/>
                <a:gd name="connsiteX17" fmla="*/ 851800 w 1366033"/>
                <a:gd name="connsiteY17" fmla="*/ 106577 h 788664"/>
                <a:gd name="connsiteX18" fmla="*/ 783601 w 1366033"/>
                <a:gd name="connsiteY18" fmla="*/ 95623 h 788664"/>
                <a:gd name="connsiteX19" fmla="*/ 778553 w 1366033"/>
                <a:gd name="connsiteY19" fmla="*/ 4278 h 788664"/>
                <a:gd name="connsiteX20" fmla="*/ 583385 w 1366033"/>
                <a:gd name="connsiteY20" fmla="*/ 3802 h 788664"/>
                <a:gd name="connsiteX21" fmla="*/ 579385 w 1366033"/>
                <a:gd name="connsiteY21" fmla="*/ 95147 h 788664"/>
                <a:gd name="connsiteX22" fmla="*/ 511281 w 1366033"/>
                <a:gd name="connsiteY22" fmla="*/ 105815 h 788664"/>
                <a:gd name="connsiteX23" fmla="*/ 427556 w 1366033"/>
                <a:gd name="connsiteY23" fmla="*/ 27614 h 788664"/>
                <a:gd name="connsiteX24" fmla="*/ 258964 w 1366033"/>
                <a:gd name="connsiteY24" fmla="*/ 83812 h 788664"/>
                <a:gd name="connsiteX25" fmla="*/ 334783 w 1366033"/>
                <a:gd name="connsiteY25" fmla="*/ 164584 h 788664"/>
                <a:gd name="connsiteX26" fmla="*/ 308684 w 1366033"/>
                <a:gd name="connsiteY26" fmla="*/ 178205 h 788664"/>
                <a:gd name="connsiteX27" fmla="*/ 285062 w 1366033"/>
                <a:gd name="connsiteY27" fmla="*/ 193254 h 788664"/>
                <a:gd name="connsiteX28" fmla="*/ 145140 w 1366033"/>
                <a:gd name="connsiteY28" fmla="*/ 149439 h 788664"/>
                <a:gd name="connsiteX29" fmla="*/ 47985 w 1366033"/>
                <a:gd name="connsiteY29" fmla="*/ 246689 h 788664"/>
                <a:gd name="connsiteX30" fmla="*/ 183431 w 1366033"/>
                <a:gd name="connsiteY30" fmla="*/ 295076 h 788664"/>
                <a:gd name="connsiteX31" fmla="*/ 164857 w 1366033"/>
                <a:gd name="connsiteY31" fmla="*/ 334415 h 788664"/>
                <a:gd name="connsiteX32" fmla="*/ 6647 w 1366033"/>
                <a:gd name="connsiteY32" fmla="*/ 336701 h 788664"/>
                <a:gd name="connsiteX33" fmla="*/ 7218 w 1366033"/>
                <a:gd name="connsiteY33" fmla="*/ 449286 h 788664"/>
                <a:gd name="connsiteX34" fmla="*/ 165428 w 1366033"/>
                <a:gd name="connsiteY34" fmla="*/ 452239 h 788664"/>
                <a:gd name="connsiteX35" fmla="*/ 184383 w 1366033"/>
                <a:gd name="connsiteY35" fmla="*/ 491672 h 788664"/>
                <a:gd name="connsiteX36" fmla="*/ 49414 w 1366033"/>
                <a:gd name="connsiteY36" fmla="*/ 539583 h 788664"/>
                <a:gd name="connsiteX37" fmla="*/ 147712 w 1366033"/>
                <a:gd name="connsiteY37" fmla="*/ 637215 h 788664"/>
                <a:gd name="connsiteX38" fmla="*/ 287158 w 1366033"/>
                <a:gd name="connsiteY38" fmla="*/ 593971 h 788664"/>
                <a:gd name="connsiteX39" fmla="*/ 310875 w 1366033"/>
                <a:gd name="connsiteY39" fmla="*/ 609116 h 788664"/>
                <a:gd name="connsiteX40" fmla="*/ 337164 w 1366033"/>
                <a:gd name="connsiteY40" fmla="*/ 622832 h 788664"/>
                <a:gd name="connsiteX41" fmla="*/ 262202 w 1366033"/>
                <a:gd name="connsiteY41" fmla="*/ 703318 h 788664"/>
                <a:gd name="connsiteX42" fmla="*/ 431366 w 1366033"/>
                <a:gd name="connsiteY42" fmla="*/ 760087 h 788664"/>
                <a:gd name="connsiteX43" fmla="*/ 514234 w 1366033"/>
                <a:gd name="connsiteY43" fmla="*/ 682173 h 788664"/>
                <a:gd name="connsiteX44" fmla="*/ 582433 w 1366033"/>
                <a:gd name="connsiteY44" fmla="*/ 693126 h 788664"/>
                <a:gd name="connsiteX45" fmla="*/ 587481 w 1366033"/>
                <a:gd name="connsiteY45" fmla="*/ 784471 h 788664"/>
                <a:gd name="connsiteX46" fmla="*/ 782553 w 1366033"/>
                <a:gd name="connsiteY46" fmla="*/ 784852 h 788664"/>
                <a:gd name="connsiteX47" fmla="*/ 786744 w 1366033"/>
                <a:gd name="connsiteY47" fmla="*/ 693412 h 788664"/>
                <a:gd name="connsiteX48" fmla="*/ 854848 w 1366033"/>
                <a:gd name="connsiteY48" fmla="*/ 682744 h 788664"/>
                <a:gd name="connsiteX49" fmla="*/ 938573 w 1366033"/>
                <a:gd name="connsiteY49" fmla="*/ 760944 h 788664"/>
                <a:gd name="connsiteX50" fmla="*/ 1107070 w 1366033"/>
                <a:gd name="connsiteY50" fmla="*/ 704842 h 788664"/>
                <a:gd name="connsiteX51" fmla="*/ 1031251 w 1366033"/>
                <a:gd name="connsiteY51" fmla="*/ 624070 h 788664"/>
                <a:gd name="connsiteX52" fmla="*/ 1057445 w 1366033"/>
                <a:gd name="connsiteY52" fmla="*/ 610449 h 788664"/>
                <a:gd name="connsiteX53" fmla="*/ 565574 w 1366033"/>
                <a:gd name="connsiteY53" fmla="*/ 462145 h 788664"/>
                <a:gd name="connsiteX54" fmla="*/ 564812 w 1366033"/>
                <a:gd name="connsiteY54" fmla="*/ 326033 h 788664"/>
                <a:gd name="connsiteX55" fmla="*/ 800555 w 1366033"/>
                <a:gd name="connsiteY55" fmla="*/ 326414 h 788664"/>
                <a:gd name="connsiteX56" fmla="*/ 801317 w 1366033"/>
                <a:gd name="connsiteY56" fmla="*/ 462526 h 788664"/>
                <a:gd name="connsiteX57" fmla="*/ 565574 w 1366033"/>
                <a:gd name="connsiteY57" fmla="*/ 462145 h 788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1366033" h="788664">
                  <a:moveTo>
                    <a:pt x="1057445" y="610449"/>
                  </a:moveTo>
                  <a:cubicBezTo>
                    <a:pt x="1065827" y="605592"/>
                    <a:pt x="1073351" y="600448"/>
                    <a:pt x="1081067" y="595400"/>
                  </a:cubicBezTo>
                  <a:lnTo>
                    <a:pt x="1220989" y="639215"/>
                  </a:lnTo>
                  <a:cubicBezTo>
                    <a:pt x="1262137" y="609116"/>
                    <a:pt x="1294522" y="576350"/>
                    <a:pt x="1318144" y="541965"/>
                  </a:cubicBezTo>
                  <a:lnTo>
                    <a:pt x="1182603" y="493577"/>
                  </a:lnTo>
                  <a:cubicBezTo>
                    <a:pt x="1190128" y="480623"/>
                    <a:pt x="1196700" y="467574"/>
                    <a:pt x="1201177" y="454239"/>
                  </a:cubicBezTo>
                  <a:lnTo>
                    <a:pt x="1359387" y="451953"/>
                  </a:lnTo>
                  <a:cubicBezTo>
                    <a:pt x="1368436" y="414615"/>
                    <a:pt x="1368245" y="376706"/>
                    <a:pt x="1358816" y="339368"/>
                  </a:cubicBezTo>
                  <a:lnTo>
                    <a:pt x="1200605" y="336510"/>
                  </a:lnTo>
                  <a:cubicBezTo>
                    <a:pt x="1196033" y="323175"/>
                    <a:pt x="1189366" y="310031"/>
                    <a:pt x="1181651" y="297077"/>
                  </a:cubicBezTo>
                  <a:lnTo>
                    <a:pt x="1316620" y="249166"/>
                  </a:lnTo>
                  <a:cubicBezTo>
                    <a:pt x="1292617" y="214685"/>
                    <a:pt x="1259851" y="181824"/>
                    <a:pt x="1218322" y="151535"/>
                  </a:cubicBezTo>
                  <a:lnTo>
                    <a:pt x="1078876" y="194778"/>
                  </a:lnTo>
                  <a:cubicBezTo>
                    <a:pt x="1071161" y="189635"/>
                    <a:pt x="1063541" y="184491"/>
                    <a:pt x="1055159" y="179633"/>
                  </a:cubicBezTo>
                  <a:cubicBezTo>
                    <a:pt x="1046681" y="174776"/>
                    <a:pt x="1037728" y="170394"/>
                    <a:pt x="1028870" y="165917"/>
                  </a:cubicBezTo>
                  <a:lnTo>
                    <a:pt x="1103831" y="85431"/>
                  </a:lnTo>
                  <a:cubicBezTo>
                    <a:pt x="1051349" y="61523"/>
                    <a:pt x="994389" y="42569"/>
                    <a:pt x="934667" y="28662"/>
                  </a:cubicBezTo>
                  <a:lnTo>
                    <a:pt x="851800" y="106577"/>
                  </a:lnTo>
                  <a:cubicBezTo>
                    <a:pt x="829321" y="102100"/>
                    <a:pt x="806651" y="98290"/>
                    <a:pt x="783601" y="95623"/>
                  </a:cubicBezTo>
                  <a:lnTo>
                    <a:pt x="778553" y="4278"/>
                  </a:lnTo>
                  <a:cubicBezTo>
                    <a:pt x="713783" y="-1246"/>
                    <a:pt x="648060" y="-1437"/>
                    <a:pt x="583385" y="3802"/>
                  </a:cubicBezTo>
                  <a:lnTo>
                    <a:pt x="579385" y="95147"/>
                  </a:lnTo>
                  <a:cubicBezTo>
                    <a:pt x="556334" y="97718"/>
                    <a:pt x="533665" y="101528"/>
                    <a:pt x="511281" y="105815"/>
                  </a:cubicBezTo>
                  <a:lnTo>
                    <a:pt x="427556" y="27614"/>
                  </a:lnTo>
                  <a:cubicBezTo>
                    <a:pt x="367930" y="41330"/>
                    <a:pt x="311161" y="59999"/>
                    <a:pt x="258964" y="83812"/>
                  </a:cubicBezTo>
                  <a:lnTo>
                    <a:pt x="334783" y="164584"/>
                  </a:lnTo>
                  <a:cubicBezTo>
                    <a:pt x="326020" y="169061"/>
                    <a:pt x="317066" y="173347"/>
                    <a:pt x="308684" y="178205"/>
                  </a:cubicBezTo>
                  <a:cubicBezTo>
                    <a:pt x="300302" y="183062"/>
                    <a:pt x="292778" y="188206"/>
                    <a:pt x="285062" y="193254"/>
                  </a:cubicBezTo>
                  <a:lnTo>
                    <a:pt x="145140" y="149439"/>
                  </a:lnTo>
                  <a:cubicBezTo>
                    <a:pt x="103992" y="179538"/>
                    <a:pt x="71607" y="212304"/>
                    <a:pt x="47985" y="246689"/>
                  </a:cubicBezTo>
                  <a:lnTo>
                    <a:pt x="183431" y="295076"/>
                  </a:lnTo>
                  <a:cubicBezTo>
                    <a:pt x="175906" y="308030"/>
                    <a:pt x="169334" y="321080"/>
                    <a:pt x="164857" y="334415"/>
                  </a:cubicBezTo>
                  <a:lnTo>
                    <a:pt x="6647" y="336701"/>
                  </a:lnTo>
                  <a:cubicBezTo>
                    <a:pt x="-2402" y="374039"/>
                    <a:pt x="-2212" y="411948"/>
                    <a:pt x="7218" y="449286"/>
                  </a:cubicBezTo>
                  <a:lnTo>
                    <a:pt x="165428" y="452239"/>
                  </a:lnTo>
                  <a:cubicBezTo>
                    <a:pt x="170000" y="465574"/>
                    <a:pt x="176668" y="478718"/>
                    <a:pt x="184383" y="491672"/>
                  </a:cubicBezTo>
                  <a:lnTo>
                    <a:pt x="49414" y="539583"/>
                  </a:lnTo>
                  <a:cubicBezTo>
                    <a:pt x="73417" y="574064"/>
                    <a:pt x="106183" y="606925"/>
                    <a:pt x="147712" y="637215"/>
                  </a:cubicBezTo>
                  <a:lnTo>
                    <a:pt x="287158" y="593971"/>
                  </a:lnTo>
                  <a:cubicBezTo>
                    <a:pt x="294873" y="599115"/>
                    <a:pt x="302493" y="604258"/>
                    <a:pt x="310875" y="609116"/>
                  </a:cubicBezTo>
                  <a:cubicBezTo>
                    <a:pt x="319352" y="613973"/>
                    <a:pt x="328306" y="618355"/>
                    <a:pt x="337164" y="622832"/>
                  </a:cubicBezTo>
                  <a:lnTo>
                    <a:pt x="262202" y="703318"/>
                  </a:lnTo>
                  <a:cubicBezTo>
                    <a:pt x="314685" y="727226"/>
                    <a:pt x="371645" y="746180"/>
                    <a:pt x="431366" y="760087"/>
                  </a:cubicBezTo>
                  <a:lnTo>
                    <a:pt x="514234" y="682173"/>
                  </a:lnTo>
                  <a:cubicBezTo>
                    <a:pt x="536713" y="686649"/>
                    <a:pt x="559382" y="690459"/>
                    <a:pt x="582433" y="693126"/>
                  </a:cubicBezTo>
                  <a:lnTo>
                    <a:pt x="587481" y="784471"/>
                  </a:lnTo>
                  <a:cubicBezTo>
                    <a:pt x="652156" y="789900"/>
                    <a:pt x="717878" y="790091"/>
                    <a:pt x="782553" y="784852"/>
                  </a:cubicBezTo>
                  <a:lnTo>
                    <a:pt x="786744" y="693412"/>
                  </a:lnTo>
                  <a:cubicBezTo>
                    <a:pt x="809795" y="690840"/>
                    <a:pt x="832464" y="687030"/>
                    <a:pt x="854848" y="682744"/>
                  </a:cubicBezTo>
                  <a:lnTo>
                    <a:pt x="938573" y="760944"/>
                  </a:lnTo>
                  <a:cubicBezTo>
                    <a:pt x="998104" y="747323"/>
                    <a:pt x="1054873" y="728559"/>
                    <a:pt x="1107070" y="704842"/>
                  </a:cubicBezTo>
                  <a:lnTo>
                    <a:pt x="1031251" y="624070"/>
                  </a:lnTo>
                  <a:cubicBezTo>
                    <a:pt x="1040109" y="619593"/>
                    <a:pt x="1049063" y="615307"/>
                    <a:pt x="1057445" y="610449"/>
                  </a:cubicBezTo>
                  <a:close/>
                  <a:moveTo>
                    <a:pt x="565574" y="462145"/>
                  </a:moveTo>
                  <a:cubicBezTo>
                    <a:pt x="500327" y="424426"/>
                    <a:pt x="499946" y="363561"/>
                    <a:pt x="564812" y="326033"/>
                  </a:cubicBezTo>
                  <a:cubicBezTo>
                    <a:pt x="629677" y="288599"/>
                    <a:pt x="735214" y="288790"/>
                    <a:pt x="800555" y="326414"/>
                  </a:cubicBezTo>
                  <a:cubicBezTo>
                    <a:pt x="865802" y="364133"/>
                    <a:pt x="866183" y="424997"/>
                    <a:pt x="801317" y="462526"/>
                  </a:cubicBezTo>
                  <a:cubicBezTo>
                    <a:pt x="736452" y="500054"/>
                    <a:pt x="630915" y="499864"/>
                    <a:pt x="565574" y="4621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1206500" dist="876300" dir="8100000" sx="95000" sy="95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ID" dirty="0">
                <a:solidFill>
                  <a:schemeClr val="lt1"/>
                </a:solidFill>
              </a:endParaRPr>
            </a:p>
          </p:txBody>
        </p:sp>
        <p:sp>
          <p:nvSpPr>
            <p:cNvPr id="69" name="Freeform: Shape 119">
              <a:extLst>
                <a:ext uri="{FF2B5EF4-FFF2-40B4-BE49-F238E27FC236}">
                  <a16:creationId xmlns:a16="http://schemas.microsoft.com/office/drawing/2014/main" id="{C6DD284B-0FBB-6B42-F69D-390A3F4C8523}"/>
                </a:ext>
              </a:extLst>
            </p:cNvPr>
            <p:cNvSpPr/>
            <p:nvPr/>
          </p:nvSpPr>
          <p:spPr>
            <a:xfrm>
              <a:off x="1984149" y="1904378"/>
              <a:ext cx="1512461" cy="873162"/>
            </a:xfrm>
            <a:custGeom>
              <a:avLst/>
              <a:gdLst>
                <a:gd name="connsiteX0" fmla="*/ 738797 w 866731"/>
                <a:gd name="connsiteY0" fmla="*/ 73832 h 500374"/>
                <a:gd name="connsiteX1" fmla="*/ 125958 w 866731"/>
                <a:gd name="connsiteY1" fmla="*/ 72689 h 500374"/>
                <a:gd name="connsiteX2" fmla="*/ 127863 w 866731"/>
                <a:gd name="connsiteY2" fmla="*/ 426543 h 500374"/>
                <a:gd name="connsiteX3" fmla="*/ 740702 w 866731"/>
                <a:gd name="connsiteY3" fmla="*/ 427686 h 500374"/>
                <a:gd name="connsiteX4" fmla="*/ 738797 w 866731"/>
                <a:gd name="connsiteY4" fmla="*/ 73832 h 500374"/>
                <a:gd name="connsiteX5" fmla="*/ 221970 w 866731"/>
                <a:gd name="connsiteY5" fmla="*/ 372250 h 500374"/>
                <a:gd name="connsiteX6" fmla="*/ 220637 w 866731"/>
                <a:gd name="connsiteY6" fmla="*/ 127267 h 500374"/>
                <a:gd name="connsiteX7" fmla="*/ 644880 w 866731"/>
                <a:gd name="connsiteY7" fmla="*/ 128029 h 500374"/>
                <a:gd name="connsiteX8" fmla="*/ 646214 w 866731"/>
                <a:gd name="connsiteY8" fmla="*/ 373012 h 500374"/>
                <a:gd name="connsiteX9" fmla="*/ 221970 w 866731"/>
                <a:gd name="connsiteY9" fmla="*/ 372250 h 500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6731" h="500374">
                  <a:moveTo>
                    <a:pt x="738797" y="73832"/>
                  </a:moveTo>
                  <a:cubicBezTo>
                    <a:pt x="569061" y="-24180"/>
                    <a:pt x="294646" y="-24657"/>
                    <a:pt x="125958" y="72689"/>
                  </a:cubicBezTo>
                  <a:cubicBezTo>
                    <a:pt x="-42729" y="170130"/>
                    <a:pt x="-41872" y="328530"/>
                    <a:pt x="127863" y="426543"/>
                  </a:cubicBezTo>
                  <a:cubicBezTo>
                    <a:pt x="297599" y="524555"/>
                    <a:pt x="572014" y="525031"/>
                    <a:pt x="740702" y="427686"/>
                  </a:cubicBezTo>
                  <a:cubicBezTo>
                    <a:pt x="909485" y="330245"/>
                    <a:pt x="908628" y="171844"/>
                    <a:pt x="738797" y="73832"/>
                  </a:cubicBezTo>
                  <a:close/>
                  <a:moveTo>
                    <a:pt x="221970" y="372250"/>
                  </a:moveTo>
                  <a:cubicBezTo>
                    <a:pt x="104432" y="304432"/>
                    <a:pt x="103860" y="194704"/>
                    <a:pt x="220637" y="127267"/>
                  </a:cubicBezTo>
                  <a:cubicBezTo>
                    <a:pt x="337413" y="59830"/>
                    <a:pt x="527342" y="60211"/>
                    <a:pt x="644880" y="128029"/>
                  </a:cubicBezTo>
                  <a:cubicBezTo>
                    <a:pt x="762419" y="195847"/>
                    <a:pt x="762990" y="305575"/>
                    <a:pt x="646214" y="373012"/>
                  </a:cubicBezTo>
                  <a:cubicBezTo>
                    <a:pt x="529437" y="440449"/>
                    <a:pt x="339414" y="440163"/>
                    <a:pt x="221970" y="37225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ID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91F53373-A7AC-C1DA-C0C7-03EA6B0CE2CB}"/>
              </a:ext>
            </a:extLst>
          </p:cNvPr>
          <p:cNvGrpSpPr/>
          <p:nvPr/>
        </p:nvGrpSpPr>
        <p:grpSpPr>
          <a:xfrm>
            <a:off x="6270672" y="1970676"/>
            <a:ext cx="2555108" cy="1121648"/>
            <a:chOff x="6270672" y="1970676"/>
            <a:chExt cx="2555108" cy="1121648"/>
          </a:xfrm>
        </p:grpSpPr>
        <p:sp>
          <p:nvSpPr>
            <p:cNvPr id="107" name="Speech Bubble: Rectangle with Corners Rounded 35">
              <a:extLst>
                <a:ext uri="{FF2B5EF4-FFF2-40B4-BE49-F238E27FC236}">
                  <a16:creationId xmlns:a16="http://schemas.microsoft.com/office/drawing/2014/main" id="{7C064603-FABB-2D6A-E2C1-A60819158769}"/>
                </a:ext>
              </a:extLst>
            </p:cNvPr>
            <p:cNvSpPr/>
            <p:nvPr/>
          </p:nvSpPr>
          <p:spPr>
            <a:xfrm>
              <a:off x="6378292" y="1970676"/>
              <a:ext cx="2339868" cy="1121648"/>
            </a:xfrm>
            <a:prstGeom prst="wedgeRoundRectCallout">
              <a:avLst>
                <a:gd name="adj1" fmla="val -34836"/>
                <a:gd name="adj2" fmla="val 70841"/>
                <a:gd name="adj3" fmla="val 16667"/>
              </a:avLst>
            </a:prstGeom>
            <a:solidFill>
              <a:schemeClr val="bg1"/>
            </a:solidFill>
            <a:ln>
              <a:noFill/>
            </a:ln>
            <a:effectLst>
              <a:outerShdw blurRad="1206500" dist="876300" dir="8100000" sx="95000" sy="95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0" name="TextBox 168">
              <a:extLst>
                <a:ext uri="{FF2B5EF4-FFF2-40B4-BE49-F238E27FC236}">
                  <a16:creationId xmlns:a16="http://schemas.microsoft.com/office/drawing/2014/main" id="{7BE804EE-B137-2A29-43C9-7B2500C72D37}"/>
                </a:ext>
              </a:extLst>
            </p:cNvPr>
            <p:cNvSpPr txBox="1"/>
            <p:nvPr/>
          </p:nvSpPr>
          <p:spPr>
            <a:xfrm>
              <a:off x="6270672" y="2357868"/>
              <a:ext cx="2555108" cy="662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具備 </a:t>
              </a: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Wi-Fi / BLE </a:t>
              </a:r>
            </a:p>
            <a:p>
              <a:pPr algn="ctr">
                <a:lnSpc>
                  <a:spcPct val="120000"/>
                </a:lnSpc>
              </a:pP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 </a:t>
              </a: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雙核 </a:t>
              </a:r>
              <a:r>
                <a:rPr lang="en-US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240 </a:t>
              </a: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MHz</a:t>
              </a:r>
            </a:p>
          </p:txBody>
        </p:sp>
        <p:sp>
          <p:nvSpPr>
            <p:cNvPr id="111" name="TextBox 169">
              <a:extLst>
                <a:ext uri="{FF2B5EF4-FFF2-40B4-BE49-F238E27FC236}">
                  <a16:creationId xmlns:a16="http://schemas.microsoft.com/office/drawing/2014/main" id="{63961C93-BC28-900D-4115-0B4FB7F5CB69}"/>
                </a:ext>
              </a:extLst>
            </p:cNvPr>
            <p:cNvSpPr txBox="1"/>
            <p:nvPr/>
          </p:nvSpPr>
          <p:spPr>
            <a:xfrm>
              <a:off x="6270672" y="2049913"/>
              <a:ext cx="255510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en-US" sz="2000" b="1" dirty="0">
                  <a:solidFill>
                    <a:schemeClr val="accent6"/>
                  </a:solidFill>
                  <a:ea typeface="Noto Sans TC Medium" panose="020B0200000000000000" pitchFamily="34" charset="-120"/>
                  <a:cs typeface="Open Sans" panose="020B0606030504020204" pitchFamily="34" charset="0"/>
                </a:rPr>
                <a:t>ESP32-S3</a:t>
              </a:r>
            </a:p>
          </p:txBody>
        </p:sp>
      </p:grpSp>
      <p:grpSp>
        <p:nvGrpSpPr>
          <p:cNvPr id="113" name="群組 112">
            <a:extLst>
              <a:ext uri="{FF2B5EF4-FFF2-40B4-BE49-F238E27FC236}">
                <a16:creationId xmlns:a16="http://schemas.microsoft.com/office/drawing/2014/main" id="{B5875D3F-019B-76F5-FFB6-3FD58F38E4DF}"/>
              </a:ext>
            </a:extLst>
          </p:cNvPr>
          <p:cNvGrpSpPr/>
          <p:nvPr/>
        </p:nvGrpSpPr>
        <p:grpSpPr>
          <a:xfrm>
            <a:off x="7893720" y="3516931"/>
            <a:ext cx="2571178" cy="1121648"/>
            <a:chOff x="6270672" y="1970676"/>
            <a:chExt cx="2571178" cy="1121648"/>
          </a:xfrm>
        </p:grpSpPr>
        <p:sp>
          <p:nvSpPr>
            <p:cNvPr id="114" name="Speech Bubble: Rectangle with Corners Rounded 35">
              <a:extLst>
                <a:ext uri="{FF2B5EF4-FFF2-40B4-BE49-F238E27FC236}">
                  <a16:creationId xmlns:a16="http://schemas.microsoft.com/office/drawing/2014/main" id="{A75CBA9F-D536-AB57-4766-4A4C8DFADD6D}"/>
                </a:ext>
              </a:extLst>
            </p:cNvPr>
            <p:cNvSpPr/>
            <p:nvPr/>
          </p:nvSpPr>
          <p:spPr>
            <a:xfrm>
              <a:off x="6270672" y="1970676"/>
              <a:ext cx="2555108" cy="1121648"/>
            </a:xfrm>
            <a:prstGeom prst="wedgeRoundRectCallout">
              <a:avLst>
                <a:gd name="adj1" fmla="val -34836"/>
                <a:gd name="adj2" fmla="val 70841"/>
                <a:gd name="adj3" fmla="val 16667"/>
              </a:avLst>
            </a:prstGeom>
            <a:solidFill>
              <a:schemeClr val="bg1"/>
            </a:solidFill>
            <a:ln>
              <a:noFill/>
            </a:ln>
            <a:effectLst>
              <a:outerShdw blurRad="1206500" dist="876300" dir="8100000" sx="95000" sy="95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5" name="TextBox 168">
              <a:extLst>
                <a:ext uri="{FF2B5EF4-FFF2-40B4-BE49-F238E27FC236}">
                  <a16:creationId xmlns:a16="http://schemas.microsoft.com/office/drawing/2014/main" id="{A84E7929-6B64-2DDC-7282-049A04265020}"/>
                </a:ext>
              </a:extLst>
            </p:cNvPr>
            <p:cNvSpPr txBox="1"/>
            <p:nvPr/>
          </p:nvSpPr>
          <p:spPr>
            <a:xfrm>
              <a:off x="6270672" y="2388348"/>
              <a:ext cx="2571178" cy="662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SolidWorks </a:t>
              </a: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設計</a:t>
              </a:r>
              <a:endParaRPr lang="en-US" altLang="zh-TW" sz="1600" spc="50" dirty="0">
                <a:solidFill>
                  <a:schemeClr val="tx2"/>
                </a:solidFill>
                <a:cs typeface="Open Sans" panose="020B0606030504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Bambu Studio </a:t>
              </a: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切片</a:t>
              </a:r>
              <a:endParaRPr lang="en-US" sz="1600" spc="50" dirty="0">
                <a:solidFill>
                  <a:schemeClr val="tx2"/>
                </a:solidFill>
                <a:cs typeface="Open Sans" panose="020B0606030504020204" pitchFamily="34" charset="0"/>
              </a:endParaRPr>
            </a:p>
          </p:txBody>
        </p:sp>
        <p:sp>
          <p:nvSpPr>
            <p:cNvPr id="116" name="TextBox 169">
              <a:extLst>
                <a:ext uri="{FF2B5EF4-FFF2-40B4-BE49-F238E27FC236}">
                  <a16:creationId xmlns:a16="http://schemas.microsoft.com/office/drawing/2014/main" id="{15031CB9-8FC0-2B94-43C4-6BDF54F3F8D8}"/>
                </a:ext>
              </a:extLst>
            </p:cNvPr>
            <p:cNvSpPr txBox="1"/>
            <p:nvPr/>
          </p:nvSpPr>
          <p:spPr>
            <a:xfrm>
              <a:off x="6270672" y="2049913"/>
              <a:ext cx="255510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en-US" sz="2000" b="1" dirty="0">
                  <a:solidFill>
                    <a:schemeClr val="accent6"/>
                  </a:solidFill>
                  <a:ea typeface="Noto Sans TC Medium" panose="020B0200000000000000" pitchFamily="34" charset="-120"/>
                  <a:cs typeface="Open Sans" panose="020B0606030504020204" pitchFamily="34" charset="0"/>
                </a:rPr>
                <a:t>3D </a:t>
              </a:r>
              <a:r>
                <a:rPr lang="zh-TW" altLang="en-US" sz="2000" dirty="0">
                  <a:solidFill>
                    <a:schemeClr val="accent6"/>
                  </a:solidFill>
                  <a:ea typeface="Noto Sans TC Medium" panose="020B0200000000000000" pitchFamily="34" charset="-120"/>
                  <a:cs typeface="Open Sans" panose="020B0606030504020204" pitchFamily="34" charset="0"/>
                </a:rPr>
                <a:t>列印機構件</a:t>
              </a:r>
              <a:endParaRPr lang="en-US" sz="2000" dirty="0">
                <a:solidFill>
                  <a:schemeClr val="accent6"/>
                </a:solidFill>
                <a:ea typeface="Noto Sans TC Medium" panose="020B0200000000000000" pitchFamily="34" charset="-120"/>
                <a:cs typeface="Open Sans" panose="020B0606030504020204" pitchFamily="34" charset="0"/>
              </a:endParaRPr>
            </a:p>
          </p:txBody>
        </p:sp>
      </p:grp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03BFC649-AF77-6CA2-B082-4E459CF1F4A4}"/>
              </a:ext>
            </a:extLst>
          </p:cNvPr>
          <p:cNvGrpSpPr/>
          <p:nvPr/>
        </p:nvGrpSpPr>
        <p:grpSpPr>
          <a:xfrm flipH="1">
            <a:off x="1372014" y="3496527"/>
            <a:ext cx="2555108" cy="1121648"/>
            <a:chOff x="6270672" y="1970676"/>
            <a:chExt cx="2555108" cy="1121648"/>
          </a:xfrm>
        </p:grpSpPr>
        <p:sp>
          <p:nvSpPr>
            <p:cNvPr id="118" name="Speech Bubble: Rectangle with Corners Rounded 35">
              <a:extLst>
                <a:ext uri="{FF2B5EF4-FFF2-40B4-BE49-F238E27FC236}">
                  <a16:creationId xmlns:a16="http://schemas.microsoft.com/office/drawing/2014/main" id="{EE858131-5973-F948-05D6-FC59F8BCBEC6}"/>
                </a:ext>
              </a:extLst>
            </p:cNvPr>
            <p:cNvSpPr/>
            <p:nvPr/>
          </p:nvSpPr>
          <p:spPr>
            <a:xfrm>
              <a:off x="6270672" y="1970676"/>
              <a:ext cx="2555108" cy="1121648"/>
            </a:xfrm>
            <a:prstGeom prst="wedgeRoundRectCallout">
              <a:avLst>
                <a:gd name="adj1" fmla="val -61676"/>
                <a:gd name="adj2" fmla="val 30080"/>
                <a:gd name="adj3" fmla="val 16667"/>
              </a:avLst>
            </a:prstGeom>
            <a:solidFill>
              <a:schemeClr val="bg1"/>
            </a:solidFill>
            <a:ln>
              <a:noFill/>
            </a:ln>
            <a:effectLst>
              <a:outerShdw blurRad="1206500" dist="876300" dir="8100000" sx="95000" sy="95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9" name="TextBox 168">
              <a:extLst>
                <a:ext uri="{FF2B5EF4-FFF2-40B4-BE49-F238E27FC236}">
                  <a16:creationId xmlns:a16="http://schemas.microsoft.com/office/drawing/2014/main" id="{4D744D4D-D1B8-D63D-F556-9A6C49648BF7}"/>
                </a:ext>
              </a:extLst>
            </p:cNvPr>
            <p:cNvSpPr txBox="1"/>
            <p:nvPr/>
          </p:nvSpPr>
          <p:spPr>
            <a:xfrm>
              <a:off x="6270672" y="2540748"/>
              <a:ext cx="2555108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搭配 </a:t>
              </a:r>
              <a:r>
                <a:rPr lang="pt-PT" altLang="zh-TW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TMC2209 </a:t>
              </a:r>
              <a:r>
                <a:rPr lang="zh-TW" altLang="en-US" sz="1600" spc="50" dirty="0">
                  <a:solidFill>
                    <a:schemeClr val="tx2"/>
                  </a:solidFill>
                  <a:cs typeface="Open Sans" panose="020B0606030504020204" pitchFamily="34" charset="0"/>
                </a:rPr>
                <a:t>驅動器</a:t>
              </a:r>
              <a:endParaRPr lang="pt-PT" altLang="zh-TW" sz="1600" spc="50" dirty="0">
                <a:solidFill>
                  <a:schemeClr val="tx2"/>
                </a:solidFill>
                <a:cs typeface="Open Sans" panose="020B0606030504020204" pitchFamily="34" charset="0"/>
              </a:endParaRPr>
            </a:p>
          </p:txBody>
        </p:sp>
        <p:sp>
          <p:nvSpPr>
            <p:cNvPr id="120" name="TextBox 169">
              <a:extLst>
                <a:ext uri="{FF2B5EF4-FFF2-40B4-BE49-F238E27FC236}">
                  <a16:creationId xmlns:a16="http://schemas.microsoft.com/office/drawing/2014/main" id="{EF1CA17E-8AC6-A542-53C9-5A74BB5E7DDF}"/>
                </a:ext>
              </a:extLst>
            </p:cNvPr>
            <p:cNvSpPr txBox="1"/>
            <p:nvPr/>
          </p:nvSpPr>
          <p:spPr>
            <a:xfrm>
              <a:off x="6270672" y="2171833"/>
              <a:ext cx="255510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en-US" sz="2000" b="1" dirty="0">
                  <a:solidFill>
                    <a:schemeClr val="accent6"/>
                  </a:solidFill>
                  <a:ea typeface="Noto Sans TC Medium" panose="020B0200000000000000" pitchFamily="34" charset="-120"/>
                  <a:cs typeface="Open Sans" panose="020B0606030504020204" pitchFamily="34" charset="0"/>
                </a:rPr>
                <a:t>Nema 17 </a:t>
              </a:r>
              <a:r>
                <a:rPr lang="zh-TW" altLang="en-US" sz="2000" dirty="0">
                  <a:solidFill>
                    <a:schemeClr val="accent6"/>
                  </a:solidFill>
                  <a:ea typeface="Noto Sans TC Medium" panose="020B0200000000000000" pitchFamily="34" charset="-120"/>
                  <a:cs typeface="Open Sans" panose="020B0606030504020204" pitchFamily="34" charset="0"/>
                </a:rPr>
                <a:t>步進馬達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3038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1967</TotalTime>
  <Words>1165</Words>
  <Application>Microsoft Office PowerPoint</Application>
  <PresentationFormat>寬螢幕</PresentationFormat>
  <Paragraphs>333</Paragraphs>
  <Slides>26</Slides>
  <Notes>20</Notes>
  <HiddenSlides>2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5" baseType="lpstr">
      <vt:lpstr>Montserrat Bold</vt:lpstr>
      <vt:lpstr>Noto Sans T Chinese</vt:lpstr>
      <vt:lpstr>Noto Sans TC Medium</vt:lpstr>
      <vt:lpstr>Aptos</vt:lpstr>
      <vt:lpstr>Arial</vt:lpstr>
      <vt:lpstr>Manrope</vt:lpstr>
      <vt:lpstr>Open Sans</vt:lpstr>
      <vt:lpstr>Segoe UI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11246065_陳秉鴻</dc:creator>
  <cp:lastModifiedBy>11246065_陳秉鴻</cp:lastModifiedBy>
  <cp:revision>24</cp:revision>
  <dcterms:created xsi:type="dcterms:W3CDTF">2026-05-19T08:20:24Z</dcterms:created>
  <dcterms:modified xsi:type="dcterms:W3CDTF">2026-05-26T11:33:59Z</dcterms:modified>
</cp:coreProperties>
</file>